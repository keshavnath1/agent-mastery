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Copilot execution, this is the most important framing. The model is not the system. The system is the harness around the model: instructions, workflow, skills, contracts, validators, gates, and reviews. That harness is what prevents a free-form code generator from becoming an uncontrolled migration process. In our SAS migration, humans still own meaning, evidence, and verdict.
So when I show Copilot chat in the next slides, remember: chat is only the interface. The repo is the control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exactly what the repo forces Copilot to do. This is the top-level instruction file. It does not say 'migrate code'. It says: follow the contract, check the run state, invoke exactly one authorized skill, produce evidence,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 that the instructions refer to. It names what Copilot must read and the exact skill sequence it must follow. It also separates six roles: the analyst defines behavior, the maker builds, the explorer diagnoses, the checker verifies, the orchestrator routes, and the human approves. The next slide shows how those role boundaries become handoffs during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connection from the previous slide. Orchestrate is not the worker. It is the traffic controller. It decides which role may act, which skill may run, what artifact must come back, which gate must pass, and what state gets recorded before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workflow is repeatable. Interview, specify, trace, map, model, generate, validate - each skill follows the same contract. Before it runs, it checks inputs. During execution, it stays inside its boundary. Afterward, it writes evidence and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full migration flow becomes easier to understand. Act 1 aligns intent. Act 2 reconstructs SAS meaning. Act 3 builds and proves Python locally. Act 4 handles selected runtime proof and release. Act 5 learns only from repeated accepted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right is the actual prompt I type into Copilot. On the left is what the repo forces Copilot to do. It does not start coding. It opens a governed run, reads the intake evidence, routes to interview, and stops before making decisions that belong to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important because the sample size is not a technical detail. It defines the proof boundary. If I choose 50 records, I cannot later claim full-population 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intent becomes a contract. The PRD says what problem we are solving. The spec defines behavior. The tie-out file defines evidence. The ADR records the architecture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turns the trace into implementation policy. It says which behavior belongs to the semantic core, which behavior is deferred to adapters, and which patterns must be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right to expect one more execution step here. After Act 2 maps SAS behavior into policy, the repo still has to create the implementation path before validation can run.
This is where the model and generate skills come in. The model skill turns trace and policy into a semantic IR: an explicit, reviewable contract for the math, transformations, target event, and scoring behavior. Then the generate skill turns that semantic IR into Python code.
This bridge matters because we do not want Copilot to generate Python directly from a vague business request or from raw SAS alone. The repo forces an intermediate semantic layer first, so code generation is grounded in approved behavior.
Act 2 preserves meaning as policy. Act 3 turns that policy into a semantic model, generates Python from the model, and only then validates the result against SAS.
Now the validate stage can run because we have an approved behavior contract and generated Python output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tie-out is the proof step. Python produces actual scores. The runner compares them to the SAS oracle under the approved contract. The result is not a feeling from chat. It is a structured evidence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tie-out fails, we do not patch the easiest visible symptom. The workflow routes the failure to the earliest failed gate. Maybe the issue is SAS behavior mapping. Maybe it is generated Python. Maybe it is fixture selection. Maybe it is the contract. The repair must name one hypothesis and one owning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that governance looks on a real SAS file. We start by extracting the behavior. Copilot reads the SAS program and log, and creates this trace. The trace records exactly which mathematical model ran—in this case, PROC LOGISTIC—and verifies that the model successfully converged.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jump from a trace to Python. We build an intermediate semantic model. Here, the behavior becomes an explicit math formula: the logistic link transformation. This preserves ownership of the logic and prevents the AI code generator from improvising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semantic model becomes Python. Copilot generates the Python code, but notice the citation: it explicitly references the exact lines of the original SAS source. We are not just translating; we are building a deterministic producer that we can test against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proof. We run the tie-out comparison between the generated Python and the SAS oracle. Look at the result on the right: it passes. But notice the delta summary. It proves that the probability difference across our 50 records is bounded to 10 to the negative 10. That is how we replace 'looks right' with deterministic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tie-out passes, we can say local Python semantic behavior matched SAS for the governed 50-record sample within tolerance. We cannot say full population, cluster behavior, performance, or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71463" y="214313"/>
            <a:ext cx="8601075" cy="742950"/>
          </a:xfrm>
          <a:prstGeom prst="rect">
            <a:avLst/>
          </a:prstGeom>
          <a:solidFill>
            <a:srgbClr val="000000">
              <a:alpha val="0"/>
            </a:srgbClr>
          </a:solidFill>
          <a:ln/>
        </p:spPr>
      </p:sp>
      <p:sp>
        <p:nvSpPr>
          <p:cNvPr id="4" name="Shape 1"/>
          <p:cNvSpPr/>
          <p:nvPr/>
        </p:nvSpPr>
        <p:spPr>
          <a:xfrm>
            <a:off x="271463" y="928688"/>
            <a:ext cx="8601075" cy="28575"/>
          </a:xfrm>
          <a:prstGeom prst="rect">
            <a:avLst/>
          </a:prstGeom>
          <a:solidFill>
            <a:srgbClr val="111111"/>
          </a:solidFill>
          <a:ln/>
        </p:spPr>
      </p:sp>
      <p:sp>
        <p:nvSpPr>
          <p:cNvPr id="5" name="Text 2"/>
          <p:cNvSpPr/>
          <p:nvPr/>
        </p:nvSpPr>
        <p:spPr>
          <a:xfrm>
            <a:off x="271463" y="311479"/>
            <a:ext cx="8601075" cy="345021"/>
          </a:xfrm>
          <a:prstGeom prst="rect">
            <a:avLst/>
          </a:prstGeom>
          <a:noFill/>
          <a:ln/>
        </p:spPr>
        <p:txBody>
          <a:bodyPr wrap="none" lIns="0" tIns="0" rIns="0" bIns="0" rtlCol="0" anchor="t">
            <a:spAutoFit/>
          </a:bodyPr>
          <a:lstStyle/>
          <a:p>
            <a:pPr algn="l" indent="0" marL="0">
              <a:lnSpc>
                <a:spcPct val="84000"/>
              </a:lnSpc>
              <a:buNone/>
            </a:pPr>
            <a:r>
              <a:rPr lang="en-US" sz="2350" b="1" dirty="0">
                <a:solidFill>
                  <a:srgbClr val="111111"/>
                </a:solidFill>
                <a:latin typeface="Oswald SemiBold" pitchFamily="34" charset="0"/>
                <a:ea typeface="Oswald SemiBold" pitchFamily="34" charset="-122"/>
                <a:cs typeface="Oswald SemiBold" pitchFamily="34" charset="-120"/>
              </a:rPr>
              <a:t>HOW THE HARNESS GOVERNS THE MODEL</a:t>
            </a:r>
            <a:endParaRPr lang="en-US" sz="2350" dirty="0"/>
          </a:p>
        </p:txBody>
      </p:sp>
      <p:sp>
        <p:nvSpPr>
          <p:cNvPr id="6" name="Text 3"/>
          <p:cNvSpPr/>
          <p:nvPr/>
        </p:nvSpPr>
        <p:spPr>
          <a:xfrm>
            <a:off x="271463" y="685074"/>
            <a:ext cx="8601075" cy="175022"/>
          </a:xfrm>
          <a:prstGeom prst="rect">
            <a:avLst/>
          </a:prstGeom>
          <a:noFill/>
          <a:ln/>
        </p:spPr>
        <p:txBody>
          <a:bodyPr wrap="square" lIns="0" tIns="0" rIns="0" bIns="0" rtlCol="0" anchor="t">
            <a:spAutoFit/>
          </a:bodyPr>
          <a:lstStyle/>
          <a:p>
            <a:pPr algn="l" indent="0" marL="0">
              <a:buNone/>
            </a:pPr>
            <a:r>
              <a:rPr lang="en-US" sz="1000" b="1" dirty="0">
                <a:solidFill>
                  <a:srgbClr val="444444"/>
                </a:solidFill>
                <a:latin typeface="Inter SemiBold" pitchFamily="34" charset="0"/>
                <a:ea typeface="Inter SemiBold" pitchFamily="34" charset="-122"/>
                <a:cs typeface="Inter SemiBold" pitchFamily="34" charset="-120"/>
              </a:rPr>
              <a:t>Exact Mermaid flow: model → harness → controls → human boundary → verdict.</a:t>
            </a:r>
            <a:endParaRPr lang="en-US" sz="1000" dirty="0"/>
          </a:p>
        </p:txBody>
      </p:sp>
      <p:pic>
        <p:nvPicPr>
          <p:cNvPr id="7" name="Image 1" descr="preencoded.png">    </p:cNvPr>
          <p:cNvPicPr>
            <a:picLocks noChangeAspect="1"/>
          </p:cNvPicPr>
          <p:nvPr/>
        </p:nvPicPr>
        <p:blipFill>
          <a:blip r:embed="rId2"/>
          <a:stretch>
            <a:fillRect/>
          </a:stretch>
        </p:blipFill>
        <p:spPr>
          <a:xfrm>
            <a:off x="357188" y="1128713"/>
            <a:ext cx="8429625" cy="39290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00038" y="214313"/>
            <a:ext cx="8543925" cy="671513"/>
          </a:xfrm>
          <a:prstGeom prst="rect">
            <a:avLst/>
          </a:prstGeom>
          <a:solidFill>
            <a:srgbClr val="000000">
              <a:alpha val="0"/>
            </a:srgbClr>
          </a:solidFill>
          <a:ln/>
        </p:spPr>
      </p:sp>
      <p:sp>
        <p:nvSpPr>
          <p:cNvPr id="5" name="Shape 1"/>
          <p:cNvSpPr/>
          <p:nvPr/>
        </p:nvSpPr>
        <p:spPr>
          <a:xfrm>
            <a:off x="300038" y="857250"/>
            <a:ext cx="8543925" cy="28575"/>
          </a:xfrm>
          <a:prstGeom prst="rect">
            <a:avLst/>
          </a:prstGeom>
          <a:solidFill>
            <a:srgbClr val="111111"/>
          </a:solidFill>
          <a:ln/>
        </p:spPr>
      </p:sp>
      <p:sp>
        <p:nvSpPr>
          <p:cNvPr id="6" name="Text 2"/>
          <p:cNvSpPr/>
          <p:nvPr/>
        </p:nvSpPr>
        <p:spPr>
          <a:xfrm>
            <a:off x="300038" y="214313"/>
            <a:ext cx="4029075" cy="375047"/>
          </a:xfrm>
          <a:prstGeom prst="rect">
            <a:avLst/>
          </a:prstGeom>
          <a:noFill/>
          <a:ln/>
        </p:spPr>
        <p:txBody>
          <a:bodyPr wrap="none" lIns="0" tIns="0" rIns="0" bIns="0" rtlCol="0" anchor="t">
            <a:spAutoFit/>
          </a:bodyPr>
          <a:lstStyle/>
          <a:p>
            <a:pPr algn="l" indent="0" marL="0">
              <a:lnSpc>
                <a:spcPct val="84000"/>
              </a:lnSpc>
              <a:buNone/>
            </a:pPr>
            <a:r>
              <a:rPr lang="en-US" sz="2550" b="1" dirty="0">
                <a:solidFill>
                  <a:srgbClr val="111111"/>
                </a:solidFill>
                <a:latin typeface="Oswald SemiBold" pitchFamily="34" charset="0"/>
                <a:ea typeface="Oswald SemiBold" pitchFamily="34" charset="-122"/>
                <a:cs typeface="Oswald SemiBold" pitchFamily="34" charset="-120"/>
              </a:rPr>
              <a:t>WHAT COPILOT READS FIRST</a:t>
            </a:r>
            <a:endParaRPr lang="en-US" sz="2550" dirty="0"/>
          </a:p>
        </p:txBody>
      </p:sp>
      <p:sp>
        <p:nvSpPr>
          <p:cNvPr id="7" name="Text 3"/>
          <p:cNvSpPr/>
          <p:nvPr/>
        </p:nvSpPr>
        <p:spPr>
          <a:xfrm>
            <a:off x="300038" y="639366"/>
            <a:ext cx="4029075" cy="271463"/>
          </a:xfrm>
          <a:prstGeom prst="rect">
            <a:avLst/>
          </a:prstGeom>
          <a:noFill/>
          <a:ln/>
        </p:spPr>
        <p:txBody>
          <a:bodyPr wrap="square" lIns="0" tIns="0" rIns="0" bIns="0" rtlCol="0" anchor="t">
            <a:spAutoFit/>
          </a:bodyPr>
          <a:lstStyle/>
          <a:p>
            <a:pPr algn="l" indent="0" marL="0">
              <a:buNone/>
            </a:pPr>
            <a:r>
              <a:rPr lang="en-US" sz="1250" dirty="0">
                <a:solidFill>
                  <a:srgbClr val="0055FF"/>
                </a:solidFill>
                <a:latin typeface="Kalam Bold" pitchFamily="34" charset="0"/>
                <a:ea typeface="Kalam Bold" pitchFamily="34" charset="-122"/>
                <a:cs typeface="Kalam Bold" pitchFamily="34" charset="-120"/>
              </a:rPr>
              <a:t>The instruction file forces AI into a governed loop.</a:t>
            </a:r>
            <a:endParaRPr lang="en-US" sz="1250" dirty="0"/>
          </a:p>
        </p:txBody>
      </p:sp>
      <p:sp>
        <p:nvSpPr>
          <p:cNvPr id="8" name="Shape 4"/>
          <p:cNvSpPr/>
          <p:nvPr/>
        </p:nvSpPr>
        <p:spPr>
          <a:xfrm>
            <a:off x="300038" y="1157288"/>
            <a:ext cx="2928938" cy="910047"/>
          </a:xfrm>
          <a:prstGeom prst="rect">
            <a:avLst/>
          </a:prstGeom>
          <a:solidFill>
            <a:srgbClr val="FFFFFF"/>
          </a:solidFill>
          <a:ln w="18288">
            <a:solidFill>
              <a:srgbClr val="111111"/>
            </a:solidFill>
            <a:prstDash val="solid"/>
          </a:ln>
        </p:spPr>
      </p:sp>
      <p:sp>
        <p:nvSpPr>
          <p:cNvPr id="9" name="Shape 5"/>
          <p:cNvSpPr/>
          <p:nvPr/>
        </p:nvSpPr>
        <p:spPr>
          <a:xfrm>
            <a:off x="414338" y="1285875"/>
            <a:ext cx="300038" cy="300038"/>
          </a:xfrm>
          <a:prstGeom prst="rect">
            <a:avLst/>
          </a:prstGeom>
          <a:solidFill>
            <a:srgbClr val="FF443A"/>
          </a:solidFill>
          <a:ln w="18288">
            <a:solidFill>
              <a:srgbClr val="111111"/>
            </a:solidFill>
            <a:prstDash val="solid"/>
          </a:ln>
        </p:spPr>
      </p:sp>
      <p:sp>
        <p:nvSpPr>
          <p:cNvPr id="10" name="Text 6"/>
          <p:cNvSpPr/>
          <p:nvPr/>
        </p:nvSpPr>
        <p:spPr>
          <a:xfrm>
            <a:off x="414338" y="1285875"/>
            <a:ext cx="300038" cy="300038"/>
          </a:xfrm>
          <a:prstGeom prst="rect">
            <a:avLst/>
          </a:prstGeom>
          <a:noFill/>
          <a:ln/>
        </p:spPr>
        <p:txBody>
          <a:bodyPr wrap="none" lIns="0" tIns="0" rIns="0" bIns="0" rtlCol="0" anchor="ctr">
            <a:spAutoFit/>
          </a:bodyPr>
          <a:lstStyle/>
          <a:p>
            <a:pPr algn="ctr" indent="0" marL="0">
              <a:buNone/>
            </a:pPr>
            <a:r>
              <a:rPr lang="en-US" sz="1400" dirty="0">
                <a:solidFill>
                  <a:srgbClr val="FFFFFF"/>
                </a:solidFill>
                <a:latin typeface="Oswald SemiBold" pitchFamily="34" charset="0"/>
                <a:ea typeface="Oswald SemiBold" pitchFamily="34" charset="-122"/>
                <a:cs typeface="Oswald SemiBold" pitchFamily="34" charset="-120"/>
              </a:rPr>
              <a:t>1</a:t>
            </a:r>
            <a:endParaRPr lang="en-US" sz="1400" dirty="0"/>
          </a:p>
        </p:txBody>
      </p:sp>
      <p:sp>
        <p:nvSpPr>
          <p:cNvPr id="11" name="Text 7"/>
          <p:cNvSpPr/>
          <p:nvPr/>
        </p:nvSpPr>
        <p:spPr>
          <a:xfrm>
            <a:off x="828675" y="1285875"/>
            <a:ext cx="2257425" cy="185738"/>
          </a:xfrm>
          <a:prstGeom prst="rect">
            <a:avLst/>
          </a:prstGeom>
          <a:noFill/>
          <a:ln/>
        </p:spPr>
        <p:txBody>
          <a:bodyPr wrap="none" lIns="0" tIns="0" rIns="0" bIns="0" rtlCol="0" anchor="t">
            <a:spAutoFit/>
          </a:bodyPr>
          <a:lstStyle/>
          <a:p>
            <a:pPr algn="l" indent="0" marL="0">
              <a:lnSpc>
                <a:spcPct val="80000"/>
              </a:lnSpc>
              <a:buNone/>
            </a:pPr>
            <a:r>
              <a:rPr lang="en-US" sz="1300" b="1" dirty="0">
                <a:solidFill>
                  <a:srgbClr val="0055FF"/>
                </a:solidFill>
                <a:latin typeface="Oswald SemiBold" pitchFamily="34" charset="0"/>
                <a:ea typeface="Oswald SemiBold" pitchFamily="34" charset="-122"/>
                <a:cs typeface="Oswald SemiBold" pitchFamily="34" charset="-120"/>
              </a:rPr>
              <a:t>LOAD THE CONTRACTS</a:t>
            </a:r>
            <a:endParaRPr lang="en-US" sz="1300" dirty="0"/>
          </a:p>
        </p:txBody>
      </p:sp>
      <p:sp>
        <p:nvSpPr>
          <p:cNvPr id="12" name="Text 8"/>
          <p:cNvSpPr/>
          <p:nvPr/>
        </p:nvSpPr>
        <p:spPr>
          <a:xfrm>
            <a:off x="828675" y="1543050"/>
            <a:ext cx="2257425" cy="352834"/>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SemiBold" pitchFamily="34" charset="0"/>
                <a:ea typeface="Inter SemiBold" pitchFamily="34" charset="-122"/>
                <a:cs typeface="Inter SemiBold" pitchFamily="34" charset="-120"/>
              </a:rPr>
              <a:t>Copilot follows </a:t>
            </a:r>
            <a:r>
              <a:rPr lang="en-US" sz="800" b="1" dirty="0">
                <a:solidFill>
                  <a:srgbClr val="FF443A"/>
                </a:solidFill>
                <a:latin typeface="JetBrains Mono Bold" pitchFamily="34" charset="0"/>
                <a:ea typeface="JetBrains Mono Bold" pitchFamily="34" charset="-122"/>
                <a:cs typeface="JetBrains Mono Bold" pitchFamily="34" charset="-120"/>
              </a:rPr>
              <a:t>AGENTS.md</a:t>
            </a:r>
            <a:r>
              <a:rPr lang="en-US" sz="950" b="1" dirty="0">
                <a:solidFill>
                  <a:srgbClr val="30343B"/>
                </a:solidFill>
                <a:latin typeface="Inter SemiBold" pitchFamily="34" charset="0"/>
                <a:ea typeface="Inter SemiBold" pitchFamily="34" charset="-122"/>
                <a:cs typeface="Inter SemiBold" pitchFamily="34" charset="-120"/>
              </a:rPr>
              <a:t> and </a:t>
            </a:r>
            <a:r>
              <a:rPr lang="en-US" sz="800" b="1" dirty="0">
                <a:solidFill>
                  <a:srgbClr val="FF443A"/>
                </a:solidFill>
                <a:latin typeface="JetBrains Mono Bold" pitchFamily="34" charset="0"/>
                <a:ea typeface="JetBrains Mono Bold" pitchFamily="34" charset="-122"/>
                <a:cs typeface="JetBrains Mono Bold" pitchFamily="34" charset="-120"/>
              </a:rPr>
              <a:t>workflow.yaml</a:t>
            </a:r>
            <a:r>
              <a:rPr lang="en-US" sz="950" b="1" dirty="0">
                <a:solidFill>
                  <a:srgbClr val="30343B"/>
                </a:solidFill>
                <a:latin typeface="Inter SemiBold" pitchFamily="34" charset="0"/>
                <a:ea typeface="Inter SemiBold" pitchFamily="34" charset="-122"/>
                <a:cs typeface="Inter SemiBold" pitchFamily="34" charset="-120"/>
              </a:rPr>
              <a:t> as authority.</a:t>
            </a:r>
            <a:endParaRPr lang="en-US" sz="950" dirty="0"/>
          </a:p>
        </p:txBody>
      </p:sp>
      <p:sp>
        <p:nvSpPr>
          <p:cNvPr id="13" name="Shape 9"/>
          <p:cNvSpPr/>
          <p:nvPr/>
        </p:nvSpPr>
        <p:spPr>
          <a:xfrm>
            <a:off x="300038" y="2253072"/>
            <a:ext cx="2928938" cy="1086464"/>
          </a:xfrm>
          <a:prstGeom prst="rect">
            <a:avLst/>
          </a:prstGeom>
          <a:solidFill>
            <a:srgbClr val="FFFFFF"/>
          </a:solidFill>
          <a:ln w="18288">
            <a:solidFill>
              <a:srgbClr val="111111"/>
            </a:solidFill>
            <a:prstDash val="solid"/>
          </a:ln>
        </p:spPr>
      </p:sp>
      <p:sp>
        <p:nvSpPr>
          <p:cNvPr id="14" name="Shape 10"/>
          <p:cNvSpPr/>
          <p:nvPr/>
        </p:nvSpPr>
        <p:spPr>
          <a:xfrm>
            <a:off x="414338" y="2381659"/>
            <a:ext cx="300038" cy="300038"/>
          </a:xfrm>
          <a:prstGeom prst="rect">
            <a:avLst/>
          </a:prstGeom>
          <a:solidFill>
            <a:srgbClr val="FF443A"/>
          </a:solidFill>
          <a:ln w="18288">
            <a:solidFill>
              <a:srgbClr val="111111"/>
            </a:solidFill>
            <a:prstDash val="solid"/>
          </a:ln>
        </p:spPr>
      </p:sp>
      <p:sp>
        <p:nvSpPr>
          <p:cNvPr id="15" name="Text 11"/>
          <p:cNvSpPr/>
          <p:nvPr/>
        </p:nvSpPr>
        <p:spPr>
          <a:xfrm>
            <a:off x="414338" y="2381659"/>
            <a:ext cx="300038" cy="300038"/>
          </a:xfrm>
          <a:prstGeom prst="rect">
            <a:avLst/>
          </a:prstGeom>
          <a:noFill/>
          <a:ln/>
        </p:spPr>
        <p:txBody>
          <a:bodyPr wrap="none" lIns="0" tIns="0" rIns="0" bIns="0" rtlCol="0" anchor="ctr">
            <a:spAutoFit/>
          </a:bodyPr>
          <a:lstStyle/>
          <a:p>
            <a:pPr algn="ctr" indent="0" marL="0">
              <a:buNone/>
            </a:pPr>
            <a:r>
              <a:rPr lang="en-US" sz="1400" dirty="0">
                <a:solidFill>
                  <a:srgbClr val="FFFFFF"/>
                </a:solidFill>
                <a:latin typeface="Oswald SemiBold" pitchFamily="34" charset="0"/>
                <a:ea typeface="Oswald SemiBold" pitchFamily="34" charset="-122"/>
                <a:cs typeface="Oswald SemiBold" pitchFamily="34" charset="-120"/>
              </a:rPr>
              <a:t>2</a:t>
            </a:r>
            <a:endParaRPr lang="en-US" sz="1400" dirty="0"/>
          </a:p>
        </p:txBody>
      </p:sp>
      <p:sp>
        <p:nvSpPr>
          <p:cNvPr id="16" name="Text 12"/>
          <p:cNvSpPr/>
          <p:nvPr/>
        </p:nvSpPr>
        <p:spPr>
          <a:xfrm>
            <a:off x="828675" y="2381659"/>
            <a:ext cx="2257425" cy="185738"/>
          </a:xfrm>
          <a:prstGeom prst="rect">
            <a:avLst/>
          </a:prstGeom>
          <a:noFill/>
          <a:ln/>
        </p:spPr>
        <p:txBody>
          <a:bodyPr wrap="none" lIns="0" tIns="0" rIns="0" bIns="0" rtlCol="0" anchor="t">
            <a:spAutoFit/>
          </a:bodyPr>
          <a:lstStyle/>
          <a:p>
            <a:pPr algn="l" indent="0" marL="0">
              <a:lnSpc>
                <a:spcPct val="80000"/>
              </a:lnSpc>
              <a:buNone/>
            </a:pPr>
            <a:r>
              <a:rPr lang="en-US" sz="1300" b="1" dirty="0">
                <a:solidFill>
                  <a:srgbClr val="0055FF"/>
                </a:solidFill>
                <a:latin typeface="Oswald SemiBold" pitchFamily="34" charset="0"/>
                <a:ea typeface="Oswald SemiBold" pitchFamily="34" charset="-122"/>
                <a:cs typeface="Oswald SemiBold" pitchFamily="34" charset="-120"/>
              </a:rPr>
              <a:t>PROVE, RECORD, STOP</a:t>
            </a:r>
            <a:endParaRPr lang="en-US" sz="1300" dirty="0"/>
          </a:p>
        </p:txBody>
      </p:sp>
      <p:sp>
        <p:nvSpPr>
          <p:cNvPr id="17" name="Text 13"/>
          <p:cNvSpPr/>
          <p:nvPr/>
        </p:nvSpPr>
        <p:spPr>
          <a:xfrm>
            <a:off x="828675" y="2638834"/>
            <a:ext cx="2257425"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SemiBold" pitchFamily="34" charset="0"/>
                <a:ea typeface="Inter SemiBold" pitchFamily="34" charset="-122"/>
                <a:cs typeface="Inter SemiBold" pitchFamily="34" charset="-120"/>
              </a:rPr>
              <a:t>Each run invokes one authorized skill, produces evidence, and stops.</a:t>
            </a:r>
            <a:endParaRPr lang="en-US" sz="950" dirty="0"/>
          </a:p>
        </p:txBody>
      </p:sp>
      <p:sp>
        <p:nvSpPr>
          <p:cNvPr id="18" name="Shape 14"/>
          <p:cNvSpPr/>
          <p:nvPr/>
        </p:nvSpPr>
        <p:spPr>
          <a:xfrm>
            <a:off x="3514725" y="1085850"/>
            <a:ext cx="5329238" cy="3500438"/>
          </a:xfrm>
          <a:prstGeom prst="rect">
            <a:avLst/>
          </a:prstGeom>
          <a:solidFill>
            <a:srgbClr val="1E1E1E"/>
          </a:solidFill>
          <a:ln w="27432">
            <a:solidFill>
              <a:srgbClr val="111111"/>
            </a:solidFill>
            <a:prstDash val="solid"/>
          </a:ln>
        </p:spPr>
      </p:sp>
      <p:sp>
        <p:nvSpPr>
          <p:cNvPr id="19" name="Shape 15"/>
          <p:cNvSpPr/>
          <p:nvPr/>
        </p:nvSpPr>
        <p:spPr>
          <a:xfrm>
            <a:off x="3514725" y="1085850"/>
            <a:ext cx="5329238" cy="328613"/>
          </a:xfrm>
          <a:prstGeom prst="rect">
            <a:avLst/>
          </a:prstGeom>
          <a:solidFill>
            <a:srgbClr val="323233"/>
          </a:solidFill>
          <a:ln/>
        </p:spPr>
      </p:sp>
      <p:sp>
        <p:nvSpPr>
          <p:cNvPr id="20" name="Shape 16"/>
          <p:cNvSpPr/>
          <p:nvPr/>
        </p:nvSpPr>
        <p:spPr>
          <a:xfrm>
            <a:off x="3514725" y="1400175"/>
            <a:ext cx="5329238" cy="14288"/>
          </a:xfrm>
          <a:prstGeom prst="rect">
            <a:avLst/>
          </a:prstGeom>
          <a:solidFill>
            <a:srgbClr val="111111"/>
          </a:solidFill>
          <a:ln/>
        </p:spPr>
      </p:sp>
      <p:sp>
        <p:nvSpPr>
          <p:cNvPr id="21" name="Shape 17"/>
          <p:cNvSpPr/>
          <p:nvPr/>
        </p:nvSpPr>
        <p:spPr>
          <a:xfrm>
            <a:off x="4171950" y="1085850"/>
            <a:ext cx="1932384" cy="314325"/>
          </a:xfrm>
          <a:prstGeom prst="rect">
            <a:avLst/>
          </a:prstGeom>
          <a:solidFill>
            <a:srgbClr val="1E1E1E"/>
          </a:solidFill>
          <a:ln/>
        </p:spPr>
      </p:sp>
      <p:sp>
        <p:nvSpPr>
          <p:cNvPr id="22" name="Shape 18"/>
          <p:cNvSpPr/>
          <p:nvPr/>
        </p:nvSpPr>
        <p:spPr>
          <a:xfrm>
            <a:off x="4171950" y="1085850"/>
            <a:ext cx="1932384" cy="28575"/>
          </a:xfrm>
          <a:prstGeom prst="rect">
            <a:avLst/>
          </a:prstGeom>
          <a:solidFill>
            <a:srgbClr val="0055FF"/>
          </a:solidFill>
          <a:ln/>
        </p:spPr>
      </p:sp>
      <p:sp>
        <p:nvSpPr>
          <p:cNvPr id="23" name="Text 19"/>
          <p:cNvSpPr/>
          <p:nvPr/>
        </p:nvSpPr>
        <p:spPr>
          <a:xfrm>
            <a:off x="4171950" y="1085850"/>
            <a:ext cx="1932384" cy="314325"/>
          </a:xfrm>
          <a:prstGeom prst="rect">
            <a:avLst/>
          </a:prstGeom>
          <a:noFill/>
          <a:ln/>
        </p:spPr>
        <p:txBody>
          <a:bodyPr wrap="square" lIns="187071" tIns="102108" rIns="187071"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.github/copilot-instructions.md</a:t>
            </a:r>
            <a:endParaRPr lang="en-US" sz="750" dirty="0"/>
          </a:p>
        </p:txBody>
      </p:sp>
      <p:sp>
        <p:nvSpPr>
          <p:cNvPr id="24" name="Text 20"/>
          <p:cNvSpPr/>
          <p:nvPr/>
        </p:nvSpPr>
        <p:spPr>
          <a:xfrm>
            <a:off x="3729038" y="1614488"/>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a:t>
            </a:r>
            <a:endParaRPr lang="en-US" sz="900" dirty="0"/>
          </a:p>
        </p:txBody>
      </p:sp>
      <p:sp>
        <p:nvSpPr>
          <p:cNvPr id="25" name="Text 21"/>
          <p:cNvSpPr/>
          <p:nvPr/>
        </p:nvSpPr>
        <p:spPr>
          <a:xfrm>
            <a:off x="3986213" y="1614488"/>
            <a:ext cx="4643438" cy="182166"/>
          </a:xfrm>
          <a:prstGeom prst="rect">
            <a:avLst/>
          </a:prstGeom>
          <a:noFill/>
          <a:ln/>
        </p:spPr>
        <p:txBody>
          <a:bodyPr wrap="none" lIns="0" tIns="0" rIns="0" bIns="0" rtlCol="0" anchor="t">
            <a:spAutoFit/>
          </a:bodyPr>
          <a:lstStyle/>
          <a:p>
            <a:pPr algn="l" indent="0" marL="0">
              <a:lnSpc>
                <a:spcPct val="120000"/>
              </a:lnSpc>
              <a:buNone/>
            </a:pPr>
            <a:r>
              <a:rPr lang="en-US" sz="850" b="1" dirty="0">
                <a:solidFill>
                  <a:srgbClr val="569CD6"/>
                </a:solidFill>
                <a:latin typeface="JetBrains Mono Bold" pitchFamily="34" charset="0"/>
                <a:ea typeface="JetBrains Mono Bold" pitchFamily="34" charset="-122"/>
                <a:cs typeface="JetBrains Mono Bold" pitchFamily="34" charset="-120"/>
              </a:rPr>
              <a:t># Copilot Instructions</a:t>
            </a:r>
            <a:endParaRPr lang="en-US" sz="850" dirty="0"/>
          </a:p>
        </p:txBody>
      </p:sp>
      <p:sp>
        <p:nvSpPr>
          <p:cNvPr id="26" name="Text 22"/>
          <p:cNvSpPr/>
          <p:nvPr/>
        </p:nvSpPr>
        <p:spPr>
          <a:xfrm>
            <a:off x="3729038" y="1800225"/>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2</a:t>
            </a:r>
            <a:endParaRPr lang="en-US" sz="900" dirty="0"/>
          </a:p>
        </p:txBody>
      </p:sp>
      <p:sp>
        <p:nvSpPr>
          <p:cNvPr id="27" name="Shape 23"/>
          <p:cNvSpPr/>
          <p:nvPr/>
        </p:nvSpPr>
        <p:spPr>
          <a:xfrm>
            <a:off x="3729038" y="2057400"/>
            <a:ext cx="4900613" cy="785813"/>
          </a:xfrm>
          <a:prstGeom prst="rect">
            <a:avLst/>
          </a:prstGeom>
          <a:solidFill>
            <a:srgbClr val="FF443A">
              <a:alpha val="10000"/>
            </a:srgbClr>
          </a:solidFill>
          <a:ln w="27432">
            <a:solidFill>
              <a:srgbClr val="FF443A"/>
            </a:solidFill>
            <a:prstDash val="solid"/>
          </a:ln>
        </p:spPr>
      </p:sp>
      <p:sp>
        <p:nvSpPr>
          <p:cNvPr id="28" name="Shape 24"/>
          <p:cNvSpPr/>
          <p:nvPr/>
        </p:nvSpPr>
        <p:spPr>
          <a:xfrm>
            <a:off x="8515350" y="1943100"/>
            <a:ext cx="228600" cy="228600"/>
          </a:xfrm>
          <a:prstGeom prst="rect">
            <a:avLst/>
          </a:prstGeom>
          <a:solidFill>
            <a:srgbClr val="FF443A"/>
          </a:solidFill>
          <a:ln w="18288">
            <a:solidFill>
              <a:srgbClr val="111111"/>
            </a:solidFill>
            <a:prstDash val="solid"/>
          </a:ln>
        </p:spPr>
      </p:sp>
      <p:sp>
        <p:nvSpPr>
          <p:cNvPr id="29" name="Text 25"/>
          <p:cNvSpPr/>
          <p:nvPr/>
        </p:nvSpPr>
        <p:spPr>
          <a:xfrm>
            <a:off x="8515350" y="1943100"/>
            <a:ext cx="228600" cy="228600"/>
          </a:xfrm>
          <a:prstGeom prst="rect">
            <a:avLst/>
          </a:prstGeom>
          <a:noFill/>
          <a:ln/>
        </p:spPr>
        <p:txBody>
          <a:bodyPr wrap="none" lIns="0" tIns="0" rIns="0" bIns="0" rtlCol="0" anchor="ctr">
            <a:spAutoFit/>
          </a:bodyPr>
          <a:lstStyle/>
          <a:p>
            <a:pPr algn="ctr" indent="0" marL="0">
              <a:lnSpc>
                <a:spcPct val="120000"/>
              </a:lnSpc>
              <a:buNone/>
            </a:pPr>
            <a:r>
              <a:rPr lang="en-US" sz="950" dirty="0">
                <a:solidFill>
                  <a:srgbClr val="FFFFFF"/>
                </a:solidFill>
                <a:latin typeface="Oswald SemiBold" pitchFamily="34" charset="0"/>
                <a:ea typeface="Oswald SemiBold" pitchFamily="34" charset="-122"/>
                <a:cs typeface="Oswald SemiBold" pitchFamily="34" charset="-120"/>
              </a:rPr>
              <a:t>1</a:t>
            </a:r>
            <a:endParaRPr lang="en-US" sz="950" dirty="0"/>
          </a:p>
        </p:txBody>
      </p:sp>
      <p:sp>
        <p:nvSpPr>
          <p:cNvPr id="30" name="Text 26"/>
          <p:cNvSpPr/>
          <p:nvPr/>
        </p:nvSpPr>
        <p:spPr>
          <a:xfrm>
            <a:off x="3814763" y="2143125"/>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3</a:t>
            </a:r>
            <a:endParaRPr lang="en-US" sz="900" dirty="0"/>
          </a:p>
        </p:txBody>
      </p:sp>
      <p:sp>
        <p:nvSpPr>
          <p:cNvPr id="31" name="Text 27"/>
          <p:cNvSpPr/>
          <p:nvPr/>
        </p:nvSpPr>
        <p:spPr>
          <a:xfrm>
            <a:off x="4071938" y="2143125"/>
            <a:ext cx="447198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Follow root </a:t>
            </a:r>
            <a:r>
              <a:rPr lang="en-US" sz="900" dirty="0">
                <a:solidFill>
                  <a:srgbClr val="CE9178"/>
                </a:solidFill>
                <a:latin typeface="JetBrains Mono" pitchFamily="34" charset="0"/>
                <a:ea typeface="JetBrains Mono" pitchFamily="34" charset="-122"/>
                <a:cs typeface="JetBrains Mono" pitchFamily="34" charset="-120"/>
              </a:rPr>
              <a:t>`AGENTS.md`</a:t>
            </a:r>
            <a:r>
              <a:rPr lang="en-US" sz="900" dirty="0">
                <a:solidFill>
                  <a:srgbClr val="D4D4D4"/>
                </a:solidFill>
                <a:latin typeface="JetBrains Mono" pitchFamily="34" charset="0"/>
                <a:ea typeface="JetBrains Mono" pitchFamily="34" charset="-122"/>
                <a:cs typeface="JetBrains Mono" pitchFamily="34" charset="-120"/>
              </a:rPr>
              <a:t> and</a:t>
            </a:r>
            <a:endParaRPr lang="en-US" sz="900" dirty="0"/>
          </a:p>
        </p:txBody>
      </p:sp>
      <p:sp>
        <p:nvSpPr>
          <p:cNvPr id="32" name="Text 28"/>
          <p:cNvSpPr/>
          <p:nvPr/>
        </p:nvSpPr>
        <p:spPr>
          <a:xfrm>
            <a:off x="3814763" y="2328863"/>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4</a:t>
            </a:r>
            <a:endParaRPr lang="en-US" sz="900" dirty="0"/>
          </a:p>
        </p:txBody>
      </p:sp>
      <p:sp>
        <p:nvSpPr>
          <p:cNvPr id="33" name="Text 29"/>
          <p:cNvSpPr/>
          <p:nvPr/>
        </p:nvSpPr>
        <p:spPr>
          <a:xfrm>
            <a:off x="4071938" y="2328863"/>
            <a:ext cx="447198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`config/workflow.yaml`</a:t>
            </a:r>
            <a:r>
              <a:rPr lang="en-US" sz="900" dirty="0">
                <a:solidFill>
                  <a:srgbClr val="D4D4D4"/>
                </a:solidFill>
                <a:latin typeface="JetBrains Mono" pitchFamily="34" charset="0"/>
                <a:ea typeface="JetBrains Mono" pitchFamily="34" charset="-122"/>
                <a:cs typeface="JetBrains Mono" pitchFamily="34" charset="-120"/>
              </a:rPr>
              <a:t> as the</a:t>
            </a:r>
            <a:endParaRPr lang="en-US" sz="900" dirty="0"/>
          </a:p>
        </p:txBody>
      </p:sp>
      <p:sp>
        <p:nvSpPr>
          <p:cNvPr id="34" name="Text 30"/>
          <p:cNvSpPr/>
          <p:nvPr/>
        </p:nvSpPr>
        <p:spPr>
          <a:xfrm>
            <a:off x="3814763" y="2514600"/>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5</a:t>
            </a:r>
            <a:endParaRPr lang="en-US" sz="900" dirty="0"/>
          </a:p>
        </p:txBody>
      </p:sp>
      <p:sp>
        <p:nvSpPr>
          <p:cNvPr id="35" name="Text 31"/>
          <p:cNvSpPr/>
          <p:nvPr/>
        </p:nvSpPr>
        <p:spPr>
          <a:xfrm>
            <a:off x="4071938" y="2514600"/>
            <a:ext cx="447198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authoritative contracts.</a:t>
            </a:r>
            <a:endParaRPr lang="en-US" sz="900" dirty="0"/>
          </a:p>
        </p:txBody>
      </p:sp>
      <p:sp>
        <p:nvSpPr>
          <p:cNvPr id="36" name="Text 32"/>
          <p:cNvSpPr/>
          <p:nvPr/>
        </p:nvSpPr>
        <p:spPr>
          <a:xfrm>
            <a:off x="3729038" y="2900363"/>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6</a:t>
            </a:r>
            <a:endParaRPr lang="en-US" sz="900" dirty="0"/>
          </a:p>
        </p:txBody>
      </p:sp>
      <p:sp>
        <p:nvSpPr>
          <p:cNvPr id="37" name="Text 33"/>
          <p:cNvSpPr/>
          <p:nvPr/>
        </p:nvSpPr>
        <p:spPr>
          <a:xfrm>
            <a:off x="3986213" y="2900363"/>
            <a:ext cx="464343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8" name="Text 34"/>
          <p:cNvSpPr/>
          <p:nvPr/>
        </p:nvSpPr>
        <p:spPr>
          <a:xfrm>
            <a:off x="3729038" y="3157538"/>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11</a:t>
            </a:r>
            <a:endParaRPr lang="en-US" sz="900" dirty="0"/>
          </a:p>
        </p:txBody>
      </p:sp>
      <p:sp>
        <p:nvSpPr>
          <p:cNvPr id="39" name="Text 35"/>
          <p:cNvSpPr/>
          <p:nvPr/>
        </p:nvSpPr>
        <p:spPr>
          <a:xfrm>
            <a:off x="3986213" y="3157538"/>
            <a:ext cx="4643438" cy="182166"/>
          </a:xfrm>
          <a:prstGeom prst="rect">
            <a:avLst/>
          </a:prstGeom>
          <a:noFill/>
          <a:ln/>
        </p:spPr>
        <p:txBody>
          <a:bodyPr wrap="none" lIns="0" tIns="0" rIns="0" bIns="0" rtlCol="0" anchor="t">
            <a:spAutoFit/>
          </a:bodyPr>
          <a:lstStyle/>
          <a:p>
            <a:pPr algn="l" indent="0" marL="0">
              <a:lnSpc>
                <a:spcPct val="120000"/>
              </a:lnSpc>
              <a:buNone/>
            </a:pPr>
            <a:r>
              <a:rPr lang="en-US" sz="850" b="1" dirty="0">
                <a:solidFill>
                  <a:srgbClr val="569CD6"/>
                </a:solidFill>
                <a:latin typeface="JetBrains Mono Bold" pitchFamily="34" charset="0"/>
                <a:ea typeface="JetBrains Mono Bold" pitchFamily="34" charset="-122"/>
                <a:cs typeface="JetBrains Mono Bold" pitchFamily="34" charset="-120"/>
              </a:rPr>
              <a:t>For every user-facing prompt:</a:t>
            </a:r>
            <a:endParaRPr lang="en-US" sz="850" dirty="0"/>
          </a:p>
        </p:txBody>
      </p:sp>
      <p:sp>
        <p:nvSpPr>
          <p:cNvPr id="40" name="Text 36"/>
          <p:cNvSpPr/>
          <p:nvPr/>
        </p:nvSpPr>
        <p:spPr>
          <a:xfrm>
            <a:off x="3729038" y="3343275"/>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12</a:t>
            </a:r>
            <a:endParaRPr lang="en-US" sz="900" dirty="0"/>
          </a:p>
        </p:txBody>
      </p:sp>
      <p:sp>
        <p:nvSpPr>
          <p:cNvPr id="41" name="Text 37"/>
          <p:cNvSpPr/>
          <p:nvPr/>
        </p:nvSpPr>
        <p:spPr>
          <a:xfrm>
            <a:off x="3986213" y="3343275"/>
            <a:ext cx="464343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2. Invoke </a:t>
            </a:r>
            <a:r>
              <a:rPr lang="en-US" sz="900" dirty="0">
                <a:solidFill>
                  <a:srgbClr val="CE9178"/>
                </a:solidFill>
                <a:latin typeface="JetBrains Mono" pitchFamily="34" charset="0"/>
                <a:ea typeface="JetBrains Mono" pitchFamily="34" charset="-122"/>
                <a:cs typeface="JetBrains Mono" pitchFamily="34" charset="-120"/>
              </a:rPr>
              <a:t>`orchestrate`</a:t>
            </a: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2" name="Text 38"/>
          <p:cNvSpPr/>
          <p:nvPr/>
        </p:nvSpPr>
        <p:spPr>
          <a:xfrm>
            <a:off x="3729038" y="3529013"/>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13</a:t>
            </a:r>
            <a:endParaRPr lang="en-US" sz="900" dirty="0"/>
          </a:p>
        </p:txBody>
      </p:sp>
      <p:sp>
        <p:nvSpPr>
          <p:cNvPr id="43" name="Text 39"/>
          <p:cNvSpPr/>
          <p:nvPr/>
        </p:nvSpPr>
        <p:spPr>
          <a:xfrm>
            <a:off x="3986213" y="3529013"/>
            <a:ext cx="464343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3. Select exactly one authorized skill.</a:t>
            </a:r>
            <a:endParaRPr lang="en-US" sz="900" dirty="0"/>
          </a:p>
        </p:txBody>
      </p:sp>
      <p:sp>
        <p:nvSpPr>
          <p:cNvPr id="44" name="Shape 40"/>
          <p:cNvSpPr/>
          <p:nvPr/>
        </p:nvSpPr>
        <p:spPr>
          <a:xfrm>
            <a:off x="3729038" y="3786188"/>
            <a:ext cx="4900613" cy="785813"/>
          </a:xfrm>
          <a:prstGeom prst="rect">
            <a:avLst/>
          </a:prstGeom>
          <a:solidFill>
            <a:srgbClr val="FF443A">
              <a:alpha val="10000"/>
            </a:srgbClr>
          </a:solidFill>
          <a:ln w="27432">
            <a:solidFill>
              <a:srgbClr val="FF443A"/>
            </a:solidFill>
            <a:prstDash val="solid"/>
          </a:ln>
        </p:spPr>
      </p:sp>
      <p:sp>
        <p:nvSpPr>
          <p:cNvPr id="45" name="Shape 41"/>
          <p:cNvSpPr/>
          <p:nvPr/>
        </p:nvSpPr>
        <p:spPr>
          <a:xfrm>
            <a:off x="8515350" y="3671888"/>
            <a:ext cx="228600" cy="228600"/>
          </a:xfrm>
          <a:prstGeom prst="rect">
            <a:avLst/>
          </a:prstGeom>
          <a:solidFill>
            <a:srgbClr val="FF443A"/>
          </a:solidFill>
          <a:ln w="18288">
            <a:solidFill>
              <a:srgbClr val="111111"/>
            </a:solidFill>
            <a:prstDash val="solid"/>
          </a:ln>
        </p:spPr>
      </p:sp>
      <p:sp>
        <p:nvSpPr>
          <p:cNvPr id="46" name="Text 42"/>
          <p:cNvSpPr/>
          <p:nvPr/>
        </p:nvSpPr>
        <p:spPr>
          <a:xfrm>
            <a:off x="8515350" y="3671888"/>
            <a:ext cx="228600" cy="228600"/>
          </a:xfrm>
          <a:prstGeom prst="rect">
            <a:avLst/>
          </a:prstGeom>
          <a:noFill/>
          <a:ln/>
        </p:spPr>
        <p:txBody>
          <a:bodyPr wrap="none" lIns="0" tIns="0" rIns="0" bIns="0" rtlCol="0" anchor="ctr">
            <a:spAutoFit/>
          </a:bodyPr>
          <a:lstStyle/>
          <a:p>
            <a:pPr algn="ctr" indent="0" marL="0">
              <a:lnSpc>
                <a:spcPct val="120000"/>
              </a:lnSpc>
              <a:buNone/>
            </a:pPr>
            <a:r>
              <a:rPr lang="en-US" sz="950" dirty="0">
                <a:solidFill>
                  <a:srgbClr val="FFFFFF"/>
                </a:solidFill>
                <a:latin typeface="Oswald SemiBold" pitchFamily="34" charset="0"/>
                <a:ea typeface="Oswald SemiBold" pitchFamily="34" charset="-122"/>
                <a:cs typeface="Oswald SemiBold" pitchFamily="34" charset="-120"/>
              </a:rPr>
              <a:t>2</a:t>
            </a:r>
            <a:endParaRPr lang="en-US" sz="950" dirty="0"/>
          </a:p>
        </p:txBody>
      </p:sp>
      <p:sp>
        <p:nvSpPr>
          <p:cNvPr id="47" name="Text 43"/>
          <p:cNvSpPr/>
          <p:nvPr/>
        </p:nvSpPr>
        <p:spPr>
          <a:xfrm>
            <a:off x="3814763" y="3871913"/>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14</a:t>
            </a:r>
            <a:endParaRPr lang="en-US" sz="900" dirty="0"/>
          </a:p>
        </p:txBody>
      </p:sp>
      <p:sp>
        <p:nvSpPr>
          <p:cNvPr id="48" name="Text 44"/>
          <p:cNvSpPr/>
          <p:nvPr/>
        </p:nvSpPr>
        <p:spPr>
          <a:xfrm>
            <a:off x="4071938" y="3871913"/>
            <a:ext cx="447198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5. Require canonical output and</a:t>
            </a:r>
            <a:endParaRPr lang="en-US" sz="900" dirty="0"/>
          </a:p>
        </p:txBody>
      </p:sp>
      <p:sp>
        <p:nvSpPr>
          <p:cNvPr id="49" name="Text 45"/>
          <p:cNvSpPr/>
          <p:nvPr/>
        </p:nvSpPr>
        <p:spPr>
          <a:xfrm>
            <a:off x="3814763" y="4057650"/>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15</a:t>
            </a:r>
            <a:endParaRPr lang="en-US" sz="900" dirty="0"/>
          </a:p>
        </p:txBody>
      </p:sp>
      <p:sp>
        <p:nvSpPr>
          <p:cNvPr id="50" name="Text 46"/>
          <p:cNvSpPr/>
          <p:nvPr/>
        </p:nvSpPr>
        <p:spPr>
          <a:xfrm>
            <a:off x="4071938" y="4057650"/>
            <a:ext cx="4471988" cy="182166"/>
          </a:xfrm>
          <a:prstGeom prst="rect">
            <a:avLst/>
          </a:prstGeom>
          <a:noFill/>
          <a:ln/>
        </p:spPr>
        <p:txBody>
          <a:bodyPr wrap="none" lIns="0" tIns="0" rIns="0" bIns="0" rtlCol="0" anchor="t">
            <a:spAutoFit/>
          </a:bodyPr>
          <a:lstStyle/>
          <a:p>
            <a:pPr algn="l" indent="0" marL="0">
              <a:lnSpc>
                <a:spcPct val="120000"/>
              </a:lnSpc>
              <a:buNone/>
            </a:pPr>
            <a:r>
              <a:rPr lang="en-US" sz="850" b="1" dirty="0">
                <a:solidFill>
                  <a:srgbClr val="C586C0"/>
                </a:solidFill>
                <a:latin typeface="JetBrains Mono Bold" pitchFamily="34" charset="0"/>
                <a:ea typeface="JetBrains Mono Bold" pitchFamily="34" charset="-122"/>
                <a:cs typeface="JetBrains Mono Bold" pitchFamily="34" charset="-120"/>
              </a:rPr>
              <a:t>`PASS/FAIL/BLOCKED`</a:t>
            </a:r>
            <a:r>
              <a:rPr lang="en-US" sz="900" dirty="0">
                <a:solidFill>
                  <a:srgbClr val="D4D4D4"/>
                </a:solidFill>
                <a:latin typeface="JetBrains Mono" pitchFamily="34" charset="0"/>
                <a:ea typeface="JetBrains Mono" pitchFamily="34" charset="-122"/>
                <a:cs typeface="JetBrains Mono" pitchFamily="34" charset="-120"/>
              </a:rPr>
              <a:t> evidence.</a:t>
            </a:r>
            <a:endParaRPr lang="en-US" sz="900" dirty="0"/>
          </a:p>
        </p:txBody>
      </p:sp>
      <p:sp>
        <p:nvSpPr>
          <p:cNvPr id="51" name="Text 47"/>
          <p:cNvSpPr/>
          <p:nvPr/>
        </p:nvSpPr>
        <p:spPr>
          <a:xfrm>
            <a:off x="3814763" y="4243388"/>
            <a:ext cx="257175" cy="182166"/>
          </a:xfrm>
          <a:prstGeom prst="rect">
            <a:avLst/>
          </a:prstGeom>
          <a:noFill/>
          <a:ln/>
        </p:spPr>
        <p:txBody>
          <a:bodyPr wrap="none" lIns="0" tIns="0" rIns="102108" bIns="0" rtlCol="0" anchor="t">
            <a:spAutoFit/>
          </a:bodyPr>
          <a:lstStyle/>
          <a:p>
            <a:pPr algn="r" indent="0" marL="0">
              <a:lnSpc>
                <a:spcPct val="120000"/>
              </a:lnSpc>
              <a:buNone/>
            </a:pPr>
            <a:r>
              <a:rPr lang="en-US" sz="900" dirty="0">
                <a:solidFill>
                  <a:srgbClr val="858585"/>
                </a:solidFill>
                <a:latin typeface="JetBrains Mono" pitchFamily="34" charset="0"/>
                <a:ea typeface="JetBrains Mono" pitchFamily="34" charset="-122"/>
                <a:cs typeface="JetBrains Mono" pitchFamily="34" charset="-120"/>
              </a:rPr>
              <a:t>16</a:t>
            </a:r>
            <a:endParaRPr lang="en-US" sz="900" dirty="0"/>
          </a:p>
        </p:txBody>
      </p:sp>
      <p:sp>
        <p:nvSpPr>
          <p:cNvPr id="52" name="Text 48"/>
          <p:cNvSpPr/>
          <p:nvPr/>
        </p:nvSpPr>
        <p:spPr>
          <a:xfrm>
            <a:off x="4071938" y="4243388"/>
            <a:ext cx="4471988"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7. Stop after one skill.</a:t>
            </a:r>
            <a:endParaRPr lang="en-US" sz="900" dirty="0"/>
          </a:p>
        </p:txBody>
      </p:sp>
      <p:sp>
        <p:nvSpPr>
          <p:cNvPr id="53" name="Shape 49"/>
          <p:cNvSpPr/>
          <p:nvPr/>
        </p:nvSpPr>
        <p:spPr>
          <a:xfrm>
            <a:off x="0" y="4814888"/>
            <a:ext cx="9144000" cy="328613"/>
          </a:xfrm>
          <a:prstGeom prst="rect">
            <a:avLst/>
          </a:prstGeom>
          <a:solidFill>
            <a:srgbClr val="0055FF"/>
          </a:solidFill>
          <a:ln/>
        </p:spPr>
      </p:sp>
      <p:sp>
        <p:nvSpPr>
          <p:cNvPr id="54" name="Shape 50"/>
          <p:cNvSpPr/>
          <p:nvPr/>
        </p:nvSpPr>
        <p:spPr>
          <a:xfrm>
            <a:off x="0" y="4814888"/>
            <a:ext cx="9144000" cy="28575"/>
          </a:xfrm>
          <a:prstGeom prst="rect">
            <a:avLst/>
          </a:prstGeom>
          <a:solidFill>
            <a:srgbClr val="111111"/>
          </a:solidFill>
          <a:ln/>
        </p:spPr>
      </p:sp>
      <p:sp>
        <p:nvSpPr>
          <p:cNvPr id="55" name="Text 51"/>
          <p:cNvSpPr/>
          <p:nvPr/>
        </p:nvSpPr>
        <p:spPr>
          <a:xfrm>
            <a:off x="300038" y="4918472"/>
            <a:ext cx="1218009" cy="121444"/>
          </a:xfrm>
          <a:prstGeom prst="rect">
            <a:avLst/>
          </a:prstGeom>
          <a:noFill/>
          <a:ln/>
        </p:spPr>
        <p:txBody>
          <a:bodyPr wrap="non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STEP 1: THE REQUEST</a:t>
            </a:r>
            <a:endParaRPr lang="en-US" sz="700" dirty="0"/>
          </a:p>
        </p:txBody>
      </p:sp>
      <p:sp>
        <p:nvSpPr>
          <p:cNvPr id="56" name="Text 52"/>
          <p:cNvSpPr/>
          <p:nvPr/>
        </p:nvSpPr>
        <p:spPr>
          <a:xfrm>
            <a:off x="6186488" y="4918472"/>
            <a:ext cx="2657475"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SOURCE: .GITHUB/COPILOT-INSTRUCTIONS.MD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14300" y="57150"/>
            <a:ext cx="8915400" cy="400050"/>
          </a:xfrm>
          <a:prstGeom prst="rect">
            <a:avLst/>
          </a:prstGeom>
          <a:solidFill>
            <a:srgbClr val="000000">
              <a:alpha val="0"/>
            </a:srgbClr>
          </a:solidFill>
          <a:ln/>
        </p:spPr>
      </p:sp>
      <p:sp>
        <p:nvSpPr>
          <p:cNvPr id="5" name="Shape 1"/>
          <p:cNvSpPr/>
          <p:nvPr/>
        </p:nvSpPr>
        <p:spPr>
          <a:xfrm>
            <a:off x="114300" y="428625"/>
            <a:ext cx="8915400" cy="28575"/>
          </a:xfrm>
          <a:prstGeom prst="rect">
            <a:avLst/>
          </a:prstGeom>
          <a:solidFill>
            <a:srgbClr val="111111"/>
          </a:solidFill>
          <a:ln/>
        </p:spPr>
      </p:sp>
      <p:sp>
        <p:nvSpPr>
          <p:cNvPr id="6" name="Text 2"/>
          <p:cNvSpPr/>
          <p:nvPr/>
        </p:nvSpPr>
        <p:spPr>
          <a:xfrm>
            <a:off x="114300" y="57150"/>
            <a:ext cx="3353991" cy="225028"/>
          </a:xfrm>
          <a:prstGeom prst="rect">
            <a:avLst/>
          </a:prstGeom>
          <a:noFill/>
          <a:ln/>
        </p:spPr>
        <p:txBody>
          <a:bodyPr wrap="none" lIns="0" tIns="0" rIns="0" bIns="0" rtlCol="0" anchor="t">
            <a:spAutoFit/>
          </a:bodyPr>
          <a:lstStyle/>
          <a:p>
            <a:pPr algn="l" indent="0" marL="0">
              <a:lnSpc>
                <a:spcPct val="84000"/>
              </a:lnSpc>
              <a:buNone/>
            </a:pPr>
            <a:r>
              <a:rPr lang="en-US" sz="1500" b="1" dirty="0">
                <a:solidFill>
                  <a:srgbClr val="111111"/>
                </a:solidFill>
                <a:latin typeface="Oswald SemiBold" pitchFamily="34" charset="0"/>
                <a:ea typeface="Oswald SemiBold" pitchFamily="34" charset="-122"/>
                <a:cs typeface="Oswald SemiBold" pitchFamily="34" charset="-120"/>
              </a:rPr>
              <a:t>AGENTS.MD: THE OPERATING CONTRACT</a:t>
            </a:r>
            <a:endParaRPr lang="en-US" sz="1500" dirty="0"/>
          </a:p>
        </p:txBody>
      </p:sp>
      <p:sp>
        <p:nvSpPr>
          <p:cNvPr id="7" name="Text 3"/>
          <p:cNvSpPr/>
          <p:nvPr/>
        </p:nvSpPr>
        <p:spPr>
          <a:xfrm>
            <a:off x="114300" y="296466"/>
            <a:ext cx="3353991" cy="160734"/>
          </a:xfrm>
          <a:prstGeom prst="rect">
            <a:avLst/>
          </a:prstGeom>
          <a:noFill/>
          <a:ln/>
        </p:spPr>
        <p:txBody>
          <a:bodyPr wrap="square" lIns="0" tIns="0" rIns="0" bIns="0" rtlCol="0" anchor="t">
            <a:spAutoFit/>
          </a:bodyPr>
          <a:lstStyle/>
          <a:p>
            <a:pPr algn="l" indent="0" marL="0">
              <a:buNone/>
            </a:pPr>
            <a:r>
              <a:rPr lang="en-US" sz="750" dirty="0">
                <a:solidFill>
                  <a:srgbClr val="0055FF"/>
                </a:solidFill>
                <a:latin typeface="Kalam Bold" pitchFamily="34" charset="0"/>
                <a:ea typeface="Kalam Bold" pitchFamily="34" charset="-122"/>
                <a:cs typeface="Kalam Bold" pitchFamily="34" charset="-120"/>
              </a:rPr>
              <a:t>What to read, what may run, and who owns each decision.</a:t>
            </a:r>
            <a:endParaRPr lang="en-US" sz="750" dirty="0"/>
          </a:p>
        </p:txBody>
      </p:sp>
      <p:sp>
        <p:nvSpPr>
          <p:cNvPr id="8" name="Shape 4"/>
          <p:cNvSpPr/>
          <p:nvPr/>
        </p:nvSpPr>
        <p:spPr>
          <a:xfrm>
            <a:off x="114300" y="528638"/>
            <a:ext cx="2286000" cy="644947"/>
          </a:xfrm>
          <a:prstGeom prst="rect">
            <a:avLst/>
          </a:prstGeom>
          <a:solidFill>
            <a:srgbClr val="FFFFFF"/>
          </a:solidFill>
          <a:ln w="18288">
            <a:solidFill>
              <a:srgbClr val="111111"/>
            </a:solidFill>
            <a:prstDash val="solid"/>
          </a:ln>
        </p:spPr>
      </p:sp>
      <p:sp>
        <p:nvSpPr>
          <p:cNvPr id="9" name="Shape 5"/>
          <p:cNvSpPr/>
          <p:nvPr/>
        </p:nvSpPr>
        <p:spPr>
          <a:xfrm>
            <a:off x="157163" y="571500"/>
            <a:ext cx="185738" cy="185738"/>
          </a:xfrm>
          <a:prstGeom prst="rect">
            <a:avLst/>
          </a:prstGeom>
          <a:solidFill>
            <a:srgbClr val="FF443A"/>
          </a:solidFill>
          <a:ln w="18288">
            <a:solidFill>
              <a:srgbClr val="111111"/>
            </a:solidFill>
            <a:prstDash val="solid"/>
          </a:ln>
        </p:spPr>
      </p:sp>
      <p:sp>
        <p:nvSpPr>
          <p:cNvPr id="10" name="Text 6"/>
          <p:cNvSpPr/>
          <p:nvPr/>
        </p:nvSpPr>
        <p:spPr>
          <a:xfrm>
            <a:off x="157163" y="571500"/>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428625" y="585788"/>
            <a:ext cx="1900238"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55FF"/>
                </a:solidFill>
                <a:latin typeface="Oswald SemiBold" pitchFamily="34" charset="0"/>
                <a:ea typeface="Oswald SemiBold" pitchFamily="34" charset="-122"/>
                <a:cs typeface="Oswald SemiBold" pitchFamily="34" charset="-120"/>
              </a:rPr>
              <a:t>READ ORDER</a:t>
            </a:r>
            <a:endParaRPr lang="en-US" sz="800" dirty="0"/>
          </a:p>
        </p:txBody>
      </p:sp>
      <p:sp>
        <p:nvSpPr>
          <p:cNvPr id="12" name="Text 8"/>
          <p:cNvSpPr/>
          <p:nvPr/>
        </p:nvSpPr>
        <p:spPr>
          <a:xfrm>
            <a:off x="428625" y="728663"/>
            <a:ext cx="1900238" cy="344909"/>
          </a:xfrm>
          <a:prstGeom prst="rect">
            <a:avLst/>
          </a:prstGeom>
          <a:noFill/>
          <a:ln/>
        </p:spPr>
        <p:txBody>
          <a:bodyPr wrap="square" lIns="0" tIns="0" rIns="0" bIns="0" rtlCol="0" anchor="t">
            <a:spAutoFit/>
          </a:bodyPr>
          <a:lstStyle/>
          <a:p>
            <a:pPr algn="l" indent="0" marL="0">
              <a:lnSpc>
                <a:spcPct val="92000"/>
              </a:lnSpc>
              <a:buNone/>
            </a:pPr>
            <a:r>
              <a:rPr lang="en-US" sz="700" b="1" dirty="0">
                <a:solidFill>
                  <a:srgbClr val="30343B"/>
                </a:solidFill>
                <a:latin typeface="Inter SemiBold" pitchFamily="34" charset="0"/>
                <a:ea typeface="Inter SemiBold" pitchFamily="34" charset="-122"/>
                <a:cs typeface="Inter SemiBold" pitchFamily="34" charset="-120"/>
              </a:rPr>
              <a:t>Forces the AI to load the business constraints, run state, and exact stage rules.</a:t>
            </a:r>
            <a:endParaRPr lang="en-US" sz="700" dirty="0"/>
          </a:p>
        </p:txBody>
      </p:sp>
      <p:sp>
        <p:nvSpPr>
          <p:cNvPr id="13" name="Shape 9"/>
          <p:cNvSpPr/>
          <p:nvPr/>
        </p:nvSpPr>
        <p:spPr>
          <a:xfrm>
            <a:off x="114300" y="1202159"/>
            <a:ext cx="2286000" cy="529977"/>
          </a:xfrm>
          <a:prstGeom prst="rect">
            <a:avLst/>
          </a:prstGeom>
          <a:solidFill>
            <a:srgbClr val="FFFFFF"/>
          </a:solidFill>
          <a:ln w="18288">
            <a:solidFill>
              <a:srgbClr val="111111"/>
            </a:solidFill>
            <a:prstDash val="solid"/>
          </a:ln>
        </p:spPr>
      </p:sp>
      <p:sp>
        <p:nvSpPr>
          <p:cNvPr id="14" name="Shape 10"/>
          <p:cNvSpPr/>
          <p:nvPr/>
        </p:nvSpPr>
        <p:spPr>
          <a:xfrm>
            <a:off x="157163" y="1245022"/>
            <a:ext cx="185738" cy="185738"/>
          </a:xfrm>
          <a:prstGeom prst="rect">
            <a:avLst/>
          </a:prstGeom>
          <a:solidFill>
            <a:srgbClr val="FF443A"/>
          </a:solidFill>
          <a:ln w="18288">
            <a:solidFill>
              <a:srgbClr val="111111"/>
            </a:solidFill>
            <a:prstDash val="solid"/>
          </a:ln>
        </p:spPr>
      </p:sp>
      <p:sp>
        <p:nvSpPr>
          <p:cNvPr id="15" name="Text 11"/>
          <p:cNvSpPr/>
          <p:nvPr/>
        </p:nvSpPr>
        <p:spPr>
          <a:xfrm>
            <a:off x="157163" y="124502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6" name="Text 12"/>
          <p:cNvSpPr/>
          <p:nvPr/>
        </p:nvSpPr>
        <p:spPr>
          <a:xfrm>
            <a:off x="428625" y="1259309"/>
            <a:ext cx="1900238"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55FF"/>
                </a:solidFill>
                <a:latin typeface="Oswald SemiBold" pitchFamily="34" charset="0"/>
                <a:ea typeface="Oswald SemiBold" pitchFamily="34" charset="-122"/>
                <a:cs typeface="Oswald SemiBold" pitchFamily="34" charset="-120"/>
              </a:rPr>
              <a:t>SKILL SEQUENCE</a:t>
            </a:r>
            <a:endParaRPr lang="en-US" sz="800" dirty="0"/>
          </a:p>
        </p:txBody>
      </p:sp>
      <p:sp>
        <p:nvSpPr>
          <p:cNvPr id="17" name="Text 13"/>
          <p:cNvSpPr/>
          <p:nvPr/>
        </p:nvSpPr>
        <p:spPr>
          <a:xfrm>
            <a:off x="428625" y="1402184"/>
            <a:ext cx="1900238" cy="229939"/>
          </a:xfrm>
          <a:prstGeom prst="rect">
            <a:avLst/>
          </a:prstGeom>
          <a:noFill/>
          <a:ln/>
        </p:spPr>
        <p:txBody>
          <a:bodyPr wrap="square" lIns="0" tIns="0" rIns="0" bIns="0" rtlCol="0" anchor="t">
            <a:spAutoFit/>
          </a:bodyPr>
          <a:lstStyle/>
          <a:p>
            <a:pPr algn="l" indent="0" marL="0">
              <a:lnSpc>
                <a:spcPct val="92000"/>
              </a:lnSpc>
              <a:buNone/>
            </a:pPr>
            <a:r>
              <a:rPr lang="en-US" sz="700" b="1" dirty="0">
                <a:solidFill>
                  <a:srgbClr val="30343B"/>
                </a:solidFill>
                <a:latin typeface="Inter SemiBold" pitchFamily="34" charset="0"/>
                <a:ea typeface="Inter SemiBold" pitchFamily="34" charset="-122"/>
                <a:cs typeface="Inter SemiBold" pitchFamily="34" charset="-120"/>
              </a:rPr>
              <a:t>Defines the only permitted order of execution.</a:t>
            </a:r>
            <a:endParaRPr lang="en-US" sz="700" dirty="0"/>
          </a:p>
        </p:txBody>
      </p:sp>
      <p:sp>
        <p:nvSpPr>
          <p:cNvPr id="18" name="Shape 14"/>
          <p:cNvSpPr/>
          <p:nvPr/>
        </p:nvSpPr>
        <p:spPr>
          <a:xfrm>
            <a:off x="114300" y="1760711"/>
            <a:ext cx="2286000" cy="644947"/>
          </a:xfrm>
          <a:prstGeom prst="rect">
            <a:avLst/>
          </a:prstGeom>
          <a:solidFill>
            <a:srgbClr val="FFFFFF"/>
          </a:solidFill>
          <a:ln w="18288">
            <a:solidFill>
              <a:srgbClr val="111111"/>
            </a:solidFill>
            <a:prstDash val="solid"/>
          </a:ln>
        </p:spPr>
      </p:sp>
      <p:sp>
        <p:nvSpPr>
          <p:cNvPr id="19" name="Shape 15"/>
          <p:cNvSpPr/>
          <p:nvPr/>
        </p:nvSpPr>
        <p:spPr>
          <a:xfrm>
            <a:off x="157163" y="1803574"/>
            <a:ext cx="185738" cy="185738"/>
          </a:xfrm>
          <a:prstGeom prst="rect">
            <a:avLst/>
          </a:prstGeom>
          <a:solidFill>
            <a:srgbClr val="FF443A"/>
          </a:solidFill>
          <a:ln w="18288">
            <a:solidFill>
              <a:srgbClr val="111111"/>
            </a:solidFill>
            <a:prstDash val="solid"/>
          </a:ln>
        </p:spPr>
      </p:sp>
      <p:sp>
        <p:nvSpPr>
          <p:cNvPr id="20" name="Text 16"/>
          <p:cNvSpPr/>
          <p:nvPr/>
        </p:nvSpPr>
        <p:spPr>
          <a:xfrm>
            <a:off x="157163" y="1803574"/>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21" name="Text 17"/>
          <p:cNvSpPr/>
          <p:nvPr/>
        </p:nvSpPr>
        <p:spPr>
          <a:xfrm>
            <a:off x="428625" y="1817861"/>
            <a:ext cx="1900238"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55FF"/>
                </a:solidFill>
                <a:latin typeface="Oswald SemiBold" pitchFamily="34" charset="0"/>
                <a:ea typeface="Oswald SemiBold" pitchFamily="34" charset="-122"/>
                <a:cs typeface="Oswald SemiBold" pitchFamily="34" charset="-120"/>
              </a:rPr>
              <a:t>ROLES &amp; AUTHORITY</a:t>
            </a:r>
            <a:endParaRPr lang="en-US" sz="800" dirty="0"/>
          </a:p>
        </p:txBody>
      </p:sp>
      <p:sp>
        <p:nvSpPr>
          <p:cNvPr id="22" name="Text 18"/>
          <p:cNvSpPr/>
          <p:nvPr/>
        </p:nvSpPr>
        <p:spPr>
          <a:xfrm>
            <a:off x="428625" y="1960736"/>
            <a:ext cx="1900238" cy="229939"/>
          </a:xfrm>
          <a:prstGeom prst="rect">
            <a:avLst/>
          </a:prstGeom>
          <a:noFill/>
          <a:ln/>
        </p:spPr>
        <p:txBody>
          <a:bodyPr wrap="square" lIns="0" tIns="0" rIns="0" bIns="0" rtlCol="0" anchor="t">
            <a:spAutoFit/>
          </a:bodyPr>
          <a:lstStyle/>
          <a:p>
            <a:pPr algn="l" indent="0" marL="0">
              <a:lnSpc>
                <a:spcPct val="92000"/>
              </a:lnSpc>
              <a:buNone/>
            </a:pPr>
            <a:r>
              <a:rPr lang="en-US" sz="700" b="1" dirty="0">
                <a:solidFill>
                  <a:srgbClr val="30343B"/>
                </a:solidFill>
                <a:latin typeface="Inter SemiBold" pitchFamily="34" charset="0"/>
                <a:ea typeface="Inter SemiBold" pitchFamily="34" charset="-122"/>
                <a:cs typeface="Inter SemiBold" pitchFamily="34" charset="-120"/>
              </a:rPr>
              <a:t>Separates analysis, building, diagnosis, checking, routing, and human approval.</a:t>
            </a:r>
            <a:endParaRPr lang="en-US" sz="700" dirty="0"/>
          </a:p>
        </p:txBody>
      </p:sp>
      <p:sp>
        <p:nvSpPr>
          <p:cNvPr id="23" name="Shape 19"/>
          <p:cNvSpPr/>
          <p:nvPr/>
        </p:nvSpPr>
        <p:spPr>
          <a:xfrm>
            <a:off x="2486025" y="514350"/>
            <a:ext cx="6543675" cy="4357688"/>
          </a:xfrm>
          <a:prstGeom prst="rect">
            <a:avLst/>
          </a:prstGeom>
          <a:solidFill>
            <a:srgbClr val="1E1E1E"/>
          </a:solidFill>
          <a:ln w="18288">
            <a:solidFill>
              <a:srgbClr val="111111"/>
            </a:solidFill>
            <a:prstDash val="solid"/>
          </a:ln>
        </p:spPr>
      </p:sp>
      <p:sp>
        <p:nvSpPr>
          <p:cNvPr id="24" name="Shape 20"/>
          <p:cNvSpPr/>
          <p:nvPr/>
        </p:nvSpPr>
        <p:spPr>
          <a:xfrm>
            <a:off x="2486025" y="514350"/>
            <a:ext cx="6543675" cy="214313"/>
          </a:xfrm>
          <a:prstGeom prst="rect">
            <a:avLst/>
          </a:prstGeom>
          <a:solidFill>
            <a:srgbClr val="323233"/>
          </a:solidFill>
          <a:ln/>
        </p:spPr>
      </p:sp>
      <p:sp>
        <p:nvSpPr>
          <p:cNvPr id="25" name="Shape 21"/>
          <p:cNvSpPr/>
          <p:nvPr/>
        </p:nvSpPr>
        <p:spPr>
          <a:xfrm>
            <a:off x="2486025" y="714375"/>
            <a:ext cx="6543675" cy="14288"/>
          </a:xfrm>
          <a:prstGeom prst="rect">
            <a:avLst/>
          </a:prstGeom>
          <a:solidFill>
            <a:srgbClr val="111111"/>
          </a:solidFill>
          <a:ln/>
        </p:spPr>
      </p:sp>
      <p:sp>
        <p:nvSpPr>
          <p:cNvPr id="26" name="Shape 22"/>
          <p:cNvSpPr/>
          <p:nvPr/>
        </p:nvSpPr>
        <p:spPr>
          <a:xfrm>
            <a:off x="2914650" y="521494"/>
            <a:ext cx="660797" cy="200025"/>
          </a:xfrm>
          <a:prstGeom prst="rect">
            <a:avLst/>
          </a:prstGeom>
          <a:solidFill>
            <a:srgbClr val="1E1E1E"/>
          </a:solidFill>
          <a:ln/>
        </p:spPr>
      </p:sp>
      <p:sp>
        <p:nvSpPr>
          <p:cNvPr id="27" name="Shape 23"/>
          <p:cNvSpPr/>
          <p:nvPr/>
        </p:nvSpPr>
        <p:spPr>
          <a:xfrm>
            <a:off x="2914650" y="521494"/>
            <a:ext cx="660797" cy="28575"/>
          </a:xfrm>
          <a:prstGeom prst="rect">
            <a:avLst/>
          </a:prstGeom>
          <a:solidFill>
            <a:srgbClr val="0055FF"/>
          </a:solidFill>
          <a:ln/>
        </p:spPr>
      </p:sp>
      <p:sp>
        <p:nvSpPr>
          <p:cNvPr id="28" name="Text 24"/>
          <p:cNvSpPr/>
          <p:nvPr/>
        </p:nvSpPr>
        <p:spPr>
          <a:xfrm>
            <a:off x="2914650" y="521494"/>
            <a:ext cx="660797" cy="200025"/>
          </a:xfrm>
          <a:prstGeom prst="rect">
            <a:avLst/>
          </a:prstGeom>
          <a:noFill/>
          <a:ln/>
        </p:spPr>
        <p:txBody>
          <a:bodyPr wrap="none" lIns="85090" tIns="34036" rIns="85090" bIns="0" rtlCol="0" anchor="t">
            <a:spAutoFit/>
          </a:bodyPr>
          <a:lstStyle/>
          <a:p>
            <a:pPr algn="l" indent="0" marL="0">
              <a:buNone/>
            </a:pPr>
            <a:r>
              <a:rPr lang="en-US" sz="600" b="1" dirty="0">
                <a:solidFill>
                  <a:srgbClr val="D4D4D4"/>
                </a:solidFill>
                <a:latin typeface="Inter Bold" pitchFamily="34" charset="0"/>
                <a:ea typeface="Inter Bold" pitchFamily="34" charset="-122"/>
                <a:cs typeface="Inter Bold" pitchFamily="34" charset="-120"/>
              </a:rPr>
              <a:t>AGENTS.md</a:t>
            </a:r>
            <a:endParaRPr lang="en-US" sz="600" dirty="0"/>
          </a:p>
        </p:txBody>
      </p:sp>
      <p:sp>
        <p:nvSpPr>
          <p:cNvPr id="29" name="Text 25"/>
          <p:cNvSpPr/>
          <p:nvPr/>
        </p:nvSpPr>
        <p:spPr>
          <a:xfrm>
            <a:off x="8072438" y="578644"/>
            <a:ext cx="900113" cy="85725"/>
          </a:xfrm>
          <a:prstGeom prst="rect">
            <a:avLst/>
          </a:prstGeom>
          <a:noFill/>
          <a:ln/>
        </p:spPr>
        <p:txBody>
          <a:bodyPr wrap="none" lIns="0" tIns="0" rIns="0" bIns="0" rtlCol="0" anchor="t">
            <a:spAutoFit/>
          </a:bodyPr>
          <a:lstStyle/>
          <a:p>
            <a:pPr algn="l" indent="0" marL="0">
              <a:buNone/>
            </a:pPr>
            <a:r>
              <a:rPr lang="en-US" sz="500" b="1" spc="1" kern="0" dirty="0">
                <a:solidFill>
                  <a:srgbClr val="9CDCFE"/>
                </a:solidFill>
                <a:latin typeface="Inter SemiBold" pitchFamily="34" charset="0"/>
                <a:ea typeface="Inter SemiBold" pitchFamily="34" charset="-122"/>
                <a:cs typeface="Inter SemiBold" pitchFamily="34" charset="-120"/>
              </a:rPr>
              <a:t>MARKDOWN PREVIEW</a:t>
            </a:r>
            <a:endParaRPr lang="en-US" sz="500" dirty="0"/>
          </a:p>
        </p:txBody>
      </p:sp>
      <p:sp>
        <p:nvSpPr>
          <p:cNvPr id="30" name="Shape 26"/>
          <p:cNvSpPr/>
          <p:nvPr/>
        </p:nvSpPr>
        <p:spPr>
          <a:xfrm>
            <a:off x="2486025" y="728663"/>
            <a:ext cx="6543675" cy="4143375"/>
          </a:xfrm>
          <a:prstGeom prst="rect">
            <a:avLst/>
          </a:prstGeom>
          <a:solidFill>
            <a:srgbClr val="FFFFFF"/>
          </a:solidFill>
          <a:ln/>
        </p:spPr>
      </p:sp>
      <p:sp>
        <p:nvSpPr>
          <p:cNvPr id="31" name="Text 27"/>
          <p:cNvSpPr/>
          <p:nvPr/>
        </p:nvSpPr>
        <p:spPr>
          <a:xfrm>
            <a:off x="2571750" y="800100"/>
            <a:ext cx="6372225" cy="203597"/>
          </a:xfrm>
          <a:prstGeom prst="rect">
            <a:avLst/>
          </a:prstGeom>
          <a:noFill/>
          <a:ln/>
        </p:spPr>
        <p:txBody>
          <a:bodyPr wrap="none" lIns="0" tIns="0" rIns="0" bIns="34036" rtlCol="0" anchor="t">
            <a:spAutoFit/>
          </a:bodyPr>
          <a:lstStyle/>
          <a:p>
            <a:pPr algn="l" indent="0" marL="0">
              <a:lnSpc>
                <a:spcPct val="100000"/>
              </a:lnSpc>
              <a:buNone/>
            </a:pPr>
            <a:r>
              <a:rPr lang="en-US" sz="900" b="1" dirty="0">
                <a:solidFill>
                  <a:srgbClr val="222222"/>
                </a:solidFill>
                <a:latin typeface="Inter Bold" pitchFamily="34" charset="0"/>
                <a:ea typeface="Inter Bold" pitchFamily="34" charset="-122"/>
                <a:cs typeface="Inter Bold" pitchFamily="34" charset="-120"/>
              </a:rPr>
              <a:t>Agent Operating Contract</a:t>
            </a:r>
            <a:endParaRPr lang="en-US" sz="900" dirty="0"/>
          </a:p>
        </p:txBody>
      </p:sp>
      <p:sp>
        <p:nvSpPr>
          <p:cNvPr id="32" name="Shape 28"/>
          <p:cNvSpPr/>
          <p:nvPr/>
        </p:nvSpPr>
        <p:spPr>
          <a:xfrm>
            <a:off x="2571750" y="1060847"/>
            <a:ext cx="6372225" cy="1271588"/>
          </a:xfrm>
          <a:prstGeom prst="rect">
            <a:avLst/>
          </a:prstGeom>
          <a:solidFill>
            <a:srgbClr val="FFF8F7"/>
          </a:solidFill>
          <a:ln w="18288">
            <a:solidFill>
              <a:srgbClr val="FF443A"/>
            </a:solidFill>
            <a:prstDash val="solid"/>
          </a:ln>
        </p:spPr>
      </p:sp>
      <p:sp>
        <p:nvSpPr>
          <p:cNvPr id="33" name="Shape 29"/>
          <p:cNvSpPr/>
          <p:nvPr/>
        </p:nvSpPr>
        <p:spPr>
          <a:xfrm>
            <a:off x="8829675" y="1003697"/>
            <a:ext cx="171450" cy="171450"/>
          </a:xfrm>
          <a:prstGeom prst="rect">
            <a:avLst/>
          </a:prstGeom>
          <a:solidFill>
            <a:srgbClr val="FF443A"/>
          </a:solidFill>
          <a:ln w="18288">
            <a:solidFill>
              <a:srgbClr val="111111"/>
            </a:solidFill>
            <a:prstDash val="solid"/>
          </a:ln>
        </p:spPr>
      </p:sp>
      <p:sp>
        <p:nvSpPr>
          <p:cNvPr id="34" name="Text 30"/>
          <p:cNvSpPr/>
          <p:nvPr/>
        </p:nvSpPr>
        <p:spPr>
          <a:xfrm>
            <a:off x="8829675" y="1003697"/>
            <a:ext cx="171450" cy="171450"/>
          </a:xfrm>
          <a:prstGeom prst="rect">
            <a:avLst/>
          </a:prstGeom>
          <a:noFill/>
          <a:ln/>
        </p:spPr>
        <p:txBody>
          <a:bodyPr wrap="none" lIns="0" tIns="0" rIns="0" bIns="0" rtlCol="0" anchor="ctr">
            <a:spAutoFit/>
          </a:bodyPr>
          <a:lstStyle/>
          <a:p>
            <a:pPr algn="ctr" indent="0" marL="0">
              <a:lnSpc>
                <a:spcPct val="100000"/>
              </a:lnSpc>
              <a:buNone/>
            </a:pPr>
            <a:r>
              <a:rPr lang="en-US" sz="750" dirty="0">
                <a:solidFill>
                  <a:srgbClr val="FFFFFF"/>
                </a:solidFill>
                <a:latin typeface="Oswald SemiBold" pitchFamily="34" charset="0"/>
                <a:ea typeface="Oswald SemiBold" pitchFamily="34" charset="-122"/>
                <a:cs typeface="Oswald SemiBold" pitchFamily="34" charset="-120"/>
              </a:rPr>
              <a:t>1</a:t>
            </a:r>
            <a:endParaRPr lang="en-US" sz="750" dirty="0"/>
          </a:p>
        </p:txBody>
      </p:sp>
      <p:sp>
        <p:nvSpPr>
          <p:cNvPr id="35" name="Text 31"/>
          <p:cNvSpPr/>
          <p:nvPr/>
        </p:nvSpPr>
        <p:spPr>
          <a:xfrm>
            <a:off x="2643188" y="1117997"/>
            <a:ext cx="6229350" cy="142875"/>
          </a:xfrm>
          <a:prstGeom prst="rect">
            <a:avLst/>
          </a:prstGeom>
          <a:noFill/>
          <a:ln/>
        </p:spPr>
        <p:txBody>
          <a:bodyPr wrap="none" lIns="0" tIns="0" rIns="0" bIns="0" rtlCol="0" anchor="t">
            <a:spAutoFit/>
          </a:bodyPr>
          <a:lstStyle/>
          <a:p>
            <a:pPr algn="l" indent="0" marL="0">
              <a:lnSpc>
                <a:spcPct val="100000"/>
              </a:lnSpc>
              <a:buNone/>
            </a:pPr>
            <a:r>
              <a:rPr lang="en-US" sz="800" b="1" dirty="0">
                <a:solidFill>
                  <a:srgbClr val="111111"/>
                </a:solidFill>
                <a:latin typeface="Inter Bold" pitchFamily="34" charset="0"/>
                <a:ea typeface="Inter Bold" pitchFamily="34" charset="-122"/>
                <a:cs typeface="Inter Bold" pitchFamily="34" charset="-120"/>
              </a:rPr>
              <a:t>Mandatory read order</a:t>
            </a:r>
            <a:endParaRPr lang="en-US" sz="800" dirty="0"/>
          </a:p>
        </p:txBody>
      </p:sp>
      <p:sp>
        <p:nvSpPr>
          <p:cNvPr id="36" name="Shape 32"/>
          <p:cNvSpPr/>
          <p:nvPr/>
        </p:nvSpPr>
        <p:spPr>
          <a:xfrm>
            <a:off x="2643188" y="1303734"/>
            <a:ext cx="6229350" cy="157163"/>
          </a:xfrm>
          <a:prstGeom prst="rect">
            <a:avLst/>
          </a:prstGeom>
          <a:solidFill>
            <a:srgbClr val="FFFFFF"/>
          </a:solidFill>
          <a:ln w="9144">
            <a:solidFill>
              <a:srgbClr val="D0D7DE"/>
            </a:solidFill>
            <a:prstDash val="solid"/>
          </a:ln>
        </p:spPr>
      </p:sp>
      <p:sp>
        <p:nvSpPr>
          <p:cNvPr id="37" name="Shape 33"/>
          <p:cNvSpPr/>
          <p:nvPr/>
        </p:nvSpPr>
        <p:spPr>
          <a:xfrm>
            <a:off x="2643188" y="1303734"/>
            <a:ext cx="171450" cy="157163"/>
          </a:xfrm>
          <a:prstGeom prst="rect">
            <a:avLst/>
          </a:prstGeom>
          <a:solidFill>
            <a:srgbClr val="EAF1FF"/>
          </a:solidFill>
          <a:ln/>
        </p:spPr>
      </p:sp>
      <p:sp>
        <p:nvSpPr>
          <p:cNvPr id="38" name="Text 34"/>
          <p:cNvSpPr/>
          <p:nvPr/>
        </p:nvSpPr>
        <p:spPr>
          <a:xfrm>
            <a:off x="2643188" y="1303734"/>
            <a:ext cx="171450" cy="157163"/>
          </a:xfrm>
          <a:prstGeom prst="rect">
            <a:avLst/>
          </a:prstGeom>
          <a:noFill/>
          <a:ln/>
        </p:spPr>
        <p:txBody>
          <a:bodyPr wrap="none" lIns="0" tIns="0" rIns="0" bIns="0" rtlCol="0" anchor="ctr">
            <a:spAutoFit/>
          </a:bodyPr>
          <a:lstStyle/>
          <a:p>
            <a:pPr algn="ctr" indent="0" marL="0">
              <a:lnSpc>
                <a:spcPct val="100000"/>
              </a:lnSpc>
              <a:buNone/>
            </a:pPr>
            <a:r>
              <a:rPr lang="en-US" sz="650" b="1" dirty="0">
                <a:solidFill>
                  <a:srgbClr val="0055FF"/>
                </a:solidFill>
                <a:latin typeface="Oswald SemiBold" pitchFamily="34" charset="0"/>
                <a:ea typeface="Oswald SemiBold" pitchFamily="34" charset="-122"/>
                <a:cs typeface="Oswald SemiBold" pitchFamily="34" charset="-120"/>
              </a:rPr>
              <a:t>1</a:t>
            </a:r>
            <a:endParaRPr lang="en-US" sz="650" dirty="0"/>
          </a:p>
        </p:txBody>
      </p:sp>
      <p:sp>
        <p:nvSpPr>
          <p:cNvPr id="39" name="Text 35"/>
          <p:cNvSpPr/>
          <p:nvPr/>
        </p:nvSpPr>
        <p:spPr>
          <a:xfrm>
            <a:off x="2814638" y="1313724"/>
            <a:ext cx="6057900" cy="137127"/>
          </a:xfrm>
          <a:prstGeom prst="rect">
            <a:avLst/>
          </a:prstGeom>
          <a:noFill/>
          <a:ln/>
        </p:spPr>
        <p:txBody>
          <a:bodyPr wrap="none" lIns="68072" tIns="25527" rIns="68072" bIns="25527" rtlCol="0" anchor="t">
            <a:spAutoFit/>
          </a:bodyPr>
          <a:lstStyle/>
          <a:p>
            <a:pPr algn="l" indent="0" marL="0">
              <a:lnSpc>
                <a:spcPct val="88000"/>
              </a:lnSpc>
              <a:buNone/>
            </a:pPr>
            <a:r>
              <a:rPr lang="en-US" sz="600" b="1" dirty="0">
                <a:solidFill>
                  <a:srgbClr val="B42318"/>
                </a:solidFill>
                <a:latin typeface="JetBrains Mono Bold" pitchFamily="34" charset="0"/>
                <a:ea typeface="JetBrains Mono Bold" pitchFamily="34" charset="-122"/>
                <a:cs typeface="JetBrains Mono Bold" pitchFamily="34" charset="-120"/>
              </a:rPr>
              <a:t>config/project.yaml</a:t>
            </a:r>
            <a:endParaRPr lang="en-US" sz="600" dirty="0"/>
          </a:p>
        </p:txBody>
      </p:sp>
      <p:sp>
        <p:nvSpPr>
          <p:cNvPr id="40" name="Shape 36"/>
          <p:cNvSpPr/>
          <p:nvPr/>
        </p:nvSpPr>
        <p:spPr>
          <a:xfrm>
            <a:off x="2643188" y="1496616"/>
            <a:ext cx="6229350" cy="157163"/>
          </a:xfrm>
          <a:prstGeom prst="rect">
            <a:avLst/>
          </a:prstGeom>
          <a:solidFill>
            <a:srgbClr val="FFFFFF"/>
          </a:solidFill>
          <a:ln w="9144">
            <a:solidFill>
              <a:srgbClr val="D0D7DE"/>
            </a:solidFill>
            <a:prstDash val="solid"/>
          </a:ln>
        </p:spPr>
      </p:sp>
      <p:sp>
        <p:nvSpPr>
          <p:cNvPr id="41" name="Shape 37"/>
          <p:cNvSpPr/>
          <p:nvPr/>
        </p:nvSpPr>
        <p:spPr>
          <a:xfrm>
            <a:off x="2643188" y="1496616"/>
            <a:ext cx="171450" cy="157163"/>
          </a:xfrm>
          <a:prstGeom prst="rect">
            <a:avLst/>
          </a:prstGeom>
          <a:solidFill>
            <a:srgbClr val="EAF1FF"/>
          </a:solidFill>
          <a:ln/>
        </p:spPr>
      </p:sp>
      <p:sp>
        <p:nvSpPr>
          <p:cNvPr id="42" name="Text 38"/>
          <p:cNvSpPr/>
          <p:nvPr/>
        </p:nvSpPr>
        <p:spPr>
          <a:xfrm>
            <a:off x="2643188" y="1496616"/>
            <a:ext cx="171450" cy="157163"/>
          </a:xfrm>
          <a:prstGeom prst="rect">
            <a:avLst/>
          </a:prstGeom>
          <a:noFill/>
          <a:ln/>
        </p:spPr>
        <p:txBody>
          <a:bodyPr wrap="none" lIns="0" tIns="0" rIns="0" bIns="0" rtlCol="0" anchor="ctr">
            <a:spAutoFit/>
          </a:bodyPr>
          <a:lstStyle/>
          <a:p>
            <a:pPr algn="ctr" indent="0" marL="0">
              <a:lnSpc>
                <a:spcPct val="100000"/>
              </a:lnSpc>
              <a:buNone/>
            </a:pPr>
            <a:r>
              <a:rPr lang="en-US" sz="650" b="1" dirty="0">
                <a:solidFill>
                  <a:srgbClr val="0055FF"/>
                </a:solidFill>
                <a:latin typeface="Oswald SemiBold" pitchFamily="34" charset="0"/>
                <a:ea typeface="Oswald SemiBold" pitchFamily="34" charset="-122"/>
                <a:cs typeface="Oswald SemiBold" pitchFamily="34" charset="-120"/>
              </a:rPr>
              <a:t>2</a:t>
            </a:r>
            <a:endParaRPr lang="en-US" sz="650" dirty="0"/>
          </a:p>
        </p:txBody>
      </p:sp>
      <p:sp>
        <p:nvSpPr>
          <p:cNvPr id="43" name="Text 39"/>
          <p:cNvSpPr/>
          <p:nvPr/>
        </p:nvSpPr>
        <p:spPr>
          <a:xfrm>
            <a:off x="2814638" y="1506606"/>
            <a:ext cx="6057900" cy="137127"/>
          </a:xfrm>
          <a:prstGeom prst="rect">
            <a:avLst/>
          </a:prstGeom>
          <a:noFill/>
          <a:ln/>
        </p:spPr>
        <p:txBody>
          <a:bodyPr wrap="none" lIns="68072" tIns="25527" rIns="68072" bIns="25527" rtlCol="0" anchor="t">
            <a:spAutoFit/>
          </a:bodyPr>
          <a:lstStyle/>
          <a:p>
            <a:pPr algn="l" indent="0" marL="0">
              <a:lnSpc>
                <a:spcPct val="88000"/>
              </a:lnSpc>
              <a:buNone/>
            </a:pPr>
            <a:r>
              <a:rPr lang="en-US" sz="600" b="1" dirty="0">
                <a:solidFill>
                  <a:srgbClr val="B42318"/>
                </a:solidFill>
                <a:latin typeface="JetBrains Mono Bold" pitchFamily="34" charset="0"/>
                <a:ea typeface="JetBrains Mono Bold" pitchFamily="34" charset="-122"/>
                <a:cs typeface="JetBrains Mono Bold" pitchFamily="34" charset="-120"/>
              </a:rPr>
              <a:t>config/workflow.yaml</a:t>
            </a:r>
            <a:endParaRPr lang="en-US" sz="600" dirty="0"/>
          </a:p>
        </p:txBody>
      </p:sp>
      <p:sp>
        <p:nvSpPr>
          <p:cNvPr id="44" name="Shape 40"/>
          <p:cNvSpPr/>
          <p:nvPr/>
        </p:nvSpPr>
        <p:spPr>
          <a:xfrm>
            <a:off x="2643188" y="1689497"/>
            <a:ext cx="6229350" cy="157163"/>
          </a:xfrm>
          <a:prstGeom prst="rect">
            <a:avLst/>
          </a:prstGeom>
          <a:solidFill>
            <a:srgbClr val="FFFFFF"/>
          </a:solidFill>
          <a:ln w="9144">
            <a:solidFill>
              <a:srgbClr val="D0D7DE"/>
            </a:solidFill>
            <a:prstDash val="solid"/>
          </a:ln>
        </p:spPr>
      </p:sp>
      <p:sp>
        <p:nvSpPr>
          <p:cNvPr id="45" name="Shape 41"/>
          <p:cNvSpPr/>
          <p:nvPr/>
        </p:nvSpPr>
        <p:spPr>
          <a:xfrm>
            <a:off x="2643188" y="1689497"/>
            <a:ext cx="171450" cy="157163"/>
          </a:xfrm>
          <a:prstGeom prst="rect">
            <a:avLst/>
          </a:prstGeom>
          <a:solidFill>
            <a:srgbClr val="EAF1FF"/>
          </a:solidFill>
          <a:ln/>
        </p:spPr>
      </p:sp>
      <p:sp>
        <p:nvSpPr>
          <p:cNvPr id="46" name="Text 42"/>
          <p:cNvSpPr/>
          <p:nvPr/>
        </p:nvSpPr>
        <p:spPr>
          <a:xfrm>
            <a:off x="2643188" y="1689497"/>
            <a:ext cx="171450" cy="157163"/>
          </a:xfrm>
          <a:prstGeom prst="rect">
            <a:avLst/>
          </a:prstGeom>
          <a:noFill/>
          <a:ln/>
        </p:spPr>
        <p:txBody>
          <a:bodyPr wrap="none" lIns="0" tIns="0" rIns="0" bIns="0" rtlCol="0" anchor="ctr">
            <a:spAutoFit/>
          </a:bodyPr>
          <a:lstStyle/>
          <a:p>
            <a:pPr algn="ctr" indent="0" marL="0">
              <a:lnSpc>
                <a:spcPct val="100000"/>
              </a:lnSpc>
              <a:buNone/>
            </a:pPr>
            <a:r>
              <a:rPr lang="en-US" sz="650" b="1" dirty="0">
                <a:solidFill>
                  <a:srgbClr val="0055FF"/>
                </a:solidFill>
                <a:latin typeface="Oswald SemiBold" pitchFamily="34" charset="0"/>
                <a:ea typeface="Oswald SemiBold" pitchFamily="34" charset="-122"/>
                <a:cs typeface="Oswald SemiBold" pitchFamily="34" charset="-120"/>
              </a:rPr>
              <a:t>3</a:t>
            </a:r>
            <a:endParaRPr lang="en-US" sz="650" dirty="0"/>
          </a:p>
        </p:txBody>
      </p:sp>
      <p:sp>
        <p:nvSpPr>
          <p:cNvPr id="47" name="Text 43"/>
          <p:cNvSpPr/>
          <p:nvPr/>
        </p:nvSpPr>
        <p:spPr>
          <a:xfrm>
            <a:off x="2814638" y="1699487"/>
            <a:ext cx="6057900" cy="137127"/>
          </a:xfrm>
          <a:prstGeom prst="rect">
            <a:avLst/>
          </a:prstGeom>
          <a:noFill/>
          <a:ln/>
        </p:spPr>
        <p:txBody>
          <a:bodyPr wrap="none" lIns="68072" tIns="25527" rIns="68072" bIns="25527" rtlCol="0" anchor="t">
            <a:spAutoFit/>
          </a:bodyPr>
          <a:lstStyle/>
          <a:p>
            <a:pPr algn="l" indent="0" marL="0">
              <a:lnSpc>
                <a:spcPct val="88000"/>
              </a:lnSpc>
              <a:buNone/>
            </a:pPr>
            <a:r>
              <a:rPr lang="en-US" sz="600" b="1" dirty="0">
                <a:solidFill>
                  <a:srgbClr val="B42318"/>
                </a:solidFill>
                <a:latin typeface="JetBrains Mono Bold" pitchFamily="34" charset="0"/>
                <a:ea typeface="JetBrains Mono Bold" pitchFamily="34" charset="-122"/>
                <a:cs typeface="JetBrains Mono Bold" pitchFamily="34" charset="-120"/>
              </a:rPr>
              <a:t>active module SPEC + ADR</a:t>
            </a:r>
            <a:endParaRPr lang="en-US" sz="600" dirty="0"/>
          </a:p>
        </p:txBody>
      </p:sp>
      <p:sp>
        <p:nvSpPr>
          <p:cNvPr id="48" name="Shape 44"/>
          <p:cNvSpPr/>
          <p:nvPr/>
        </p:nvSpPr>
        <p:spPr>
          <a:xfrm>
            <a:off x="2643188" y="1882378"/>
            <a:ext cx="6229350" cy="157163"/>
          </a:xfrm>
          <a:prstGeom prst="rect">
            <a:avLst/>
          </a:prstGeom>
          <a:solidFill>
            <a:srgbClr val="FFFFFF"/>
          </a:solidFill>
          <a:ln w="9144">
            <a:solidFill>
              <a:srgbClr val="D0D7DE"/>
            </a:solidFill>
            <a:prstDash val="solid"/>
          </a:ln>
        </p:spPr>
      </p:sp>
      <p:sp>
        <p:nvSpPr>
          <p:cNvPr id="49" name="Shape 45"/>
          <p:cNvSpPr/>
          <p:nvPr/>
        </p:nvSpPr>
        <p:spPr>
          <a:xfrm>
            <a:off x="2643188" y="1882378"/>
            <a:ext cx="171450" cy="157163"/>
          </a:xfrm>
          <a:prstGeom prst="rect">
            <a:avLst/>
          </a:prstGeom>
          <a:solidFill>
            <a:srgbClr val="EAF1FF"/>
          </a:solidFill>
          <a:ln/>
        </p:spPr>
      </p:sp>
      <p:sp>
        <p:nvSpPr>
          <p:cNvPr id="50" name="Text 46"/>
          <p:cNvSpPr/>
          <p:nvPr/>
        </p:nvSpPr>
        <p:spPr>
          <a:xfrm>
            <a:off x="2643188" y="1882378"/>
            <a:ext cx="171450" cy="157163"/>
          </a:xfrm>
          <a:prstGeom prst="rect">
            <a:avLst/>
          </a:prstGeom>
          <a:noFill/>
          <a:ln/>
        </p:spPr>
        <p:txBody>
          <a:bodyPr wrap="none" lIns="0" tIns="0" rIns="0" bIns="0" rtlCol="0" anchor="ctr">
            <a:spAutoFit/>
          </a:bodyPr>
          <a:lstStyle/>
          <a:p>
            <a:pPr algn="ctr" indent="0" marL="0">
              <a:lnSpc>
                <a:spcPct val="100000"/>
              </a:lnSpc>
              <a:buNone/>
            </a:pPr>
            <a:r>
              <a:rPr lang="en-US" sz="650" b="1" dirty="0">
                <a:solidFill>
                  <a:srgbClr val="0055FF"/>
                </a:solidFill>
                <a:latin typeface="Oswald SemiBold" pitchFamily="34" charset="0"/>
                <a:ea typeface="Oswald SemiBold" pitchFamily="34" charset="-122"/>
                <a:cs typeface="Oswald SemiBold" pitchFamily="34" charset="-120"/>
              </a:rPr>
              <a:t>4</a:t>
            </a:r>
            <a:endParaRPr lang="en-US" sz="650" dirty="0"/>
          </a:p>
        </p:txBody>
      </p:sp>
      <p:sp>
        <p:nvSpPr>
          <p:cNvPr id="51" name="Text 47"/>
          <p:cNvSpPr/>
          <p:nvPr/>
        </p:nvSpPr>
        <p:spPr>
          <a:xfrm>
            <a:off x="2814638" y="1892368"/>
            <a:ext cx="6057900" cy="137127"/>
          </a:xfrm>
          <a:prstGeom prst="rect">
            <a:avLst/>
          </a:prstGeom>
          <a:noFill/>
          <a:ln/>
        </p:spPr>
        <p:txBody>
          <a:bodyPr wrap="none" lIns="68072" tIns="25527" rIns="68072" bIns="25527" rtlCol="0" anchor="t">
            <a:spAutoFit/>
          </a:bodyPr>
          <a:lstStyle/>
          <a:p>
            <a:pPr algn="l" indent="0" marL="0">
              <a:lnSpc>
                <a:spcPct val="88000"/>
              </a:lnSpc>
              <a:buNone/>
            </a:pPr>
            <a:r>
              <a:rPr lang="en-US" sz="600" b="1" dirty="0">
                <a:solidFill>
                  <a:srgbClr val="B42318"/>
                </a:solidFill>
                <a:latin typeface="JetBrains Mono Bold" pitchFamily="34" charset="0"/>
                <a:ea typeface="JetBrains Mono Bold" pitchFamily="34" charset="-122"/>
                <a:cs typeface="JetBrains Mono Bold" pitchFamily="34" charset="-120"/>
              </a:rPr>
              <a:t>artifacts/run_state/&lt;run-id&gt;.json</a:t>
            </a:r>
            <a:endParaRPr lang="en-US" sz="600" dirty="0"/>
          </a:p>
        </p:txBody>
      </p:sp>
      <p:sp>
        <p:nvSpPr>
          <p:cNvPr id="52" name="Shape 48"/>
          <p:cNvSpPr/>
          <p:nvPr/>
        </p:nvSpPr>
        <p:spPr>
          <a:xfrm>
            <a:off x="2643188" y="2075259"/>
            <a:ext cx="6229350" cy="157163"/>
          </a:xfrm>
          <a:prstGeom prst="rect">
            <a:avLst/>
          </a:prstGeom>
          <a:solidFill>
            <a:srgbClr val="FFFFFF"/>
          </a:solidFill>
          <a:ln w="9144">
            <a:solidFill>
              <a:srgbClr val="D0D7DE"/>
            </a:solidFill>
            <a:prstDash val="solid"/>
          </a:ln>
        </p:spPr>
      </p:sp>
      <p:sp>
        <p:nvSpPr>
          <p:cNvPr id="53" name="Shape 49"/>
          <p:cNvSpPr/>
          <p:nvPr/>
        </p:nvSpPr>
        <p:spPr>
          <a:xfrm>
            <a:off x="2643188" y="2075259"/>
            <a:ext cx="171450" cy="157163"/>
          </a:xfrm>
          <a:prstGeom prst="rect">
            <a:avLst/>
          </a:prstGeom>
          <a:solidFill>
            <a:srgbClr val="EAF1FF"/>
          </a:solidFill>
          <a:ln/>
        </p:spPr>
      </p:sp>
      <p:sp>
        <p:nvSpPr>
          <p:cNvPr id="54" name="Text 50"/>
          <p:cNvSpPr/>
          <p:nvPr/>
        </p:nvSpPr>
        <p:spPr>
          <a:xfrm>
            <a:off x="2643188" y="2075259"/>
            <a:ext cx="171450" cy="157163"/>
          </a:xfrm>
          <a:prstGeom prst="rect">
            <a:avLst/>
          </a:prstGeom>
          <a:noFill/>
          <a:ln/>
        </p:spPr>
        <p:txBody>
          <a:bodyPr wrap="none" lIns="0" tIns="0" rIns="0" bIns="0" rtlCol="0" anchor="ctr">
            <a:spAutoFit/>
          </a:bodyPr>
          <a:lstStyle/>
          <a:p>
            <a:pPr algn="ctr" indent="0" marL="0">
              <a:lnSpc>
                <a:spcPct val="100000"/>
              </a:lnSpc>
              <a:buNone/>
            </a:pPr>
            <a:r>
              <a:rPr lang="en-US" sz="650" b="1" dirty="0">
                <a:solidFill>
                  <a:srgbClr val="0055FF"/>
                </a:solidFill>
                <a:latin typeface="Oswald SemiBold" pitchFamily="34" charset="0"/>
                <a:ea typeface="Oswald SemiBold" pitchFamily="34" charset="-122"/>
                <a:cs typeface="Oswald SemiBold" pitchFamily="34" charset="-120"/>
              </a:rPr>
              <a:t>5</a:t>
            </a:r>
            <a:endParaRPr lang="en-US" sz="650" dirty="0"/>
          </a:p>
        </p:txBody>
      </p:sp>
      <p:sp>
        <p:nvSpPr>
          <p:cNvPr id="55" name="Text 51"/>
          <p:cNvSpPr/>
          <p:nvPr/>
        </p:nvSpPr>
        <p:spPr>
          <a:xfrm>
            <a:off x="2814638" y="2085249"/>
            <a:ext cx="6057900" cy="137127"/>
          </a:xfrm>
          <a:prstGeom prst="rect">
            <a:avLst/>
          </a:prstGeom>
          <a:noFill/>
          <a:ln/>
        </p:spPr>
        <p:txBody>
          <a:bodyPr wrap="none" lIns="68072" tIns="25527" rIns="68072" bIns="25527" rtlCol="0" anchor="t">
            <a:spAutoFit/>
          </a:bodyPr>
          <a:lstStyle/>
          <a:p>
            <a:pPr algn="l" indent="0" marL="0">
              <a:lnSpc>
                <a:spcPct val="88000"/>
              </a:lnSpc>
              <a:buNone/>
            </a:pPr>
            <a:r>
              <a:rPr lang="en-US" sz="600" b="1" dirty="0">
                <a:solidFill>
                  <a:srgbClr val="B42318"/>
                </a:solidFill>
                <a:latin typeface="JetBrains Mono Bold" pitchFamily="34" charset="0"/>
                <a:ea typeface="JetBrains Mono Bold" pitchFamily="34" charset="-122"/>
                <a:cs typeface="JetBrains Mono Bold" pitchFamily="34" charset="-120"/>
              </a:rPr>
              <a:t>.github/skills/&lt;verb&gt;/SKILL.md</a:t>
            </a:r>
            <a:endParaRPr lang="en-US" sz="600" dirty="0"/>
          </a:p>
        </p:txBody>
      </p:sp>
      <p:sp>
        <p:nvSpPr>
          <p:cNvPr id="56" name="Shape 52"/>
          <p:cNvSpPr/>
          <p:nvPr/>
        </p:nvSpPr>
        <p:spPr>
          <a:xfrm>
            <a:off x="2571750" y="2346722"/>
            <a:ext cx="6372225" cy="825103"/>
          </a:xfrm>
          <a:prstGeom prst="rect">
            <a:avLst/>
          </a:prstGeom>
          <a:solidFill>
            <a:srgbClr val="FFF8F7"/>
          </a:solidFill>
          <a:ln w="18288">
            <a:solidFill>
              <a:srgbClr val="FF443A"/>
            </a:solidFill>
            <a:prstDash val="solid"/>
          </a:ln>
        </p:spPr>
      </p:sp>
      <p:sp>
        <p:nvSpPr>
          <p:cNvPr id="57" name="Shape 53"/>
          <p:cNvSpPr/>
          <p:nvPr/>
        </p:nvSpPr>
        <p:spPr>
          <a:xfrm>
            <a:off x="8829675" y="2289572"/>
            <a:ext cx="171450" cy="171450"/>
          </a:xfrm>
          <a:prstGeom prst="rect">
            <a:avLst/>
          </a:prstGeom>
          <a:solidFill>
            <a:srgbClr val="FF443A"/>
          </a:solidFill>
          <a:ln w="18288">
            <a:solidFill>
              <a:srgbClr val="111111"/>
            </a:solidFill>
            <a:prstDash val="solid"/>
          </a:ln>
        </p:spPr>
      </p:sp>
      <p:sp>
        <p:nvSpPr>
          <p:cNvPr id="58" name="Text 54"/>
          <p:cNvSpPr/>
          <p:nvPr/>
        </p:nvSpPr>
        <p:spPr>
          <a:xfrm>
            <a:off x="8829675" y="2289572"/>
            <a:ext cx="171450" cy="171450"/>
          </a:xfrm>
          <a:prstGeom prst="rect">
            <a:avLst/>
          </a:prstGeom>
          <a:noFill/>
          <a:ln/>
        </p:spPr>
        <p:txBody>
          <a:bodyPr wrap="none" lIns="0" tIns="0" rIns="0" bIns="0" rtlCol="0" anchor="ctr">
            <a:spAutoFit/>
          </a:bodyPr>
          <a:lstStyle/>
          <a:p>
            <a:pPr algn="ctr" indent="0" marL="0">
              <a:lnSpc>
                <a:spcPct val="100000"/>
              </a:lnSpc>
              <a:buNone/>
            </a:pPr>
            <a:r>
              <a:rPr lang="en-US" sz="750" dirty="0">
                <a:solidFill>
                  <a:srgbClr val="FFFFFF"/>
                </a:solidFill>
                <a:latin typeface="Oswald SemiBold" pitchFamily="34" charset="0"/>
                <a:ea typeface="Oswald SemiBold" pitchFamily="34" charset="-122"/>
                <a:cs typeface="Oswald SemiBold" pitchFamily="34" charset="-120"/>
              </a:rPr>
              <a:t>2</a:t>
            </a:r>
            <a:endParaRPr lang="en-US" sz="750" dirty="0"/>
          </a:p>
        </p:txBody>
      </p:sp>
      <p:sp>
        <p:nvSpPr>
          <p:cNvPr id="59" name="Text 55"/>
          <p:cNvSpPr/>
          <p:nvPr/>
        </p:nvSpPr>
        <p:spPr>
          <a:xfrm>
            <a:off x="2643188" y="2403872"/>
            <a:ext cx="6229350" cy="142875"/>
          </a:xfrm>
          <a:prstGeom prst="rect">
            <a:avLst/>
          </a:prstGeom>
          <a:noFill/>
          <a:ln/>
        </p:spPr>
        <p:txBody>
          <a:bodyPr wrap="none" lIns="0" tIns="0" rIns="0" bIns="0" rtlCol="0" anchor="t">
            <a:spAutoFit/>
          </a:bodyPr>
          <a:lstStyle/>
          <a:p>
            <a:pPr algn="l" indent="0" marL="0">
              <a:lnSpc>
                <a:spcPct val="100000"/>
              </a:lnSpc>
              <a:buNone/>
            </a:pPr>
            <a:r>
              <a:rPr lang="en-US" sz="800" b="1" dirty="0">
                <a:solidFill>
                  <a:srgbClr val="111111"/>
                </a:solidFill>
                <a:latin typeface="Inter Bold" pitchFamily="34" charset="0"/>
                <a:ea typeface="Inter Bold" pitchFamily="34" charset="-122"/>
                <a:cs typeface="Inter Bold" pitchFamily="34" charset="-120"/>
              </a:rPr>
              <a:t>Canonical skill sequence</a:t>
            </a:r>
            <a:endParaRPr lang="en-US" sz="800" dirty="0"/>
          </a:p>
        </p:txBody>
      </p:sp>
      <p:sp>
        <p:nvSpPr>
          <p:cNvPr id="60" name="Text 56"/>
          <p:cNvSpPr/>
          <p:nvPr/>
        </p:nvSpPr>
        <p:spPr>
          <a:xfrm>
            <a:off x="2643188" y="2589609"/>
            <a:ext cx="6229350" cy="482203"/>
          </a:xfrm>
          <a:prstGeom prst="rect">
            <a:avLst/>
          </a:prstGeom>
          <a:noFill/>
          <a:ln/>
        </p:spPr>
        <p:txBody>
          <a:bodyPr wrap="square" lIns="0" tIns="0" rIns="0" bIns="0" rtlCol="0" anchor="t">
            <a:spAutoFit/>
          </a:bodyPr>
          <a:lstStyle/>
          <a:p>
            <a:pPr algn="l" indent="0" marL="0">
              <a:lnSpc>
                <a:spcPct val="100000"/>
              </a:lnSpc>
              <a:buNone/>
            </a:pPr>
            <a:r>
              <a:rPr lang="en-US" sz="650" b="1" dirty="0">
                <a:solidFill>
                  <a:srgbClr val="0055FF"/>
                </a:solidFill>
                <a:latin typeface="JetBrains Mono Bold" pitchFamily="34" charset="0"/>
                <a:ea typeface="JetBrains Mono Bold" pitchFamily="34" charset="-122"/>
                <a:cs typeface="JetBrains Mono Bold" pitchFamily="34" charset="-120"/>
              </a:rPr>
              <a:t>interview → specify → decide</a:t>
            </a:r>
            <a:r>
              <a:rPr lang="en-US" sz="650" b="1" dirty="0">
                <a:solidFill>
                  <a:srgbClr val="0055FF"/>
                </a:solidFill>
                <a:latin typeface="JetBrains Mono Bold" pitchFamily="34" charset="0"/>
                <a:ea typeface="JetBrains Mono Bold" pitchFamily="34" charset="-122"/>
                <a:cs typeface="JetBrains Mono Bold" pitchFamily="34" charset="-120"/>
              </a:rPr>
              <a:t>
</a:t>
            </a:r>
            <a:r>
              <a:rPr lang="en-US" sz="650" b="1" dirty="0">
                <a:solidFill>
                  <a:srgbClr val="0055FF"/>
                </a:solidFill>
                <a:latin typeface="JetBrains Mono Bold" pitchFamily="34" charset="0"/>
                <a:ea typeface="JetBrains Mono Bold" pitchFamily="34" charset="-122"/>
                <a:cs typeface="JetBrains Mono Bold" pitchFamily="34" charset="-120"/>
              </a:rPr>
              <a:t>→ trace → map → model</a:t>
            </a:r>
            <a:r>
              <a:rPr lang="en-US" sz="650" b="1" dirty="0">
                <a:solidFill>
                  <a:srgbClr val="0055FF"/>
                </a:solidFill>
                <a:latin typeface="JetBrains Mono Bold" pitchFamily="34" charset="0"/>
                <a:ea typeface="JetBrains Mono Bold" pitchFamily="34" charset="-122"/>
                <a:cs typeface="JetBrains Mono Bold" pitchFamily="34" charset="-120"/>
              </a:rPr>
              <a:t>
</a:t>
            </a:r>
            <a:r>
              <a:rPr lang="en-US" sz="650" b="1" dirty="0">
                <a:solidFill>
                  <a:srgbClr val="0055FF"/>
                </a:solidFill>
                <a:latin typeface="JetBrains Mono Bold" pitchFamily="34" charset="0"/>
                <a:ea typeface="JetBrains Mono Bold" pitchFamily="34" charset="-122"/>
                <a:cs typeface="JetBrains Mono Bold" pitchFamily="34" charset="-120"/>
              </a:rPr>
              <a:t>→ generate → test → validate</a:t>
            </a:r>
            <a:r>
              <a:rPr lang="en-US" sz="650" b="1" dirty="0">
                <a:solidFill>
                  <a:srgbClr val="0055FF"/>
                </a:solidFill>
                <a:latin typeface="JetBrains Mono Bold" pitchFamily="34" charset="0"/>
                <a:ea typeface="JetBrains Mono Bold" pitchFamily="34" charset="-122"/>
                <a:cs typeface="JetBrains Mono Bold" pitchFamily="34" charset="-120"/>
              </a:rPr>
              <a:t>
</a:t>
            </a:r>
            <a:r>
              <a:rPr lang="en-US" sz="650" b="1" dirty="0">
                <a:solidFill>
                  <a:srgbClr val="0055FF"/>
                </a:solidFill>
                <a:latin typeface="JetBrains Mono Bold" pitchFamily="34" charset="0"/>
                <a:ea typeface="JetBrains Mono Bold" pitchFamily="34" charset="-122"/>
                <a:cs typeface="JetBrains Mono Bold" pitchFamily="34" charset="-120"/>
              </a:rPr>
              <a:t>→ review → release</a:t>
            </a:r>
            <a:endParaRPr lang="en-US" sz="650" dirty="0"/>
          </a:p>
        </p:txBody>
      </p:sp>
      <p:sp>
        <p:nvSpPr>
          <p:cNvPr id="61" name="Shape 57"/>
          <p:cNvSpPr/>
          <p:nvPr/>
        </p:nvSpPr>
        <p:spPr>
          <a:xfrm>
            <a:off x="2571750" y="3186113"/>
            <a:ext cx="6372225" cy="1111746"/>
          </a:xfrm>
          <a:prstGeom prst="rect">
            <a:avLst/>
          </a:prstGeom>
          <a:solidFill>
            <a:srgbClr val="FFF8F7"/>
          </a:solidFill>
          <a:ln w="18288">
            <a:solidFill>
              <a:srgbClr val="FF443A"/>
            </a:solidFill>
            <a:prstDash val="solid"/>
          </a:ln>
        </p:spPr>
      </p:sp>
      <p:sp>
        <p:nvSpPr>
          <p:cNvPr id="62" name="Shape 58"/>
          <p:cNvSpPr/>
          <p:nvPr/>
        </p:nvSpPr>
        <p:spPr>
          <a:xfrm>
            <a:off x="8829675" y="3128963"/>
            <a:ext cx="171450" cy="171450"/>
          </a:xfrm>
          <a:prstGeom prst="rect">
            <a:avLst/>
          </a:prstGeom>
          <a:solidFill>
            <a:srgbClr val="FF443A"/>
          </a:solidFill>
          <a:ln w="18288">
            <a:solidFill>
              <a:srgbClr val="111111"/>
            </a:solidFill>
            <a:prstDash val="solid"/>
          </a:ln>
        </p:spPr>
      </p:sp>
      <p:sp>
        <p:nvSpPr>
          <p:cNvPr id="63" name="Text 59"/>
          <p:cNvSpPr/>
          <p:nvPr/>
        </p:nvSpPr>
        <p:spPr>
          <a:xfrm>
            <a:off x="8829675" y="3128963"/>
            <a:ext cx="171450" cy="171450"/>
          </a:xfrm>
          <a:prstGeom prst="rect">
            <a:avLst/>
          </a:prstGeom>
          <a:noFill/>
          <a:ln/>
        </p:spPr>
        <p:txBody>
          <a:bodyPr wrap="none" lIns="0" tIns="0" rIns="0" bIns="0" rtlCol="0" anchor="ctr">
            <a:spAutoFit/>
          </a:bodyPr>
          <a:lstStyle/>
          <a:p>
            <a:pPr algn="ctr" indent="0" marL="0">
              <a:lnSpc>
                <a:spcPct val="100000"/>
              </a:lnSpc>
              <a:buNone/>
            </a:pPr>
            <a:r>
              <a:rPr lang="en-US" sz="750" dirty="0">
                <a:solidFill>
                  <a:srgbClr val="FFFFFF"/>
                </a:solidFill>
                <a:latin typeface="Oswald SemiBold" pitchFamily="34" charset="0"/>
                <a:ea typeface="Oswald SemiBold" pitchFamily="34" charset="-122"/>
                <a:cs typeface="Oswald SemiBold" pitchFamily="34" charset="-120"/>
              </a:rPr>
              <a:t>3</a:t>
            </a:r>
            <a:endParaRPr lang="en-US" sz="750" dirty="0"/>
          </a:p>
        </p:txBody>
      </p:sp>
      <p:sp>
        <p:nvSpPr>
          <p:cNvPr id="64" name="Text 60"/>
          <p:cNvSpPr/>
          <p:nvPr/>
        </p:nvSpPr>
        <p:spPr>
          <a:xfrm>
            <a:off x="2643188" y="3243263"/>
            <a:ext cx="6229350" cy="142875"/>
          </a:xfrm>
          <a:prstGeom prst="rect">
            <a:avLst/>
          </a:prstGeom>
          <a:noFill/>
          <a:ln/>
        </p:spPr>
        <p:txBody>
          <a:bodyPr wrap="none" lIns="0" tIns="0" rIns="0" bIns="0" rtlCol="0" anchor="t">
            <a:spAutoFit/>
          </a:bodyPr>
          <a:lstStyle/>
          <a:p>
            <a:pPr algn="l" indent="0" marL="0">
              <a:lnSpc>
                <a:spcPct val="100000"/>
              </a:lnSpc>
              <a:buNone/>
            </a:pPr>
            <a:r>
              <a:rPr lang="en-US" sz="800" b="1" dirty="0">
                <a:solidFill>
                  <a:srgbClr val="111111"/>
                </a:solidFill>
                <a:latin typeface="Inter Bold" pitchFamily="34" charset="0"/>
                <a:ea typeface="Inter Bold" pitchFamily="34" charset="-122"/>
                <a:cs typeface="Inter Bold" pitchFamily="34" charset="-120"/>
              </a:rPr>
              <a:t>Authority boundaries</a:t>
            </a:r>
            <a:endParaRPr lang="en-US" sz="800" dirty="0"/>
          </a:p>
        </p:txBody>
      </p:sp>
      <p:sp>
        <p:nvSpPr>
          <p:cNvPr id="65" name="Shape 61"/>
          <p:cNvSpPr/>
          <p:nvPr/>
        </p:nvSpPr>
        <p:spPr>
          <a:xfrm>
            <a:off x="2643188" y="3429000"/>
            <a:ext cx="3093244" cy="227707"/>
          </a:xfrm>
          <a:prstGeom prst="rect">
            <a:avLst/>
          </a:prstGeom>
          <a:solidFill>
            <a:srgbClr val="FFFFFF"/>
          </a:solidFill>
          <a:ln w="18288">
            <a:solidFill>
              <a:srgbClr val="111111"/>
            </a:solidFill>
            <a:prstDash val="solid"/>
          </a:ln>
        </p:spPr>
      </p:sp>
      <p:sp>
        <p:nvSpPr>
          <p:cNvPr id="66" name="Text 62"/>
          <p:cNvSpPr/>
          <p:nvPr/>
        </p:nvSpPr>
        <p:spPr>
          <a:xfrm>
            <a:off x="2643188" y="3429000"/>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ANALYST</a:t>
            </a:r>
            <a:r>
              <a:rPr lang="en-US" sz="600" b="1" dirty="0">
                <a:solidFill>
                  <a:srgbClr val="222222"/>
                </a:solidFill>
                <a:latin typeface="Inter Bold" pitchFamily="34" charset="0"/>
                <a:ea typeface="Inter Bold" pitchFamily="34" charset="-122"/>
                <a:cs typeface="Inter Bold" pitchFamily="34" charset="-120"/>
              </a:rPr>
              <a:t> — define behavior</a:t>
            </a:r>
            <a:endParaRPr lang="en-US" sz="650" dirty="0"/>
          </a:p>
        </p:txBody>
      </p:sp>
      <p:sp>
        <p:nvSpPr>
          <p:cNvPr id="67" name="Shape 63"/>
          <p:cNvSpPr/>
          <p:nvPr/>
        </p:nvSpPr>
        <p:spPr>
          <a:xfrm>
            <a:off x="5779294" y="3429000"/>
            <a:ext cx="3093244" cy="227707"/>
          </a:xfrm>
          <a:prstGeom prst="rect">
            <a:avLst/>
          </a:prstGeom>
          <a:solidFill>
            <a:srgbClr val="FFFFFF"/>
          </a:solidFill>
          <a:ln w="18288">
            <a:solidFill>
              <a:srgbClr val="111111"/>
            </a:solidFill>
            <a:prstDash val="solid"/>
          </a:ln>
        </p:spPr>
      </p:sp>
      <p:sp>
        <p:nvSpPr>
          <p:cNvPr id="68" name="Text 64"/>
          <p:cNvSpPr/>
          <p:nvPr/>
        </p:nvSpPr>
        <p:spPr>
          <a:xfrm>
            <a:off x="5779294" y="3429000"/>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MAKER</a:t>
            </a:r>
            <a:r>
              <a:rPr lang="en-US" sz="600" b="1" dirty="0">
                <a:solidFill>
                  <a:srgbClr val="222222"/>
                </a:solidFill>
                <a:latin typeface="Inter Bold" pitchFamily="34" charset="0"/>
                <a:ea typeface="Inter Bold" pitchFamily="34" charset="-122"/>
                <a:cs typeface="Inter Bold" pitchFamily="34" charset="-120"/>
              </a:rPr>
              <a:t> — build or repair</a:t>
            </a:r>
            <a:endParaRPr lang="en-US" sz="650" dirty="0"/>
          </a:p>
        </p:txBody>
      </p:sp>
      <p:sp>
        <p:nvSpPr>
          <p:cNvPr id="69" name="Shape 65"/>
          <p:cNvSpPr/>
          <p:nvPr/>
        </p:nvSpPr>
        <p:spPr>
          <a:xfrm>
            <a:off x="2643188" y="3670995"/>
            <a:ext cx="3093244" cy="227707"/>
          </a:xfrm>
          <a:prstGeom prst="rect">
            <a:avLst/>
          </a:prstGeom>
          <a:solidFill>
            <a:srgbClr val="FFFFFF"/>
          </a:solidFill>
          <a:ln w="18288">
            <a:solidFill>
              <a:srgbClr val="111111"/>
            </a:solidFill>
            <a:prstDash val="solid"/>
          </a:ln>
        </p:spPr>
      </p:sp>
      <p:sp>
        <p:nvSpPr>
          <p:cNvPr id="70" name="Text 66"/>
          <p:cNvSpPr/>
          <p:nvPr/>
        </p:nvSpPr>
        <p:spPr>
          <a:xfrm>
            <a:off x="2643188" y="3670995"/>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EXPLORER</a:t>
            </a:r>
            <a:r>
              <a:rPr lang="en-US" sz="600" b="1" dirty="0">
                <a:solidFill>
                  <a:srgbClr val="222222"/>
                </a:solidFill>
                <a:latin typeface="Inter Bold" pitchFamily="34" charset="0"/>
                <a:ea typeface="Inter Bold" pitchFamily="34" charset="-122"/>
                <a:cs typeface="Inter Bold" pitchFamily="34" charset="-120"/>
              </a:rPr>
              <a:t> — diagnose only</a:t>
            </a:r>
            <a:endParaRPr lang="en-US" sz="650" dirty="0"/>
          </a:p>
        </p:txBody>
      </p:sp>
      <p:sp>
        <p:nvSpPr>
          <p:cNvPr id="71" name="Shape 67"/>
          <p:cNvSpPr/>
          <p:nvPr/>
        </p:nvSpPr>
        <p:spPr>
          <a:xfrm>
            <a:off x="5779294" y="3670995"/>
            <a:ext cx="3093244" cy="227707"/>
          </a:xfrm>
          <a:prstGeom prst="rect">
            <a:avLst/>
          </a:prstGeom>
          <a:solidFill>
            <a:srgbClr val="FFFFFF"/>
          </a:solidFill>
          <a:ln w="18288">
            <a:solidFill>
              <a:srgbClr val="111111"/>
            </a:solidFill>
            <a:prstDash val="solid"/>
          </a:ln>
        </p:spPr>
      </p:sp>
      <p:sp>
        <p:nvSpPr>
          <p:cNvPr id="72" name="Text 68"/>
          <p:cNvSpPr/>
          <p:nvPr/>
        </p:nvSpPr>
        <p:spPr>
          <a:xfrm>
            <a:off x="5779294" y="3670995"/>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CHECKER</a:t>
            </a:r>
            <a:r>
              <a:rPr lang="en-US" sz="600" b="1" dirty="0">
                <a:solidFill>
                  <a:srgbClr val="222222"/>
                </a:solidFill>
                <a:latin typeface="Inter Bold" pitchFamily="34" charset="0"/>
                <a:ea typeface="Inter Bold" pitchFamily="34" charset="-122"/>
                <a:cs typeface="Inter Bold" pitchFamily="34" charset="-120"/>
              </a:rPr>
              <a:t> — verify only</a:t>
            </a:r>
            <a:endParaRPr lang="en-US" sz="650" dirty="0"/>
          </a:p>
        </p:txBody>
      </p:sp>
      <p:sp>
        <p:nvSpPr>
          <p:cNvPr id="73" name="Shape 69"/>
          <p:cNvSpPr/>
          <p:nvPr/>
        </p:nvSpPr>
        <p:spPr>
          <a:xfrm>
            <a:off x="2643188" y="3912989"/>
            <a:ext cx="3093244" cy="227707"/>
          </a:xfrm>
          <a:prstGeom prst="rect">
            <a:avLst/>
          </a:prstGeom>
          <a:solidFill>
            <a:srgbClr val="FFFFFF"/>
          </a:solidFill>
          <a:ln w="18288">
            <a:solidFill>
              <a:srgbClr val="111111"/>
            </a:solidFill>
            <a:prstDash val="solid"/>
          </a:ln>
        </p:spPr>
      </p:sp>
      <p:sp>
        <p:nvSpPr>
          <p:cNvPr id="74" name="Text 70"/>
          <p:cNvSpPr/>
          <p:nvPr/>
        </p:nvSpPr>
        <p:spPr>
          <a:xfrm>
            <a:off x="2643188" y="3912989"/>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ORCHESTRATOR</a:t>
            </a:r>
            <a:r>
              <a:rPr lang="en-US" sz="600" b="1" dirty="0">
                <a:solidFill>
                  <a:srgbClr val="222222"/>
                </a:solidFill>
                <a:latin typeface="Inter Bold" pitchFamily="34" charset="0"/>
                <a:ea typeface="Inter Bold" pitchFamily="34" charset="-122"/>
                <a:cs typeface="Inter Bold" pitchFamily="34" charset="-120"/>
              </a:rPr>
              <a:t> — route and stop</a:t>
            </a:r>
            <a:endParaRPr lang="en-US" sz="650" dirty="0"/>
          </a:p>
        </p:txBody>
      </p:sp>
      <p:sp>
        <p:nvSpPr>
          <p:cNvPr id="75" name="Shape 71"/>
          <p:cNvSpPr/>
          <p:nvPr/>
        </p:nvSpPr>
        <p:spPr>
          <a:xfrm>
            <a:off x="5779294" y="3912989"/>
            <a:ext cx="3093244" cy="227707"/>
          </a:xfrm>
          <a:prstGeom prst="rect">
            <a:avLst/>
          </a:prstGeom>
          <a:solidFill>
            <a:srgbClr val="FFFFFF"/>
          </a:solidFill>
          <a:ln w="18288">
            <a:solidFill>
              <a:srgbClr val="111111"/>
            </a:solidFill>
            <a:prstDash val="solid"/>
          </a:ln>
        </p:spPr>
      </p:sp>
      <p:sp>
        <p:nvSpPr>
          <p:cNvPr id="76" name="Text 72"/>
          <p:cNvSpPr/>
          <p:nvPr/>
        </p:nvSpPr>
        <p:spPr>
          <a:xfrm>
            <a:off x="5779294" y="3912989"/>
            <a:ext cx="3093244" cy="227707"/>
          </a:xfrm>
          <a:prstGeom prst="rect">
            <a:avLst/>
          </a:prstGeom>
          <a:noFill/>
          <a:ln/>
        </p:spPr>
        <p:txBody>
          <a:bodyPr wrap="square" lIns="68072" tIns="51054" rIns="68072" bIns="51054" rtlCol="0" anchor="t">
            <a:spAutoFit/>
          </a:bodyPr>
          <a:lstStyle/>
          <a:p>
            <a:pPr algn="l" indent="0" marL="0">
              <a:lnSpc>
                <a:spcPct val="88462"/>
              </a:lnSpc>
              <a:buNone/>
            </a:pPr>
            <a:r>
              <a:rPr lang="en-US" sz="650" b="1" dirty="0">
                <a:solidFill>
                  <a:srgbClr val="0055FF"/>
                </a:solidFill>
                <a:latin typeface="Oswald SemiBold" pitchFamily="34" charset="0"/>
                <a:ea typeface="Oswald SemiBold" pitchFamily="34" charset="-122"/>
                <a:cs typeface="Oswald SemiBold" pitchFamily="34" charset="-120"/>
              </a:rPr>
              <a:t>HUMAN</a:t>
            </a:r>
            <a:r>
              <a:rPr lang="en-US" sz="600" b="1" dirty="0">
                <a:solidFill>
                  <a:srgbClr val="222222"/>
                </a:solidFill>
                <a:latin typeface="Inter Bold" pitchFamily="34" charset="0"/>
                <a:ea typeface="Inter Bold" pitchFamily="34" charset="-122"/>
                <a:cs typeface="Inter Bold" pitchFamily="34" charset="-120"/>
              </a:rPr>
              <a:t> — approve and release</a:t>
            </a:r>
            <a:endParaRPr lang="en-US" sz="650" dirty="0"/>
          </a:p>
        </p:txBody>
      </p:sp>
      <p:sp>
        <p:nvSpPr>
          <p:cNvPr id="77" name="Shape 73"/>
          <p:cNvSpPr/>
          <p:nvPr/>
        </p:nvSpPr>
        <p:spPr>
          <a:xfrm>
            <a:off x="0" y="4872038"/>
            <a:ext cx="9144000" cy="214313"/>
          </a:xfrm>
          <a:prstGeom prst="rect">
            <a:avLst/>
          </a:prstGeom>
          <a:solidFill>
            <a:srgbClr val="0055FF"/>
          </a:solidFill>
          <a:ln/>
        </p:spPr>
      </p:sp>
      <p:sp>
        <p:nvSpPr>
          <p:cNvPr id="78" name="Shape 74"/>
          <p:cNvSpPr/>
          <p:nvPr/>
        </p:nvSpPr>
        <p:spPr>
          <a:xfrm>
            <a:off x="0" y="4872038"/>
            <a:ext cx="9144000" cy="28575"/>
          </a:xfrm>
          <a:prstGeom prst="rect">
            <a:avLst/>
          </a:prstGeom>
          <a:solidFill>
            <a:srgbClr val="111111"/>
          </a:solidFill>
          <a:ln/>
        </p:spPr>
      </p:sp>
      <p:sp>
        <p:nvSpPr>
          <p:cNvPr id="79" name="Text 75"/>
          <p:cNvSpPr/>
          <p:nvPr/>
        </p:nvSpPr>
        <p:spPr>
          <a:xfrm>
            <a:off x="114300" y="4932759"/>
            <a:ext cx="1075134" cy="92869"/>
          </a:xfrm>
          <a:prstGeom prst="rect">
            <a:avLst/>
          </a:prstGeom>
          <a:noFill/>
          <a:ln/>
        </p:spPr>
        <p:txBody>
          <a:bodyPr wrap="non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STEP 2: THE CONTRACT</a:t>
            </a:r>
            <a:endParaRPr lang="en-US" sz="550" dirty="0"/>
          </a:p>
        </p:txBody>
      </p:sp>
      <p:sp>
        <p:nvSpPr>
          <p:cNvPr id="80" name="Text 76"/>
          <p:cNvSpPr/>
          <p:nvPr/>
        </p:nvSpPr>
        <p:spPr>
          <a:xfrm>
            <a:off x="8061722" y="4932759"/>
            <a:ext cx="967978" cy="92869"/>
          </a:xfrm>
          <a:prstGeom prst="rect">
            <a:avLst/>
          </a:prstGeom>
          <a:noFill/>
          <a:ln/>
        </p:spPr>
        <p:txBody>
          <a:bodyPr wrap="non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SOURCE: AGENTS.MD</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71463" y="200025"/>
            <a:ext cx="8601075" cy="628650"/>
          </a:xfrm>
          <a:prstGeom prst="rect">
            <a:avLst/>
          </a:prstGeom>
          <a:solidFill>
            <a:srgbClr val="000000">
              <a:alpha val="0"/>
            </a:srgbClr>
          </a:solidFill>
          <a:ln/>
        </p:spPr>
      </p:sp>
      <p:sp>
        <p:nvSpPr>
          <p:cNvPr id="4" name="Shape 1"/>
          <p:cNvSpPr/>
          <p:nvPr/>
        </p:nvSpPr>
        <p:spPr>
          <a:xfrm>
            <a:off x="271463" y="800100"/>
            <a:ext cx="8601075" cy="28575"/>
          </a:xfrm>
          <a:prstGeom prst="rect">
            <a:avLst/>
          </a:prstGeom>
          <a:solidFill>
            <a:srgbClr val="111111"/>
          </a:solidFill>
          <a:ln/>
        </p:spPr>
      </p:sp>
      <p:sp>
        <p:nvSpPr>
          <p:cNvPr id="5" name="Text 2"/>
          <p:cNvSpPr/>
          <p:nvPr/>
        </p:nvSpPr>
        <p:spPr>
          <a:xfrm>
            <a:off x="271463" y="200025"/>
            <a:ext cx="8601075" cy="349151"/>
          </a:xfrm>
          <a:prstGeom prst="rect">
            <a:avLst/>
          </a:prstGeom>
          <a:noFill/>
          <a:ln/>
        </p:spPr>
        <p:txBody>
          <a:bodyPr wrap="none" lIns="0" tIns="0" rIns="0" bIns="0" rtlCol="0" anchor="t">
            <a:spAutoFit/>
          </a:bodyPr>
          <a:lstStyle/>
          <a:p>
            <a:pPr algn="l" indent="0" marL="0">
              <a:lnSpc>
                <a:spcPct val="83200"/>
              </a:lnSpc>
              <a:buNone/>
            </a:pPr>
            <a:r>
              <a:rPr lang="en-US" sz="2400" b="1" dirty="0">
                <a:solidFill>
                  <a:srgbClr val="111111"/>
                </a:solidFill>
                <a:latin typeface="Oswald SemiBold" pitchFamily="34" charset="0"/>
                <a:ea typeface="Oswald SemiBold" pitchFamily="34" charset="-122"/>
                <a:cs typeface="Oswald SemiBold" pitchFamily="34" charset="-120"/>
              </a:rPr>
              <a:t>WHAT CHANGED: FROM ONE AI TO GOVERNED HANDOFFS</a:t>
            </a:r>
            <a:endParaRPr lang="en-US" sz="2400" dirty="0"/>
          </a:p>
        </p:txBody>
      </p:sp>
      <p:sp>
        <p:nvSpPr>
          <p:cNvPr id="6" name="Text 3"/>
          <p:cNvSpPr/>
          <p:nvPr/>
        </p:nvSpPr>
        <p:spPr>
          <a:xfrm>
            <a:off x="271463" y="592038"/>
            <a:ext cx="8601075" cy="228600"/>
          </a:xfrm>
          <a:prstGeom prst="rect">
            <a:avLst/>
          </a:prstGeom>
          <a:noFill/>
          <a:ln/>
        </p:spPr>
        <p:txBody>
          <a:bodyPr wrap="square" lIns="0" tIns="0" rIns="0" bIns="0" rtlCol="0" anchor="t">
            <a:spAutoFit/>
          </a:bodyPr>
          <a:lstStyle/>
          <a:p>
            <a:pPr algn="l" indent="0" marL="0">
              <a:buNone/>
            </a:pPr>
            <a:r>
              <a:rPr lang="en-US" sz="1050" dirty="0">
                <a:solidFill>
                  <a:srgbClr val="0055FF"/>
                </a:solidFill>
                <a:latin typeface="Kalam Bold" pitchFamily="34" charset="0"/>
                <a:ea typeface="Kalam Bold" pitchFamily="34" charset="-122"/>
                <a:cs typeface="Kalam Bold" pitchFamily="34" charset="-120"/>
              </a:rPr>
              <a:t>The previous slide defined the roles. This slide shows how those roles become real during execution.</a:t>
            </a:r>
            <a:endParaRPr lang="en-US" sz="1050" dirty="0"/>
          </a:p>
        </p:txBody>
      </p:sp>
      <p:sp>
        <p:nvSpPr>
          <p:cNvPr id="7" name="Shape 4"/>
          <p:cNvSpPr/>
          <p:nvPr/>
        </p:nvSpPr>
        <p:spPr>
          <a:xfrm>
            <a:off x="271463" y="971550"/>
            <a:ext cx="3160719" cy="1308646"/>
          </a:xfrm>
          <a:prstGeom prst="rect">
            <a:avLst/>
          </a:prstGeom>
          <a:solidFill>
            <a:srgbClr val="FFFFFF"/>
          </a:solidFill>
          <a:ln w="27432">
            <a:solidFill>
              <a:srgbClr val="111111"/>
            </a:solidFill>
            <a:prstDash val="solid"/>
          </a:ln>
        </p:spPr>
      </p:sp>
      <p:sp>
        <p:nvSpPr>
          <p:cNvPr id="8" name="Text 5"/>
          <p:cNvSpPr/>
          <p:nvPr/>
        </p:nvSpPr>
        <p:spPr>
          <a:xfrm>
            <a:off x="428625" y="1100138"/>
            <a:ext cx="2846394" cy="232172"/>
          </a:xfrm>
          <a:prstGeom prst="rect">
            <a:avLst/>
          </a:prstGeom>
          <a:noFill/>
          <a:ln/>
        </p:spPr>
        <p:txBody>
          <a:bodyPr wrap="square" lIns="0" tIns="0" rIns="0" bIns="0" rtlCol="0" anchor="t">
            <a:spAutoFit/>
          </a:bodyPr>
          <a:lstStyle/>
          <a:p>
            <a:pPr algn="l" indent="0" marL="0">
              <a:buNone/>
            </a:pPr>
            <a:r>
              <a:rPr lang="en-US" sz="1150" dirty="0">
                <a:solidFill>
                  <a:srgbClr val="D9504F"/>
                </a:solidFill>
                <a:latin typeface="Oswald SemiBold" pitchFamily="34" charset="0"/>
                <a:ea typeface="Oswald SemiBold" pitchFamily="34" charset="-122"/>
                <a:cs typeface="Oswald SemiBold" pitchFamily="34" charset="-120"/>
              </a:rPr>
              <a:t>BEFORE: ONE OPAQUE ACTION</a:t>
            </a:r>
            <a:endParaRPr lang="en-US" sz="1150" dirty="0"/>
          </a:p>
        </p:txBody>
      </p:sp>
      <p:sp>
        <p:nvSpPr>
          <p:cNvPr id="9" name="Text 6"/>
          <p:cNvSpPr/>
          <p:nvPr/>
        </p:nvSpPr>
        <p:spPr>
          <a:xfrm>
            <a:off x="428625" y="1403747"/>
            <a:ext cx="2846394" cy="376386"/>
          </a:xfrm>
          <a:prstGeom prst="rect">
            <a:avLst/>
          </a:prstGeom>
          <a:noFill/>
          <a:ln/>
        </p:spPr>
        <p:txBody>
          <a:bodyPr wrap="square" lIns="0" tIns="0" rIns="0" bIns="0" rtlCol="0" anchor="t">
            <a:spAutoFit/>
          </a:bodyPr>
          <a:lstStyle/>
          <a:p>
            <a:pPr algn="l" indent="0" marL="0">
              <a:lnSpc>
                <a:spcPct val="124000"/>
              </a:lnSpc>
              <a:buNone/>
            </a:pPr>
            <a:r>
              <a:rPr lang="en-US" sz="900" dirty="0">
                <a:solidFill>
                  <a:srgbClr val="333333"/>
                </a:solidFill>
                <a:latin typeface="JetBrains Mono" pitchFamily="34" charset="0"/>
                <a:ea typeface="JetBrains Mono" pitchFamily="34" charset="-122"/>
                <a:cs typeface="JetBrains Mono" pitchFamily="34" charset="-120"/>
              </a:rPr>
              <a:t>Prompt → AI performs </a:t>
            </a:r>
            <a:r>
              <a:rPr lang="en-US" sz="850" b="1" dirty="0">
                <a:solidFill>
                  <a:srgbClr val="D9504F"/>
                </a:solidFill>
                <a:latin typeface="JetBrains Mono Bold" pitchFamily="34" charset="0"/>
                <a:ea typeface="JetBrains Mono Bold" pitchFamily="34" charset="-122"/>
                <a:cs typeface="JetBrains Mono Bold" pitchFamily="34" charset="-120"/>
              </a:rPr>
              <a:t>requirements + code + test + approval</a:t>
            </a:r>
            <a:endParaRPr lang="en-US" sz="900" dirty="0"/>
          </a:p>
        </p:txBody>
      </p:sp>
      <p:sp>
        <p:nvSpPr>
          <p:cNvPr id="10" name="Text 7"/>
          <p:cNvSpPr/>
          <p:nvPr/>
        </p:nvSpPr>
        <p:spPr>
          <a:xfrm>
            <a:off x="428625" y="1851571"/>
            <a:ext cx="2846394" cy="242888"/>
          </a:xfrm>
          <a:prstGeom prst="rect">
            <a:avLst/>
          </a:prstGeom>
          <a:noFill/>
          <a:ln/>
        </p:spPr>
        <p:txBody>
          <a:bodyPr wrap="square" lIns="0" tIns="0" rIns="0" bIns="0" rtlCol="0" anchor="t">
            <a:spAutoFit/>
          </a:bodyPr>
          <a:lstStyle/>
          <a:p>
            <a:pPr algn="l" indent="0" marL="0">
              <a:buNone/>
            </a:pPr>
            <a:r>
              <a:rPr lang="en-US" sz="700" b="1" dirty="0">
                <a:solidFill>
                  <a:srgbClr val="7B2D32"/>
                </a:solidFill>
                <a:latin typeface="Inter Bold" pitchFamily="34" charset="0"/>
                <a:ea typeface="Inter Bold" pitchFamily="34" charset="-122"/>
                <a:cs typeface="Inter Bold" pitchFamily="34" charset="-120"/>
              </a:rPr>
              <a:t>No clear separation of responsibility or evidence ownership.</a:t>
            </a:r>
            <a:endParaRPr lang="en-US" sz="700" dirty="0"/>
          </a:p>
        </p:txBody>
      </p:sp>
      <p:sp>
        <p:nvSpPr>
          <p:cNvPr id="11" name="Shape 8"/>
          <p:cNvSpPr/>
          <p:nvPr/>
        </p:nvSpPr>
        <p:spPr>
          <a:xfrm>
            <a:off x="3560769" y="1332979"/>
            <a:ext cx="528638" cy="528638"/>
          </a:xfrm>
          <a:prstGeom prst="rect">
            <a:avLst/>
          </a:prstGeom>
          <a:solidFill>
            <a:srgbClr val="FFDF00"/>
          </a:solidFill>
          <a:ln w="27432">
            <a:solidFill>
              <a:srgbClr val="111111"/>
            </a:solidFill>
            <a:prstDash val="solid"/>
          </a:ln>
        </p:spPr>
      </p:sp>
      <p:sp>
        <p:nvSpPr>
          <p:cNvPr id="12" name="Text 9"/>
          <p:cNvSpPr/>
          <p:nvPr/>
        </p:nvSpPr>
        <p:spPr>
          <a:xfrm>
            <a:off x="3560769" y="1332979"/>
            <a:ext cx="528638" cy="528638"/>
          </a:xfrm>
          <a:prstGeom prst="rect">
            <a:avLst/>
          </a:prstGeom>
          <a:noFill/>
          <a:ln/>
        </p:spPr>
        <p:txBody>
          <a:bodyPr wrap="none" lIns="0" tIns="0" rIns="0" bIns="0" rtlCol="0" anchor="ctr">
            <a:spAutoFit/>
          </a:bodyPr>
          <a:lstStyle/>
          <a:p>
            <a:pPr algn="ctr" indent="0" marL="0">
              <a:buNone/>
            </a:pPr>
            <a:r>
              <a:rPr lang="en-US" sz="1850" dirty="0">
                <a:solidFill>
                  <a:srgbClr val="111111"/>
                </a:solidFill>
                <a:latin typeface="Oswald SemiBold" pitchFamily="34" charset="0"/>
                <a:ea typeface="Oswald SemiBold" pitchFamily="34" charset="-122"/>
                <a:cs typeface="Oswald SemiBold" pitchFamily="34" charset="-120"/>
              </a:rPr>
              <a:t>→</a:t>
            </a:r>
            <a:endParaRPr lang="en-US" sz="1850" dirty="0"/>
          </a:p>
        </p:txBody>
      </p:sp>
      <p:sp>
        <p:nvSpPr>
          <p:cNvPr id="13" name="Shape 10"/>
          <p:cNvSpPr/>
          <p:nvPr/>
        </p:nvSpPr>
        <p:spPr>
          <a:xfrm>
            <a:off x="4289431" y="973113"/>
            <a:ext cx="4583106" cy="1248370"/>
          </a:xfrm>
          <a:prstGeom prst="rect">
            <a:avLst/>
          </a:prstGeom>
          <a:solidFill>
            <a:srgbClr val="EAF1FF"/>
          </a:solidFill>
          <a:ln w="27432">
            <a:solidFill>
              <a:srgbClr val="111111"/>
            </a:solidFill>
            <a:prstDash val="solid"/>
          </a:ln>
        </p:spPr>
      </p:sp>
      <p:sp>
        <p:nvSpPr>
          <p:cNvPr id="14" name="Text 11"/>
          <p:cNvSpPr/>
          <p:nvPr/>
        </p:nvSpPr>
        <p:spPr>
          <a:xfrm>
            <a:off x="4446594" y="1130275"/>
            <a:ext cx="4268781"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NOW: EXPLICIT ROLE HANDOFFS</a:t>
            </a:r>
            <a:endParaRPr lang="en-US" sz="1150" dirty="0"/>
          </a:p>
        </p:txBody>
      </p:sp>
      <p:sp>
        <p:nvSpPr>
          <p:cNvPr id="15" name="Shape 12"/>
          <p:cNvSpPr/>
          <p:nvPr/>
        </p:nvSpPr>
        <p:spPr>
          <a:xfrm>
            <a:off x="4446594" y="1433885"/>
            <a:ext cx="938622" cy="437555"/>
          </a:xfrm>
          <a:prstGeom prst="rect">
            <a:avLst/>
          </a:prstGeom>
          <a:solidFill>
            <a:srgbClr val="FFFFFF"/>
          </a:solidFill>
          <a:ln w="18288">
            <a:solidFill>
              <a:srgbClr val="111111"/>
            </a:solidFill>
            <a:prstDash val="solid"/>
          </a:ln>
        </p:spPr>
      </p:sp>
      <p:sp>
        <p:nvSpPr>
          <p:cNvPr id="16" name="Text 13"/>
          <p:cNvSpPr/>
          <p:nvPr/>
        </p:nvSpPr>
        <p:spPr>
          <a:xfrm>
            <a:off x="4496600" y="1498178"/>
            <a:ext cx="817178" cy="151805"/>
          </a:xfrm>
          <a:prstGeom prst="rect">
            <a:avLst/>
          </a:prstGeom>
          <a:noFill/>
          <a:ln/>
        </p:spPr>
        <p:txBody>
          <a:bodyPr wrap="none" lIns="0" tIns="0" rIns="0" bIns="0" rtlCol="0" anchor="t">
            <a:spAutoFit/>
          </a:bodyPr>
          <a:lstStyle/>
          <a:p>
            <a:pPr algn="ctr" indent="0" marL="0">
              <a:lnSpc>
                <a:spcPct val="100000"/>
              </a:lnSpc>
              <a:buNone/>
            </a:pPr>
            <a:r>
              <a:rPr lang="en-US" sz="850" b="1" dirty="0">
                <a:solidFill>
                  <a:srgbClr val="0055FF"/>
                </a:solidFill>
                <a:latin typeface="Oswald SemiBold" pitchFamily="34" charset="0"/>
                <a:ea typeface="Oswald SemiBold" pitchFamily="34" charset="-122"/>
                <a:cs typeface="Oswald SemiBold" pitchFamily="34" charset="-120"/>
              </a:rPr>
              <a:t>ANALYST</a:t>
            </a:r>
            <a:endParaRPr lang="en-US" sz="850" dirty="0"/>
          </a:p>
        </p:txBody>
      </p:sp>
      <p:sp>
        <p:nvSpPr>
          <p:cNvPr id="17" name="Text 14"/>
          <p:cNvSpPr/>
          <p:nvPr/>
        </p:nvSpPr>
        <p:spPr>
          <a:xfrm>
            <a:off x="4610509" y="1671414"/>
            <a:ext cx="589359" cy="103584"/>
          </a:xfrm>
          <a:prstGeom prst="rect">
            <a:avLst/>
          </a:prstGeom>
          <a:noFill/>
          <a:ln/>
        </p:spPr>
        <p:txBody>
          <a:bodyPr wrap="none" lIns="0" tIns="0" rIns="0" bIns="0" rtlCol="0" anchor="t">
            <a:spAutoFit/>
          </a:bodyPr>
          <a:lstStyle/>
          <a:p>
            <a:pPr algn="ctr" indent="0" marL="0">
              <a:lnSpc>
                <a:spcPct val="100000"/>
              </a:lnSpc>
              <a:buNone/>
            </a:pPr>
            <a:r>
              <a:rPr lang="en-US" sz="600" b="1" dirty="0">
                <a:solidFill>
                  <a:srgbClr val="111111"/>
                </a:solidFill>
                <a:latin typeface="Inter Bold" pitchFamily="34" charset="0"/>
                <a:ea typeface="Inter Bold" pitchFamily="34" charset="-122"/>
                <a:cs typeface="Inter Bold" pitchFamily="34" charset="-120"/>
              </a:rPr>
              <a:t>Defines intent</a:t>
            </a:r>
            <a:endParaRPr lang="en-US" sz="600" dirty="0"/>
          </a:p>
        </p:txBody>
      </p:sp>
      <p:sp>
        <p:nvSpPr>
          <p:cNvPr id="18" name="Text 15"/>
          <p:cNvSpPr/>
          <p:nvPr/>
        </p:nvSpPr>
        <p:spPr>
          <a:xfrm>
            <a:off x="5413790" y="1433885"/>
            <a:ext cx="71438" cy="437555"/>
          </a:xfrm>
          <a:prstGeom prst="rect">
            <a:avLst/>
          </a:prstGeom>
          <a:noFill/>
          <a:ln/>
        </p:spPr>
        <p:txBody>
          <a:bodyPr wrap="none" lIns="0" tIns="0" rIns="0" bIns="0" rtlCol="0" anchor="t">
            <a:spAutoFit/>
          </a:bodyPr>
          <a:lstStyle/>
          <a:p>
            <a:pPr algn="l" indent="0" marL="0">
              <a:buNone/>
            </a:pPr>
            <a:r>
              <a:rPr lang="en-US" sz="1150" b="1" dirty="0">
                <a:solidFill>
                  <a:srgbClr val="FF443A"/>
                </a:solidFill>
                <a:latin typeface="Inter Bold" pitchFamily="34" charset="0"/>
                <a:ea typeface="Inter Bold" pitchFamily="34" charset="-122"/>
                <a:cs typeface="Inter Bold" pitchFamily="34" charset="-120"/>
              </a:rPr>
              <a:t>›</a:t>
            </a:r>
            <a:endParaRPr lang="en-US" sz="1150" dirty="0"/>
          </a:p>
        </p:txBody>
      </p:sp>
      <p:sp>
        <p:nvSpPr>
          <p:cNvPr id="19" name="Shape 16"/>
          <p:cNvSpPr/>
          <p:nvPr/>
        </p:nvSpPr>
        <p:spPr>
          <a:xfrm>
            <a:off x="5535234" y="1433885"/>
            <a:ext cx="945766" cy="437555"/>
          </a:xfrm>
          <a:prstGeom prst="rect">
            <a:avLst/>
          </a:prstGeom>
          <a:solidFill>
            <a:srgbClr val="FFFFFF"/>
          </a:solidFill>
          <a:ln w="18288">
            <a:solidFill>
              <a:srgbClr val="111111"/>
            </a:solidFill>
            <a:prstDash val="solid"/>
          </a:ln>
        </p:spPr>
      </p:sp>
      <p:sp>
        <p:nvSpPr>
          <p:cNvPr id="20" name="Text 17"/>
          <p:cNvSpPr/>
          <p:nvPr/>
        </p:nvSpPr>
        <p:spPr>
          <a:xfrm>
            <a:off x="5592384" y="1498178"/>
            <a:ext cx="824322" cy="151805"/>
          </a:xfrm>
          <a:prstGeom prst="rect">
            <a:avLst/>
          </a:prstGeom>
          <a:noFill/>
          <a:ln/>
        </p:spPr>
        <p:txBody>
          <a:bodyPr wrap="none" lIns="0" tIns="0" rIns="0" bIns="0" rtlCol="0" anchor="t">
            <a:spAutoFit/>
          </a:bodyPr>
          <a:lstStyle/>
          <a:p>
            <a:pPr algn="ctr" indent="0" marL="0">
              <a:lnSpc>
                <a:spcPct val="100000"/>
              </a:lnSpc>
              <a:buNone/>
            </a:pPr>
            <a:r>
              <a:rPr lang="en-US" sz="850" b="1" dirty="0">
                <a:solidFill>
                  <a:srgbClr val="0055FF"/>
                </a:solidFill>
                <a:latin typeface="Oswald SemiBold" pitchFamily="34" charset="0"/>
                <a:ea typeface="Oswald SemiBold" pitchFamily="34" charset="-122"/>
                <a:cs typeface="Oswald SemiBold" pitchFamily="34" charset="-120"/>
              </a:rPr>
              <a:t>MAKER</a:t>
            </a:r>
            <a:endParaRPr lang="en-US" sz="850" dirty="0"/>
          </a:p>
        </p:txBody>
      </p:sp>
      <p:sp>
        <p:nvSpPr>
          <p:cNvPr id="21" name="Text 18"/>
          <p:cNvSpPr/>
          <p:nvPr/>
        </p:nvSpPr>
        <p:spPr>
          <a:xfrm>
            <a:off x="5874172" y="1671414"/>
            <a:ext cx="260747" cy="103584"/>
          </a:xfrm>
          <a:prstGeom prst="rect">
            <a:avLst/>
          </a:prstGeom>
          <a:noFill/>
          <a:ln/>
        </p:spPr>
        <p:txBody>
          <a:bodyPr wrap="none" lIns="0" tIns="0" rIns="0" bIns="0" rtlCol="0" anchor="t">
            <a:spAutoFit/>
          </a:bodyPr>
          <a:lstStyle/>
          <a:p>
            <a:pPr algn="ctr" indent="0" marL="0">
              <a:lnSpc>
                <a:spcPct val="100000"/>
              </a:lnSpc>
              <a:buNone/>
            </a:pPr>
            <a:r>
              <a:rPr lang="en-US" sz="600" b="1" dirty="0">
                <a:solidFill>
                  <a:srgbClr val="111111"/>
                </a:solidFill>
                <a:latin typeface="Inter Bold" pitchFamily="34" charset="0"/>
                <a:ea typeface="Inter Bold" pitchFamily="34" charset="-122"/>
                <a:cs typeface="Inter Bold" pitchFamily="34" charset="-120"/>
              </a:rPr>
              <a:t>Builds</a:t>
            </a:r>
            <a:endParaRPr lang="en-US" sz="600" dirty="0"/>
          </a:p>
        </p:txBody>
      </p:sp>
      <p:sp>
        <p:nvSpPr>
          <p:cNvPr id="22" name="Text 19"/>
          <p:cNvSpPr/>
          <p:nvPr/>
        </p:nvSpPr>
        <p:spPr>
          <a:xfrm>
            <a:off x="6516719" y="1433885"/>
            <a:ext cx="71438" cy="437555"/>
          </a:xfrm>
          <a:prstGeom prst="rect">
            <a:avLst/>
          </a:prstGeom>
          <a:noFill/>
          <a:ln/>
        </p:spPr>
        <p:txBody>
          <a:bodyPr wrap="none" lIns="0" tIns="0" rIns="0" bIns="0" rtlCol="0" anchor="t">
            <a:spAutoFit/>
          </a:bodyPr>
          <a:lstStyle/>
          <a:p>
            <a:pPr algn="l" indent="0" marL="0">
              <a:buNone/>
            </a:pPr>
            <a:r>
              <a:rPr lang="en-US" sz="1150" b="1" dirty="0">
                <a:solidFill>
                  <a:srgbClr val="FF443A"/>
                </a:solidFill>
                <a:latin typeface="Inter Bold" pitchFamily="34" charset="0"/>
                <a:ea typeface="Inter Bold" pitchFamily="34" charset="-122"/>
                <a:cs typeface="Inter Bold" pitchFamily="34" charset="-120"/>
              </a:rPr>
              <a:t>›</a:t>
            </a:r>
            <a:endParaRPr lang="en-US" sz="1150" dirty="0"/>
          </a:p>
        </p:txBody>
      </p:sp>
      <p:sp>
        <p:nvSpPr>
          <p:cNvPr id="23" name="Shape 20"/>
          <p:cNvSpPr/>
          <p:nvPr/>
        </p:nvSpPr>
        <p:spPr>
          <a:xfrm>
            <a:off x="6638162" y="1433885"/>
            <a:ext cx="952909" cy="437555"/>
          </a:xfrm>
          <a:prstGeom prst="rect">
            <a:avLst/>
          </a:prstGeom>
          <a:solidFill>
            <a:srgbClr val="FFFFFF"/>
          </a:solidFill>
          <a:ln w="18288">
            <a:solidFill>
              <a:srgbClr val="111111"/>
            </a:solidFill>
            <a:prstDash val="solid"/>
          </a:ln>
        </p:spPr>
      </p:sp>
      <p:sp>
        <p:nvSpPr>
          <p:cNvPr id="24" name="Text 21"/>
          <p:cNvSpPr/>
          <p:nvPr/>
        </p:nvSpPr>
        <p:spPr>
          <a:xfrm>
            <a:off x="6702456" y="1498178"/>
            <a:ext cx="831466" cy="151805"/>
          </a:xfrm>
          <a:prstGeom prst="rect">
            <a:avLst/>
          </a:prstGeom>
          <a:noFill/>
          <a:ln/>
        </p:spPr>
        <p:txBody>
          <a:bodyPr wrap="none" lIns="0" tIns="0" rIns="0" bIns="0" rtlCol="0" anchor="t">
            <a:spAutoFit/>
          </a:bodyPr>
          <a:lstStyle/>
          <a:p>
            <a:pPr algn="ctr" indent="0" marL="0">
              <a:lnSpc>
                <a:spcPct val="100000"/>
              </a:lnSpc>
              <a:buNone/>
            </a:pPr>
            <a:r>
              <a:rPr lang="en-US" sz="850" b="1" dirty="0">
                <a:solidFill>
                  <a:srgbClr val="0055FF"/>
                </a:solidFill>
                <a:latin typeface="Oswald SemiBold" pitchFamily="34" charset="0"/>
                <a:ea typeface="Oswald SemiBold" pitchFamily="34" charset="-122"/>
                <a:cs typeface="Oswald SemiBold" pitchFamily="34" charset="-120"/>
              </a:rPr>
              <a:t>CHECKER</a:t>
            </a:r>
            <a:endParaRPr lang="en-US" sz="850" dirty="0"/>
          </a:p>
        </p:txBody>
      </p:sp>
      <p:sp>
        <p:nvSpPr>
          <p:cNvPr id="25" name="Text 22"/>
          <p:cNvSpPr/>
          <p:nvPr/>
        </p:nvSpPr>
        <p:spPr>
          <a:xfrm>
            <a:off x="6953883" y="1671414"/>
            <a:ext cx="328613" cy="103584"/>
          </a:xfrm>
          <a:prstGeom prst="rect">
            <a:avLst/>
          </a:prstGeom>
          <a:noFill/>
          <a:ln/>
        </p:spPr>
        <p:txBody>
          <a:bodyPr wrap="none" lIns="0" tIns="0" rIns="0" bIns="0" rtlCol="0" anchor="t">
            <a:spAutoFit/>
          </a:bodyPr>
          <a:lstStyle/>
          <a:p>
            <a:pPr algn="ctr" indent="0" marL="0">
              <a:lnSpc>
                <a:spcPct val="100000"/>
              </a:lnSpc>
              <a:buNone/>
            </a:pPr>
            <a:r>
              <a:rPr lang="en-US" sz="600" b="1" dirty="0">
                <a:solidFill>
                  <a:srgbClr val="111111"/>
                </a:solidFill>
                <a:latin typeface="Inter Bold" pitchFamily="34" charset="0"/>
                <a:ea typeface="Inter Bold" pitchFamily="34" charset="-122"/>
                <a:cs typeface="Inter Bold" pitchFamily="34" charset="-120"/>
              </a:rPr>
              <a:t>Verifies</a:t>
            </a:r>
            <a:endParaRPr lang="en-US" sz="600" dirty="0"/>
          </a:p>
        </p:txBody>
      </p:sp>
      <p:sp>
        <p:nvSpPr>
          <p:cNvPr id="26" name="Text 23"/>
          <p:cNvSpPr/>
          <p:nvPr/>
        </p:nvSpPr>
        <p:spPr>
          <a:xfrm>
            <a:off x="7633934" y="1433885"/>
            <a:ext cx="71438" cy="437555"/>
          </a:xfrm>
          <a:prstGeom prst="rect">
            <a:avLst/>
          </a:prstGeom>
          <a:noFill/>
          <a:ln/>
        </p:spPr>
        <p:txBody>
          <a:bodyPr wrap="none" lIns="0" tIns="0" rIns="0" bIns="0" rtlCol="0" anchor="t">
            <a:spAutoFit/>
          </a:bodyPr>
          <a:lstStyle/>
          <a:p>
            <a:pPr algn="l" indent="0" marL="0">
              <a:buNone/>
            </a:pPr>
            <a:r>
              <a:rPr lang="en-US" sz="1150" b="1" dirty="0">
                <a:solidFill>
                  <a:srgbClr val="FF443A"/>
                </a:solidFill>
                <a:latin typeface="Inter Bold" pitchFamily="34" charset="0"/>
                <a:ea typeface="Inter Bold" pitchFamily="34" charset="-122"/>
                <a:cs typeface="Inter Bold" pitchFamily="34" charset="-120"/>
              </a:rPr>
              <a:t>›</a:t>
            </a:r>
            <a:endParaRPr lang="en-US" sz="1150" dirty="0"/>
          </a:p>
        </p:txBody>
      </p:sp>
      <p:sp>
        <p:nvSpPr>
          <p:cNvPr id="27" name="Shape 24"/>
          <p:cNvSpPr/>
          <p:nvPr/>
        </p:nvSpPr>
        <p:spPr>
          <a:xfrm>
            <a:off x="7755378" y="1433885"/>
            <a:ext cx="960053" cy="437555"/>
          </a:xfrm>
          <a:prstGeom prst="rect">
            <a:avLst/>
          </a:prstGeom>
          <a:solidFill>
            <a:srgbClr val="FFFFFF"/>
          </a:solidFill>
          <a:ln w="18288">
            <a:solidFill>
              <a:srgbClr val="111111"/>
            </a:solidFill>
            <a:prstDash val="solid"/>
          </a:ln>
        </p:spPr>
      </p:sp>
      <p:sp>
        <p:nvSpPr>
          <p:cNvPr id="28" name="Text 25"/>
          <p:cNvSpPr/>
          <p:nvPr/>
        </p:nvSpPr>
        <p:spPr>
          <a:xfrm>
            <a:off x="7826815" y="1512466"/>
            <a:ext cx="838609" cy="151805"/>
          </a:xfrm>
          <a:prstGeom prst="rect">
            <a:avLst/>
          </a:prstGeom>
          <a:noFill/>
          <a:ln/>
        </p:spPr>
        <p:txBody>
          <a:bodyPr wrap="none" lIns="0" tIns="0" rIns="0" bIns="0" rtlCol="0" anchor="t">
            <a:spAutoFit/>
          </a:bodyPr>
          <a:lstStyle/>
          <a:p>
            <a:pPr algn="ctr" indent="0" marL="0">
              <a:lnSpc>
                <a:spcPct val="100000"/>
              </a:lnSpc>
              <a:buNone/>
            </a:pPr>
            <a:r>
              <a:rPr lang="en-US" sz="850" b="1" dirty="0">
                <a:solidFill>
                  <a:srgbClr val="0055FF"/>
                </a:solidFill>
                <a:latin typeface="Oswald SemiBold" pitchFamily="34" charset="0"/>
                <a:ea typeface="Oswald SemiBold" pitchFamily="34" charset="-122"/>
                <a:cs typeface="Oswald SemiBold" pitchFamily="34" charset="-120"/>
              </a:rPr>
              <a:t>HUMAN</a:t>
            </a:r>
            <a:endParaRPr lang="en-US" sz="850" dirty="0"/>
          </a:p>
        </p:txBody>
      </p:sp>
      <p:sp>
        <p:nvSpPr>
          <p:cNvPr id="29" name="Text 26"/>
          <p:cNvSpPr/>
          <p:nvPr/>
        </p:nvSpPr>
        <p:spPr>
          <a:xfrm>
            <a:off x="8044309" y="1685702"/>
            <a:ext cx="403622" cy="103584"/>
          </a:xfrm>
          <a:prstGeom prst="rect">
            <a:avLst/>
          </a:prstGeom>
          <a:noFill/>
          <a:ln/>
        </p:spPr>
        <p:txBody>
          <a:bodyPr wrap="none" lIns="0" tIns="0" rIns="0" bIns="0" rtlCol="0" anchor="t">
            <a:spAutoFit/>
          </a:bodyPr>
          <a:lstStyle/>
          <a:p>
            <a:pPr algn="ctr" indent="0" marL="0">
              <a:lnSpc>
                <a:spcPct val="100000"/>
              </a:lnSpc>
              <a:buNone/>
            </a:pPr>
            <a:r>
              <a:rPr lang="en-US" sz="600" b="1" dirty="0">
                <a:solidFill>
                  <a:srgbClr val="111111"/>
                </a:solidFill>
                <a:latin typeface="Inter Bold" pitchFamily="34" charset="0"/>
                <a:ea typeface="Inter Bold" pitchFamily="34" charset="-122"/>
                <a:cs typeface="Inter Bold" pitchFamily="34" charset="-120"/>
              </a:rPr>
              <a:t>Approves</a:t>
            </a:r>
            <a:endParaRPr lang="en-US" sz="600" dirty="0"/>
          </a:p>
        </p:txBody>
      </p:sp>
      <p:sp>
        <p:nvSpPr>
          <p:cNvPr id="30" name="Text 27"/>
          <p:cNvSpPr/>
          <p:nvPr/>
        </p:nvSpPr>
        <p:spPr>
          <a:xfrm>
            <a:off x="4446594" y="1928589"/>
            <a:ext cx="4268781" cy="121444"/>
          </a:xfrm>
          <a:prstGeom prst="rect">
            <a:avLst/>
          </a:prstGeom>
          <a:noFill/>
          <a:ln/>
        </p:spPr>
        <p:txBody>
          <a:bodyPr wrap="square" lIns="0" tIns="0" rIns="0" bIns="0" rtlCol="0" anchor="t">
            <a:spAutoFit/>
          </a:bodyPr>
          <a:lstStyle/>
          <a:p>
            <a:pPr algn="l" indent="0" marL="0">
              <a:buNone/>
            </a:pPr>
            <a:r>
              <a:rPr lang="en-US" sz="700" b="1" dirty="0">
                <a:solidFill>
                  <a:srgbClr val="0A3069"/>
                </a:solidFill>
                <a:latin typeface="Inter Bold" pitchFamily="34" charset="0"/>
                <a:ea typeface="Inter Bold" pitchFamily="34" charset="-122"/>
                <a:cs typeface="Inter Bold" pitchFamily="34" charset="-120"/>
              </a:rPr>
              <a:t>Every handoff produces an artifact, gate result, and durable state update.</a:t>
            </a:r>
            <a:endParaRPr lang="en-US" sz="700" dirty="0"/>
          </a:p>
        </p:txBody>
      </p:sp>
      <p:sp>
        <p:nvSpPr>
          <p:cNvPr id="31" name="Text 28"/>
          <p:cNvSpPr/>
          <p:nvPr/>
        </p:nvSpPr>
        <p:spPr>
          <a:xfrm>
            <a:off x="271463" y="2679353"/>
            <a:ext cx="8601075" cy="264319"/>
          </a:xfrm>
          <a:prstGeom prst="rect">
            <a:avLst/>
          </a:prstGeom>
          <a:noFill/>
          <a:ln/>
        </p:spPr>
        <p:txBody>
          <a:bodyPr wrap="square" lIns="0" tIns="0" rIns="0" bIns="0" rtlCol="0" anchor="t">
            <a:spAutoFit/>
          </a:bodyPr>
          <a:lstStyle/>
          <a:p>
            <a:pPr algn="l" indent="0" marL="0">
              <a:buNone/>
            </a:pPr>
            <a:r>
              <a:rPr lang="en-US" sz="1300" dirty="0">
                <a:solidFill>
                  <a:srgbClr val="111111"/>
                </a:solidFill>
                <a:latin typeface="Oswald SemiBold" pitchFamily="34" charset="0"/>
                <a:ea typeface="Oswald SemiBold" pitchFamily="34" charset="-122"/>
                <a:cs typeface="Oswald SemiBold" pitchFamily="34" charset="-120"/>
              </a:rPr>
              <a:t>HOW THE REPOSITORY MAKES THE CHANGE ENFORCEABLE</a:t>
            </a:r>
            <a:endParaRPr lang="en-US" sz="1300" dirty="0"/>
          </a:p>
        </p:txBody>
      </p:sp>
      <p:sp>
        <p:nvSpPr>
          <p:cNvPr id="32" name="Shape 29"/>
          <p:cNvSpPr/>
          <p:nvPr/>
        </p:nvSpPr>
        <p:spPr>
          <a:xfrm>
            <a:off x="271463" y="3015109"/>
            <a:ext cx="2075259" cy="1456879"/>
          </a:xfrm>
          <a:prstGeom prst="rect">
            <a:avLst/>
          </a:prstGeom>
          <a:solidFill>
            <a:srgbClr val="FFFFFF"/>
          </a:solidFill>
          <a:ln w="18288">
            <a:solidFill>
              <a:srgbClr val="111111"/>
            </a:solidFill>
            <a:prstDash val="solid"/>
          </a:ln>
        </p:spPr>
      </p:sp>
      <p:sp>
        <p:nvSpPr>
          <p:cNvPr id="33" name="Shape 30"/>
          <p:cNvSpPr/>
          <p:nvPr/>
        </p:nvSpPr>
        <p:spPr>
          <a:xfrm>
            <a:off x="2218134" y="2986534"/>
            <a:ext cx="192881" cy="192881"/>
          </a:xfrm>
          <a:prstGeom prst="rect">
            <a:avLst/>
          </a:prstGeom>
          <a:solidFill>
            <a:srgbClr val="FF443A"/>
          </a:solidFill>
          <a:ln w="18288">
            <a:solidFill>
              <a:srgbClr val="111111"/>
            </a:solidFill>
            <a:prstDash val="solid"/>
          </a:ln>
        </p:spPr>
      </p:sp>
      <p:sp>
        <p:nvSpPr>
          <p:cNvPr id="34" name="Text 31"/>
          <p:cNvSpPr/>
          <p:nvPr/>
        </p:nvSpPr>
        <p:spPr>
          <a:xfrm>
            <a:off x="2218134" y="2986534"/>
            <a:ext cx="192881" cy="192881"/>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35" name="Text 32"/>
          <p:cNvSpPr/>
          <p:nvPr/>
        </p:nvSpPr>
        <p:spPr>
          <a:xfrm>
            <a:off x="364331" y="3150840"/>
            <a:ext cx="1889522" cy="228600"/>
          </a:xfrm>
          <a:prstGeom prst="rect">
            <a:avLst/>
          </a:prstGeom>
          <a:noFill/>
          <a:ln/>
        </p:spPr>
        <p:txBody>
          <a:bodyPr wrap="square" lIns="0" tIns="0" rIns="0" bIns="0" rtlCol="0" anchor="t">
            <a:spAutoFit/>
          </a:bodyPr>
          <a:lstStyle/>
          <a:p>
            <a:pPr algn="l" indent="0" marL="0">
              <a:lnSpc>
                <a:spcPct val="96000"/>
              </a:lnSpc>
              <a:buNone/>
            </a:pPr>
            <a:r>
              <a:rPr lang="en-US" sz="650" b="1" dirty="0">
                <a:solidFill>
                  <a:srgbClr val="B42318"/>
                </a:solidFill>
                <a:latin typeface="JetBrains Mono Bold" pitchFamily="34" charset="0"/>
                <a:ea typeface="JetBrains Mono Bold" pitchFamily="34" charset="-122"/>
                <a:cs typeface="JetBrains Mono Bold" pitchFamily="34" charset="-120"/>
              </a:rPr>
              <a:t>AGENTS.md</a:t>
            </a:r>
            <a:endParaRPr lang="en-US" sz="650" dirty="0"/>
          </a:p>
        </p:txBody>
      </p:sp>
      <p:sp>
        <p:nvSpPr>
          <p:cNvPr id="36" name="Text 33"/>
          <p:cNvSpPr/>
          <p:nvPr/>
        </p:nvSpPr>
        <p:spPr>
          <a:xfrm>
            <a:off x="364331" y="3443734"/>
            <a:ext cx="1889522" cy="214313"/>
          </a:xfrm>
          <a:prstGeom prst="rect">
            <a:avLst/>
          </a:prstGeom>
          <a:noFill/>
          <a:ln/>
        </p:spPr>
        <p:txBody>
          <a:bodyPr wrap="square" lIns="0" tIns="0" rIns="0" bIns="0" rtlCol="0" anchor="t">
            <a:spAutoFit/>
          </a:bodyPr>
          <a:lstStyle/>
          <a:p>
            <a:pPr algn="l" indent="0" marL="0">
              <a:buNone/>
            </a:pPr>
            <a:r>
              <a:rPr lang="en-US" sz="1000" b="1" dirty="0">
                <a:solidFill>
                  <a:srgbClr val="0055FF"/>
                </a:solidFill>
                <a:latin typeface="Oswald SemiBold" pitchFamily="34" charset="0"/>
                <a:ea typeface="Oswald SemiBold" pitchFamily="34" charset="-122"/>
                <a:cs typeface="Oswald SemiBold" pitchFamily="34" charset="-120"/>
              </a:rPr>
              <a:t>DEFINES</a:t>
            </a:r>
            <a:endParaRPr lang="en-US" sz="1000" dirty="0"/>
          </a:p>
        </p:txBody>
      </p:sp>
      <p:sp>
        <p:nvSpPr>
          <p:cNvPr id="37" name="Text 34"/>
          <p:cNvSpPr/>
          <p:nvPr/>
        </p:nvSpPr>
        <p:spPr>
          <a:xfrm>
            <a:off x="364331" y="3700909"/>
            <a:ext cx="1889522"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30343B"/>
                </a:solidFill>
                <a:latin typeface="Inter" pitchFamily="34" charset="0"/>
                <a:ea typeface="Inter" pitchFamily="34" charset="-122"/>
                <a:cs typeface="Inter" pitchFamily="34" charset="-120"/>
              </a:rPr>
              <a:t>Names the roles and separates what each one may and may not do.</a:t>
            </a:r>
            <a:endParaRPr lang="en-US" sz="750" dirty="0"/>
          </a:p>
        </p:txBody>
      </p:sp>
      <p:sp>
        <p:nvSpPr>
          <p:cNvPr id="38" name="Shape 35"/>
          <p:cNvSpPr/>
          <p:nvPr/>
        </p:nvSpPr>
        <p:spPr>
          <a:xfrm>
            <a:off x="364331" y="4018025"/>
            <a:ext cx="1889522" cy="375382"/>
          </a:xfrm>
          <a:prstGeom prst="rect">
            <a:avLst/>
          </a:prstGeom>
          <a:solidFill>
            <a:srgbClr val="1E1E1E"/>
          </a:solidFill>
          <a:ln/>
        </p:spPr>
      </p:sp>
      <p:sp>
        <p:nvSpPr>
          <p:cNvPr id="39" name="Shape 36"/>
          <p:cNvSpPr/>
          <p:nvPr/>
        </p:nvSpPr>
        <p:spPr>
          <a:xfrm>
            <a:off x="364331" y="4018025"/>
            <a:ext cx="28575" cy="375382"/>
          </a:xfrm>
          <a:prstGeom prst="rect">
            <a:avLst/>
          </a:prstGeom>
          <a:solidFill>
            <a:srgbClr val="FF443A"/>
          </a:solidFill>
          <a:ln/>
        </p:spPr>
      </p:sp>
      <p:sp>
        <p:nvSpPr>
          <p:cNvPr id="40" name="Text 37"/>
          <p:cNvSpPr/>
          <p:nvPr/>
        </p:nvSpPr>
        <p:spPr>
          <a:xfrm>
            <a:off x="364331" y="4018025"/>
            <a:ext cx="1889522" cy="375382"/>
          </a:xfrm>
          <a:prstGeom prst="rect">
            <a:avLst/>
          </a:prstGeom>
          <a:noFill/>
          <a:ln/>
        </p:spPr>
        <p:txBody>
          <a:bodyPr wrap="square" lIns="59563" tIns="51054" rIns="59563" bIns="51054" rtlCol="0" anchor="t">
            <a:spAutoFit/>
          </a:bodyPr>
          <a:lstStyle/>
          <a:p>
            <a:pPr algn="l" indent="0" marL="0">
              <a:lnSpc>
                <a:spcPct val="104000"/>
              </a:lnSpc>
              <a:buNone/>
            </a:pPr>
            <a:r>
              <a:rPr lang="en-US" sz="550" dirty="0">
                <a:solidFill>
                  <a:srgbClr val="D4D4D4"/>
                </a:solidFill>
                <a:latin typeface="JetBrains Mono" pitchFamily="34" charset="0"/>
                <a:ea typeface="JetBrains Mono" pitchFamily="34" charset="-122"/>
                <a:cs typeface="JetBrains Mono" pitchFamily="34" charset="-120"/>
              </a:rPr>
              <a:t>Maker builds</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Checker validates</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Human approves</a:t>
            </a:r>
            <a:endParaRPr lang="en-US" sz="550" dirty="0"/>
          </a:p>
        </p:txBody>
      </p:sp>
      <p:sp>
        <p:nvSpPr>
          <p:cNvPr id="41" name="Shape 38"/>
          <p:cNvSpPr/>
          <p:nvPr/>
        </p:nvSpPr>
        <p:spPr>
          <a:xfrm>
            <a:off x="2446734" y="3057971"/>
            <a:ext cx="2075259" cy="1414016"/>
          </a:xfrm>
          <a:prstGeom prst="rect">
            <a:avLst/>
          </a:prstGeom>
          <a:solidFill>
            <a:srgbClr val="FFFFFF"/>
          </a:solidFill>
          <a:ln w="18288">
            <a:solidFill>
              <a:srgbClr val="111111"/>
            </a:solidFill>
            <a:prstDash val="solid"/>
          </a:ln>
        </p:spPr>
      </p:sp>
      <p:sp>
        <p:nvSpPr>
          <p:cNvPr id="42" name="Shape 39"/>
          <p:cNvSpPr/>
          <p:nvPr/>
        </p:nvSpPr>
        <p:spPr>
          <a:xfrm>
            <a:off x="4393406" y="2986534"/>
            <a:ext cx="192881" cy="192881"/>
          </a:xfrm>
          <a:prstGeom prst="rect">
            <a:avLst/>
          </a:prstGeom>
          <a:solidFill>
            <a:srgbClr val="FF443A"/>
          </a:solidFill>
          <a:ln w="18288">
            <a:solidFill>
              <a:srgbClr val="111111"/>
            </a:solidFill>
            <a:prstDash val="solid"/>
          </a:ln>
        </p:spPr>
      </p:sp>
      <p:sp>
        <p:nvSpPr>
          <p:cNvPr id="43" name="Text 40"/>
          <p:cNvSpPr/>
          <p:nvPr/>
        </p:nvSpPr>
        <p:spPr>
          <a:xfrm>
            <a:off x="4393406" y="2986534"/>
            <a:ext cx="192881" cy="192881"/>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44" name="Text 41"/>
          <p:cNvSpPr/>
          <p:nvPr/>
        </p:nvSpPr>
        <p:spPr>
          <a:xfrm>
            <a:off x="2539603" y="3150840"/>
            <a:ext cx="1889522" cy="228600"/>
          </a:xfrm>
          <a:prstGeom prst="rect">
            <a:avLst/>
          </a:prstGeom>
          <a:noFill/>
          <a:ln/>
        </p:spPr>
        <p:txBody>
          <a:bodyPr wrap="square" lIns="0" tIns="0" rIns="0" bIns="0" rtlCol="0" anchor="t">
            <a:spAutoFit/>
          </a:bodyPr>
          <a:lstStyle/>
          <a:p>
            <a:pPr algn="l" indent="0" marL="0">
              <a:lnSpc>
                <a:spcPct val="96000"/>
              </a:lnSpc>
              <a:buNone/>
            </a:pPr>
            <a:r>
              <a:rPr lang="en-US" sz="650" b="1" dirty="0">
                <a:solidFill>
                  <a:srgbClr val="B42318"/>
                </a:solidFill>
                <a:latin typeface="JetBrains Mono Bold" pitchFamily="34" charset="0"/>
                <a:ea typeface="JetBrains Mono Bold" pitchFamily="34" charset="-122"/>
                <a:cs typeface="JetBrains Mono Bold" pitchFamily="34" charset="-120"/>
              </a:rPr>
              <a:t>config/workflow.yaml</a:t>
            </a:r>
            <a:endParaRPr lang="en-US" sz="650" dirty="0"/>
          </a:p>
        </p:txBody>
      </p:sp>
      <p:sp>
        <p:nvSpPr>
          <p:cNvPr id="45" name="Text 42"/>
          <p:cNvSpPr/>
          <p:nvPr/>
        </p:nvSpPr>
        <p:spPr>
          <a:xfrm>
            <a:off x="2539603" y="3443734"/>
            <a:ext cx="1889522" cy="214313"/>
          </a:xfrm>
          <a:prstGeom prst="rect">
            <a:avLst/>
          </a:prstGeom>
          <a:noFill/>
          <a:ln/>
        </p:spPr>
        <p:txBody>
          <a:bodyPr wrap="square" lIns="0" tIns="0" rIns="0" bIns="0" rtlCol="0" anchor="t">
            <a:spAutoFit/>
          </a:bodyPr>
          <a:lstStyle/>
          <a:p>
            <a:pPr algn="l" indent="0" marL="0">
              <a:buNone/>
            </a:pPr>
            <a:r>
              <a:rPr lang="en-US" sz="1000" b="1" dirty="0">
                <a:solidFill>
                  <a:srgbClr val="0055FF"/>
                </a:solidFill>
                <a:latin typeface="Oswald SemiBold" pitchFamily="34" charset="0"/>
                <a:ea typeface="Oswald SemiBold" pitchFamily="34" charset="-122"/>
                <a:cs typeface="Oswald SemiBold" pitchFamily="34" charset="-120"/>
              </a:rPr>
              <a:t>ENFORCES</a:t>
            </a:r>
            <a:endParaRPr lang="en-US" sz="1000" dirty="0"/>
          </a:p>
        </p:txBody>
      </p:sp>
      <p:sp>
        <p:nvSpPr>
          <p:cNvPr id="46" name="Text 43"/>
          <p:cNvSpPr/>
          <p:nvPr/>
        </p:nvSpPr>
        <p:spPr>
          <a:xfrm>
            <a:off x="2539603" y="3700909"/>
            <a:ext cx="1889522"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30343B"/>
                </a:solidFill>
                <a:latin typeface="Inter" pitchFamily="34" charset="0"/>
                <a:ea typeface="Inter" pitchFamily="34" charset="-122"/>
                <a:cs typeface="Inter" pitchFamily="34" charset="-120"/>
              </a:rPr>
              <a:t>Controls order, gates, retries, and the one-skill-per-prompt rule.</a:t>
            </a:r>
            <a:endParaRPr lang="en-US" sz="750" dirty="0"/>
          </a:p>
        </p:txBody>
      </p:sp>
      <p:sp>
        <p:nvSpPr>
          <p:cNvPr id="47" name="Shape 44"/>
          <p:cNvSpPr/>
          <p:nvPr/>
        </p:nvSpPr>
        <p:spPr>
          <a:xfrm>
            <a:off x="2539603" y="4018025"/>
            <a:ext cx="1889522" cy="278829"/>
          </a:xfrm>
          <a:prstGeom prst="rect">
            <a:avLst/>
          </a:prstGeom>
          <a:solidFill>
            <a:srgbClr val="1E1E1E"/>
          </a:solidFill>
          <a:ln/>
        </p:spPr>
      </p:sp>
      <p:sp>
        <p:nvSpPr>
          <p:cNvPr id="48" name="Shape 45"/>
          <p:cNvSpPr/>
          <p:nvPr/>
        </p:nvSpPr>
        <p:spPr>
          <a:xfrm>
            <a:off x="2539603" y="4018025"/>
            <a:ext cx="28575" cy="278829"/>
          </a:xfrm>
          <a:prstGeom prst="rect">
            <a:avLst/>
          </a:prstGeom>
          <a:solidFill>
            <a:srgbClr val="FF443A"/>
          </a:solidFill>
          <a:ln/>
        </p:spPr>
      </p:sp>
      <p:sp>
        <p:nvSpPr>
          <p:cNvPr id="49" name="Text 46"/>
          <p:cNvSpPr/>
          <p:nvPr/>
        </p:nvSpPr>
        <p:spPr>
          <a:xfrm>
            <a:off x="2539603" y="4018025"/>
            <a:ext cx="1889522" cy="278829"/>
          </a:xfrm>
          <a:prstGeom prst="rect">
            <a:avLst/>
          </a:prstGeom>
          <a:noFill/>
          <a:ln/>
        </p:spPr>
        <p:txBody>
          <a:bodyPr wrap="square" lIns="59563" tIns="51054" rIns="59563" bIns="51054" rtlCol="0" anchor="t">
            <a:spAutoFit/>
          </a:bodyPr>
          <a:lstStyle/>
          <a:p>
            <a:pPr algn="l" indent="0" marL="0">
              <a:lnSpc>
                <a:spcPct val="104000"/>
              </a:lnSpc>
              <a:buNone/>
            </a:pPr>
            <a:r>
              <a:rPr lang="en-US" sz="550" dirty="0">
                <a:solidFill>
                  <a:srgbClr val="9CDCFE"/>
                </a:solidFill>
                <a:latin typeface="JetBrains Mono" pitchFamily="34" charset="0"/>
                <a:ea typeface="JetBrains Mono" pitchFamily="34" charset="-122"/>
                <a:cs typeface="JetBrains Mono" pitchFamily="34" charset="-120"/>
              </a:rPr>
              <a:t>one_skill_per_prompt</a:t>
            </a:r>
            <a:r>
              <a:rPr lang="en-US" sz="550" dirty="0">
                <a:solidFill>
                  <a:srgbClr val="D4D4D4"/>
                </a:solidFill>
                <a:latin typeface="JetBrains Mono" pitchFamily="34" charset="0"/>
                <a:ea typeface="JetBrains Mono" pitchFamily="34" charset="-122"/>
                <a:cs typeface="JetBrains Mono" pitchFamily="34" charset="-120"/>
              </a:rPr>
              <a:t>: true</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9CDCFE"/>
                </a:solidFill>
                <a:latin typeface="JetBrains Mono" pitchFamily="34" charset="0"/>
                <a:ea typeface="JetBrains Mono" pitchFamily="34" charset="-122"/>
                <a:cs typeface="JetBrains Mono" pitchFamily="34" charset="-120"/>
              </a:rPr>
              <a:t>self_approval_forbidden</a:t>
            </a:r>
            <a:r>
              <a:rPr lang="en-US" sz="550" dirty="0">
                <a:solidFill>
                  <a:srgbClr val="D4D4D4"/>
                </a:solidFill>
                <a:latin typeface="JetBrains Mono" pitchFamily="34" charset="0"/>
                <a:ea typeface="JetBrains Mono" pitchFamily="34" charset="-122"/>
                <a:cs typeface="JetBrains Mono" pitchFamily="34" charset="-120"/>
              </a:rPr>
              <a:t>: true</a:t>
            </a:r>
            <a:endParaRPr lang="en-US" sz="550" dirty="0"/>
          </a:p>
        </p:txBody>
      </p:sp>
      <p:sp>
        <p:nvSpPr>
          <p:cNvPr id="50" name="Shape 47"/>
          <p:cNvSpPr/>
          <p:nvPr/>
        </p:nvSpPr>
        <p:spPr>
          <a:xfrm>
            <a:off x="4622006" y="3057971"/>
            <a:ext cx="2075259" cy="1414016"/>
          </a:xfrm>
          <a:prstGeom prst="rect">
            <a:avLst/>
          </a:prstGeom>
          <a:solidFill>
            <a:srgbClr val="FFFFFF"/>
          </a:solidFill>
          <a:ln w="18288">
            <a:solidFill>
              <a:srgbClr val="111111"/>
            </a:solidFill>
            <a:prstDash val="solid"/>
          </a:ln>
        </p:spPr>
      </p:sp>
      <p:sp>
        <p:nvSpPr>
          <p:cNvPr id="51" name="Shape 48"/>
          <p:cNvSpPr/>
          <p:nvPr/>
        </p:nvSpPr>
        <p:spPr>
          <a:xfrm>
            <a:off x="6568678" y="2986534"/>
            <a:ext cx="192881" cy="192881"/>
          </a:xfrm>
          <a:prstGeom prst="rect">
            <a:avLst/>
          </a:prstGeom>
          <a:solidFill>
            <a:srgbClr val="FF443A"/>
          </a:solidFill>
          <a:ln w="18288">
            <a:solidFill>
              <a:srgbClr val="111111"/>
            </a:solidFill>
            <a:prstDash val="solid"/>
          </a:ln>
        </p:spPr>
      </p:sp>
      <p:sp>
        <p:nvSpPr>
          <p:cNvPr id="52" name="Text 49"/>
          <p:cNvSpPr/>
          <p:nvPr/>
        </p:nvSpPr>
        <p:spPr>
          <a:xfrm>
            <a:off x="6568678" y="2986534"/>
            <a:ext cx="192881" cy="192881"/>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53" name="Text 50"/>
          <p:cNvSpPr/>
          <p:nvPr/>
        </p:nvSpPr>
        <p:spPr>
          <a:xfrm>
            <a:off x="4714875" y="3150840"/>
            <a:ext cx="1889522" cy="228600"/>
          </a:xfrm>
          <a:prstGeom prst="rect">
            <a:avLst/>
          </a:prstGeom>
          <a:noFill/>
          <a:ln/>
        </p:spPr>
        <p:txBody>
          <a:bodyPr wrap="square" lIns="0" tIns="0" rIns="0" bIns="0" rtlCol="0" anchor="t">
            <a:spAutoFit/>
          </a:bodyPr>
          <a:lstStyle/>
          <a:p>
            <a:pPr algn="l" indent="0" marL="0">
              <a:lnSpc>
                <a:spcPct val="96000"/>
              </a:lnSpc>
              <a:buNone/>
            </a:pPr>
            <a:r>
              <a:rPr lang="en-US" sz="650" b="1" dirty="0">
                <a:solidFill>
                  <a:srgbClr val="B42318"/>
                </a:solidFill>
                <a:latin typeface="JetBrains Mono Bold" pitchFamily="34" charset="0"/>
                <a:ea typeface="JetBrains Mono Bold" pitchFamily="34" charset="-122"/>
                <a:cs typeface="JetBrains Mono Bold" pitchFamily="34" charset="-120"/>
              </a:rPr>
              <a:t>.github/skills/*/SKILL.md</a:t>
            </a:r>
            <a:endParaRPr lang="en-US" sz="650" dirty="0"/>
          </a:p>
        </p:txBody>
      </p:sp>
      <p:sp>
        <p:nvSpPr>
          <p:cNvPr id="54" name="Text 51"/>
          <p:cNvSpPr/>
          <p:nvPr/>
        </p:nvSpPr>
        <p:spPr>
          <a:xfrm>
            <a:off x="4714875" y="3443734"/>
            <a:ext cx="1889522" cy="214313"/>
          </a:xfrm>
          <a:prstGeom prst="rect">
            <a:avLst/>
          </a:prstGeom>
          <a:noFill/>
          <a:ln/>
        </p:spPr>
        <p:txBody>
          <a:bodyPr wrap="square" lIns="0" tIns="0" rIns="0" bIns="0" rtlCol="0" anchor="t">
            <a:spAutoFit/>
          </a:bodyPr>
          <a:lstStyle/>
          <a:p>
            <a:pPr algn="l" indent="0" marL="0">
              <a:buNone/>
            </a:pPr>
            <a:r>
              <a:rPr lang="en-US" sz="1000" b="1" dirty="0">
                <a:solidFill>
                  <a:srgbClr val="0055FF"/>
                </a:solidFill>
                <a:latin typeface="Oswald SemiBold" pitchFamily="34" charset="0"/>
                <a:ea typeface="Oswald SemiBold" pitchFamily="34" charset="-122"/>
                <a:cs typeface="Oswald SemiBold" pitchFamily="34" charset="-120"/>
              </a:rPr>
              <a:t>EXECUTES</a:t>
            </a:r>
            <a:endParaRPr lang="en-US" sz="1000" dirty="0"/>
          </a:p>
        </p:txBody>
      </p:sp>
      <p:sp>
        <p:nvSpPr>
          <p:cNvPr id="55" name="Text 52"/>
          <p:cNvSpPr/>
          <p:nvPr/>
        </p:nvSpPr>
        <p:spPr>
          <a:xfrm>
            <a:off x="4714875" y="3700909"/>
            <a:ext cx="1889522"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30343B"/>
                </a:solidFill>
                <a:latin typeface="Inter" pitchFamily="34" charset="0"/>
                <a:ea typeface="Inter" pitchFamily="34" charset="-122"/>
                <a:cs typeface="Inter" pitchFamily="34" charset="-120"/>
              </a:rPr>
              <a:t>Gives the active role one bounded procedure, output, and stop condition.</a:t>
            </a:r>
            <a:endParaRPr lang="en-US" sz="750" dirty="0"/>
          </a:p>
        </p:txBody>
      </p:sp>
      <p:sp>
        <p:nvSpPr>
          <p:cNvPr id="56" name="Shape 53"/>
          <p:cNvSpPr/>
          <p:nvPr/>
        </p:nvSpPr>
        <p:spPr>
          <a:xfrm>
            <a:off x="4714875" y="4018025"/>
            <a:ext cx="1889522" cy="278829"/>
          </a:xfrm>
          <a:prstGeom prst="rect">
            <a:avLst/>
          </a:prstGeom>
          <a:solidFill>
            <a:srgbClr val="1E1E1E"/>
          </a:solidFill>
          <a:ln/>
        </p:spPr>
      </p:sp>
      <p:sp>
        <p:nvSpPr>
          <p:cNvPr id="57" name="Shape 54"/>
          <p:cNvSpPr/>
          <p:nvPr/>
        </p:nvSpPr>
        <p:spPr>
          <a:xfrm>
            <a:off x="4714875" y="4018025"/>
            <a:ext cx="28575" cy="278829"/>
          </a:xfrm>
          <a:prstGeom prst="rect">
            <a:avLst/>
          </a:prstGeom>
          <a:solidFill>
            <a:srgbClr val="FF443A"/>
          </a:solidFill>
          <a:ln/>
        </p:spPr>
      </p:sp>
      <p:sp>
        <p:nvSpPr>
          <p:cNvPr id="58" name="Text 55"/>
          <p:cNvSpPr/>
          <p:nvPr/>
        </p:nvSpPr>
        <p:spPr>
          <a:xfrm>
            <a:off x="4714875" y="4018025"/>
            <a:ext cx="1889522" cy="278829"/>
          </a:xfrm>
          <a:prstGeom prst="rect">
            <a:avLst/>
          </a:prstGeom>
          <a:noFill/>
          <a:ln/>
        </p:spPr>
        <p:txBody>
          <a:bodyPr wrap="square" lIns="59563" tIns="51054" rIns="59563" bIns="51054" rtlCol="0" anchor="t">
            <a:spAutoFit/>
          </a:bodyPr>
          <a:lstStyle/>
          <a:p>
            <a:pPr algn="l" indent="0" marL="0">
              <a:lnSpc>
                <a:spcPct val="104000"/>
              </a:lnSpc>
              <a:buNone/>
            </a:pPr>
            <a:r>
              <a:rPr lang="en-US" sz="550" dirty="0">
                <a:solidFill>
                  <a:srgbClr val="D4D4D4"/>
                </a:solidFill>
                <a:latin typeface="JetBrains Mono" pitchFamily="34" charset="0"/>
                <a:ea typeface="JetBrains Mono" pitchFamily="34" charset="-122"/>
                <a:cs typeface="JetBrains Mono" pitchFamily="34" charset="-120"/>
              </a:rPr>
              <a:t>Trigger → Inputs → Workflow</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Output → Verify → Stop</a:t>
            </a:r>
            <a:endParaRPr lang="en-US" sz="550" dirty="0"/>
          </a:p>
        </p:txBody>
      </p:sp>
      <p:sp>
        <p:nvSpPr>
          <p:cNvPr id="59" name="Shape 56"/>
          <p:cNvSpPr/>
          <p:nvPr/>
        </p:nvSpPr>
        <p:spPr>
          <a:xfrm>
            <a:off x="6797278" y="3057971"/>
            <a:ext cx="2075259" cy="1414016"/>
          </a:xfrm>
          <a:prstGeom prst="rect">
            <a:avLst/>
          </a:prstGeom>
          <a:solidFill>
            <a:srgbClr val="FFFFFF"/>
          </a:solidFill>
          <a:ln w="18288">
            <a:solidFill>
              <a:srgbClr val="111111"/>
            </a:solidFill>
            <a:prstDash val="solid"/>
          </a:ln>
        </p:spPr>
      </p:sp>
      <p:sp>
        <p:nvSpPr>
          <p:cNvPr id="60" name="Shape 57"/>
          <p:cNvSpPr/>
          <p:nvPr/>
        </p:nvSpPr>
        <p:spPr>
          <a:xfrm>
            <a:off x="8743950" y="2986534"/>
            <a:ext cx="192881" cy="192881"/>
          </a:xfrm>
          <a:prstGeom prst="rect">
            <a:avLst/>
          </a:prstGeom>
          <a:solidFill>
            <a:srgbClr val="FF443A"/>
          </a:solidFill>
          <a:ln w="18288">
            <a:solidFill>
              <a:srgbClr val="111111"/>
            </a:solidFill>
            <a:prstDash val="solid"/>
          </a:ln>
        </p:spPr>
      </p:sp>
      <p:sp>
        <p:nvSpPr>
          <p:cNvPr id="61" name="Text 58"/>
          <p:cNvSpPr/>
          <p:nvPr/>
        </p:nvSpPr>
        <p:spPr>
          <a:xfrm>
            <a:off x="8743950" y="2986534"/>
            <a:ext cx="192881" cy="192881"/>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62" name="Text 59"/>
          <p:cNvSpPr/>
          <p:nvPr/>
        </p:nvSpPr>
        <p:spPr>
          <a:xfrm>
            <a:off x="6890147" y="3150840"/>
            <a:ext cx="1889522" cy="228600"/>
          </a:xfrm>
          <a:prstGeom prst="rect">
            <a:avLst/>
          </a:prstGeom>
          <a:noFill/>
          <a:ln/>
        </p:spPr>
        <p:txBody>
          <a:bodyPr wrap="square" lIns="0" tIns="0" rIns="0" bIns="0" rtlCol="0" anchor="t">
            <a:spAutoFit/>
          </a:bodyPr>
          <a:lstStyle/>
          <a:p>
            <a:pPr algn="l" indent="0" marL="0">
              <a:lnSpc>
                <a:spcPct val="96000"/>
              </a:lnSpc>
              <a:buNone/>
            </a:pPr>
            <a:r>
              <a:rPr lang="en-US" sz="650" b="1" dirty="0">
                <a:solidFill>
                  <a:srgbClr val="B42318"/>
                </a:solidFill>
                <a:latin typeface="JetBrains Mono Bold" pitchFamily="34" charset="0"/>
                <a:ea typeface="JetBrains Mono Bold" pitchFamily="34" charset="-122"/>
                <a:cs typeface="JetBrains Mono Bold" pitchFamily="34" charset="-120"/>
              </a:rPr>
              <a:t>artifacts/run_state/*.json</a:t>
            </a:r>
            <a:endParaRPr lang="en-US" sz="650" dirty="0"/>
          </a:p>
        </p:txBody>
      </p:sp>
      <p:sp>
        <p:nvSpPr>
          <p:cNvPr id="63" name="Text 60"/>
          <p:cNvSpPr/>
          <p:nvPr/>
        </p:nvSpPr>
        <p:spPr>
          <a:xfrm>
            <a:off x="6890147" y="3443734"/>
            <a:ext cx="1889522" cy="214313"/>
          </a:xfrm>
          <a:prstGeom prst="rect">
            <a:avLst/>
          </a:prstGeom>
          <a:noFill/>
          <a:ln/>
        </p:spPr>
        <p:txBody>
          <a:bodyPr wrap="square" lIns="0" tIns="0" rIns="0" bIns="0" rtlCol="0" anchor="t">
            <a:spAutoFit/>
          </a:bodyPr>
          <a:lstStyle/>
          <a:p>
            <a:pPr algn="l" indent="0" marL="0">
              <a:buNone/>
            </a:pPr>
            <a:r>
              <a:rPr lang="en-US" sz="1000" b="1" dirty="0">
                <a:solidFill>
                  <a:srgbClr val="0055FF"/>
                </a:solidFill>
                <a:latin typeface="Oswald SemiBold" pitchFamily="34" charset="0"/>
                <a:ea typeface="Oswald SemiBold" pitchFamily="34" charset="-122"/>
                <a:cs typeface="Oswald SemiBold" pitchFamily="34" charset="-120"/>
              </a:rPr>
              <a:t>RECORDS</a:t>
            </a:r>
            <a:endParaRPr lang="en-US" sz="1000" dirty="0"/>
          </a:p>
        </p:txBody>
      </p:sp>
      <p:sp>
        <p:nvSpPr>
          <p:cNvPr id="64" name="Text 61"/>
          <p:cNvSpPr/>
          <p:nvPr/>
        </p:nvSpPr>
        <p:spPr>
          <a:xfrm>
            <a:off x="6890147" y="3700909"/>
            <a:ext cx="1889522"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30343B"/>
                </a:solidFill>
                <a:latin typeface="Inter" pitchFamily="34" charset="0"/>
                <a:ea typeface="Inter" pitchFamily="34" charset="-122"/>
                <a:cs typeface="Inter" pitchFamily="34" charset="-120"/>
              </a:rPr>
              <a:t>Preserves which skill ran, its result, and what role may act next.</a:t>
            </a:r>
            <a:endParaRPr lang="en-US" sz="750" dirty="0"/>
          </a:p>
        </p:txBody>
      </p:sp>
      <p:sp>
        <p:nvSpPr>
          <p:cNvPr id="65" name="Shape 62"/>
          <p:cNvSpPr/>
          <p:nvPr/>
        </p:nvSpPr>
        <p:spPr>
          <a:xfrm>
            <a:off x="6890147" y="4018025"/>
            <a:ext cx="1889522" cy="278829"/>
          </a:xfrm>
          <a:prstGeom prst="rect">
            <a:avLst/>
          </a:prstGeom>
          <a:solidFill>
            <a:srgbClr val="1E1E1E"/>
          </a:solidFill>
          <a:ln/>
        </p:spPr>
      </p:sp>
      <p:sp>
        <p:nvSpPr>
          <p:cNvPr id="66" name="Shape 63"/>
          <p:cNvSpPr/>
          <p:nvPr/>
        </p:nvSpPr>
        <p:spPr>
          <a:xfrm>
            <a:off x="6890147" y="4018025"/>
            <a:ext cx="28575" cy="278829"/>
          </a:xfrm>
          <a:prstGeom prst="rect">
            <a:avLst/>
          </a:prstGeom>
          <a:solidFill>
            <a:srgbClr val="FF443A"/>
          </a:solidFill>
          <a:ln/>
        </p:spPr>
      </p:sp>
      <p:sp>
        <p:nvSpPr>
          <p:cNvPr id="67" name="Text 64"/>
          <p:cNvSpPr/>
          <p:nvPr/>
        </p:nvSpPr>
        <p:spPr>
          <a:xfrm>
            <a:off x="6890147" y="4018025"/>
            <a:ext cx="1889522" cy="278829"/>
          </a:xfrm>
          <a:prstGeom prst="rect">
            <a:avLst/>
          </a:prstGeom>
          <a:noFill/>
          <a:ln/>
        </p:spPr>
        <p:txBody>
          <a:bodyPr wrap="square" lIns="59563" tIns="51054" rIns="59563" bIns="51054" rtlCol="0" anchor="t">
            <a:spAutoFit/>
          </a:bodyPr>
          <a:lstStyle/>
          <a:p>
            <a:pPr algn="l" indent="0" marL="0">
              <a:lnSpc>
                <a:spcPct val="104000"/>
              </a:lnSpc>
              <a:buNone/>
            </a:pPr>
            <a:r>
              <a:rPr lang="en-US" sz="550" dirty="0">
                <a:solidFill>
                  <a:srgbClr val="9CDCFE"/>
                </a:solidFill>
                <a:latin typeface="JetBrains Mono" pitchFamily="34" charset="0"/>
                <a:ea typeface="JetBrains Mono" pitchFamily="34" charset="-122"/>
                <a:cs typeface="JetBrains Mono" pitchFamily="34" charset="-120"/>
              </a:rPr>
              <a:t>status</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CE9178"/>
                </a:solidFill>
                <a:latin typeface="JetBrains Mono" pitchFamily="34" charset="0"/>
                <a:ea typeface="JetBrains Mono" pitchFamily="34" charset="-122"/>
                <a:cs typeface="JetBrains Mono" pitchFamily="34" charset="-120"/>
              </a:rPr>
              <a:t>PASS</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9CDCFE"/>
                </a:solidFill>
                <a:latin typeface="JetBrains Mono" pitchFamily="34" charset="0"/>
                <a:ea typeface="JetBrains Mono" pitchFamily="34" charset="-122"/>
                <a:cs typeface="JetBrains Mono" pitchFamily="34" charset="-120"/>
              </a:rPr>
              <a:t>next</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CE9178"/>
                </a:solidFill>
                <a:latin typeface="JetBrains Mono" pitchFamily="34" charset="0"/>
                <a:ea typeface="JetBrains Mono" pitchFamily="34" charset="-122"/>
                <a:cs typeface="JetBrains Mono" pitchFamily="34" charset="-120"/>
              </a:rPr>
              <a:t>review</a:t>
            </a:r>
            <a:endParaRPr lang="en-US" sz="550" dirty="0"/>
          </a:p>
        </p:txBody>
      </p:sp>
      <p:sp>
        <p:nvSpPr>
          <p:cNvPr id="68" name="Shape 65"/>
          <p:cNvSpPr/>
          <p:nvPr/>
        </p:nvSpPr>
        <p:spPr>
          <a:xfrm rot="-60000">
            <a:off x="4686300" y="4359920"/>
            <a:ext cx="4071938" cy="462111"/>
          </a:xfrm>
          <a:prstGeom prst="rect">
            <a:avLst/>
          </a:prstGeom>
          <a:solidFill>
            <a:srgbClr val="FFDF00"/>
          </a:solidFill>
          <a:ln w="18288">
            <a:solidFill>
              <a:srgbClr val="111111"/>
            </a:solidFill>
            <a:prstDash val="solid"/>
          </a:ln>
        </p:spPr>
      </p:sp>
      <p:sp>
        <p:nvSpPr>
          <p:cNvPr id="69" name="Text 66"/>
          <p:cNvSpPr/>
          <p:nvPr/>
        </p:nvSpPr>
        <p:spPr>
          <a:xfrm rot="-60000">
            <a:off x="4686300" y="4359920"/>
            <a:ext cx="4071938" cy="462111"/>
          </a:xfrm>
          <a:prstGeom prst="rect">
            <a:avLst/>
          </a:prstGeom>
          <a:noFill/>
          <a:ln/>
        </p:spPr>
        <p:txBody>
          <a:bodyPr wrap="square" lIns="136017" tIns="76581" rIns="136017" bIns="76581" rtlCol="0" anchor="t">
            <a:spAutoFit/>
          </a:bodyPr>
          <a:lstStyle/>
          <a:p>
            <a:pPr algn="l" indent="0" marL="0">
              <a:lnSpc>
                <a:spcPct val="88000"/>
              </a:lnSpc>
              <a:buNone/>
            </a:pPr>
            <a:r>
              <a:rPr lang="en-US" sz="900" b="1" dirty="0">
                <a:solidFill>
                  <a:srgbClr val="111111"/>
                </a:solidFill>
                <a:latin typeface="Kalam Bold" pitchFamily="34" charset="0"/>
                <a:ea typeface="Kalam Bold" pitchFamily="34" charset="-122"/>
                <a:cs typeface="Kalam Bold" pitchFamily="34" charset="-120"/>
              </a:rPr>
              <a:t>Bottom line:</a:t>
            </a:r>
            <a:r>
              <a:rPr lang="en-US" sz="950" dirty="0">
                <a:solidFill>
                  <a:srgbClr val="111111"/>
                </a:solidFill>
                <a:latin typeface="Kalam Bold" pitchFamily="34" charset="0"/>
                <a:ea typeface="Kalam Bold" pitchFamily="34" charset="-122"/>
                <a:cs typeface="Kalam Bold" pitchFamily="34" charset="-120"/>
              </a:rPr>
              <a:t> Rol</a:t>
            </a:r>
            <a:r>
              <a:rPr lang="en-US" sz="950" dirty="0">
                <a:solidFill>
                  <a:srgbClr val="111111"/>
                </a:solidFill>
                <a:latin typeface="Kalam Bold" pitchFamily="34" charset="0"/>
                <a:ea typeface="Kalam Bold" pitchFamily="34" charset="-122"/>
                <a:cs typeface="Kalam Bold" pitchFamily="34" charset="-120"/>
              </a:rPr>
              <a:t>es move</a:t>
            </a:r>
            <a:r>
              <a:rPr lang="en-US" sz="950" dirty="0">
                <a:solidFill>
                  <a:srgbClr val="111111"/>
                </a:solidFill>
                <a:latin typeface="Kalam Bold" pitchFamily="34" charset="0"/>
                <a:ea typeface="Kalam Bold" pitchFamily="34" charset="-122"/>
                <a:cs typeface="Kalam Bold" pitchFamily="34" charset="-120"/>
              </a:rPr>
              <a:t> from l</a:t>
            </a:r>
            <a:r>
              <a:rPr lang="en-US" sz="950" dirty="0">
                <a:solidFill>
                  <a:srgbClr val="111111"/>
                </a:solidFill>
                <a:latin typeface="Kalam Bold" pitchFamily="34" charset="0"/>
                <a:ea typeface="Kalam Bold" pitchFamily="34" charset="-122"/>
                <a:cs typeface="Kalam Bold" pitchFamily="34" charset="-120"/>
              </a:rPr>
              <a:t>abels i</a:t>
            </a:r>
            <a:r>
              <a:rPr lang="en-US" sz="950" dirty="0">
                <a:solidFill>
                  <a:srgbClr val="111111"/>
                </a:solidFill>
                <a:latin typeface="Kalam Bold" pitchFamily="34" charset="0"/>
                <a:ea typeface="Kalam Bold" pitchFamily="34" charset="-122"/>
                <a:cs typeface="Kalam Bold" pitchFamily="34" charset="-120"/>
              </a:rPr>
              <a:t>n a do</a:t>
            </a:r>
            <a:r>
              <a:rPr lang="en-US" sz="950" dirty="0">
                <a:solidFill>
                  <a:srgbClr val="111111"/>
                </a:solidFill>
                <a:latin typeface="Kalam Bold" pitchFamily="34" charset="0"/>
                <a:ea typeface="Kalam Bold" pitchFamily="34" charset="-122"/>
                <a:cs typeface="Kalam Bold" pitchFamily="34" charset="-120"/>
              </a:rPr>
              <a:t>cument</a:t>
            </a:r>
            <a:r>
              <a:rPr lang="en-US" sz="950" dirty="0">
                <a:solidFill>
                  <a:srgbClr val="111111"/>
                </a:solidFill>
                <a:latin typeface="Kalam Bold" pitchFamily="34" charset="0"/>
                <a:ea typeface="Kalam Bold" pitchFamily="34" charset="-122"/>
                <a:cs typeface="Kalam Bold" pitchFamily="34" charset="-120"/>
              </a:rPr>
              <a:t> to aud</a:t>
            </a:r>
            <a:r>
              <a:rPr lang="en-US" sz="950" dirty="0">
                <a:solidFill>
                  <a:srgbClr val="111111"/>
                </a:solidFill>
                <a:latin typeface="Kalam Bold" pitchFamily="34" charset="0"/>
                <a:ea typeface="Kalam Bold" pitchFamily="34" charset="-122"/>
                <a:cs typeface="Kalam Bold" pitchFamily="34" charset="-120"/>
              </a:rPr>
              <a:t>itable </a:t>
            </a:r>
            <a:r>
              <a:rPr lang="en-US" sz="950" dirty="0">
                <a:solidFill>
                  <a:srgbClr val="111111"/>
                </a:solidFill>
                <a:latin typeface="Kalam Bold" pitchFamily="34" charset="0"/>
                <a:ea typeface="Kalam Bold" pitchFamily="34" charset="-122"/>
                <a:cs typeface="Kalam Bold" pitchFamily="34" charset="-120"/>
              </a:rPr>
              <a:t>hand</a:t>
            </a:r>
            <a:r>
              <a:rPr lang="en-US" sz="950" dirty="0">
                <a:solidFill>
                  <a:srgbClr val="111111"/>
                </a:solidFill>
                <a:latin typeface="Kalam Bold" pitchFamily="34" charset="0"/>
                <a:ea typeface="Kalam Bold" pitchFamily="34" charset="-122"/>
                <a:cs typeface="Kalam Bold" pitchFamily="34" charset="-120"/>
              </a:rPr>
              <a:t>offs in </a:t>
            </a:r>
            <a:r>
              <a:rPr lang="en-US" sz="950" dirty="0">
                <a:solidFill>
                  <a:srgbClr val="111111"/>
                </a:solidFill>
                <a:latin typeface="Kalam Bold" pitchFamily="34" charset="0"/>
                <a:ea typeface="Kalam Bold" pitchFamily="34" charset="-122"/>
                <a:cs typeface="Kalam Bold" pitchFamily="34" charset="-120"/>
              </a:rPr>
              <a:t>the ru</a:t>
            </a:r>
            <a:r>
              <a:rPr lang="en-US" sz="950" dirty="0">
                <a:solidFill>
                  <a:srgbClr val="111111"/>
                </a:solidFill>
                <a:latin typeface="Kalam Bold" pitchFamily="34" charset="0"/>
                <a:ea typeface="Kalam Bold" pitchFamily="34" charset="-122"/>
                <a:cs typeface="Kalam Bold" pitchFamily="34" charset="-120"/>
              </a:rPr>
              <a:t>nning s</a:t>
            </a:r>
            <a:r>
              <a:rPr lang="en-US" sz="950" dirty="0">
                <a:solidFill>
                  <a:srgbClr val="111111"/>
                </a:solidFill>
                <a:latin typeface="Kalam Bold" pitchFamily="34" charset="0"/>
                <a:ea typeface="Kalam Bold" pitchFamily="34" charset="-122"/>
                <a:cs typeface="Kalam Bold" pitchFamily="34" charset="-120"/>
              </a:rPr>
              <a:t>ystem.</a:t>
            </a:r>
            <a:endParaRPr lang="en-US" sz="900" dirty="0"/>
          </a:p>
        </p:txBody>
      </p:sp>
      <p:sp>
        <p:nvSpPr>
          <p:cNvPr id="70" name="Shape 67"/>
          <p:cNvSpPr/>
          <p:nvPr/>
        </p:nvSpPr>
        <p:spPr>
          <a:xfrm>
            <a:off x="0" y="4857750"/>
            <a:ext cx="9144000" cy="285750"/>
          </a:xfrm>
          <a:prstGeom prst="rect">
            <a:avLst/>
          </a:prstGeom>
          <a:solidFill>
            <a:srgbClr val="0055FF"/>
          </a:solidFill>
          <a:ln/>
        </p:spPr>
      </p:sp>
      <p:sp>
        <p:nvSpPr>
          <p:cNvPr id="71" name="Shape 68"/>
          <p:cNvSpPr/>
          <p:nvPr/>
        </p:nvSpPr>
        <p:spPr>
          <a:xfrm>
            <a:off x="0" y="4857750"/>
            <a:ext cx="9144000" cy="28575"/>
          </a:xfrm>
          <a:prstGeom prst="rect">
            <a:avLst/>
          </a:prstGeom>
          <a:solidFill>
            <a:srgbClr val="111111"/>
          </a:solidFill>
          <a:ln/>
        </p:spPr>
      </p:sp>
      <p:sp>
        <p:nvSpPr>
          <p:cNvPr id="72" name="Text 69"/>
          <p:cNvSpPr/>
          <p:nvPr/>
        </p:nvSpPr>
        <p:spPr>
          <a:xfrm>
            <a:off x="271463" y="4954191"/>
            <a:ext cx="1489472" cy="92869"/>
          </a:xfrm>
          <a:prstGeom prst="rect">
            <a:avLst/>
          </a:prstGeom>
          <a:noFill/>
          <a:ln/>
        </p:spPr>
        <p:txBody>
          <a:bodyPr wrap="squar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THE OPERATING-MODEL CHANGE</a:t>
            </a:r>
            <a:endParaRPr lang="en-US" sz="550" dirty="0"/>
          </a:p>
        </p:txBody>
      </p:sp>
      <p:sp>
        <p:nvSpPr>
          <p:cNvPr id="73" name="Text 70"/>
          <p:cNvSpPr/>
          <p:nvPr/>
        </p:nvSpPr>
        <p:spPr>
          <a:xfrm>
            <a:off x="6636544" y="4952405"/>
            <a:ext cx="2235994" cy="96441"/>
          </a:xfrm>
          <a:prstGeom prst="rect">
            <a:avLst/>
          </a:prstGeom>
          <a:noFill/>
          <a:ln/>
        </p:spPr>
        <p:txBody>
          <a:bodyPr wrap="squar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DEFINED → ENFORCED → EXECUTED → RECORDED</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71463" y="200025"/>
            <a:ext cx="8601075" cy="628650"/>
          </a:xfrm>
          <a:prstGeom prst="rect">
            <a:avLst/>
          </a:prstGeom>
          <a:solidFill>
            <a:srgbClr val="000000">
              <a:alpha val="0"/>
            </a:srgbClr>
          </a:solidFill>
          <a:ln/>
        </p:spPr>
      </p:sp>
      <p:sp>
        <p:nvSpPr>
          <p:cNvPr id="4" name="Shape 1"/>
          <p:cNvSpPr/>
          <p:nvPr/>
        </p:nvSpPr>
        <p:spPr>
          <a:xfrm>
            <a:off x="271463" y="800100"/>
            <a:ext cx="8601075" cy="28575"/>
          </a:xfrm>
          <a:prstGeom prst="rect">
            <a:avLst/>
          </a:prstGeom>
          <a:solidFill>
            <a:srgbClr val="111111"/>
          </a:solidFill>
          <a:ln/>
        </p:spPr>
      </p:sp>
      <p:sp>
        <p:nvSpPr>
          <p:cNvPr id="5" name="Text 2"/>
          <p:cNvSpPr/>
          <p:nvPr/>
        </p:nvSpPr>
        <p:spPr>
          <a:xfrm>
            <a:off x="271463" y="200025"/>
            <a:ext cx="8601075" cy="349151"/>
          </a:xfrm>
          <a:prstGeom prst="rect">
            <a:avLst/>
          </a:prstGeom>
          <a:noFill/>
          <a:ln/>
        </p:spPr>
        <p:txBody>
          <a:bodyPr wrap="none" lIns="0" tIns="0" rIns="0" bIns="0" rtlCol="0" anchor="t">
            <a:spAutoFit/>
          </a:bodyPr>
          <a:lstStyle/>
          <a:p>
            <a:pPr algn="l" indent="0" marL="0">
              <a:lnSpc>
                <a:spcPct val="83200"/>
              </a:lnSpc>
              <a:buNone/>
            </a:pPr>
            <a:r>
              <a:rPr lang="en-US" sz="2400" b="1" dirty="0">
                <a:solidFill>
                  <a:srgbClr val="111111"/>
                </a:solidFill>
                <a:latin typeface="Oswald SemiBold" pitchFamily="34" charset="0"/>
                <a:ea typeface="Oswald SemiBold" pitchFamily="34" charset="-122"/>
                <a:cs typeface="Oswald SemiBold" pitchFamily="34" charset="-120"/>
              </a:rPr>
              <a:t>BUSINESS REQUEST TO GOVERNED EXECUTION</a:t>
            </a:r>
            <a:endParaRPr lang="en-US" sz="2400" dirty="0"/>
          </a:p>
        </p:txBody>
      </p:sp>
      <p:sp>
        <p:nvSpPr>
          <p:cNvPr id="6" name="Text 3"/>
          <p:cNvSpPr/>
          <p:nvPr/>
        </p:nvSpPr>
        <p:spPr>
          <a:xfrm>
            <a:off x="271463" y="592038"/>
            <a:ext cx="8601075" cy="228600"/>
          </a:xfrm>
          <a:prstGeom prst="rect">
            <a:avLst/>
          </a:prstGeom>
          <a:noFill/>
          <a:ln/>
        </p:spPr>
        <p:txBody>
          <a:bodyPr wrap="square" lIns="0" tIns="0" rIns="0" bIns="0" rtlCol="0" anchor="t">
            <a:spAutoFit/>
          </a:bodyPr>
          <a:lstStyle/>
          <a:p>
            <a:pPr algn="l" indent="0" marL="0">
              <a:buNone/>
            </a:pPr>
            <a:r>
              <a:rPr lang="en-US" sz="1050" dirty="0">
                <a:solidFill>
                  <a:srgbClr val="0055FF"/>
                </a:solidFill>
                <a:latin typeface="Kalam Bold" pitchFamily="34" charset="0"/>
                <a:ea typeface="Kalam Bold" pitchFamily="34" charset="-122"/>
                <a:cs typeface="Kalam Bold" pitchFamily="34" charset="-120"/>
              </a:rPr>
              <a:t>A SAS migration prompt becomes one controlled stage, one artifact, and one gate.</a:t>
            </a:r>
            <a:endParaRPr lang="en-US" sz="1050" dirty="0"/>
          </a:p>
        </p:txBody>
      </p:sp>
      <p:sp>
        <p:nvSpPr>
          <p:cNvPr id="7" name="Shape 4"/>
          <p:cNvSpPr/>
          <p:nvPr/>
        </p:nvSpPr>
        <p:spPr>
          <a:xfrm>
            <a:off x="1357313" y="942975"/>
            <a:ext cx="6429375" cy="435769"/>
          </a:xfrm>
          <a:prstGeom prst="rect">
            <a:avLst/>
          </a:prstGeom>
          <a:solidFill>
            <a:srgbClr val="FFF7CC"/>
          </a:solidFill>
          <a:ln w="18288">
            <a:solidFill>
              <a:srgbClr val="111111"/>
            </a:solidFill>
            <a:prstDash val="solid"/>
          </a:ln>
        </p:spPr>
      </p:sp>
      <p:sp>
        <p:nvSpPr>
          <p:cNvPr id="8" name="Shape 5"/>
          <p:cNvSpPr/>
          <p:nvPr/>
        </p:nvSpPr>
        <p:spPr>
          <a:xfrm>
            <a:off x="1357313" y="942975"/>
            <a:ext cx="385763" cy="435769"/>
          </a:xfrm>
          <a:prstGeom prst="rect">
            <a:avLst/>
          </a:prstGeom>
          <a:solidFill>
            <a:srgbClr val="FF443A"/>
          </a:solidFill>
          <a:ln/>
        </p:spPr>
      </p:sp>
      <p:sp>
        <p:nvSpPr>
          <p:cNvPr id="9" name="Shape 6"/>
          <p:cNvSpPr/>
          <p:nvPr/>
        </p:nvSpPr>
        <p:spPr>
          <a:xfrm>
            <a:off x="1721644" y="942975"/>
            <a:ext cx="21431" cy="435769"/>
          </a:xfrm>
          <a:prstGeom prst="rect">
            <a:avLst/>
          </a:prstGeom>
          <a:solidFill>
            <a:srgbClr val="111111"/>
          </a:solidFill>
          <a:ln/>
        </p:spPr>
      </p:sp>
      <p:sp>
        <p:nvSpPr>
          <p:cNvPr id="10" name="Text 7"/>
          <p:cNvSpPr/>
          <p:nvPr/>
        </p:nvSpPr>
        <p:spPr>
          <a:xfrm>
            <a:off x="1357313" y="942975"/>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1</a:t>
            </a:r>
            <a:endParaRPr lang="en-US" sz="1300" dirty="0"/>
          </a:p>
        </p:txBody>
      </p:sp>
      <p:sp>
        <p:nvSpPr>
          <p:cNvPr id="11" name="Text 8"/>
          <p:cNvSpPr/>
          <p:nvPr/>
        </p:nvSpPr>
        <p:spPr>
          <a:xfrm>
            <a:off x="1743075" y="1050131"/>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BUSINESS REQUEST</a:t>
            </a:r>
            <a:endParaRPr lang="en-US" sz="1100" dirty="0"/>
          </a:p>
        </p:txBody>
      </p:sp>
      <p:sp>
        <p:nvSpPr>
          <p:cNvPr id="12" name="Text 9"/>
          <p:cNvSpPr/>
          <p:nvPr/>
        </p:nvSpPr>
        <p:spPr>
          <a:xfrm>
            <a:off x="3421856" y="1076697"/>
            <a:ext cx="2614613" cy="168269"/>
          </a:xfrm>
          <a:prstGeom prst="rect">
            <a:avLst/>
          </a:prstGeom>
          <a:noFill/>
          <a:ln/>
        </p:spPr>
        <p:txBody>
          <a:bodyPr wrap="none" lIns="0" tIns="0" rIns="0" bIns="0" rtlCol="0" anchor="t">
            <a:spAutoFit/>
          </a:bodyPr>
          <a:lstStyle/>
          <a:p>
            <a:pPr algn="l" indent="0" marL="0">
              <a:lnSpc>
                <a:spcPct val="99200"/>
              </a:lnSpc>
              <a:buNone/>
            </a:pPr>
            <a:r>
              <a:rPr lang="en-US" sz="950" b="1" dirty="0">
                <a:solidFill>
                  <a:srgbClr val="B42318"/>
                </a:solidFill>
                <a:latin typeface="Kalam Bold" pitchFamily="34" charset="0"/>
                <a:ea typeface="Kalam Bold" pitchFamily="34" charset="-122"/>
                <a:cs typeface="Kalam Bold" pitchFamily="34" charset="-120"/>
              </a:rPr>
              <a:t>“Migrate SAS scoring to Python.”</a:t>
            </a:r>
            <a:endParaRPr lang="en-US" sz="950" dirty="0"/>
          </a:p>
        </p:txBody>
      </p:sp>
      <p:sp>
        <p:nvSpPr>
          <p:cNvPr id="13" name="Shape 10"/>
          <p:cNvSpPr/>
          <p:nvPr/>
        </p:nvSpPr>
        <p:spPr>
          <a:xfrm>
            <a:off x="7025878" y="1058503"/>
            <a:ext cx="667941" cy="204657"/>
          </a:xfrm>
          <a:prstGeom prst="rect">
            <a:avLst/>
          </a:prstGeom>
          <a:solidFill>
            <a:srgbClr val="1E1E1E"/>
          </a:solidFill>
          <a:ln w="18288">
            <a:solidFill>
              <a:srgbClr val="111111"/>
            </a:solidFill>
            <a:prstDash val="solid"/>
          </a:ln>
        </p:spPr>
      </p:sp>
      <p:sp>
        <p:nvSpPr>
          <p:cNvPr id="14" name="Text 11"/>
          <p:cNvSpPr/>
          <p:nvPr/>
        </p:nvSpPr>
        <p:spPr>
          <a:xfrm>
            <a:off x="7025878" y="1058503"/>
            <a:ext cx="667941" cy="204657"/>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USER PROMPT</a:t>
            </a:r>
            <a:endParaRPr lang="en-US" sz="550" dirty="0"/>
          </a:p>
        </p:txBody>
      </p:sp>
      <p:sp>
        <p:nvSpPr>
          <p:cNvPr id="15" name="Text 12"/>
          <p:cNvSpPr/>
          <p:nvPr/>
        </p:nvSpPr>
        <p:spPr>
          <a:xfrm>
            <a:off x="1357313" y="1378744"/>
            <a:ext cx="6429375" cy="128588"/>
          </a:xfrm>
          <a:prstGeom prst="rect">
            <a:avLst/>
          </a:prstGeom>
          <a:noFill/>
          <a:ln/>
        </p:spPr>
        <p:txBody>
          <a:bodyPr wrap="none" lIns="0" tIns="0" rIns="0" bIns="0" rtlCol="0" anchor="ctr">
            <a:spAutoFit/>
          </a:bodyPr>
          <a:lstStyle/>
          <a:p>
            <a:pPr algn="ctr" indent="0" marL="0">
              <a:lnSpc>
                <a:spcPct val="80000"/>
              </a:lnSpc>
              <a:buNone/>
            </a:pPr>
            <a:r>
              <a:rPr lang="en-US" sz="1250" b="1" dirty="0">
                <a:solidFill>
                  <a:srgbClr val="FF443A"/>
                </a:solidFill>
                <a:latin typeface="Inter Bold" pitchFamily="34" charset="0"/>
                <a:ea typeface="Inter Bold" pitchFamily="34" charset="-122"/>
                <a:cs typeface="Inter Bold" pitchFamily="34" charset="-120"/>
              </a:rPr>
              <a:t>↓</a:t>
            </a:r>
            <a:endParaRPr lang="en-US" sz="1250" dirty="0"/>
          </a:p>
        </p:txBody>
      </p:sp>
      <p:sp>
        <p:nvSpPr>
          <p:cNvPr id="16" name="Shape 13"/>
          <p:cNvSpPr/>
          <p:nvPr/>
        </p:nvSpPr>
        <p:spPr>
          <a:xfrm>
            <a:off x="1357313" y="1507331"/>
            <a:ext cx="6429375" cy="435769"/>
          </a:xfrm>
          <a:prstGeom prst="rect">
            <a:avLst/>
          </a:prstGeom>
          <a:solidFill>
            <a:srgbClr val="FFFFFF"/>
          </a:solidFill>
          <a:ln w="18288">
            <a:solidFill>
              <a:srgbClr val="111111"/>
            </a:solidFill>
            <a:prstDash val="solid"/>
          </a:ln>
        </p:spPr>
      </p:sp>
      <p:sp>
        <p:nvSpPr>
          <p:cNvPr id="17" name="Shape 14"/>
          <p:cNvSpPr/>
          <p:nvPr/>
        </p:nvSpPr>
        <p:spPr>
          <a:xfrm>
            <a:off x="1357313" y="1507331"/>
            <a:ext cx="385763" cy="435769"/>
          </a:xfrm>
          <a:prstGeom prst="rect">
            <a:avLst/>
          </a:prstGeom>
          <a:solidFill>
            <a:srgbClr val="FF443A"/>
          </a:solidFill>
          <a:ln/>
        </p:spPr>
      </p:sp>
      <p:sp>
        <p:nvSpPr>
          <p:cNvPr id="18" name="Shape 15"/>
          <p:cNvSpPr/>
          <p:nvPr/>
        </p:nvSpPr>
        <p:spPr>
          <a:xfrm>
            <a:off x="1721644" y="1507331"/>
            <a:ext cx="21431" cy="435769"/>
          </a:xfrm>
          <a:prstGeom prst="rect">
            <a:avLst/>
          </a:prstGeom>
          <a:solidFill>
            <a:srgbClr val="111111"/>
          </a:solidFill>
          <a:ln/>
        </p:spPr>
      </p:sp>
      <p:sp>
        <p:nvSpPr>
          <p:cNvPr id="19" name="Text 16"/>
          <p:cNvSpPr/>
          <p:nvPr/>
        </p:nvSpPr>
        <p:spPr>
          <a:xfrm>
            <a:off x="1357313" y="1507331"/>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2</a:t>
            </a:r>
            <a:endParaRPr lang="en-US" sz="1300" dirty="0"/>
          </a:p>
        </p:txBody>
      </p:sp>
      <p:sp>
        <p:nvSpPr>
          <p:cNvPr id="20" name="Text 17"/>
          <p:cNvSpPr/>
          <p:nvPr/>
        </p:nvSpPr>
        <p:spPr>
          <a:xfrm>
            <a:off x="1743075" y="1614488"/>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OPERATING CONTRACT</a:t>
            </a:r>
            <a:endParaRPr lang="en-US" sz="1100" dirty="0"/>
          </a:p>
        </p:txBody>
      </p:sp>
      <p:sp>
        <p:nvSpPr>
          <p:cNvPr id="21" name="Text 18"/>
          <p:cNvSpPr/>
          <p:nvPr/>
        </p:nvSpPr>
        <p:spPr>
          <a:xfrm>
            <a:off x="3421856" y="1583513"/>
            <a:ext cx="2614613" cy="283406"/>
          </a:xfrm>
          <a:prstGeom prst="rect">
            <a:avLst/>
          </a:prstGeom>
          <a:noFill/>
          <a:ln/>
        </p:spPr>
        <p:txBody>
          <a:bodyPr wrap="square" lIns="0" tIns="0" rIns="0" bIns="0" rtlCol="0" anchor="t">
            <a:spAutoFit/>
          </a:bodyPr>
          <a:lstStyle/>
          <a:p>
            <a:pPr algn="l" indent="0" marL="0">
              <a:lnSpc>
                <a:spcPct val="99200"/>
              </a:lnSpc>
              <a:buNone/>
            </a:pPr>
            <a:r>
              <a:rPr lang="en-US" sz="800" b="1" dirty="0">
                <a:solidFill>
                  <a:srgbClr val="252525"/>
                </a:solidFill>
                <a:latin typeface="Inter Bold" pitchFamily="34" charset="0"/>
                <a:ea typeface="Inter Bold" pitchFamily="34" charset="-122"/>
                <a:cs typeface="Inter Bold" pitchFamily="34" charset="-120"/>
              </a:rPr>
              <a:t>Load repository rules, authority boundaries, and stop conditions.</a:t>
            </a:r>
            <a:endParaRPr lang="en-US" sz="800" dirty="0"/>
          </a:p>
        </p:txBody>
      </p:sp>
      <p:sp>
        <p:nvSpPr>
          <p:cNvPr id="22" name="Shape 19"/>
          <p:cNvSpPr/>
          <p:nvPr/>
        </p:nvSpPr>
        <p:spPr>
          <a:xfrm>
            <a:off x="6468666" y="1577708"/>
            <a:ext cx="1225153" cy="295015"/>
          </a:xfrm>
          <a:prstGeom prst="rect">
            <a:avLst/>
          </a:prstGeom>
          <a:solidFill>
            <a:srgbClr val="1E1E1E"/>
          </a:solidFill>
          <a:ln w="18288">
            <a:solidFill>
              <a:srgbClr val="111111"/>
            </a:solidFill>
            <a:prstDash val="solid"/>
          </a:ln>
        </p:spPr>
      </p:sp>
      <p:sp>
        <p:nvSpPr>
          <p:cNvPr id="23" name="Text 20"/>
          <p:cNvSpPr/>
          <p:nvPr/>
        </p:nvSpPr>
        <p:spPr>
          <a:xfrm>
            <a:off x="6468666" y="1577708"/>
            <a:ext cx="1225153" cy="295015"/>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copilot-instructions.md</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 AGENTS.md</a:t>
            </a:r>
            <a:endParaRPr lang="en-US" sz="550" dirty="0"/>
          </a:p>
        </p:txBody>
      </p:sp>
      <p:sp>
        <p:nvSpPr>
          <p:cNvPr id="24" name="Text 21"/>
          <p:cNvSpPr/>
          <p:nvPr/>
        </p:nvSpPr>
        <p:spPr>
          <a:xfrm>
            <a:off x="1357313" y="1943100"/>
            <a:ext cx="6429375" cy="128588"/>
          </a:xfrm>
          <a:prstGeom prst="rect">
            <a:avLst/>
          </a:prstGeom>
          <a:noFill/>
          <a:ln/>
        </p:spPr>
        <p:txBody>
          <a:bodyPr wrap="none" lIns="0" tIns="0" rIns="0" bIns="0" rtlCol="0" anchor="ctr">
            <a:spAutoFit/>
          </a:bodyPr>
          <a:lstStyle/>
          <a:p>
            <a:pPr algn="ctr" indent="0" marL="0">
              <a:lnSpc>
                <a:spcPct val="80000"/>
              </a:lnSpc>
              <a:buNone/>
            </a:pPr>
            <a:r>
              <a:rPr lang="en-US" sz="1250" b="1" dirty="0">
                <a:solidFill>
                  <a:srgbClr val="FF443A"/>
                </a:solidFill>
                <a:latin typeface="Inter Bold" pitchFamily="34" charset="0"/>
                <a:ea typeface="Inter Bold" pitchFamily="34" charset="-122"/>
                <a:cs typeface="Inter Bold" pitchFamily="34" charset="-120"/>
              </a:rPr>
              <a:t>↓</a:t>
            </a:r>
            <a:endParaRPr lang="en-US" sz="1250" dirty="0"/>
          </a:p>
        </p:txBody>
      </p:sp>
      <p:sp>
        <p:nvSpPr>
          <p:cNvPr id="25" name="Shape 22"/>
          <p:cNvSpPr/>
          <p:nvPr/>
        </p:nvSpPr>
        <p:spPr>
          <a:xfrm>
            <a:off x="1357313" y="2071688"/>
            <a:ext cx="6429375" cy="435769"/>
          </a:xfrm>
          <a:prstGeom prst="rect">
            <a:avLst/>
          </a:prstGeom>
          <a:solidFill>
            <a:srgbClr val="EAF1FF"/>
          </a:solidFill>
          <a:ln w="18288">
            <a:solidFill>
              <a:srgbClr val="111111"/>
            </a:solidFill>
            <a:prstDash val="solid"/>
          </a:ln>
        </p:spPr>
      </p:sp>
      <p:sp>
        <p:nvSpPr>
          <p:cNvPr id="26" name="Shape 23"/>
          <p:cNvSpPr/>
          <p:nvPr/>
        </p:nvSpPr>
        <p:spPr>
          <a:xfrm>
            <a:off x="1357313" y="2071688"/>
            <a:ext cx="385763" cy="435769"/>
          </a:xfrm>
          <a:prstGeom prst="rect">
            <a:avLst/>
          </a:prstGeom>
          <a:solidFill>
            <a:srgbClr val="FF443A"/>
          </a:solidFill>
          <a:ln/>
        </p:spPr>
      </p:sp>
      <p:sp>
        <p:nvSpPr>
          <p:cNvPr id="27" name="Shape 24"/>
          <p:cNvSpPr/>
          <p:nvPr/>
        </p:nvSpPr>
        <p:spPr>
          <a:xfrm>
            <a:off x="1721644" y="2071688"/>
            <a:ext cx="21431" cy="435769"/>
          </a:xfrm>
          <a:prstGeom prst="rect">
            <a:avLst/>
          </a:prstGeom>
          <a:solidFill>
            <a:srgbClr val="111111"/>
          </a:solidFill>
          <a:ln/>
        </p:spPr>
      </p:sp>
      <p:sp>
        <p:nvSpPr>
          <p:cNvPr id="28" name="Text 25"/>
          <p:cNvSpPr/>
          <p:nvPr/>
        </p:nvSpPr>
        <p:spPr>
          <a:xfrm>
            <a:off x="1357313" y="2071688"/>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3</a:t>
            </a:r>
            <a:endParaRPr lang="en-US" sz="1300" dirty="0"/>
          </a:p>
        </p:txBody>
      </p:sp>
      <p:sp>
        <p:nvSpPr>
          <p:cNvPr id="29" name="Text 26"/>
          <p:cNvSpPr/>
          <p:nvPr/>
        </p:nvSpPr>
        <p:spPr>
          <a:xfrm>
            <a:off x="1743075" y="2178844"/>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ROUTE MAP</a:t>
            </a:r>
            <a:endParaRPr lang="en-US" sz="1100" dirty="0"/>
          </a:p>
        </p:txBody>
      </p:sp>
      <p:sp>
        <p:nvSpPr>
          <p:cNvPr id="30" name="Text 27"/>
          <p:cNvSpPr/>
          <p:nvPr/>
        </p:nvSpPr>
        <p:spPr>
          <a:xfrm>
            <a:off x="3421856" y="2147869"/>
            <a:ext cx="2614613" cy="283406"/>
          </a:xfrm>
          <a:prstGeom prst="rect">
            <a:avLst/>
          </a:prstGeom>
          <a:noFill/>
          <a:ln/>
        </p:spPr>
        <p:txBody>
          <a:bodyPr wrap="square" lIns="0" tIns="0" rIns="0" bIns="0" rtlCol="0" anchor="t">
            <a:spAutoFit/>
          </a:bodyPr>
          <a:lstStyle/>
          <a:p>
            <a:pPr algn="l" indent="0" marL="0">
              <a:lnSpc>
                <a:spcPct val="99200"/>
              </a:lnSpc>
              <a:buNone/>
            </a:pPr>
            <a:r>
              <a:rPr lang="en-US" sz="800" b="1" dirty="0">
                <a:solidFill>
                  <a:srgbClr val="252525"/>
                </a:solidFill>
                <a:latin typeface="Inter Bold" pitchFamily="34" charset="0"/>
                <a:ea typeface="Inter Bold" pitchFamily="34" charset="-122"/>
                <a:cs typeface="Inter Bold" pitchFamily="34" charset="-120"/>
              </a:rPr>
              <a:t>Determine which stages, gates, and recovery paths are allowed.</a:t>
            </a:r>
            <a:endParaRPr lang="en-US" sz="800" dirty="0"/>
          </a:p>
        </p:txBody>
      </p:sp>
      <p:sp>
        <p:nvSpPr>
          <p:cNvPr id="31" name="Shape 28"/>
          <p:cNvSpPr/>
          <p:nvPr/>
        </p:nvSpPr>
        <p:spPr>
          <a:xfrm>
            <a:off x="6607969" y="2187215"/>
            <a:ext cx="1085850" cy="204657"/>
          </a:xfrm>
          <a:prstGeom prst="rect">
            <a:avLst/>
          </a:prstGeom>
          <a:solidFill>
            <a:srgbClr val="1E1E1E"/>
          </a:solidFill>
          <a:ln w="18288">
            <a:solidFill>
              <a:srgbClr val="111111"/>
            </a:solidFill>
            <a:prstDash val="solid"/>
          </a:ln>
        </p:spPr>
      </p:sp>
      <p:sp>
        <p:nvSpPr>
          <p:cNvPr id="32" name="Text 29"/>
          <p:cNvSpPr/>
          <p:nvPr/>
        </p:nvSpPr>
        <p:spPr>
          <a:xfrm>
            <a:off x="6607969" y="2187215"/>
            <a:ext cx="1085850" cy="204657"/>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config/workflow.yaml</a:t>
            </a:r>
            <a:endParaRPr lang="en-US" sz="550" dirty="0"/>
          </a:p>
        </p:txBody>
      </p:sp>
      <p:sp>
        <p:nvSpPr>
          <p:cNvPr id="33" name="Text 30"/>
          <p:cNvSpPr/>
          <p:nvPr/>
        </p:nvSpPr>
        <p:spPr>
          <a:xfrm>
            <a:off x="1357313" y="2507456"/>
            <a:ext cx="6429375" cy="128588"/>
          </a:xfrm>
          <a:prstGeom prst="rect">
            <a:avLst/>
          </a:prstGeom>
          <a:noFill/>
          <a:ln/>
        </p:spPr>
        <p:txBody>
          <a:bodyPr wrap="none" lIns="0" tIns="0" rIns="0" bIns="0" rtlCol="0" anchor="ctr">
            <a:spAutoFit/>
          </a:bodyPr>
          <a:lstStyle/>
          <a:p>
            <a:pPr algn="ctr" indent="0" marL="0">
              <a:lnSpc>
                <a:spcPct val="80000"/>
              </a:lnSpc>
              <a:buNone/>
            </a:pPr>
            <a:r>
              <a:rPr lang="en-US" sz="1250" b="1" dirty="0">
                <a:solidFill>
                  <a:srgbClr val="FF443A"/>
                </a:solidFill>
                <a:latin typeface="Inter Bold" pitchFamily="34" charset="0"/>
                <a:ea typeface="Inter Bold" pitchFamily="34" charset="-122"/>
                <a:cs typeface="Inter Bold" pitchFamily="34" charset="-120"/>
              </a:rPr>
              <a:t>↓</a:t>
            </a:r>
            <a:endParaRPr lang="en-US" sz="1250" dirty="0"/>
          </a:p>
        </p:txBody>
      </p:sp>
      <p:sp>
        <p:nvSpPr>
          <p:cNvPr id="34" name="Shape 31"/>
          <p:cNvSpPr/>
          <p:nvPr/>
        </p:nvSpPr>
        <p:spPr>
          <a:xfrm>
            <a:off x="1357313" y="2636044"/>
            <a:ext cx="6429375" cy="435769"/>
          </a:xfrm>
          <a:prstGeom prst="rect">
            <a:avLst/>
          </a:prstGeom>
          <a:solidFill>
            <a:srgbClr val="FFFFFF"/>
          </a:solidFill>
          <a:ln w="18288">
            <a:solidFill>
              <a:srgbClr val="111111"/>
            </a:solidFill>
            <a:prstDash val="solid"/>
          </a:ln>
        </p:spPr>
      </p:sp>
      <p:sp>
        <p:nvSpPr>
          <p:cNvPr id="35" name="Shape 32"/>
          <p:cNvSpPr/>
          <p:nvPr/>
        </p:nvSpPr>
        <p:spPr>
          <a:xfrm>
            <a:off x="1357313" y="2636044"/>
            <a:ext cx="385763" cy="435769"/>
          </a:xfrm>
          <a:prstGeom prst="rect">
            <a:avLst/>
          </a:prstGeom>
          <a:solidFill>
            <a:srgbClr val="FF443A"/>
          </a:solidFill>
          <a:ln/>
        </p:spPr>
      </p:sp>
      <p:sp>
        <p:nvSpPr>
          <p:cNvPr id="36" name="Shape 33"/>
          <p:cNvSpPr/>
          <p:nvPr/>
        </p:nvSpPr>
        <p:spPr>
          <a:xfrm>
            <a:off x="1721644" y="2636044"/>
            <a:ext cx="21431" cy="435769"/>
          </a:xfrm>
          <a:prstGeom prst="rect">
            <a:avLst/>
          </a:prstGeom>
          <a:solidFill>
            <a:srgbClr val="111111"/>
          </a:solidFill>
          <a:ln/>
        </p:spPr>
      </p:sp>
      <p:sp>
        <p:nvSpPr>
          <p:cNvPr id="37" name="Text 34"/>
          <p:cNvSpPr/>
          <p:nvPr/>
        </p:nvSpPr>
        <p:spPr>
          <a:xfrm>
            <a:off x="1357313" y="2636044"/>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4</a:t>
            </a:r>
            <a:endParaRPr lang="en-US" sz="1300" dirty="0"/>
          </a:p>
        </p:txBody>
      </p:sp>
      <p:sp>
        <p:nvSpPr>
          <p:cNvPr id="38" name="Text 35"/>
          <p:cNvSpPr/>
          <p:nvPr/>
        </p:nvSpPr>
        <p:spPr>
          <a:xfrm>
            <a:off x="1743075" y="2743200"/>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CURRENT STATE</a:t>
            </a:r>
            <a:endParaRPr lang="en-US" sz="1100" dirty="0"/>
          </a:p>
        </p:txBody>
      </p:sp>
      <p:sp>
        <p:nvSpPr>
          <p:cNvPr id="39" name="Text 36"/>
          <p:cNvSpPr/>
          <p:nvPr/>
        </p:nvSpPr>
        <p:spPr>
          <a:xfrm>
            <a:off x="3421856" y="2712225"/>
            <a:ext cx="2614613" cy="283406"/>
          </a:xfrm>
          <a:prstGeom prst="rect">
            <a:avLst/>
          </a:prstGeom>
          <a:noFill/>
          <a:ln/>
        </p:spPr>
        <p:txBody>
          <a:bodyPr wrap="square" lIns="0" tIns="0" rIns="0" bIns="0" rtlCol="0" anchor="t">
            <a:spAutoFit/>
          </a:bodyPr>
          <a:lstStyle/>
          <a:p>
            <a:pPr algn="l" indent="0" marL="0">
              <a:lnSpc>
                <a:spcPct val="99200"/>
              </a:lnSpc>
              <a:buNone/>
            </a:pPr>
            <a:r>
              <a:rPr lang="en-US" sz="800" b="1" dirty="0">
                <a:solidFill>
                  <a:srgbClr val="252525"/>
                </a:solidFill>
                <a:latin typeface="Inter Bold" pitchFamily="34" charset="0"/>
                <a:ea typeface="Inter Bold" pitchFamily="34" charset="-122"/>
                <a:cs typeface="Inter Bold" pitchFamily="34" charset="-120"/>
              </a:rPr>
              <a:t>Find where this migration stopped and what evidence already exists.</a:t>
            </a:r>
            <a:endParaRPr lang="en-US" sz="800" dirty="0"/>
          </a:p>
        </p:txBody>
      </p:sp>
      <p:sp>
        <p:nvSpPr>
          <p:cNvPr id="40" name="Shape 37"/>
          <p:cNvSpPr/>
          <p:nvPr/>
        </p:nvSpPr>
        <p:spPr>
          <a:xfrm>
            <a:off x="6607969" y="2706421"/>
            <a:ext cx="1085850" cy="295015"/>
          </a:xfrm>
          <a:prstGeom prst="rect">
            <a:avLst/>
          </a:prstGeom>
          <a:solidFill>
            <a:srgbClr val="1E1E1E"/>
          </a:solidFill>
          <a:ln w="18288">
            <a:solidFill>
              <a:srgbClr val="111111"/>
            </a:solidFill>
            <a:prstDash val="solid"/>
          </a:ln>
        </p:spPr>
      </p:sp>
      <p:sp>
        <p:nvSpPr>
          <p:cNvPr id="41" name="Text 38"/>
          <p:cNvSpPr/>
          <p:nvPr/>
        </p:nvSpPr>
        <p:spPr>
          <a:xfrm>
            <a:off x="6607969" y="2706421"/>
            <a:ext cx="1085850" cy="295015"/>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artifacts/run_state/</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&lt;run-id&gt;.json</a:t>
            </a:r>
            <a:endParaRPr lang="en-US" sz="550" dirty="0"/>
          </a:p>
        </p:txBody>
      </p:sp>
      <p:sp>
        <p:nvSpPr>
          <p:cNvPr id="42" name="Text 39"/>
          <p:cNvSpPr/>
          <p:nvPr/>
        </p:nvSpPr>
        <p:spPr>
          <a:xfrm>
            <a:off x="1357313" y="3071813"/>
            <a:ext cx="6429375" cy="128588"/>
          </a:xfrm>
          <a:prstGeom prst="rect">
            <a:avLst/>
          </a:prstGeom>
          <a:noFill/>
          <a:ln/>
        </p:spPr>
        <p:txBody>
          <a:bodyPr wrap="none" lIns="0" tIns="0" rIns="0" bIns="0" rtlCol="0" anchor="ctr">
            <a:spAutoFit/>
          </a:bodyPr>
          <a:lstStyle/>
          <a:p>
            <a:pPr algn="ctr" indent="0" marL="0">
              <a:lnSpc>
                <a:spcPct val="80000"/>
              </a:lnSpc>
              <a:buNone/>
            </a:pPr>
            <a:r>
              <a:rPr lang="en-US" sz="1250" b="1" dirty="0">
                <a:solidFill>
                  <a:srgbClr val="FF443A"/>
                </a:solidFill>
                <a:latin typeface="Inter Bold" pitchFamily="34" charset="0"/>
                <a:ea typeface="Inter Bold" pitchFamily="34" charset="-122"/>
                <a:cs typeface="Inter Bold" pitchFamily="34" charset="-120"/>
              </a:rPr>
              <a:t>↓</a:t>
            </a:r>
            <a:endParaRPr lang="en-US" sz="1250" dirty="0"/>
          </a:p>
        </p:txBody>
      </p:sp>
      <p:sp>
        <p:nvSpPr>
          <p:cNvPr id="43" name="Shape 40"/>
          <p:cNvSpPr/>
          <p:nvPr/>
        </p:nvSpPr>
        <p:spPr>
          <a:xfrm>
            <a:off x="1357313" y="3200400"/>
            <a:ext cx="6429375" cy="435769"/>
          </a:xfrm>
          <a:prstGeom prst="rect">
            <a:avLst/>
          </a:prstGeom>
          <a:solidFill>
            <a:srgbClr val="EAF1FF"/>
          </a:solidFill>
          <a:ln w="18288">
            <a:solidFill>
              <a:srgbClr val="111111"/>
            </a:solidFill>
            <a:prstDash val="solid"/>
          </a:ln>
        </p:spPr>
      </p:sp>
      <p:sp>
        <p:nvSpPr>
          <p:cNvPr id="44" name="Shape 41"/>
          <p:cNvSpPr/>
          <p:nvPr/>
        </p:nvSpPr>
        <p:spPr>
          <a:xfrm>
            <a:off x="1357313" y="3200400"/>
            <a:ext cx="385763" cy="435769"/>
          </a:xfrm>
          <a:prstGeom prst="rect">
            <a:avLst/>
          </a:prstGeom>
          <a:solidFill>
            <a:srgbClr val="FF443A"/>
          </a:solidFill>
          <a:ln/>
        </p:spPr>
      </p:sp>
      <p:sp>
        <p:nvSpPr>
          <p:cNvPr id="45" name="Shape 42"/>
          <p:cNvSpPr/>
          <p:nvPr/>
        </p:nvSpPr>
        <p:spPr>
          <a:xfrm>
            <a:off x="1721644" y="3200400"/>
            <a:ext cx="21431" cy="435769"/>
          </a:xfrm>
          <a:prstGeom prst="rect">
            <a:avLst/>
          </a:prstGeom>
          <a:solidFill>
            <a:srgbClr val="111111"/>
          </a:solidFill>
          <a:ln/>
        </p:spPr>
      </p:sp>
      <p:sp>
        <p:nvSpPr>
          <p:cNvPr id="46" name="Text 43"/>
          <p:cNvSpPr/>
          <p:nvPr/>
        </p:nvSpPr>
        <p:spPr>
          <a:xfrm>
            <a:off x="1357313" y="3200400"/>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5</a:t>
            </a:r>
            <a:endParaRPr lang="en-US" sz="1300" dirty="0"/>
          </a:p>
        </p:txBody>
      </p:sp>
      <p:sp>
        <p:nvSpPr>
          <p:cNvPr id="47" name="Text 44"/>
          <p:cNvSpPr/>
          <p:nvPr/>
        </p:nvSpPr>
        <p:spPr>
          <a:xfrm>
            <a:off x="1743075" y="3307556"/>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NEXT SKILL</a:t>
            </a:r>
            <a:endParaRPr lang="en-US" sz="1100" dirty="0"/>
          </a:p>
        </p:txBody>
      </p:sp>
      <p:sp>
        <p:nvSpPr>
          <p:cNvPr id="48" name="Text 45"/>
          <p:cNvSpPr/>
          <p:nvPr/>
        </p:nvSpPr>
        <p:spPr>
          <a:xfrm>
            <a:off x="3421856" y="3276581"/>
            <a:ext cx="2614613" cy="283406"/>
          </a:xfrm>
          <a:prstGeom prst="rect">
            <a:avLst/>
          </a:prstGeom>
          <a:noFill/>
          <a:ln/>
        </p:spPr>
        <p:txBody>
          <a:bodyPr wrap="square" lIns="0" tIns="0" rIns="0" bIns="0" rtlCol="0" anchor="t">
            <a:spAutoFit/>
          </a:bodyPr>
          <a:lstStyle/>
          <a:p>
            <a:pPr algn="l" indent="0" marL="0">
              <a:lnSpc>
                <a:spcPct val="99200"/>
              </a:lnSpc>
              <a:buNone/>
            </a:pPr>
            <a:r>
              <a:rPr lang="en-US" sz="800" b="1" dirty="0">
                <a:solidFill>
                  <a:srgbClr val="252525"/>
                </a:solidFill>
                <a:latin typeface="Inter Bold" pitchFamily="34" charset="0"/>
                <a:ea typeface="Inter Bold" pitchFamily="34" charset="-122"/>
                <a:cs typeface="Inter Bold" pitchFamily="34" charset="-120"/>
              </a:rPr>
              <a:t>Authorize exactly one permitted migration action.</a:t>
            </a:r>
            <a:endParaRPr lang="en-US" sz="800" dirty="0"/>
          </a:p>
        </p:txBody>
      </p:sp>
      <p:sp>
        <p:nvSpPr>
          <p:cNvPr id="49" name="Shape 46"/>
          <p:cNvSpPr/>
          <p:nvPr/>
        </p:nvSpPr>
        <p:spPr>
          <a:xfrm>
            <a:off x="6979444" y="3270777"/>
            <a:ext cx="714375" cy="295015"/>
          </a:xfrm>
          <a:prstGeom prst="rect">
            <a:avLst/>
          </a:prstGeom>
          <a:solidFill>
            <a:srgbClr val="1E1E1E"/>
          </a:solidFill>
          <a:ln w="18288">
            <a:solidFill>
              <a:srgbClr val="111111"/>
            </a:solidFill>
            <a:prstDash val="solid"/>
          </a:ln>
        </p:spPr>
      </p:sp>
      <p:sp>
        <p:nvSpPr>
          <p:cNvPr id="50" name="Text 47"/>
          <p:cNvSpPr/>
          <p:nvPr/>
        </p:nvSpPr>
        <p:spPr>
          <a:xfrm>
            <a:off x="6979444" y="3270777"/>
            <a:ext cx="714375" cy="295015"/>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orchestrate/</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SKILL.md</a:t>
            </a:r>
            <a:endParaRPr lang="en-US" sz="550" dirty="0"/>
          </a:p>
        </p:txBody>
      </p:sp>
      <p:sp>
        <p:nvSpPr>
          <p:cNvPr id="51" name="Text 48"/>
          <p:cNvSpPr/>
          <p:nvPr/>
        </p:nvSpPr>
        <p:spPr>
          <a:xfrm>
            <a:off x="1357313" y="3636169"/>
            <a:ext cx="6429375" cy="128588"/>
          </a:xfrm>
          <a:prstGeom prst="rect">
            <a:avLst/>
          </a:prstGeom>
          <a:noFill/>
          <a:ln/>
        </p:spPr>
        <p:txBody>
          <a:bodyPr wrap="none" lIns="0" tIns="0" rIns="0" bIns="0" rtlCol="0" anchor="ctr">
            <a:spAutoFit/>
          </a:bodyPr>
          <a:lstStyle/>
          <a:p>
            <a:pPr algn="ctr" indent="0" marL="0">
              <a:lnSpc>
                <a:spcPct val="80000"/>
              </a:lnSpc>
              <a:buNone/>
            </a:pPr>
            <a:r>
              <a:rPr lang="en-US" sz="1250" b="1" dirty="0">
                <a:solidFill>
                  <a:srgbClr val="FF443A"/>
                </a:solidFill>
                <a:latin typeface="Inter Bold" pitchFamily="34" charset="0"/>
                <a:ea typeface="Inter Bold" pitchFamily="34" charset="-122"/>
                <a:cs typeface="Inter Bold" pitchFamily="34" charset="-120"/>
              </a:rPr>
              <a:t>↓</a:t>
            </a:r>
            <a:endParaRPr lang="en-US" sz="1250" dirty="0"/>
          </a:p>
        </p:txBody>
      </p:sp>
      <p:sp>
        <p:nvSpPr>
          <p:cNvPr id="52" name="Shape 49"/>
          <p:cNvSpPr/>
          <p:nvPr/>
        </p:nvSpPr>
        <p:spPr>
          <a:xfrm>
            <a:off x="1357313" y="3764756"/>
            <a:ext cx="6429375" cy="435769"/>
          </a:xfrm>
          <a:prstGeom prst="rect">
            <a:avLst/>
          </a:prstGeom>
          <a:solidFill>
            <a:srgbClr val="FFF7CC"/>
          </a:solidFill>
          <a:ln w="18288">
            <a:solidFill>
              <a:srgbClr val="111111"/>
            </a:solidFill>
            <a:prstDash val="solid"/>
          </a:ln>
        </p:spPr>
      </p:sp>
      <p:sp>
        <p:nvSpPr>
          <p:cNvPr id="53" name="Shape 50"/>
          <p:cNvSpPr/>
          <p:nvPr/>
        </p:nvSpPr>
        <p:spPr>
          <a:xfrm>
            <a:off x="1357313" y="3764756"/>
            <a:ext cx="385763" cy="435769"/>
          </a:xfrm>
          <a:prstGeom prst="rect">
            <a:avLst/>
          </a:prstGeom>
          <a:solidFill>
            <a:srgbClr val="FF443A"/>
          </a:solidFill>
          <a:ln/>
        </p:spPr>
      </p:sp>
      <p:sp>
        <p:nvSpPr>
          <p:cNvPr id="54" name="Shape 51"/>
          <p:cNvSpPr/>
          <p:nvPr/>
        </p:nvSpPr>
        <p:spPr>
          <a:xfrm>
            <a:off x="1721644" y="3764756"/>
            <a:ext cx="21431" cy="435769"/>
          </a:xfrm>
          <a:prstGeom prst="rect">
            <a:avLst/>
          </a:prstGeom>
          <a:solidFill>
            <a:srgbClr val="111111"/>
          </a:solidFill>
          <a:ln/>
        </p:spPr>
      </p:sp>
      <p:sp>
        <p:nvSpPr>
          <p:cNvPr id="55" name="Text 52"/>
          <p:cNvSpPr/>
          <p:nvPr/>
        </p:nvSpPr>
        <p:spPr>
          <a:xfrm>
            <a:off x="1357313" y="3764756"/>
            <a:ext cx="385763" cy="435769"/>
          </a:xfrm>
          <a:prstGeom prst="rect">
            <a:avLst/>
          </a:prstGeom>
          <a:noFill/>
          <a:ln/>
        </p:spPr>
        <p:txBody>
          <a:bodyPr wrap="none" lIns="0" tIns="0" rIns="0" bIns="0" rtlCol="0" anchor="ctr">
            <a:spAutoFit/>
          </a:bodyPr>
          <a:lstStyle/>
          <a:p>
            <a:pPr algn="ctr" indent="0" marL="0">
              <a:buNone/>
            </a:pPr>
            <a:r>
              <a:rPr lang="en-US" sz="1300" dirty="0">
                <a:solidFill>
                  <a:srgbClr val="FFFFFF"/>
                </a:solidFill>
                <a:latin typeface="Oswald SemiBold" pitchFamily="34" charset="0"/>
                <a:ea typeface="Oswald SemiBold" pitchFamily="34" charset="-122"/>
                <a:cs typeface="Oswald SemiBold" pitchFamily="34" charset="-120"/>
              </a:rPr>
              <a:t>6</a:t>
            </a:r>
            <a:endParaRPr lang="en-US" sz="1300" dirty="0"/>
          </a:p>
        </p:txBody>
      </p:sp>
      <p:sp>
        <p:nvSpPr>
          <p:cNvPr id="56" name="Text 53"/>
          <p:cNvSpPr/>
          <p:nvPr/>
        </p:nvSpPr>
        <p:spPr>
          <a:xfrm>
            <a:off x="1743075" y="3871913"/>
            <a:ext cx="1678781" cy="221456"/>
          </a:xfrm>
          <a:prstGeom prst="rect">
            <a:avLst/>
          </a:prstGeom>
          <a:noFill/>
          <a:ln/>
        </p:spPr>
        <p:txBody>
          <a:bodyPr wrap="square" lIns="144526" tIns="0" rIns="0" bIns="0" rtlCol="0" anchor="t">
            <a:spAutoFit/>
          </a:bodyPr>
          <a:lstStyle/>
          <a:p>
            <a:pPr algn="l" indent="0" marL="0">
              <a:buNone/>
            </a:pPr>
            <a:r>
              <a:rPr lang="en-US" sz="1100" dirty="0">
                <a:solidFill>
                  <a:srgbClr val="0055FF"/>
                </a:solidFill>
                <a:latin typeface="Oswald SemiBold" pitchFamily="34" charset="0"/>
                <a:ea typeface="Oswald SemiBold" pitchFamily="34" charset="-122"/>
                <a:cs typeface="Oswald SemiBold" pitchFamily="34" charset="-120"/>
              </a:rPr>
              <a:t>EVIDENCE GATE</a:t>
            </a:r>
            <a:endParaRPr lang="en-US" sz="1100" dirty="0"/>
          </a:p>
        </p:txBody>
      </p:sp>
      <p:sp>
        <p:nvSpPr>
          <p:cNvPr id="57" name="Text 54"/>
          <p:cNvSpPr/>
          <p:nvPr/>
        </p:nvSpPr>
        <p:spPr>
          <a:xfrm>
            <a:off x="3421856" y="3911761"/>
            <a:ext cx="2496741" cy="139303"/>
          </a:xfrm>
          <a:prstGeom prst="rect">
            <a:avLst/>
          </a:prstGeom>
          <a:noFill/>
          <a:ln/>
        </p:spPr>
        <p:txBody>
          <a:bodyPr wrap="none" lIns="0" tIns="0" rIns="0" bIns="0" rtlCol="0" anchor="t">
            <a:spAutoFit/>
          </a:bodyPr>
          <a:lstStyle/>
          <a:p>
            <a:pPr algn="l" indent="0" marL="0">
              <a:lnSpc>
                <a:spcPct val="99200"/>
              </a:lnSpc>
              <a:buNone/>
            </a:pPr>
            <a:r>
              <a:rPr lang="en-US" sz="800" b="1" dirty="0">
                <a:solidFill>
                  <a:srgbClr val="B42318"/>
                </a:solidFill>
                <a:latin typeface="Inter Bold" pitchFamily="34" charset="0"/>
                <a:ea typeface="Inter Bold" pitchFamily="34" charset="-122"/>
                <a:cs typeface="Inter Bold" pitchFamily="34" charset="-120"/>
              </a:rPr>
              <a:t>Artifact + SHA-256 + PASS / FAIL / BLOCKED</a:t>
            </a:r>
            <a:endParaRPr lang="en-US" sz="800" dirty="0"/>
          </a:p>
        </p:txBody>
      </p:sp>
      <p:sp>
        <p:nvSpPr>
          <p:cNvPr id="58" name="Shape 55"/>
          <p:cNvSpPr/>
          <p:nvPr/>
        </p:nvSpPr>
        <p:spPr>
          <a:xfrm>
            <a:off x="6886575" y="3835133"/>
            <a:ext cx="807244" cy="295015"/>
          </a:xfrm>
          <a:prstGeom prst="rect">
            <a:avLst/>
          </a:prstGeom>
          <a:solidFill>
            <a:srgbClr val="1E1E1E"/>
          </a:solidFill>
          <a:ln w="18288">
            <a:solidFill>
              <a:srgbClr val="111111"/>
            </a:solidFill>
            <a:prstDash val="solid"/>
          </a:ln>
        </p:spPr>
      </p:sp>
      <p:sp>
        <p:nvSpPr>
          <p:cNvPr id="59" name="Text 56"/>
          <p:cNvSpPr/>
          <p:nvPr/>
        </p:nvSpPr>
        <p:spPr>
          <a:xfrm>
            <a:off x="6886575" y="3835133"/>
            <a:ext cx="807244" cy="295015"/>
          </a:xfrm>
          <a:prstGeom prst="rect">
            <a:avLst/>
          </a:prstGeom>
          <a:noFill/>
          <a:ln/>
        </p:spPr>
        <p:txBody>
          <a:bodyPr wrap="square" lIns="76581" tIns="51054" rIns="76581" bIns="51054" rtlCol="0" anchor="t">
            <a:spAutoFit/>
          </a:bodyPr>
          <a:lstStyle/>
          <a:p>
            <a:pPr algn="ctr" indent="0" marL="0">
              <a:lnSpc>
                <a:spcPct val="92000"/>
              </a:lnSpc>
              <a:buNone/>
            </a:pPr>
            <a:r>
              <a:rPr lang="en-US" sz="550" dirty="0">
                <a:solidFill>
                  <a:srgbClr val="D4D4D4"/>
                </a:solidFill>
                <a:latin typeface="JetBrains Mono" pitchFamily="34" charset="0"/>
                <a:ea typeface="JetBrains Mono" pitchFamily="34" charset="-122"/>
                <a:cs typeface="JetBrains Mono" pitchFamily="34" charset="-120"/>
              </a:rPr>
              <a:t>HUMAN APPROVAL</a:t>
            </a:r>
            <a:r>
              <a:rPr lang="en-US" sz="550" dirty="0">
                <a:solidFill>
                  <a:srgbClr val="D4D4D4"/>
                </a:solidFill>
                <a:latin typeface="JetBrains Mono" pitchFamily="34" charset="0"/>
                <a:ea typeface="JetBrains Mono" pitchFamily="34" charset="-122"/>
                <a:cs typeface="JetBrains Mono" pitchFamily="34" charset="-120"/>
              </a:rPr>
              <a:t>
</a:t>
            </a:r>
            <a:r>
              <a:rPr lang="en-US" sz="550" dirty="0">
                <a:solidFill>
                  <a:srgbClr val="D4D4D4"/>
                </a:solidFill>
                <a:latin typeface="JetBrains Mono" pitchFamily="34" charset="0"/>
                <a:ea typeface="JetBrains Mono" pitchFamily="34" charset="-122"/>
                <a:cs typeface="JetBrains Mono" pitchFamily="34" charset="-120"/>
              </a:rPr>
              <a:t>WHEN REQUIRED</a:t>
            </a:r>
            <a:endParaRPr lang="en-US" sz="550" dirty="0"/>
          </a:p>
        </p:txBody>
      </p:sp>
      <p:sp>
        <p:nvSpPr>
          <p:cNvPr id="60" name="Shape 57"/>
          <p:cNvSpPr/>
          <p:nvPr/>
        </p:nvSpPr>
        <p:spPr>
          <a:xfrm>
            <a:off x="1357313" y="4286250"/>
            <a:ext cx="1553766" cy="374321"/>
          </a:xfrm>
          <a:prstGeom prst="rect">
            <a:avLst/>
          </a:prstGeom>
          <a:solidFill>
            <a:srgbClr val="FFFFFF"/>
          </a:solidFill>
          <a:ln w="18288">
            <a:solidFill>
              <a:srgbClr val="111111"/>
            </a:solidFill>
            <a:prstDash val="solid"/>
          </a:ln>
        </p:spPr>
      </p:sp>
      <p:sp>
        <p:nvSpPr>
          <p:cNvPr id="61" name="Text 58"/>
          <p:cNvSpPr/>
          <p:nvPr/>
        </p:nvSpPr>
        <p:spPr>
          <a:xfrm>
            <a:off x="1421606" y="4336256"/>
            <a:ext cx="1425178"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055FF"/>
                </a:solidFill>
                <a:latin typeface="Oswald SemiBold" pitchFamily="34" charset="0"/>
                <a:ea typeface="Oswald SemiBold" pitchFamily="34" charset="-122"/>
                <a:cs typeface="Oswald SemiBold" pitchFamily="34" charset="-120"/>
              </a:rPr>
              <a:t>ONE STAGE</a:t>
            </a:r>
            <a:endParaRPr lang="en-US" sz="750" dirty="0"/>
          </a:p>
        </p:txBody>
      </p:sp>
      <p:sp>
        <p:nvSpPr>
          <p:cNvPr id="62" name="Text 59"/>
          <p:cNvSpPr/>
          <p:nvPr/>
        </p:nvSpPr>
        <p:spPr>
          <a:xfrm>
            <a:off x="1485900" y="4475559"/>
            <a:ext cx="1296591" cy="103584"/>
          </a:xfrm>
          <a:prstGeom prst="rect">
            <a:avLst/>
          </a:prstGeom>
          <a:noFill/>
          <a:ln/>
        </p:spPr>
        <p:txBody>
          <a:bodyPr wrap="none" lIns="0" tIns="0" rIns="0" bIns="0" rtlCol="0" anchor="t">
            <a:spAutoFit/>
          </a:bodyPr>
          <a:lstStyle/>
          <a:p>
            <a:pPr algn="ctr" indent="0" marL="0">
              <a:lnSpc>
                <a:spcPct val="96000"/>
              </a:lnSpc>
              <a:buNone/>
            </a:pPr>
            <a:r>
              <a:rPr lang="en-US" sz="600" b="1" dirty="0">
                <a:solidFill>
                  <a:srgbClr val="111111"/>
                </a:solidFill>
                <a:latin typeface="Inter Bold" pitchFamily="34" charset="0"/>
                <a:ea typeface="Inter Bold" pitchFamily="34" charset="-122"/>
                <a:cs typeface="Inter Bold" pitchFamily="34" charset="-120"/>
              </a:rPr>
              <a:t>No uncontrolled multi-step run</a:t>
            </a:r>
            <a:endParaRPr lang="en-US" sz="600" dirty="0"/>
          </a:p>
        </p:txBody>
      </p:sp>
      <p:sp>
        <p:nvSpPr>
          <p:cNvPr id="63" name="Shape 60"/>
          <p:cNvSpPr/>
          <p:nvPr/>
        </p:nvSpPr>
        <p:spPr>
          <a:xfrm>
            <a:off x="2982516" y="4286250"/>
            <a:ext cx="1553766" cy="374321"/>
          </a:xfrm>
          <a:prstGeom prst="rect">
            <a:avLst/>
          </a:prstGeom>
          <a:solidFill>
            <a:srgbClr val="FFFFFF"/>
          </a:solidFill>
          <a:ln w="18288">
            <a:solidFill>
              <a:srgbClr val="111111"/>
            </a:solidFill>
            <a:prstDash val="solid"/>
          </a:ln>
        </p:spPr>
      </p:sp>
      <p:sp>
        <p:nvSpPr>
          <p:cNvPr id="64" name="Text 61"/>
          <p:cNvSpPr/>
          <p:nvPr/>
        </p:nvSpPr>
        <p:spPr>
          <a:xfrm>
            <a:off x="3046809" y="4336256"/>
            <a:ext cx="1425178"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055FF"/>
                </a:solidFill>
                <a:latin typeface="Oswald SemiBold" pitchFamily="34" charset="0"/>
                <a:ea typeface="Oswald SemiBold" pitchFamily="34" charset="-122"/>
                <a:cs typeface="Oswald SemiBold" pitchFamily="34" charset="-120"/>
              </a:rPr>
              <a:t>ONE ARTIFACT</a:t>
            </a:r>
            <a:endParaRPr lang="en-US" sz="750" dirty="0"/>
          </a:p>
        </p:txBody>
      </p:sp>
      <p:sp>
        <p:nvSpPr>
          <p:cNvPr id="65" name="Text 62"/>
          <p:cNvSpPr/>
          <p:nvPr/>
        </p:nvSpPr>
        <p:spPr>
          <a:xfrm>
            <a:off x="3171825" y="4475559"/>
            <a:ext cx="1175147" cy="103584"/>
          </a:xfrm>
          <a:prstGeom prst="rect">
            <a:avLst/>
          </a:prstGeom>
          <a:noFill/>
          <a:ln/>
        </p:spPr>
        <p:txBody>
          <a:bodyPr wrap="none" lIns="0" tIns="0" rIns="0" bIns="0" rtlCol="0" anchor="t">
            <a:spAutoFit/>
          </a:bodyPr>
          <a:lstStyle/>
          <a:p>
            <a:pPr algn="ctr" indent="0" marL="0">
              <a:lnSpc>
                <a:spcPct val="96000"/>
              </a:lnSpc>
              <a:buNone/>
            </a:pPr>
            <a:r>
              <a:rPr lang="en-US" sz="600" b="1" dirty="0">
                <a:solidFill>
                  <a:srgbClr val="111111"/>
                </a:solidFill>
                <a:latin typeface="Inter Bold" pitchFamily="34" charset="0"/>
                <a:ea typeface="Inter Bold" pitchFamily="34" charset="-122"/>
                <a:cs typeface="Inter Bold" pitchFamily="34" charset="-120"/>
              </a:rPr>
              <a:t>Named and hash-addressed</a:t>
            </a:r>
            <a:endParaRPr lang="en-US" sz="600" dirty="0"/>
          </a:p>
        </p:txBody>
      </p:sp>
      <p:sp>
        <p:nvSpPr>
          <p:cNvPr id="66" name="Shape 63"/>
          <p:cNvSpPr/>
          <p:nvPr/>
        </p:nvSpPr>
        <p:spPr>
          <a:xfrm>
            <a:off x="4607719" y="4286250"/>
            <a:ext cx="1553766" cy="374321"/>
          </a:xfrm>
          <a:prstGeom prst="rect">
            <a:avLst/>
          </a:prstGeom>
          <a:solidFill>
            <a:srgbClr val="FFFFFF"/>
          </a:solidFill>
          <a:ln w="18288">
            <a:solidFill>
              <a:srgbClr val="111111"/>
            </a:solidFill>
            <a:prstDash val="solid"/>
          </a:ln>
        </p:spPr>
      </p:sp>
      <p:sp>
        <p:nvSpPr>
          <p:cNvPr id="67" name="Text 64"/>
          <p:cNvSpPr/>
          <p:nvPr/>
        </p:nvSpPr>
        <p:spPr>
          <a:xfrm>
            <a:off x="4672013" y="4336256"/>
            <a:ext cx="1425178"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055FF"/>
                </a:solidFill>
                <a:latin typeface="Oswald SemiBold" pitchFamily="34" charset="0"/>
                <a:ea typeface="Oswald SemiBold" pitchFamily="34" charset="-122"/>
                <a:cs typeface="Oswald SemiBold" pitchFamily="34" charset="-120"/>
              </a:rPr>
              <a:t>ONE GATE</a:t>
            </a:r>
            <a:endParaRPr lang="en-US" sz="750" dirty="0"/>
          </a:p>
        </p:txBody>
      </p:sp>
      <p:sp>
        <p:nvSpPr>
          <p:cNvPr id="68" name="Text 65"/>
          <p:cNvSpPr/>
          <p:nvPr/>
        </p:nvSpPr>
        <p:spPr>
          <a:xfrm>
            <a:off x="4784527" y="4475559"/>
            <a:ext cx="1200150" cy="103584"/>
          </a:xfrm>
          <a:prstGeom prst="rect">
            <a:avLst/>
          </a:prstGeom>
          <a:noFill/>
          <a:ln/>
        </p:spPr>
        <p:txBody>
          <a:bodyPr wrap="none" lIns="0" tIns="0" rIns="0" bIns="0" rtlCol="0" anchor="t">
            <a:spAutoFit/>
          </a:bodyPr>
          <a:lstStyle/>
          <a:p>
            <a:pPr algn="ctr" indent="0" marL="0">
              <a:lnSpc>
                <a:spcPct val="96000"/>
              </a:lnSpc>
              <a:buNone/>
            </a:pPr>
            <a:r>
              <a:rPr lang="en-US" sz="600" b="1" dirty="0">
                <a:solidFill>
                  <a:srgbClr val="111111"/>
                </a:solidFill>
                <a:latin typeface="Inter Bold" pitchFamily="34" charset="0"/>
                <a:ea typeface="Inter Bold" pitchFamily="34" charset="-122"/>
                <a:cs typeface="Inter Bold" pitchFamily="34" charset="-120"/>
              </a:rPr>
              <a:t>Explicit result and stop point</a:t>
            </a:r>
            <a:endParaRPr lang="en-US" sz="600" dirty="0"/>
          </a:p>
        </p:txBody>
      </p:sp>
      <p:sp>
        <p:nvSpPr>
          <p:cNvPr id="69" name="Shape 66"/>
          <p:cNvSpPr/>
          <p:nvPr/>
        </p:nvSpPr>
        <p:spPr>
          <a:xfrm>
            <a:off x="6232922" y="4286250"/>
            <a:ext cx="1553766" cy="374321"/>
          </a:xfrm>
          <a:prstGeom prst="rect">
            <a:avLst/>
          </a:prstGeom>
          <a:solidFill>
            <a:srgbClr val="FFFFFF"/>
          </a:solidFill>
          <a:ln w="18288">
            <a:solidFill>
              <a:srgbClr val="111111"/>
            </a:solidFill>
            <a:prstDash val="solid"/>
          </a:ln>
        </p:spPr>
      </p:sp>
      <p:sp>
        <p:nvSpPr>
          <p:cNvPr id="70" name="Text 67"/>
          <p:cNvSpPr/>
          <p:nvPr/>
        </p:nvSpPr>
        <p:spPr>
          <a:xfrm>
            <a:off x="6297216" y="4336256"/>
            <a:ext cx="1425178"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055FF"/>
                </a:solidFill>
                <a:latin typeface="Oswald SemiBold" pitchFamily="34" charset="0"/>
                <a:ea typeface="Oswald SemiBold" pitchFamily="34" charset="-122"/>
                <a:cs typeface="Oswald SemiBold" pitchFamily="34" charset="-120"/>
              </a:rPr>
              <a:t>ONE NEXT MOVE</a:t>
            </a:r>
            <a:endParaRPr lang="en-US" sz="750" dirty="0"/>
          </a:p>
        </p:txBody>
      </p:sp>
      <p:sp>
        <p:nvSpPr>
          <p:cNvPr id="71" name="Text 68"/>
          <p:cNvSpPr/>
          <p:nvPr/>
        </p:nvSpPr>
        <p:spPr>
          <a:xfrm>
            <a:off x="6449020" y="4475559"/>
            <a:ext cx="1121569" cy="103584"/>
          </a:xfrm>
          <a:prstGeom prst="rect">
            <a:avLst/>
          </a:prstGeom>
          <a:noFill/>
          <a:ln/>
        </p:spPr>
        <p:txBody>
          <a:bodyPr wrap="none" lIns="0" tIns="0" rIns="0" bIns="0" rtlCol="0" anchor="t">
            <a:spAutoFit/>
          </a:bodyPr>
          <a:lstStyle/>
          <a:p>
            <a:pPr algn="ctr" indent="0" marL="0">
              <a:lnSpc>
                <a:spcPct val="96000"/>
              </a:lnSpc>
              <a:buNone/>
            </a:pPr>
            <a:r>
              <a:rPr lang="en-US" sz="600" b="1" dirty="0">
                <a:solidFill>
                  <a:srgbClr val="111111"/>
                </a:solidFill>
                <a:latin typeface="Inter Bold" pitchFamily="34" charset="0"/>
                <a:ea typeface="Inter Bold" pitchFamily="34" charset="-122"/>
                <a:cs typeface="Inter Bold" pitchFamily="34" charset="-120"/>
              </a:rPr>
              <a:t>Derived from durable state</a:t>
            </a:r>
            <a:endParaRPr lang="en-US" sz="600" dirty="0"/>
          </a:p>
        </p:txBody>
      </p:sp>
      <p:sp>
        <p:nvSpPr>
          <p:cNvPr id="72" name="Shape 69"/>
          <p:cNvSpPr/>
          <p:nvPr/>
        </p:nvSpPr>
        <p:spPr>
          <a:xfrm>
            <a:off x="0" y="4857750"/>
            <a:ext cx="9144000" cy="285750"/>
          </a:xfrm>
          <a:prstGeom prst="rect">
            <a:avLst/>
          </a:prstGeom>
          <a:solidFill>
            <a:srgbClr val="0055FF"/>
          </a:solidFill>
          <a:ln/>
        </p:spPr>
      </p:sp>
      <p:sp>
        <p:nvSpPr>
          <p:cNvPr id="73" name="Shape 70"/>
          <p:cNvSpPr/>
          <p:nvPr/>
        </p:nvSpPr>
        <p:spPr>
          <a:xfrm>
            <a:off x="0" y="4857750"/>
            <a:ext cx="9144000" cy="28575"/>
          </a:xfrm>
          <a:prstGeom prst="rect">
            <a:avLst/>
          </a:prstGeom>
          <a:solidFill>
            <a:srgbClr val="111111"/>
          </a:solidFill>
          <a:ln/>
        </p:spPr>
      </p:sp>
      <p:sp>
        <p:nvSpPr>
          <p:cNvPr id="74" name="Text 71"/>
          <p:cNvSpPr/>
          <p:nvPr/>
        </p:nvSpPr>
        <p:spPr>
          <a:xfrm>
            <a:off x="271463" y="4952405"/>
            <a:ext cx="2100263" cy="96441"/>
          </a:xfrm>
          <a:prstGeom prst="rect">
            <a:avLst/>
          </a:prstGeom>
          <a:noFill/>
          <a:ln/>
        </p:spPr>
        <p:txBody>
          <a:bodyPr wrap="squar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BUSINESS INTENT → CONTROLLED EXECUTION</a:t>
            </a:r>
            <a:endParaRPr lang="en-US" sz="550" dirty="0"/>
          </a:p>
        </p:txBody>
      </p:sp>
      <p:sp>
        <p:nvSpPr>
          <p:cNvPr id="75" name="Text 72"/>
          <p:cNvSpPr/>
          <p:nvPr/>
        </p:nvSpPr>
        <p:spPr>
          <a:xfrm>
            <a:off x="7093744" y="4954191"/>
            <a:ext cx="1778794" cy="92869"/>
          </a:xfrm>
          <a:prstGeom prst="rect">
            <a:avLst/>
          </a:prstGeom>
          <a:noFill/>
          <a:ln/>
        </p:spPr>
        <p:txBody>
          <a:bodyPr wrap="square" lIns="0" tIns="0" rIns="0" bIns="0" rtlCol="0" anchor="t">
            <a:spAutoFit/>
          </a:bodyPr>
          <a:lstStyle/>
          <a:p>
            <a:pPr algn="l" indent="0" marL="0">
              <a:buNone/>
            </a:pPr>
            <a:r>
              <a:rPr lang="en-US" sz="550" b="1" spc="1" kern="0" dirty="0">
                <a:solidFill>
                  <a:srgbClr val="FFFFFF"/>
                </a:solidFill>
                <a:latin typeface="Inter Bold" pitchFamily="34" charset="0"/>
                <a:ea typeface="Inter Bold" pitchFamily="34" charset="-122"/>
                <a:cs typeface="Inter Bold" pitchFamily="34" charset="-120"/>
              </a:rPr>
              <a:t>ONE STAGE · ONE ARTIFACT · ONE GATE</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71463" y="214313"/>
            <a:ext cx="8601075" cy="771525"/>
          </a:xfrm>
          <a:prstGeom prst="rect">
            <a:avLst/>
          </a:prstGeom>
          <a:solidFill>
            <a:srgbClr val="000000">
              <a:alpha val="0"/>
            </a:srgbClr>
          </a:solidFill>
          <a:ln/>
        </p:spPr>
      </p:sp>
      <p:sp>
        <p:nvSpPr>
          <p:cNvPr id="4" name="Shape 1"/>
          <p:cNvSpPr/>
          <p:nvPr/>
        </p:nvSpPr>
        <p:spPr>
          <a:xfrm>
            <a:off x="271463" y="957263"/>
            <a:ext cx="8601075" cy="28575"/>
          </a:xfrm>
          <a:prstGeom prst="rect">
            <a:avLst/>
          </a:prstGeom>
          <a:solidFill>
            <a:srgbClr val="111111"/>
          </a:solidFill>
          <a:ln/>
        </p:spPr>
      </p:sp>
      <p:sp>
        <p:nvSpPr>
          <p:cNvPr id="5" name="Text 2"/>
          <p:cNvSpPr/>
          <p:nvPr/>
        </p:nvSpPr>
        <p:spPr>
          <a:xfrm>
            <a:off x="271463" y="214313"/>
            <a:ext cx="4768453" cy="300038"/>
          </a:xfrm>
          <a:prstGeom prst="rect">
            <a:avLst/>
          </a:prstGeom>
          <a:noFill/>
          <a:ln/>
        </p:spPr>
        <p:txBody>
          <a:bodyPr wrap="none" lIns="0" tIns="0" rIns="0" bIns="0" rtlCol="0" anchor="t">
            <a:spAutoFit/>
          </a:bodyPr>
          <a:lstStyle/>
          <a:p>
            <a:pPr algn="l" indent="0" marL="0">
              <a:lnSpc>
                <a:spcPct val="80000"/>
              </a:lnSpc>
              <a:buNone/>
            </a:pPr>
            <a:r>
              <a:rPr lang="en-US" sz="2100" b="1" dirty="0">
                <a:solidFill>
                  <a:srgbClr val="111111"/>
                </a:solidFill>
                <a:latin typeface="Oswald SemiBold" pitchFamily="34" charset="0"/>
                <a:ea typeface="Oswald SemiBold" pitchFamily="34" charset="-122"/>
                <a:cs typeface="Oswald SemiBold" pitchFamily="34" charset="-120"/>
              </a:rPr>
              <a:t>INSIDE ORCHESTRATE: THE CONTROLLER</a:t>
            </a:r>
            <a:endParaRPr lang="en-US" sz="2100" dirty="0"/>
          </a:p>
        </p:txBody>
      </p:sp>
      <p:sp>
        <p:nvSpPr>
          <p:cNvPr id="6" name="Text 3"/>
          <p:cNvSpPr/>
          <p:nvPr/>
        </p:nvSpPr>
        <p:spPr>
          <a:xfrm>
            <a:off x="271463" y="600075"/>
            <a:ext cx="4768453" cy="149293"/>
          </a:xfrm>
          <a:prstGeom prst="rect">
            <a:avLst/>
          </a:prstGeom>
          <a:noFill/>
          <a:ln/>
        </p:spPr>
        <p:txBody>
          <a:bodyPr wrap="none" lIns="0" tIns="0" rIns="0" bIns="0" rtlCol="0" anchor="t">
            <a:spAutoFit/>
          </a:bodyPr>
          <a:lstStyle/>
          <a:p>
            <a:pPr algn="l" indent="0" marL="0">
              <a:lnSpc>
                <a:spcPct val="88000"/>
              </a:lnSpc>
              <a:buNone/>
            </a:pPr>
            <a:r>
              <a:rPr lang="en-US" sz="1000" dirty="0">
                <a:solidFill>
                  <a:srgbClr val="0055FF"/>
                </a:solidFill>
                <a:latin typeface="Kalam Bold" pitchFamily="34" charset="0"/>
                <a:ea typeface="Kalam Bold" pitchFamily="34" charset="-122"/>
                <a:cs typeface="Kalam Bold" pitchFamily="34" charset="-120"/>
              </a:rPr>
              <a:t>Its outline tells Copilot exactly how to route work and when to stop.</a:t>
            </a:r>
            <a:endParaRPr lang="en-US" sz="1000" dirty="0"/>
          </a:p>
        </p:txBody>
      </p:sp>
      <p:sp>
        <p:nvSpPr>
          <p:cNvPr id="7" name="Shape 4"/>
          <p:cNvSpPr/>
          <p:nvPr/>
        </p:nvSpPr>
        <p:spPr>
          <a:xfrm>
            <a:off x="271463" y="1114425"/>
            <a:ext cx="2071688" cy="724309"/>
          </a:xfrm>
          <a:prstGeom prst="rect">
            <a:avLst/>
          </a:prstGeom>
          <a:solidFill>
            <a:srgbClr val="FFFFFF"/>
          </a:solidFill>
          <a:ln w="18288">
            <a:solidFill>
              <a:srgbClr val="111111"/>
            </a:solidFill>
            <a:prstDash val="solid"/>
          </a:ln>
        </p:spPr>
      </p:sp>
      <p:sp>
        <p:nvSpPr>
          <p:cNvPr id="8" name="Shape 5"/>
          <p:cNvSpPr/>
          <p:nvPr/>
        </p:nvSpPr>
        <p:spPr>
          <a:xfrm>
            <a:off x="357188" y="1221581"/>
            <a:ext cx="242888" cy="242888"/>
          </a:xfrm>
          <a:prstGeom prst="rect">
            <a:avLst/>
          </a:prstGeom>
          <a:solidFill>
            <a:srgbClr val="FF443A"/>
          </a:solidFill>
          <a:ln w="18288">
            <a:solidFill>
              <a:srgbClr val="111111"/>
            </a:solidFill>
            <a:prstDash val="solid"/>
          </a:ln>
        </p:spPr>
      </p:sp>
      <p:sp>
        <p:nvSpPr>
          <p:cNvPr id="9" name="Text 6"/>
          <p:cNvSpPr/>
          <p:nvPr/>
        </p:nvSpPr>
        <p:spPr>
          <a:xfrm>
            <a:off x="357188" y="1221581"/>
            <a:ext cx="242888" cy="242888"/>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1</a:t>
            </a:r>
            <a:endParaRPr lang="en-US" sz="1050" dirty="0"/>
          </a:p>
        </p:txBody>
      </p:sp>
      <p:sp>
        <p:nvSpPr>
          <p:cNvPr id="10" name="Text 7"/>
          <p:cNvSpPr/>
          <p:nvPr/>
        </p:nvSpPr>
        <p:spPr>
          <a:xfrm>
            <a:off x="685800" y="1185863"/>
            <a:ext cx="15716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0055FF"/>
                </a:solidFill>
                <a:latin typeface="Oswald SemiBold" pitchFamily="34" charset="0"/>
                <a:ea typeface="Oswald SemiBold" pitchFamily="34" charset="-122"/>
                <a:cs typeface="Oswald SemiBold" pitchFamily="34" charset="-120"/>
              </a:rPr>
              <a:t>TRIGGERS &amp; INPUTS</a:t>
            </a:r>
            <a:endParaRPr lang="en-US" sz="1000" dirty="0"/>
          </a:p>
        </p:txBody>
      </p:sp>
      <p:sp>
        <p:nvSpPr>
          <p:cNvPr id="11" name="Text 8"/>
          <p:cNvSpPr/>
          <p:nvPr/>
        </p:nvSpPr>
        <p:spPr>
          <a:xfrm>
            <a:off x="685800" y="1364456"/>
            <a:ext cx="1571625" cy="359978"/>
          </a:xfrm>
          <a:prstGeom prst="rect">
            <a:avLst/>
          </a:prstGeom>
          <a:noFill/>
          <a:ln/>
        </p:spPr>
        <p:txBody>
          <a:bodyPr wrap="square" lIns="0" tIns="0" rIns="0" bIns="0" rtlCol="0" anchor="t">
            <a:spAutoFit/>
          </a:bodyPr>
          <a:lstStyle/>
          <a:p>
            <a:pPr algn="l" indent="0" marL="0">
              <a:lnSpc>
                <a:spcPct val="96000"/>
              </a:lnSpc>
              <a:buNone/>
            </a:pPr>
            <a:r>
              <a:rPr lang="en-US" sz="700" b="1" dirty="0">
                <a:solidFill>
                  <a:srgbClr val="30343B"/>
                </a:solidFill>
                <a:latin typeface="Inter SemiBold" pitchFamily="34" charset="0"/>
                <a:ea typeface="Inter SemiBold" pitchFamily="34" charset="-122"/>
                <a:cs typeface="Inter SemiBold" pitchFamily="34" charset="-120"/>
              </a:rPr>
              <a:t>Called by user prompts; requires explicit intent and the durable run state.</a:t>
            </a:r>
            <a:endParaRPr lang="en-US" sz="700" dirty="0"/>
          </a:p>
        </p:txBody>
      </p:sp>
      <p:sp>
        <p:nvSpPr>
          <p:cNvPr id="12" name="Shape 9"/>
          <p:cNvSpPr/>
          <p:nvPr/>
        </p:nvSpPr>
        <p:spPr>
          <a:xfrm>
            <a:off x="271463" y="1957388"/>
            <a:ext cx="2071688" cy="724309"/>
          </a:xfrm>
          <a:prstGeom prst="rect">
            <a:avLst/>
          </a:prstGeom>
          <a:solidFill>
            <a:srgbClr val="FFFFFF"/>
          </a:solidFill>
          <a:ln w="18288">
            <a:solidFill>
              <a:srgbClr val="111111"/>
            </a:solidFill>
            <a:prstDash val="solid"/>
          </a:ln>
        </p:spPr>
      </p:sp>
      <p:sp>
        <p:nvSpPr>
          <p:cNvPr id="13" name="Shape 10"/>
          <p:cNvSpPr/>
          <p:nvPr/>
        </p:nvSpPr>
        <p:spPr>
          <a:xfrm>
            <a:off x="357188" y="2078831"/>
            <a:ext cx="242888" cy="242888"/>
          </a:xfrm>
          <a:prstGeom prst="rect">
            <a:avLst/>
          </a:prstGeom>
          <a:solidFill>
            <a:srgbClr val="FF443A"/>
          </a:solidFill>
          <a:ln w="18288">
            <a:solidFill>
              <a:srgbClr val="111111"/>
            </a:solidFill>
            <a:prstDash val="solid"/>
          </a:ln>
        </p:spPr>
      </p:sp>
      <p:sp>
        <p:nvSpPr>
          <p:cNvPr id="14" name="Text 11"/>
          <p:cNvSpPr/>
          <p:nvPr/>
        </p:nvSpPr>
        <p:spPr>
          <a:xfrm>
            <a:off x="357188" y="2078831"/>
            <a:ext cx="242888" cy="242888"/>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2</a:t>
            </a:r>
            <a:endParaRPr lang="en-US" sz="1050" dirty="0"/>
          </a:p>
        </p:txBody>
      </p:sp>
      <p:sp>
        <p:nvSpPr>
          <p:cNvPr id="15" name="Text 12"/>
          <p:cNvSpPr/>
          <p:nvPr/>
        </p:nvSpPr>
        <p:spPr>
          <a:xfrm>
            <a:off x="685800" y="2043113"/>
            <a:ext cx="15716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0055FF"/>
                </a:solidFill>
                <a:latin typeface="Oswald SemiBold" pitchFamily="34" charset="0"/>
                <a:ea typeface="Oswald SemiBold" pitchFamily="34" charset="-122"/>
                <a:cs typeface="Oswald SemiBold" pitchFamily="34" charset="-120"/>
              </a:rPr>
              <a:t>THE ROUTING LOOP</a:t>
            </a:r>
            <a:endParaRPr lang="en-US" sz="1000" dirty="0"/>
          </a:p>
        </p:txBody>
      </p:sp>
      <p:sp>
        <p:nvSpPr>
          <p:cNvPr id="16" name="Text 13"/>
          <p:cNvSpPr/>
          <p:nvPr/>
        </p:nvSpPr>
        <p:spPr>
          <a:xfrm>
            <a:off x="685800" y="2221706"/>
            <a:ext cx="1571625" cy="359978"/>
          </a:xfrm>
          <a:prstGeom prst="rect">
            <a:avLst/>
          </a:prstGeom>
          <a:noFill/>
          <a:ln/>
        </p:spPr>
        <p:txBody>
          <a:bodyPr wrap="square" lIns="0" tIns="0" rIns="0" bIns="0" rtlCol="0" anchor="t">
            <a:spAutoFit/>
          </a:bodyPr>
          <a:lstStyle/>
          <a:p>
            <a:pPr algn="l" indent="0" marL="0">
              <a:lnSpc>
                <a:spcPct val="96000"/>
              </a:lnSpc>
              <a:buNone/>
            </a:pPr>
            <a:r>
              <a:rPr lang="en-US" sz="700" b="1" dirty="0">
                <a:solidFill>
                  <a:srgbClr val="30343B"/>
                </a:solidFill>
                <a:latin typeface="Inter SemiBold" pitchFamily="34" charset="0"/>
                <a:ea typeface="Inter SemiBold" pitchFamily="34" charset="-122"/>
                <a:cs typeface="Inter SemiBold" pitchFamily="34" charset="-120"/>
              </a:rPr>
              <a:t>Read state → Select exactly one skill → Update state → Stop at the gate.</a:t>
            </a:r>
            <a:endParaRPr lang="en-US" sz="700" dirty="0"/>
          </a:p>
        </p:txBody>
      </p:sp>
      <p:sp>
        <p:nvSpPr>
          <p:cNvPr id="17" name="Shape 14"/>
          <p:cNvSpPr/>
          <p:nvPr/>
        </p:nvSpPr>
        <p:spPr>
          <a:xfrm>
            <a:off x="271463" y="2828925"/>
            <a:ext cx="2071688" cy="614363"/>
          </a:xfrm>
          <a:prstGeom prst="rect">
            <a:avLst/>
          </a:prstGeom>
          <a:solidFill>
            <a:srgbClr val="FFFFFF"/>
          </a:solidFill>
          <a:ln w="18288">
            <a:solidFill>
              <a:srgbClr val="111111"/>
            </a:solidFill>
            <a:prstDash val="solid"/>
          </a:ln>
        </p:spPr>
      </p:sp>
      <p:sp>
        <p:nvSpPr>
          <p:cNvPr id="18" name="Shape 15"/>
          <p:cNvSpPr/>
          <p:nvPr/>
        </p:nvSpPr>
        <p:spPr>
          <a:xfrm>
            <a:off x="357188" y="2936081"/>
            <a:ext cx="242888" cy="242888"/>
          </a:xfrm>
          <a:prstGeom prst="rect">
            <a:avLst/>
          </a:prstGeom>
          <a:solidFill>
            <a:srgbClr val="FF443A"/>
          </a:solidFill>
          <a:ln w="18288">
            <a:solidFill>
              <a:srgbClr val="111111"/>
            </a:solidFill>
            <a:prstDash val="solid"/>
          </a:ln>
        </p:spPr>
      </p:sp>
      <p:sp>
        <p:nvSpPr>
          <p:cNvPr id="19" name="Text 16"/>
          <p:cNvSpPr/>
          <p:nvPr/>
        </p:nvSpPr>
        <p:spPr>
          <a:xfrm>
            <a:off x="357188" y="2936081"/>
            <a:ext cx="242888" cy="242888"/>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3</a:t>
            </a:r>
            <a:endParaRPr lang="en-US" sz="1050" dirty="0"/>
          </a:p>
        </p:txBody>
      </p:sp>
      <p:sp>
        <p:nvSpPr>
          <p:cNvPr id="20" name="Text 17"/>
          <p:cNvSpPr/>
          <p:nvPr/>
        </p:nvSpPr>
        <p:spPr>
          <a:xfrm>
            <a:off x="685800" y="2900363"/>
            <a:ext cx="15716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0055FF"/>
                </a:solidFill>
                <a:latin typeface="Oswald SemiBold" pitchFamily="34" charset="0"/>
                <a:ea typeface="Oswald SemiBold" pitchFamily="34" charset="-122"/>
                <a:cs typeface="Oswald SemiBold" pitchFamily="34" charset="-120"/>
              </a:rPr>
              <a:t>AGENT BOUNDARIES</a:t>
            </a:r>
            <a:endParaRPr lang="en-US" sz="1000" dirty="0"/>
          </a:p>
        </p:txBody>
      </p:sp>
      <p:sp>
        <p:nvSpPr>
          <p:cNvPr id="21" name="Text 18"/>
          <p:cNvSpPr/>
          <p:nvPr/>
        </p:nvSpPr>
        <p:spPr>
          <a:xfrm>
            <a:off x="685800" y="3078956"/>
            <a:ext cx="1571625" cy="239985"/>
          </a:xfrm>
          <a:prstGeom prst="rect">
            <a:avLst/>
          </a:prstGeom>
          <a:noFill/>
          <a:ln/>
        </p:spPr>
        <p:txBody>
          <a:bodyPr wrap="square" lIns="0" tIns="0" rIns="0" bIns="0" rtlCol="0" anchor="t">
            <a:spAutoFit/>
          </a:bodyPr>
          <a:lstStyle/>
          <a:p>
            <a:pPr algn="l" indent="0" marL="0">
              <a:lnSpc>
                <a:spcPct val="96000"/>
              </a:lnSpc>
              <a:buNone/>
            </a:pPr>
            <a:r>
              <a:rPr lang="en-US" sz="700" b="1" dirty="0">
                <a:solidFill>
                  <a:srgbClr val="30343B"/>
                </a:solidFill>
                <a:latin typeface="Inter SemiBold" pitchFamily="34" charset="0"/>
                <a:ea typeface="Inter SemiBold" pitchFamily="34" charset="-122"/>
                <a:cs typeface="Inter SemiBold" pitchFamily="34" charset="-120"/>
              </a:rPr>
              <a:t>Forbidden to generate code, fake approval, or skip a stage.</a:t>
            </a:r>
            <a:endParaRPr lang="en-US" sz="700" dirty="0"/>
          </a:p>
        </p:txBody>
      </p:sp>
      <p:sp>
        <p:nvSpPr>
          <p:cNvPr id="22" name="Shape 19"/>
          <p:cNvSpPr/>
          <p:nvPr/>
        </p:nvSpPr>
        <p:spPr>
          <a:xfrm>
            <a:off x="271463" y="3619091"/>
            <a:ext cx="2071688" cy="724309"/>
          </a:xfrm>
          <a:prstGeom prst="rect">
            <a:avLst/>
          </a:prstGeom>
          <a:solidFill>
            <a:srgbClr val="FFFFFF"/>
          </a:solidFill>
          <a:ln w="18288">
            <a:solidFill>
              <a:srgbClr val="111111"/>
            </a:solidFill>
            <a:prstDash val="solid"/>
          </a:ln>
        </p:spPr>
      </p:sp>
      <p:sp>
        <p:nvSpPr>
          <p:cNvPr id="23" name="Shape 20"/>
          <p:cNvSpPr/>
          <p:nvPr/>
        </p:nvSpPr>
        <p:spPr>
          <a:xfrm>
            <a:off x="357188" y="3769109"/>
            <a:ext cx="242888" cy="242888"/>
          </a:xfrm>
          <a:prstGeom prst="rect">
            <a:avLst/>
          </a:prstGeom>
          <a:solidFill>
            <a:srgbClr val="FF443A"/>
          </a:solidFill>
          <a:ln w="18288">
            <a:solidFill>
              <a:srgbClr val="111111"/>
            </a:solidFill>
            <a:prstDash val="solid"/>
          </a:ln>
        </p:spPr>
      </p:sp>
      <p:sp>
        <p:nvSpPr>
          <p:cNvPr id="24" name="Text 21"/>
          <p:cNvSpPr/>
          <p:nvPr/>
        </p:nvSpPr>
        <p:spPr>
          <a:xfrm>
            <a:off x="357188" y="3769109"/>
            <a:ext cx="242888" cy="242888"/>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4</a:t>
            </a:r>
            <a:endParaRPr lang="en-US" sz="1050" dirty="0"/>
          </a:p>
        </p:txBody>
      </p:sp>
      <p:sp>
        <p:nvSpPr>
          <p:cNvPr id="25" name="Text 22"/>
          <p:cNvSpPr/>
          <p:nvPr/>
        </p:nvSpPr>
        <p:spPr>
          <a:xfrm>
            <a:off x="685800" y="3733391"/>
            <a:ext cx="15716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0055FF"/>
                </a:solidFill>
                <a:latin typeface="Oswald SemiBold" pitchFamily="34" charset="0"/>
                <a:ea typeface="Oswald SemiBold" pitchFamily="34" charset="-122"/>
                <a:cs typeface="Oswald SemiBold" pitchFamily="34" charset="-120"/>
              </a:rPr>
              <a:t>HARD STOP CONDITIONS</a:t>
            </a:r>
            <a:endParaRPr lang="en-US" sz="1000" dirty="0"/>
          </a:p>
        </p:txBody>
      </p:sp>
      <p:sp>
        <p:nvSpPr>
          <p:cNvPr id="26" name="Text 23"/>
          <p:cNvSpPr/>
          <p:nvPr/>
        </p:nvSpPr>
        <p:spPr>
          <a:xfrm>
            <a:off x="685800" y="3911984"/>
            <a:ext cx="1571625" cy="359978"/>
          </a:xfrm>
          <a:prstGeom prst="rect">
            <a:avLst/>
          </a:prstGeom>
          <a:noFill/>
          <a:ln/>
        </p:spPr>
        <p:txBody>
          <a:bodyPr wrap="square" lIns="0" tIns="0" rIns="0" bIns="0" rtlCol="0" anchor="t">
            <a:spAutoFit/>
          </a:bodyPr>
          <a:lstStyle/>
          <a:p>
            <a:pPr algn="l" indent="0" marL="0">
              <a:lnSpc>
                <a:spcPct val="96000"/>
              </a:lnSpc>
              <a:buNone/>
            </a:pPr>
            <a:r>
              <a:rPr lang="en-US" sz="700" b="1" dirty="0">
                <a:solidFill>
                  <a:srgbClr val="30343B"/>
                </a:solidFill>
                <a:latin typeface="Inter SemiBold" pitchFamily="34" charset="0"/>
                <a:ea typeface="Inter SemiBold" pitchFamily="34" charset="-122"/>
                <a:cs typeface="Inter SemiBold" pitchFamily="34" charset="-120"/>
              </a:rPr>
              <a:t>Forces the agent to pause when human input or a valid state is required.</a:t>
            </a:r>
            <a:endParaRPr lang="en-US" sz="700" dirty="0"/>
          </a:p>
        </p:txBody>
      </p:sp>
      <p:sp>
        <p:nvSpPr>
          <p:cNvPr id="27" name="Shape 24"/>
          <p:cNvSpPr/>
          <p:nvPr/>
        </p:nvSpPr>
        <p:spPr>
          <a:xfrm>
            <a:off x="2528888" y="1085850"/>
            <a:ext cx="6343650" cy="3286125"/>
          </a:xfrm>
          <a:prstGeom prst="rect">
            <a:avLst/>
          </a:prstGeom>
          <a:solidFill>
            <a:srgbClr val="1E1E1E"/>
          </a:solidFill>
          <a:ln w="27432">
            <a:solidFill>
              <a:srgbClr val="111111"/>
            </a:solidFill>
            <a:prstDash val="solid"/>
          </a:ln>
        </p:spPr>
      </p:sp>
      <p:sp>
        <p:nvSpPr>
          <p:cNvPr id="28" name="Shape 25"/>
          <p:cNvSpPr/>
          <p:nvPr/>
        </p:nvSpPr>
        <p:spPr>
          <a:xfrm>
            <a:off x="2528888" y="1085850"/>
            <a:ext cx="6343650" cy="285750"/>
          </a:xfrm>
          <a:prstGeom prst="rect">
            <a:avLst/>
          </a:prstGeom>
          <a:solidFill>
            <a:srgbClr val="323233"/>
          </a:solidFill>
          <a:ln/>
        </p:spPr>
      </p:sp>
      <p:sp>
        <p:nvSpPr>
          <p:cNvPr id="29" name="Shape 26"/>
          <p:cNvSpPr/>
          <p:nvPr/>
        </p:nvSpPr>
        <p:spPr>
          <a:xfrm>
            <a:off x="2528888" y="1357313"/>
            <a:ext cx="6343650" cy="14288"/>
          </a:xfrm>
          <a:prstGeom prst="rect">
            <a:avLst/>
          </a:prstGeom>
          <a:solidFill>
            <a:srgbClr val="111111"/>
          </a:solidFill>
          <a:ln/>
        </p:spPr>
      </p:sp>
      <p:sp>
        <p:nvSpPr>
          <p:cNvPr id="30" name="Shape 27"/>
          <p:cNvSpPr/>
          <p:nvPr/>
        </p:nvSpPr>
        <p:spPr>
          <a:xfrm>
            <a:off x="3143250" y="1085850"/>
            <a:ext cx="1303734" cy="271463"/>
          </a:xfrm>
          <a:prstGeom prst="rect">
            <a:avLst/>
          </a:prstGeom>
          <a:solidFill>
            <a:srgbClr val="1E1E1E"/>
          </a:solidFill>
          <a:ln/>
        </p:spPr>
      </p:sp>
      <p:sp>
        <p:nvSpPr>
          <p:cNvPr id="31" name="Shape 28"/>
          <p:cNvSpPr/>
          <p:nvPr/>
        </p:nvSpPr>
        <p:spPr>
          <a:xfrm>
            <a:off x="3143250" y="1085850"/>
            <a:ext cx="1303734" cy="21431"/>
          </a:xfrm>
          <a:prstGeom prst="rect">
            <a:avLst/>
          </a:prstGeom>
          <a:solidFill>
            <a:srgbClr val="0055FF"/>
          </a:solidFill>
          <a:ln/>
        </p:spPr>
      </p:sp>
      <p:sp>
        <p:nvSpPr>
          <p:cNvPr id="32" name="Text 29"/>
          <p:cNvSpPr/>
          <p:nvPr/>
        </p:nvSpPr>
        <p:spPr>
          <a:xfrm>
            <a:off x="3143250" y="1085850"/>
            <a:ext cx="1303734" cy="271463"/>
          </a:xfrm>
          <a:prstGeom prst="rect">
            <a:avLst/>
          </a:prstGeom>
          <a:noFill/>
          <a:ln/>
        </p:spPr>
        <p:txBody>
          <a:bodyPr wrap="square" lIns="204089" tIns="76581" rIns="204089" bIns="0" rtlCol="0" anchor="t">
            <a:spAutoFit/>
          </a:bodyPr>
          <a:lstStyle/>
          <a:p>
            <a:pPr algn="l" indent="0" marL="0">
              <a:buNone/>
            </a:pPr>
            <a:r>
              <a:rPr lang="en-US" sz="650" dirty="0">
                <a:solidFill>
                  <a:srgbClr val="D4D4D4"/>
                </a:solidFill>
                <a:latin typeface="Inter" pitchFamily="34" charset="0"/>
                <a:ea typeface="Inter" pitchFamily="34" charset="-122"/>
                <a:cs typeface="Inter" pitchFamily="34" charset="-120"/>
              </a:rPr>
              <a:t>orchestrate/SKILL.md</a:t>
            </a:r>
            <a:endParaRPr lang="en-US" sz="650" dirty="0"/>
          </a:p>
        </p:txBody>
      </p:sp>
      <p:sp>
        <p:nvSpPr>
          <p:cNvPr id="33" name="Text 30"/>
          <p:cNvSpPr/>
          <p:nvPr/>
        </p:nvSpPr>
        <p:spPr>
          <a:xfrm>
            <a:off x="7827373" y="1175147"/>
            <a:ext cx="945152" cy="92869"/>
          </a:xfrm>
          <a:prstGeom prst="rect">
            <a:avLst/>
          </a:prstGeom>
          <a:noFill/>
          <a:ln/>
        </p:spPr>
        <p:txBody>
          <a:bodyPr wrap="none" lIns="0" tIns="0" rIns="0" bIns="0" rtlCol="0" anchor="t">
            <a:spAutoFit/>
          </a:bodyPr>
          <a:lstStyle/>
          <a:p>
            <a:pPr algn="l" indent="0" marL="0">
              <a:buNone/>
            </a:pPr>
            <a:r>
              <a:rPr lang="en-US" sz="550" spc="1" kern="0" dirty="0">
                <a:solidFill>
                  <a:srgbClr val="9CDCFE"/>
                </a:solidFill>
                <a:latin typeface="Inter" pitchFamily="34" charset="0"/>
                <a:ea typeface="Inter" pitchFamily="34" charset="-122"/>
                <a:cs typeface="Inter" pitchFamily="34" charset="-120"/>
              </a:rPr>
              <a:t>MARKDOWN PREVIEW</a:t>
            </a:r>
            <a:endParaRPr lang="en-US" sz="550" dirty="0"/>
          </a:p>
        </p:txBody>
      </p:sp>
      <p:sp>
        <p:nvSpPr>
          <p:cNvPr id="34" name="Shape 31"/>
          <p:cNvSpPr/>
          <p:nvPr/>
        </p:nvSpPr>
        <p:spPr>
          <a:xfrm>
            <a:off x="2528888" y="1357313"/>
            <a:ext cx="6343650" cy="3129688"/>
          </a:xfrm>
          <a:prstGeom prst="rect">
            <a:avLst/>
          </a:prstGeom>
          <a:solidFill>
            <a:srgbClr val="FFFFFF"/>
          </a:solidFill>
          <a:ln/>
        </p:spPr>
      </p:sp>
      <p:sp>
        <p:nvSpPr>
          <p:cNvPr id="35" name="Text 32"/>
          <p:cNvSpPr/>
          <p:nvPr/>
        </p:nvSpPr>
        <p:spPr>
          <a:xfrm>
            <a:off x="2657475" y="1443038"/>
            <a:ext cx="6086475" cy="260300"/>
          </a:xfrm>
          <a:prstGeom prst="rect">
            <a:avLst/>
          </a:prstGeom>
          <a:noFill/>
          <a:ln/>
        </p:spPr>
        <p:txBody>
          <a:bodyPr wrap="none" lIns="0" tIns="0" rIns="0" bIns="51054" rtlCol="0" anchor="t">
            <a:spAutoFit/>
          </a:bodyPr>
          <a:lstStyle/>
          <a:p>
            <a:pPr algn="l" indent="0" marL="0">
              <a:lnSpc>
                <a:spcPct val="102400"/>
              </a:lnSpc>
              <a:buNone/>
            </a:pPr>
            <a:r>
              <a:rPr lang="en-US" sz="1150" b="1" dirty="0">
                <a:solidFill>
                  <a:srgbClr val="222222"/>
                </a:solidFill>
                <a:latin typeface="Inter Bold" pitchFamily="34" charset="0"/>
                <a:ea typeface="Inter Bold" pitchFamily="34" charset="-122"/>
                <a:cs typeface="Inter Bold" pitchFamily="34" charset="-120"/>
              </a:rPr>
              <a:t>Orchestrate</a:t>
            </a:r>
            <a:endParaRPr lang="en-US" sz="1150" dirty="0"/>
          </a:p>
        </p:txBody>
      </p:sp>
      <p:sp>
        <p:nvSpPr>
          <p:cNvPr id="36" name="Shape 33"/>
          <p:cNvSpPr/>
          <p:nvPr/>
        </p:nvSpPr>
        <p:spPr>
          <a:xfrm>
            <a:off x="2657475" y="1831925"/>
            <a:ext cx="2986088" cy="1286098"/>
          </a:xfrm>
          <a:prstGeom prst="rect">
            <a:avLst/>
          </a:prstGeom>
          <a:solidFill>
            <a:srgbClr val="FFF8F7"/>
          </a:solidFill>
          <a:ln w="18288">
            <a:solidFill>
              <a:srgbClr val="FF443A"/>
            </a:solidFill>
            <a:prstDash val="solid"/>
          </a:ln>
        </p:spPr>
      </p:sp>
      <p:sp>
        <p:nvSpPr>
          <p:cNvPr id="37" name="Shape 34"/>
          <p:cNvSpPr/>
          <p:nvPr/>
        </p:nvSpPr>
        <p:spPr>
          <a:xfrm>
            <a:off x="5543550" y="1746200"/>
            <a:ext cx="185738" cy="185738"/>
          </a:xfrm>
          <a:prstGeom prst="rect">
            <a:avLst/>
          </a:prstGeom>
          <a:solidFill>
            <a:srgbClr val="FF443A"/>
          </a:solidFill>
          <a:ln w="18288">
            <a:solidFill>
              <a:srgbClr val="111111"/>
            </a:solidFill>
            <a:prstDash val="solid"/>
          </a:ln>
        </p:spPr>
      </p:sp>
      <p:sp>
        <p:nvSpPr>
          <p:cNvPr id="38" name="Text 35"/>
          <p:cNvSpPr/>
          <p:nvPr/>
        </p:nvSpPr>
        <p:spPr>
          <a:xfrm>
            <a:off x="5543550" y="1746200"/>
            <a:ext cx="185738" cy="185738"/>
          </a:xfrm>
          <a:prstGeom prst="rect">
            <a:avLst/>
          </a:prstGeom>
          <a:noFill/>
          <a:ln/>
        </p:spPr>
        <p:txBody>
          <a:bodyPr wrap="none" lIns="0" tIns="0" rIns="0" bIns="0" rtlCol="0" anchor="ctr">
            <a:spAutoFit/>
          </a:bodyPr>
          <a:lstStyle/>
          <a:p>
            <a:pPr algn="ctr" indent="0" marL="0">
              <a:lnSpc>
                <a:spcPct val="102400"/>
              </a:lnSpc>
              <a:buNone/>
            </a:pPr>
            <a:r>
              <a:rPr lang="en-US" sz="800" dirty="0">
                <a:solidFill>
                  <a:srgbClr val="FFFFFF"/>
                </a:solidFill>
                <a:latin typeface="Oswald SemiBold" pitchFamily="34" charset="0"/>
                <a:ea typeface="Oswald SemiBold" pitchFamily="34" charset="-122"/>
                <a:cs typeface="Oswald SemiBold" pitchFamily="34" charset="-120"/>
              </a:rPr>
              <a:t>1</a:t>
            </a:r>
            <a:endParaRPr lang="en-US" sz="800" dirty="0"/>
          </a:p>
        </p:txBody>
      </p:sp>
      <p:sp>
        <p:nvSpPr>
          <p:cNvPr id="39" name="Text 36"/>
          <p:cNvSpPr/>
          <p:nvPr/>
        </p:nvSpPr>
        <p:spPr>
          <a:xfrm>
            <a:off x="2728913" y="1881932"/>
            <a:ext cx="2843213" cy="146279"/>
          </a:xfrm>
          <a:prstGeom prst="rect">
            <a:avLst/>
          </a:prstGeom>
          <a:noFill/>
          <a:ln/>
        </p:spPr>
        <p:txBody>
          <a:bodyPr wrap="none" lIns="0" tIns="0" rIns="0" bIns="0" rtlCol="0" anchor="t">
            <a:spAutoFit/>
          </a:bodyPr>
          <a:lstStyle/>
          <a:p>
            <a:pPr algn="l" indent="0" marL="0">
              <a:lnSpc>
                <a:spcPct val="102400"/>
              </a:lnSpc>
              <a:buNone/>
            </a:pPr>
            <a:r>
              <a:rPr lang="en-US" sz="800" b="1" dirty="0">
                <a:solidFill>
                  <a:srgbClr val="222222"/>
                </a:solidFill>
                <a:latin typeface="Inter Bold" pitchFamily="34" charset="0"/>
                <a:ea typeface="Inter Bold" pitchFamily="34" charset="-122"/>
                <a:cs typeface="Inter Bold" pitchFamily="34" charset="-120"/>
              </a:rPr>
              <a:t>Trigger</a:t>
            </a:r>
            <a:endParaRPr lang="en-US" sz="800" dirty="0"/>
          </a:p>
        </p:txBody>
      </p:sp>
      <p:sp>
        <p:nvSpPr>
          <p:cNvPr id="40" name="Text 37"/>
          <p:cNvSpPr/>
          <p:nvPr/>
        </p:nvSpPr>
        <p:spPr>
          <a:xfrm>
            <a:off x="2728913" y="2067502"/>
            <a:ext cx="1432322"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Use whenever a prompt requests</a:t>
            </a:r>
            <a:endParaRPr lang="en-US" sz="650" dirty="0"/>
          </a:p>
        </p:txBody>
      </p:sp>
      <p:sp>
        <p:nvSpPr>
          <p:cNvPr id="41" name="Shape 38"/>
          <p:cNvSpPr/>
          <p:nvPr/>
        </p:nvSpPr>
        <p:spPr>
          <a:xfrm>
            <a:off x="4161234" y="2074645"/>
            <a:ext cx="182166" cy="103584"/>
          </a:xfrm>
          <a:prstGeom prst="rect">
            <a:avLst/>
          </a:prstGeom>
          <a:solidFill>
            <a:srgbClr val="F6F8FA"/>
          </a:solidFill>
          <a:ln/>
        </p:spPr>
      </p:sp>
      <p:sp>
        <p:nvSpPr>
          <p:cNvPr id="42" name="Text 39"/>
          <p:cNvSpPr/>
          <p:nvPr/>
        </p:nvSpPr>
        <p:spPr>
          <a:xfrm>
            <a:off x="4161234" y="2074645"/>
            <a:ext cx="182166" cy="103584"/>
          </a:xfrm>
          <a:prstGeom prst="rect">
            <a:avLst/>
          </a:prstGeom>
          <a:noFill/>
          <a:ln/>
        </p:spPr>
        <p:txBody>
          <a:bodyPr wrap="none" lIns="25527" tIns="0" rIns="25527" bIns="0" rtlCol="0" anchor="t">
            <a:spAutoFit/>
          </a:bodyPr>
          <a:lstStyle/>
          <a:p>
            <a:pPr algn="l" indent="0" marL="0">
              <a:lnSpc>
                <a:spcPct val="102400"/>
              </a:lnSpc>
              <a:buNone/>
            </a:pPr>
            <a:r>
              <a:rPr lang="en-US" sz="550" dirty="0">
                <a:solidFill>
                  <a:srgbClr val="B42318"/>
                </a:solidFill>
                <a:latin typeface="JetBrains Mono" pitchFamily="34" charset="0"/>
                <a:ea typeface="JetBrains Mono" pitchFamily="34" charset="-122"/>
                <a:cs typeface="JetBrains Mono" pitchFamily="34" charset="-120"/>
              </a:rPr>
              <a:t>new</a:t>
            </a:r>
            <a:endParaRPr lang="en-US" sz="550" dirty="0"/>
          </a:p>
        </p:txBody>
      </p:sp>
      <p:sp>
        <p:nvSpPr>
          <p:cNvPr id="43" name="Text 40"/>
          <p:cNvSpPr/>
          <p:nvPr/>
        </p:nvSpPr>
        <p:spPr>
          <a:xfrm>
            <a:off x="4343400" y="2067502"/>
            <a:ext cx="50006"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a:t>
            </a:r>
            <a:endParaRPr lang="en-US" sz="650" dirty="0"/>
          </a:p>
        </p:txBody>
      </p:sp>
      <p:sp>
        <p:nvSpPr>
          <p:cNvPr id="44" name="Shape 41"/>
          <p:cNvSpPr/>
          <p:nvPr/>
        </p:nvSpPr>
        <p:spPr>
          <a:xfrm>
            <a:off x="4393406" y="2074645"/>
            <a:ext cx="321469" cy="103584"/>
          </a:xfrm>
          <a:prstGeom prst="rect">
            <a:avLst/>
          </a:prstGeom>
          <a:solidFill>
            <a:srgbClr val="F6F8FA"/>
          </a:solidFill>
          <a:ln/>
        </p:spPr>
      </p:sp>
      <p:sp>
        <p:nvSpPr>
          <p:cNvPr id="45" name="Text 42"/>
          <p:cNvSpPr/>
          <p:nvPr/>
        </p:nvSpPr>
        <p:spPr>
          <a:xfrm>
            <a:off x="4393406" y="2074645"/>
            <a:ext cx="321469" cy="103584"/>
          </a:xfrm>
          <a:prstGeom prst="rect">
            <a:avLst/>
          </a:prstGeom>
          <a:noFill/>
          <a:ln/>
        </p:spPr>
        <p:txBody>
          <a:bodyPr wrap="none" lIns="25527" tIns="0" rIns="25527" bIns="0" rtlCol="0" anchor="t">
            <a:spAutoFit/>
          </a:bodyPr>
          <a:lstStyle/>
          <a:p>
            <a:pPr algn="l" indent="0" marL="0">
              <a:lnSpc>
                <a:spcPct val="102400"/>
              </a:lnSpc>
              <a:buNone/>
            </a:pPr>
            <a:r>
              <a:rPr lang="en-US" sz="550" dirty="0">
                <a:solidFill>
                  <a:srgbClr val="B42318"/>
                </a:solidFill>
                <a:latin typeface="JetBrains Mono" pitchFamily="34" charset="0"/>
                <a:ea typeface="JetBrains Mono" pitchFamily="34" charset="-122"/>
                <a:cs typeface="JetBrains Mono" pitchFamily="34" charset="-120"/>
              </a:rPr>
              <a:t>resume</a:t>
            </a:r>
            <a:endParaRPr lang="en-US" sz="550" dirty="0"/>
          </a:p>
        </p:txBody>
      </p:sp>
      <p:sp>
        <p:nvSpPr>
          <p:cNvPr id="46" name="Text 43"/>
          <p:cNvSpPr/>
          <p:nvPr/>
        </p:nvSpPr>
        <p:spPr>
          <a:xfrm>
            <a:off x="4714875" y="2067502"/>
            <a:ext cx="50006"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a:t>
            </a:r>
            <a:endParaRPr lang="en-US" sz="650" dirty="0"/>
          </a:p>
        </p:txBody>
      </p:sp>
      <p:sp>
        <p:nvSpPr>
          <p:cNvPr id="47" name="Shape 44"/>
          <p:cNvSpPr/>
          <p:nvPr/>
        </p:nvSpPr>
        <p:spPr>
          <a:xfrm>
            <a:off x="4764881" y="2074645"/>
            <a:ext cx="367903" cy="103584"/>
          </a:xfrm>
          <a:prstGeom prst="rect">
            <a:avLst/>
          </a:prstGeom>
          <a:solidFill>
            <a:srgbClr val="F6F8FA"/>
          </a:solidFill>
          <a:ln/>
        </p:spPr>
      </p:sp>
      <p:sp>
        <p:nvSpPr>
          <p:cNvPr id="48" name="Text 45"/>
          <p:cNvSpPr/>
          <p:nvPr/>
        </p:nvSpPr>
        <p:spPr>
          <a:xfrm>
            <a:off x="4764881" y="2074645"/>
            <a:ext cx="367903" cy="103584"/>
          </a:xfrm>
          <a:prstGeom prst="rect">
            <a:avLst/>
          </a:prstGeom>
          <a:noFill/>
          <a:ln/>
        </p:spPr>
        <p:txBody>
          <a:bodyPr wrap="none" lIns="25527" tIns="0" rIns="25527" bIns="0" rtlCol="0" anchor="t">
            <a:spAutoFit/>
          </a:bodyPr>
          <a:lstStyle/>
          <a:p>
            <a:pPr algn="l" indent="0" marL="0">
              <a:lnSpc>
                <a:spcPct val="102400"/>
              </a:lnSpc>
              <a:buNone/>
            </a:pPr>
            <a:r>
              <a:rPr lang="en-US" sz="550" dirty="0">
                <a:solidFill>
                  <a:srgbClr val="B42318"/>
                </a:solidFill>
                <a:latin typeface="JetBrains Mono" pitchFamily="34" charset="0"/>
                <a:ea typeface="JetBrains Mono" pitchFamily="34" charset="-122"/>
                <a:cs typeface="JetBrains Mono" pitchFamily="34" charset="-120"/>
              </a:rPr>
              <a:t>restart</a:t>
            </a:r>
            <a:endParaRPr lang="en-US" sz="550" dirty="0"/>
          </a:p>
        </p:txBody>
      </p:sp>
      <p:sp>
        <p:nvSpPr>
          <p:cNvPr id="49" name="Text 46"/>
          <p:cNvSpPr/>
          <p:nvPr/>
        </p:nvSpPr>
        <p:spPr>
          <a:xfrm>
            <a:off x="5132784" y="2067502"/>
            <a:ext cx="282178"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 stage</a:t>
            </a:r>
            <a:endParaRPr lang="en-US" sz="650" dirty="0"/>
          </a:p>
        </p:txBody>
      </p:sp>
      <p:sp>
        <p:nvSpPr>
          <p:cNvPr id="50" name="Text 47"/>
          <p:cNvSpPr/>
          <p:nvPr/>
        </p:nvSpPr>
        <p:spPr>
          <a:xfrm>
            <a:off x="2728913" y="2182360"/>
            <a:ext cx="1693069"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continuation, failure recovery, or review.</a:t>
            </a:r>
            <a:endParaRPr lang="en-US" sz="650" dirty="0"/>
          </a:p>
        </p:txBody>
      </p:sp>
      <p:sp>
        <p:nvSpPr>
          <p:cNvPr id="51" name="Text 48"/>
          <p:cNvSpPr/>
          <p:nvPr/>
        </p:nvSpPr>
        <p:spPr>
          <a:xfrm>
            <a:off x="2728913" y="2328807"/>
            <a:ext cx="2843213" cy="146279"/>
          </a:xfrm>
          <a:prstGeom prst="rect">
            <a:avLst/>
          </a:prstGeom>
          <a:noFill/>
          <a:ln/>
        </p:spPr>
        <p:txBody>
          <a:bodyPr wrap="none" lIns="0" tIns="0" rIns="0" bIns="0" rtlCol="0" anchor="t">
            <a:spAutoFit/>
          </a:bodyPr>
          <a:lstStyle/>
          <a:p>
            <a:pPr algn="l" indent="0" marL="0">
              <a:lnSpc>
                <a:spcPct val="102400"/>
              </a:lnSpc>
              <a:buNone/>
            </a:pPr>
            <a:r>
              <a:rPr lang="en-US" sz="800" b="1" dirty="0">
                <a:solidFill>
                  <a:srgbClr val="222222"/>
                </a:solidFill>
                <a:latin typeface="Inter Bold" pitchFamily="34" charset="0"/>
                <a:ea typeface="Inter Bold" pitchFamily="34" charset="-122"/>
                <a:cs typeface="Inter Bold" pitchFamily="34" charset="-120"/>
              </a:rPr>
              <a:t>Required inputs</a:t>
            </a:r>
            <a:endParaRPr lang="en-US" sz="800" dirty="0"/>
          </a:p>
        </p:txBody>
      </p:sp>
      <p:sp>
        <p:nvSpPr>
          <p:cNvPr id="52" name="Text 49"/>
          <p:cNvSpPr/>
          <p:nvPr/>
        </p:nvSpPr>
        <p:spPr>
          <a:xfrm>
            <a:off x="2886075" y="2510805"/>
            <a:ext cx="2686050" cy="114300"/>
          </a:xfrm>
          <a:prstGeom prst="rect">
            <a:avLst/>
          </a:prstGeom>
          <a:noFill/>
          <a:ln/>
        </p:spPr>
        <p:txBody>
          <a:bodyPr wrap="none" lIns="0" tIns="0" rIns="0" bIns="0" rtlCol="0" anchor="t">
            <a:spAutoFit/>
          </a:bodyPr>
          <a:lstStyle/>
          <a:p>
            <a:pPr algn="l" marL="127000" indent="-127000">
              <a:lnSpc>
                <a:spcPct val="102400"/>
              </a:lnSpc>
              <a:buSzPct val="100000"/>
              <a:buChar char="•"/>
            </a:pPr>
            <a:r>
              <a:rPr lang="en-US" sz="650" dirty="0">
                <a:solidFill>
                  <a:srgbClr val="222222"/>
                </a:solidFill>
                <a:latin typeface="Inter" pitchFamily="34" charset="0"/>
                <a:ea typeface="Inter" pitchFamily="34" charset="-122"/>
                <a:cs typeface="Inter" pitchFamily="34" charset="-120"/>
              </a:rPr>
              <a:t>Explicit user intent and module ID</a:t>
            </a:r>
            <a:endParaRPr lang="en-US" sz="650" dirty="0"/>
          </a:p>
        </p:txBody>
      </p:sp>
      <p:sp>
        <p:nvSpPr>
          <p:cNvPr id="53" name="Text 50"/>
          <p:cNvSpPr/>
          <p:nvPr/>
        </p:nvSpPr>
        <p:spPr>
          <a:xfrm>
            <a:off x="2886075" y="2639392"/>
            <a:ext cx="2686050" cy="114300"/>
          </a:xfrm>
          <a:prstGeom prst="rect">
            <a:avLst/>
          </a:prstGeom>
          <a:noFill/>
          <a:ln/>
        </p:spPr>
        <p:txBody>
          <a:bodyPr wrap="none" lIns="0" tIns="0" rIns="0" bIns="0" rtlCol="0" anchor="t">
            <a:spAutoFit/>
          </a:bodyPr>
          <a:lstStyle/>
          <a:p>
            <a:pPr algn="l" marL="127000" indent="-127000">
              <a:lnSpc>
                <a:spcPct val="102400"/>
              </a:lnSpc>
              <a:buSzPct val="100000"/>
              <a:buChar char="•"/>
            </a:pPr>
            <a:r>
              <a:rPr lang="en-US" sz="650" dirty="0">
                <a:solidFill>
                  <a:srgbClr val="222222"/>
                </a:solidFill>
                <a:latin typeface="Inter" pitchFamily="34" charset="0"/>
                <a:ea typeface="Inter" pitchFamily="34" charset="-122"/>
                <a:cs typeface="Inter" pitchFamily="34" charset="-120"/>
              </a:rPr>
              <a:t>Latest durable run-state JSON</a:t>
            </a:r>
            <a:endParaRPr lang="en-US" sz="650" dirty="0"/>
          </a:p>
        </p:txBody>
      </p:sp>
      <p:sp>
        <p:nvSpPr>
          <p:cNvPr id="54" name="Text 51"/>
          <p:cNvSpPr/>
          <p:nvPr/>
        </p:nvSpPr>
        <p:spPr>
          <a:xfrm>
            <a:off x="2886075" y="2767980"/>
            <a:ext cx="2686050" cy="114300"/>
          </a:xfrm>
          <a:prstGeom prst="rect">
            <a:avLst/>
          </a:prstGeom>
          <a:noFill/>
          <a:ln/>
        </p:spPr>
        <p:txBody>
          <a:bodyPr wrap="none" lIns="0" tIns="0" rIns="0" bIns="0" rtlCol="0" anchor="t">
            <a:spAutoFit/>
          </a:bodyPr>
          <a:lstStyle/>
          <a:p>
            <a:pPr algn="l" marL="127000" indent="-127000">
              <a:lnSpc>
                <a:spcPct val="102400"/>
              </a:lnSpc>
              <a:buSzPct val="100000"/>
              <a:buChar char="•"/>
            </a:pPr>
            <a:r>
              <a:rPr lang="en-US" sz="650" dirty="0">
                <a:solidFill>
                  <a:srgbClr val="222222"/>
                </a:solidFill>
                <a:latin typeface="Inter" pitchFamily="34" charset="0"/>
                <a:ea typeface="Inter" pitchFamily="34" charset="-122"/>
                <a:cs typeface="Inter" pitchFamily="34" charset="-120"/>
              </a:rPr>
              <a:t>Workflow transition contract</a:t>
            </a:r>
            <a:endParaRPr lang="en-US" sz="650" dirty="0"/>
          </a:p>
        </p:txBody>
      </p:sp>
      <p:sp>
        <p:nvSpPr>
          <p:cNvPr id="55" name="Text 52"/>
          <p:cNvSpPr/>
          <p:nvPr/>
        </p:nvSpPr>
        <p:spPr>
          <a:xfrm>
            <a:off x="2886075" y="2896567"/>
            <a:ext cx="2686050" cy="114300"/>
          </a:xfrm>
          <a:prstGeom prst="rect">
            <a:avLst/>
          </a:prstGeom>
          <a:noFill/>
          <a:ln/>
        </p:spPr>
        <p:txBody>
          <a:bodyPr wrap="none" lIns="0" tIns="0" rIns="0" bIns="0" rtlCol="0" anchor="t">
            <a:spAutoFit/>
          </a:bodyPr>
          <a:lstStyle/>
          <a:p>
            <a:pPr algn="l" marL="127000" indent="-127000">
              <a:lnSpc>
                <a:spcPct val="102400"/>
              </a:lnSpc>
              <a:buSzPct val="100000"/>
              <a:buChar char="•"/>
            </a:pPr>
            <a:r>
              <a:rPr lang="en-US" sz="650" dirty="0">
                <a:solidFill>
                  <a:srgbClr val="222222"/>
                </a:solidFill>
                <a:latin typeface="Inter" pitchFamily="34" charset="0"/>
                <a:ea typeface="Inter" pitchFamily="34" charset="-122"/>
                <a:cs typeface="Inter" pitchFamily="34" charset="-120"/>
              </a:rPr>
              <a:t>Previous stage artifact, hash, and gate result</a:t>
            </a:r>
            <a:endParaRPr lang="en-US" sz="650" dirty="0"/>
          </a:p>
        </p:txBody>
      </p:sp>
      <p:sp>
        <p:nvSpPr>
          <p:cNvPr id="56" name="Shape 53"/>
          <p:cNvSpPr/>
          <p:nvPr/>
        </p:nvSpPr>
        <p:spPr>
          <a:xfrm>
            <a:off x="2657475" y="3132311"/>
            <a:ext cx="2986088" cy="1226102"/>
          </a:xfrm>
          <a:prstGeom prst="rect">
            <a:avLst/>
          </a:prstGeom>
          <a:solidFill>
            <a:srgbClr val="FFF8F7"/>
          </a:solidFill>
          <a:ln w="18288">
            <a:solidFill>
              <a:srgbClr val="FF443A"/>
            </a:solidFill>
            <a:prstDash val="solid"/>
          </a:ln>
        </p:spPr>
      </p:sp>
      <p:sp>
        <p:nvSpPr>
          <p:cNvPr id="57" name="Shape 54"/>
          <p:cNvSpPr/>
          <p:nvPr/>
        </p:nvSpPr>
        <p:spPr>
          <a:xfrm>
            <a:off x="5543550" y="3046586"/>
            <a:ext cx="185738" cy="185738"/>
          </a:xfrm>
          <a:prstGeom prst="rect">
            <a:avLst/>
          </a:prstGeom>
          <a:solidFill>
            <a:srgbClr val="FF443A"/>
          </a:solidFill>
          <a:ln w="18288">
            <a:solidFill>
              <a:srgbClr val="111111"/>
            </a:solidFill>
            <a:prstDash val="solid"/>
          </a:ln>
        </p:spPr>
      </p:sp>
      <p:sp>
        <p:nvSpPr>
          <p:cNvPr id="58" name="Text 55"/>
          <p:cNvSpPr/>
          <p:nvPr/>
        </p:nvSpPr>
        <p:spPr>
          <a:xfrm>
            <a:off x="5543550" y="3046586"/>
            <a:ext cx="185738" cy="185738"/>
          </a:xfrm>
          <a:prstGeom prst="rect">
            <a:avLst/>
          </a:prstGeom>
          <a:noFill/>
          <a:ln/>
        </p:spPr>
        <p:txBody>
          <a:bodyPr wrap="none" lIns="0" tIns="0" rIns="0" bIns="0" rtlCol="0" anchor="ctr">
            <a:spAutoFit/>
          </a:bodyPr>
          <a:lstStyle/>
          <a:p>
            <a:pPr algn="ctr" indent="0" marL="0">
              <a:lnSpc>
                <a:spcPct val="102400"/>
              </a:lnSpc>
              <a:buNone/>
            </a:pPr>
            <a:r>
              <a:rPr lang="en-US" sz="800" dirty="0">
                <a:solidFill>
                  <a:srgbClr val="FFFFFF"/>
                </a:solidFill>
                <a:latin typeface="Oswald SemiBold" pitchFamily="34" charset="0"/>
                <a:ea typeface="Oswald SemiBold" pitchFamily="34" charset="-122"/>
                <a:cs typeface="Oswald SemiBold" pitchFamily="34" charset="-120"/>
              </a:rPr>
              <a:t>2</a:t>
            </a:r>
            <a:endParaRPr lang="en-US" sz="800" dirty="0"/>
          </a:p>
        </p:txBody>
      </p:sp>
      <p:sp>
        <p:nvSpPr>
          <p:cNvPr id="59" name="Text 56"/>
          <p:cNvSpPr/>
          <p:nvPr/>
        </p:nvSpPr>
        <p:spPr>
          <a:xfrm>
            <a:off x="2728913" y="3182317"/>
            <a:ext cx="2843213" cy="146279"/>
          </a:xfrm>
          <a:prstGeom prst="rect">
            <a:avLst/>
          </a:prstGeom>
          <a:noFill/>
          <a:ln/>
        </p:spPr>
        <p:txBody>
          <a:bodyPr wrap="none" lIns="0" tIns="0" rIns="0" bIns="0" rtlCol="0" anchor="t">
            <a:spAutoFit/>
          </a:bodyPr>
          <a:lstStyle/>
          <a:p>
            <a:pPr algn="l" indent="0" marL="0">
              <a:lnSpc>
                <a:spcPct val="102400"/>
              </a:lnSpc>
              <a:buNone/>
            </a:pPr>
            <a:r>
              <a:rPr lang="en-US" sz="800" b="1" dirty="0">
                <a:solidFill>
                  <a:srgbClr val="222222"/>
                </a:solidFill>
                <a:latin typeface="Inter Bold" pitchFamily="34" charset="0"/>
                <a:ea typeface="Inter Bold" pitchFamily="34" charset="-122"/>
                <a:cs typeface="Inter Bold" pitchFamily="34" charset="-120"/>
              </a:rPr>
              <a:t>Workflow</a:t>
            </a:r>
            <a:endParaRPr lang="en-US" sz="800" dirty="0"/>
          </a:p>
        </p:txBody>
      </p:sp>
      <p:sp>
        <p:nvSpPr>
          <p:cNvPr id="60" name="Text 57"/>
          <p:cNvSpPr/>
          <p:nvPr/>
        </p:nvSpPr>
        <p:spPr>
          <a:xfrm>
            <a:off x="2886075" y="3364316"/>
            <a:ext cx="2686050" cy="114300"/>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1"/>
            </a:pPr>
            <a:r>
              <a:rPr lang="en-US" sz="650" dirty="0">
                <a:solidFill>
                  <a:srgbClr val="222222"/>
                </a:solidFill>
                <a:latin typeface="Inter" pitchFamily="34" charset="0"/>
                <a:ea typeface="Inter" pitchFamily="34" charset="-122"/>
                <a:cs typeface="Inter" pitchFamily="34" charset="-120"/>
              </a:rPr>
              <a:t>Classify user intent (new, resume, restart, recover).</a:t>
            </a:r>
            <a:endParaRPr lang="en-US" sz="650" dirty="0"/>
          </a:p>
        </p:txBody>
      </p:sp>
      <p:sp>
        <p:nvSpPr>
          <p:cNvPr id="61" name="Text 58"/>
          <p:cNvSpPr/>
          <p:nvPr/>
        </p:nvSpPr>
        <p:spPr>
          <a:xfrm>
            <a:off x="2886075" y="3496475"/>
            <a:ext cx="1410891" cy="107156"/>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2"/>
            </a:pPr>
            <a:r>
              <a:rPr lang="en-US" sz="650" dirty="0">
                <a:solidFill>
                  <a:srgbClr val="222222"/>
                </a:solidFill>
                <a:latin typeface="Inter" pitchFamily="34" charset="0"/>
                <a:ea typeface="Inter" pitchFamily="34" charset="-122"/>
                <a:cs typeface="Inter" pitchFamily="34" charset="-120"/>
              </a:rPr>
              <a:t>Read run state and verify against</a:t>
            </a:r>
            <a:endParaRPr lang="en-US" sz="650" dirty="0"/>
          </a:p>
        </p:txBody>
      </p:sp>
      <p:sp>
        <p:nvSpPr>
          <p:cNvPr id="62" name="Shape 59"/>
          <p:cNvSpPr/>
          <p:nvPr/>
        </p:nvSpPr>
        <p:spPr>
          <a:xfrm>
            <a:off x="4296966" y="3503619"/>
            <a:ext cx="646509" cy="103584"/>
          </a:xfrm>
          <a:prstGeom prst="rect">
            <a:avLst/>
          </a:prstGeom>
          <a:solidFill>
            <a:srgbClr val="F6F8FA"/>
          </a:solidFill>
          <a:ln/>
        </p:spPr>
      </p:sp>
      <p:sp>
        <p:nvSpPr>
          <p:cNvPr id="63" name="Text 60"/>
          <p:cNvSpPr/>
          <p:nvPr/>
        </p:nvSpPr>
        <p:spPr>
          <a:xfrm>
            <a:off x="4296966" y="3503619"/>
            <a:ext cx="646509" cy="103584"/>
          </a:xfrm>
          <a:prstGeom prst="rect">
            <a:avLst/>
          </a:prstGeom>
          <a:noFill/>
          <a:ln/>
        </p:spPr>
        <p:txBody>
          <a:bodyPr wrap="none" lIns="25527" tIns="0" rIns="25527" bIns="0" rtlCol="0" anchor="t">
            <a:spAutoFit/>
          </a:bodyPr>
          <a:lstStyle/>
          <a:p>
            <a:pPr algn="l" indent="0" marL="0">
              <a:lnSpc>
                <a:spcPct val="102400"/>
              </a:lnSpc>
              <a:buNone/>
            </a:pPr>
            <a:r>
              <a:rPr lang="en-US" sz="550" dirty="0">
                <a:solidFill>
                  <a:srgbClr val="B42318"/>
                </a:solidFill>
                <a:latin typeface="JetBrains Mono" pitchFamily="34" charset="0"/>
                <a:ea typeface="JetBrains Mono" pitchFamily="34" charset="-122"/>
                <a:cs typeface="JetBrains Mono" pitchFamily="34" charset="-120"/>
              </a:rPr>
              <a:t>workflow.yaml</a:t>
            </a:r>
            <a:endParaRPr lang="en-US" sz="550" dirty="0"/>
          </a:p>
        </p:txBody>
      </p:sp>
      <p:sp>
        <p:nvSpPr>
          <p:cNvPr id="64" name="Text 61"/>
          <p:cNvSpPr/>
          <p:nvPr/>
        </p:nvSpPr>
        <p:spPr>
          <a:xfrm>
            <a:off x="4943475" y="3496475"/>
            <a:ext cx="25003"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a:t>
            </a:r>
            <a:endParaRPr lang="en-US" sz="650" dirty="0"/>
          </a:p>
        </p:txBody>
      </p:sp>
      <p:sp>
        <p:nvSpPr>
          <p:cNvPr id="65" name="Text 62"/>
          <p:cNvSpPr/>
          <p:nvPr/>
        </p:nvSpPr>
        <p:spPr>
          <a:xfrm>
            <a:off x="2886075" y="3622049"/>
            <a:ext cx="2686050" cy="114300"/>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3"/>
            </a:pPr>
            <a:r>
              <a:rPr lang="en-US" sz="650" dirty="0">
                <a:solidFill>
                  <a:srgbClr val="222222"/>
                </a:solidFill>
                <a:latin typeface="Inter" pitchFamily="34" charset="0"/>
                <a:ea typeface="Inter" pitchFamily="34" charset="-122"/>
                <a:cs typeface="Inter" pitchFamily="34" charset="-120"/>
              </a:rPr>
              <a:t>Select exactly one permitted skill.</a:t>
            </a:r>
            <a:endParaRPr lang="en-US" sz="650" dirty="0"/>
          </a:p>
        </p:txBody>
      </p:sp>
      <p:sp>
        <p:nvSpPr>
          <p:cNvPr id="66" name="Text 63"/>
          <p:cNvSpPr/>
          <p:nvPr/>
        </p:nvSpPr>
        <p:spPr>
          <a:xfrm>
            <a:off x="2886075" y="3754208"/>
            <a:ext cx="1285875" cy="107156"/>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4"/>
            </a:pPr>
            <a:r>
              <a:rPr lang="en-US" sz="650" dirty="0">
                <a:solidFill>
                  <a:srgbClr val="222222"/>
                </a:solidFill>
                <a:latin typeface="Inter" pitchFamily="34" charset="0"/>
                <a:ea typeface="Inter" pitchFamily="34" charset="-122"/>
                <a:cs typeface="Inter" pitchFamily="34" charset="-120"/>
              </a:rPr>
              <a:t>Require its named artifact and</a:t>
            </a:r>
            <a:endParaRPr lang="en-US" sz="650" dirty="0"/>
          </a:p>
        </p:txBody>
      </p:sp>
      <p:sp>
        <p:nvSpPr>
          <p:cNvPr id="67" name="Shape 64"/>
          <p:cNvSpPr/>
          <p:nvPr/>
        </p:nvSpPr>
        <p:spPr>
          <a:xfrm>
            <a:off x="4171950" y="3761352"/>
            <a:ext cx="832247" cy="103584"/>
          </a:xfrm>
          <a:prstGeom prst="rect">
            <a:avLst/>
          </a:prstGeom>
          <a:solidFill>
            <a:srgbClr val="F6F8FA"/>
          </a:solidFill>
          <a:ln/>
        </p:spPr>
      </p:sp>
      <p:sp>
        <p:nvSpPr>
          <p:cNvPr id="68" name="Text 65"/>
          <p:cNvSpPr/>
          <p:nvPr/>
        </p:nvSpPr>
        <p:spPr>
          <a:xfrm>
            <a:off x="4171950" y="3761352"/>
            <a:ext cx="832247" cy="103584"/>
          </a:xfrm>
          <a:prstGeom prst="rect">
            <a:avLst/>
          </a:prstGeom>
          <a:noFill/>
          <a:ln/>
        </p:spPr>
        <p:txBody>
          <a:bodyPr wrap="none" lIns="25527" tIns="0" rIns="25527" bIns="0" rtlCol="0" anchor="t">
            <a:spAutoFit/>
          </a:bodyPr>
          <a:lstStyle/>
          <a:p>
            <a:pPr algn="l" indent="0" marL="0">
              <a:lnSpc>
                <a:spcPct val="102400"/>
              </a:lnSpc>
              <a:buNone/>
            </a:pPr>
            <a:r>
              <a:rPr lang="en-US" sz="550" dirty="0">
                <a:solidFill>
                  <a:srgbClr val="B42318"/>
                </a:solidFill>
                <a:latin typeface="JetBrains Mono" pitchFamily="34" charset="0"/>
                <a:ea typeface="JetBrains Mono" pitchFamily="34" charset="-122"/>
                <a:cs typeface="JetBrains Mono" pitchFamily="34" charset="-120"/>
              </a:rPr>
              <a:t>PASS/FAIL/BLOCKED</a:t>
            </a:r>
            <a:endParaRPr lang="en-US" sz="550" dirty="0"/>
          </a:p>
        </p:txBody>
      </p:sp>
      <p:sp>
        <p:nvSpPr>
          <p:cNvPr id="69" name="Text 66"/>
          <p:cNvSpPr/>
          <p:nvPr/>
        </p:nvSpPr>
        <p:spPr>
          <a:xfrm>
            <a:off x="5004197" y="3754208"/>
            <a:ext cx="25003" cy="107156"/>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a:t>
            </a:r>
            <a:endParaRPr lang="en-US" sz="650" dirty="0"/>
          </a:p>
        </p:txBody>
      </p:sp>
      <p:sp>
        <p:nvSpPr>
          <p:cNvPr id="70" name="Text 67"/>
          <p:cNvSpPr/>
          <p:nvPr/>
        </p:nvSpPr>
        <p:spPr>
          <a:xfrm>
            <a:off x="2886075" y="3879782"/>
            <a:ext cx="2686050" cy="114300"/>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5"/>
            </a:pPr>
            <a:r>
              <a:rPr lang="en-US" sz="650" dirty="0">
                <a:solidFill>
                  <a:srgbClr val="222222"/>
                </a:solidFill>
                <a:latin typeface="Inter" pitchFamily="34" charset="0"/>
                <a:ea typeface="Inter" pitchFamily="34" charset="-122"/>
                <a:cs typeface="Inter" pitchFamily="34" charset="-120"/>
              </a:rPr>
              <a:t>Update durable state atomically.</a:t>
            </a:r>
            <a:endParaRPr lang="en-US" sz="650" dirty="0"/>
          </a:p>
        </p:txBody>
      </p:sp>
      <p:sp>
        <p:nvSpPr>
          <p:cNvPr id="71" name="Text 68"/>
          <p:cNvSpPr/>
          <p:nvPr/>
        </p:nvSpPr>
        <p:spPr>
          <a:xfrm>
            <a:off x="2886075" y="4008369"/>
            <a:ext cx="2686050" cy="114300"/>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6"/>
            </a:pPr>
            <a:r>
              <a:rPr lang="en-US" sz="650" dirty="0">
                <a:solidFill>
                  <a:srgbClr val="222222"/>
                </a:solidFill>
                <a:latin typeface="Inter" pitchFamily="34" charset="0"/>
                <a:ea typeface="Inter" pitchFamily="34" charset="-122"/>
                <a:cs typeface="Inter" pitchFamily="34" charset="-120"/>
              </a:rPr>
              <a:t>Stop after every skill invocation and at every human gate.</a:t>
            </a:r>
            <a:endParaRPr lang="en-US" sz="650" dirty="0"/>
          </a:p>
        </p:txBody>
      </p:sp>
      <p:sp>
        <p:nvSpPr>
          <p:cNvPr id="72" name="Text 69"/>
          <p:cNvSpPr/>
          <p:nvPr/>
        </p:nvSpPr>
        <p:spPr>
          <a:xfrm>
            <a:off x="2886075" y="4136957"/>
            <a:ext cx="2686050" cy="114300"/>
          </a:xfrm>
          <a:prstGeom prst="rect">
            <a:avLst/>
          </a:prstGeom>
          <a:noFill/>
          <a:ln/>
        </p:spPr>
        <p:txBody>
          <a:bodyPr wrap="none" lIns="0" tIns="0" rIns="0" bIns="0" rtlCol="0" anchor="t">
            <a:spAutoFit/>
          </a:bodyPr>
          <a:lstStyle/>
          <a:p>
            <a:pPr algn="l" marL="127000" indent="-127000">
              <a:lnSpc>
                <a:spcPct val="102400"/>
              </a:lnSpc>
              <a:buSzPct val="100000"/>
              <a:buFont typeface="+mj-lt"/>
              <a:buAutoNum type="arabicPeriod" startAt="7"/>
            </a:pPr>
            <a:r>
              <a:rPr lang="en-US" sz="650" dirty="0">
                <a:solidFill>
                  <a:srgbClr val="222222"/>
                </a:solidFill>
                <a:latin typeface="Inter" pitchFamily="34" charset="0"/>
                <a:ea typeface="Inter" pitchFamily="34" charset="-122"/>
                <a:cs typeface="Inter" pitchFamily="34" charset="-120"/>
              </a:rPr>
              <a:t>Write the complete copy/paste next message.</a:t>
            </a:r>
            <a:endParaRPr lang="en-US" sz="650" dirty="0"/>
          </a:p>
        </p:txBody>
      </p:sp>
      <p:sp>
        <p:nvSpPr>
          <p:cNvPr id="73" name="Shape 70"/>
          <p:cNvSpPr/>
          <p:nvPr/>
        </p:nvSpPr>
        <p:spPr>
          <a:xfrm>
            <a:off x="5757863" y="1831925"/>
            <a:ext cx="2986088" cy="932092"/>
          </a:xfrm>
          <a:prstGeom prst="rect">
            <a:avLst/>
          </a:prstGeom>
          <a:solidFill>
            <a:srgbClr val="FFF8F7"/>
          </a:solidFill>
          <a:ln w="18288">
            <a:solidFill>
              <a:srgbClr val="FF443A"/>
            </a:solidFill>
            <a:prstDash val="solid"/>
          </a:ln>
        </p:spPr>
      </p:sp>
      <p:sp>
        <p:nvSpPr>
          <p:cNvPr id="74" name="Shape 71"/>
          <p:cNvSpPr/>
          <p:nvPr/>
        </p:nvSpPr>
        <p:spPr>
          <a:xfrm>
            <a:off x="8643938" y="1746200"/>
            <a:ext cx="185738" cy="185738"/>
          </a:xfrm>
          <a:prstGeom prst="rect">
            <a:avLst/>
          </a:prstGeom>
          <a:solidFill>
            <a:srgbClr val="FF443A"/>
          </a:solidFill>
          <a:ln w="18288">
            <a:solidFill>
              <a:srgbClr val="111111"/>
            </a:solidFill>
            <a:prstDash val="solid"/>
          </a:ln>
        </p:spPr>
      </p:sp>
      <p:sp>
        <p:nvSpPr>
          <p:cNvPr id="75" name="Text 72"/>
          <p:cNvSpPr/>
          <p:nvPr/>
        </p:nvSpPr>
        <p:spPr>
          <a:xfrm>
            <a:off x="8643938" y="1746200"/>
            <a:ext cx="185738" cy="185738"/>
          </a:xfrm>
          <a:prstGeom prst="rect">
            <a:avLst/>
          </a:prstGeom>
          <a:noFill/>
          <a:ln/>
        </p:spPr>
        <p:txBody>
          <a:bodyPr wrap="none" lIns="0" tIns="0" rIns="0" bIns="0" rtlCol="0" anchor="ctr">
            <a:spAutoFit/>
          </a:bodyPr>
          <a:lstStyle/>
          <a:p>
            <a:pPr algn="ctr" indent="0" marL="0">
              <a:lnSpc>
                <a:spcPct val="102400"/>
              </a:lnSpc>
              <a:buNone/>
            </a:pPr>
            <a:r>
              <a:rPr lang="en-US" sz="800" dirty="0">
                <a:solidFill>
                  <a:srgbClr val="FFFFFF"/>
                </a:solidFill>
                <a:latin typeface="Oswald SemiBold" pitchFamily="34" charset="0"/>
                <a:ea typeface="Oswald SemiBold" pitchFamily="34" charset="-122"/>
                <a:cs typeface="Oswald SemiBold" pitchFamily="34" charset="-120"/>
              </a:rPr>
              <a:t>3</a:t>
            </a:r>
            <a:endParaRPr lang="en-US" sz="800" dirty="0"/>
          </a:p>
        </p:txBody>
      </p:sp>
      <p:sp>
        <p:nvSpPr>
          <p:cNvPr id="76" name="Text 73"/>
          <p:cNvSpPr/>
          <p:nvPr/>
        </p:nvSpPr>
        <p:spPr>
          <a:xfrm>
            <a:off x="5829300" y="1881932"/>
            <a:ext cx="2843213" cy="146279"/>
          </a:xfrm>
          <a:prstGeom prst="rect">
            <a:avLst/>
          </a:prstGeom>
          <a:noFill/>
          <a:ln/>
        </p:spPr>
        <p:txBody>
          <a:bodyPr wrap="none" lIns="0" tIns="0" rIns="0" bIns="0" rtlCol="0" anchor="t">
            <a:spAutoFit/>
          </a:bodyPr>
          <a:lstStyle/>
          <a:p>
            <a:pPr algn="l" indent="0" marL="0">
              <a:lnSpc>
                <a:spcPct val="102400"/>
              </a:lnSpc>
              <a:buNone/>
            </a:pPr>
            <a:r>
              <a:rPr lang="en-US" sz="800" b="1" dirty="0">
                <a:solidFill>
                  <a:srgbClr val="222222"/>
                </a:solidFill>
                <a:latin typeface="Inter Bold" pitchFamily="34" charset="0"/>
                <a:ea typeface="Inter Bold" pitchFamily="34" charset="-122"/>
                <a:cs typeface="Inter Bold" pitchFamily="34" charset="-120"/>
              </a:rPr>
              <a:t>Boundaries</a:t>
            </a:r>
            <a:endParaRPr lang="en-US" sz="800" dirty="0"/>
          </a:p>
        </p:txBody>
      </p:sp>
      <p:sp>
        <p:nvSpPr>
          <p:cNvPr id="77" name="Text 74"/>
          <p:cNvSpPr/>
          <p:nvPr/>
        </p:nvSpPr>
        <p:spPr>
          <a:xfrm>
            <a:off x="5829300" y="2063930"/>
            <a:ext cx="2843213" cy="342900"/>
          </a:xfrm>
          <a:prstGeom prst="rect">
            <a:avLst/>
          </a:prstGeom>
          <a:noFill/>
          <a:ln/>
        </p:spPr>
        <p:txBody>
          <a:bodyPr wrap="squar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Do not perform specialist analysis, generate code, approve evidence, change protected artifacts, skip a stage, cross a human gate, or declare release.</a:t>
            </a:r>
            <a:endParaRPr lang="en-US" sz="650" dirty="0"/>
          </a:p>
        </p:txBody>
      </p:sp>
      <p:sp>
        <p:nvSpPr>
          <p:cNvPr id="78" name="Text 75"/>
          <p:cNvSpPr/>
          <p:nvPr/>
        </p:nvSpPr>
        <p:spPr>
          <a:xfrm>
            <a:off x="5829300" y="2442549"/>
            <a:ext cx="2843213" cy="228600"/>
          </a:xfrm>
          <a:prstGeom prst="rect">
            <a:avLst/>
          </a:prstGeom>
          <a:noFill/>
          <a:ln/>
        </p:spPr>
        <p:txBody>
          <a:bodyPr wrap="squar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A generated approval message is a proposed user action and must never be recorded as approval until the human sends it.</a:t>
            </a:r>
            <a:endParaRPr lang="en-US" sz="650" dirty="0"/>
          </a:p>
        </p:txBody>
      </p:sp>
      <p:sp>
        <p:nvSpPr>
          <p:cNvPr id="79" name="Shape 76"/>
          <p:cNvSpPr/>
          <p:nvPr/>
        </p:nvSpPr>
        <p:spPr>
          <a:xfrm>
            <a:off x="5757863" y="2778305"/>
            <a:ext cx="2986088" cy="782073"/>
          </a:xfrm>
          <a:prstGeom prst="rect">
            <a:avLst/>
          </a:prstGeom>
          <a:solidFill>
            <a:srgbClr val="FFF8F7"/>
          </a:solidFill>
          <a:ln w="18288">
            <a:solidFill>
              <a:srgbClr val="FF443A"/>
            </a:solidFill>
            <a:prstDash val="solid"/>
          </a:ln>
        </p:spPr>
      </p:sp>
      <p:sp>
        <p:nvSpPr>
          <p:cNvPr id="80" name="Shape 77"/>
          <p:cNvSpPr/>
          <p:nvPr/>
        </p:nvSpPr>
        <p:spPr>
          <a:xfrm>
            <a:off x="8643938" y="2692580"/>
            <a:ext cx="185738" cy="185738"/>
          </a:xfrm>
          <a:prstGeom prst="rect">
            <a:avLst/>
          </a:prstGeom>
          <a:solidFill>
            <a:srgbClr val="FF443A"/>
          </a:solidFill>
          <a:ln w="18288">
            <a:solidFill>
              <a:srgbClr val="111111"/>
            </a:solidFill>
            <a:prstDash val="solid"/>
          </a:ln>
        </p:spPr>
      </p:sp>
      <p:sp>
        <p:nvSpPr>
          <p:cNvPr id="81" name="Text 78"/>
          <p:cNvSpPr/>
          <p:nvPr/>
        </p:nvSpPr>
        <p:spPr>
          <a:xfrm>
            <a:off x="8643938" y="2692580"/>
            <a:ext cx="185738" cy="185738"/>
          </a:xfrm>
          <a:prstGeom prst="rect">
            <a:avLst/>
          </a:prstGeom>
          <a:noFill/>
          <a:ln/>
        </p:spPr>
        <p:txBody>
          <a:bodyPr wrap="none" lIns="0" tIns="0" rIns="0" bIns="0" rtlCol="0" anchor="ctr">
            <a:spAutoFit/>
          </a:bodyPr>
          <a:lstStyle/>
          <a:p>
            <a:pPr algn="ctr" indent="0" marL="0">
              <a:lnSpc>
                <a:spcPct val="102400"/>
              </a:lnSpc>
              <a:buNone/>
            </a:pPr>
            <a:r>
              <a:rPr lang="en-US" sz="800" dirty="0">
                <a:solidFill>
                  <a:srgbClr val="FFFFFF"/>
                </a:solidFill>
                <a:latin typeface="Oswald SemiBold" pitchFamily="34" charset="0"/>
                <a:ea typeface="Oswald SemiBold" pitchFamily="34" charset="-122"/>
                <a:cs typeface="Oswald SemiBold" pitchFamily="34" charset="-120"/>
              </a:rPr>
              <a:t>4</a:t>
            </a:r>
            <a:endParaRPr lang="en-US" sz="800" dirty="0"/>
          </a:p>
        </p:txBody>
      </p:sp>
      <p:sp>
        <p:nvSpPr>
          <p:cNvPr id="82" name="Text 79"/>
          <p:cNvSpPr/>
          <p:nvPr/>
        </p:nvSpPr>
        <p:spPr>
          <a:xfrm>
            <a:off x="5829300" y="2828311"/>
            <a:ext cx="2843213" cy="146279"/>
          </a:xfrm>
          <a:prstGeom prst="rect">
            <a:avLst/>
          </a:prstGeom>
          <a:noFill/>
          <a:ln/>
        </p:spPr>
        <p:txBody>
          <a:bodyPr wrap="none" lIns="0" tIns="0" rIns="0" bIns="0" rtlCol="0" anchor="t">
            <a:spAutoFit/>
          </a:bodyPr>
          <a:lstStyle/>
          <a:p>
            <a:pPr algn="l" indent="0" marL="0">
              <a:lnSpc>
                <a:spcPct val="102400"/>
              </a:lnSpc>
              <a:buNone/>
            </a:pPr>
            <a:r>
              <a:rPr lang="en-US" sz="800" b="1" dirty="0">
                <a:solidFill>
                  <a:srgbClr val="222222"/>
                </a:solidFill>
                <a:latin typeface="Inter Bold" pitchFamily="34" charset="0"/>
                <a:ea typeface="Inter Bold" pitchFamily="34" charset="-122"/>
                <a:cs typeface="Inter Bold" pitchFamily="34" charset="-120"/>
              </a:rPr>
              <a:t>Stop conditions</a:t>
            </a:r>
            <a:endParaRPr lang="en-US" sz="800" dirty="0"/>
          </a:p>
        </p:txBody>
      </p:sp>
      <p:sp>
        <p:nvSpPr>
          <p:cNvPr id="83" name="Text 80"/>
          <p:cNvSpPr/>
          <p:nvPr/>
        </p:nvSpPr>
        <p:spPr>
          <a:xfrm>
            <a:off x="5829300" y="3010309"/>
            <a:ext cx="2843213" cy="457200"/>
          </a:xfrm>
          <a:prstGeom prst="rect">
            <a:avLst/>
          </a:prstGeom>
          <a:noFill/>
          <a:ln/>
        </p:spPr>
        <p:txBody>
          <a:bodyPr wrap="square" lIns="0" tIns="0" rIns="0" bIns="0" rtlCol="0" anchor="t">
            <a:spAutoFit/>
          </a:bodyPr>
          <a:lstStyle/>
          <a:p>
            <a:pPr algn="l" indent="0" marL="0">
              <a:lnSpc>
                <a:spcPct val="102400"/>
              </a:lnSpc>
              <a:buNone/>
            </a:pPr>
            <a:r>
              <a:rPr lang="en-US" sz="650" dirty="0">
                <a:solidFill>
                  <a:srgbClr val="222222"/>
                </a:solidFill>
                <a:latin typeface="Inter" pitchFamily="34" charset="0"/>
                <a:ea typeface="Inter" pitchFamily="34" charset="-122"/>
                <a:cs typeface="Inter" pitchFamily="34" charset="-120"/>
              </a:rPr>
              <a:t>Stop on missing or contradictory state, invalid transition, missing artifact, hash mismatch, dirty protected path, unavailable decision owner, repeated failure without new evidence, or exhausted attempt limit.</a:t>
            </a:r>
            <a:endParaRPr lang="en-US" sz="650" dirty="0"/>
          </a:p>
        </p:txBody>
      </p:sp>
      <p:sp>
        <p:nvSpPr>
          <p:cNvPr id="84" name="Shape 81"/>
          <p:cNvSpPr/>
          <p:nvPr/>
        </p:nvSpPr>
        <p:spPr>
          <a:xfrm>
            <a:off x="5757863" y="3588953"/>
            <a:ext cx="2986088" cy="561733"/>
          </a:xfrm>
          <a:prstGeom prst="rect">
            <a:avLst/>
          </a:prstGeom>
          <a:solidFill>
            <a:srgbClr val="EAF1FF"/>
          </a:solidFill>
          <a:ln w="18288">
            <a:solidFill>
              <a:srgbClr val="0055FF"/>
            </a:solidFill>
            <a:prstDash val="solid"/>
          </a:ln>
        </p:spPr>
      </p:sp>
      <p:sp>
        <p:nvSpPr>
          <p:cNvPr id="85" name="Text 82"/>
          <p:cNvSpPr/>
          <p:nvPr/>
        </p:nvSpPr>
        <p:spPr>
          <a:xfrm>
            <a:off x="5829300" y="3646103"/>
            <a:ext cx="2843213" cy="127974"/>
          </a:xfrm>
          <a:prstGeom prst="rect">
            <a:avLst/>
          </a:prstGeom>
          <a:noFill/>
          <a:ln/>
        </p:spPr>
        <p:txBody>
          <a:bodyPr wrap="none" lIns="0" tIns="0" rIns="0" bIns="0" rtlCol="0" anchor="t">
            <a:spAutoFit/>
          </a:bodyPr>
          <a:lstStyle/>
          <a:p>
            <a:pPr algn="l" indent="0" marL="0">
              <a:lnSpc>
                <a:spcPct val="102400"/>
              </a:lnSpc>
              <a:buNone/>
            </a:pPr>
            <a:r>
              <a:rPr lang="en-US" sz="700" b="1" dirty="0">
                <a:solidFill>
                  <a:srgbClr val="0055FF"/>
                </a:solidFill>
                <a:latin typeface="Inter Bold" pitchFamily="34" charset="0"/>
                <a:ea typeface="Inter Bold" pitchFamily="34" charset="-122"/>
                <a:cs typeface="Inter Bold" pitchFamily="34" charset="-120"/>
              </a:rPr>
              <a:t>CANONICAL OUTPUTS &amp; VERIFICATION</a:t>
            </a:r>
            <a:endParaRPr lang="en-US" sz="700" dirty="0"/>
          </a:p>
        </p:txBody>
      </p:sp>
      <p:sp>
        <p:nvSpPr>
          <p:cNvPr id="86" name="Text 83"/>
          <p:cNvSpPr/>
          <p:nvPr/>
        </p:nvSpPr>
        <p:spPr>
          <a:xfrm>
            <a:off x="5829300" y="3816939"/>
            <a:ext cx="414338" cy="109724"/>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11111"/>
                </a:solidFill>
                <a:latin typeface="Oswald SemiBold" pitchFamily="34" charset="0"/>
                <a:ea typeface="Oswald SemiBold" pitchFamily="34" charset="-122"/>
                <a:cs typeface="Oswald SemiBold" pitchFamily="34" charset="-120"/>
              </a:rPr>
              <a:t>OUTPUT</a:t>
            </a:r>
            <a:endParaRPr lang="en-US" sz="600" dirty="0"/>
          </a:p>
        </p:txBody>
      </p:sp>
      <p:sp>
        <p:nvSpPr>
          <p:cNvPr id="87" name="Shape 84"/>
          <p:cNvSpPr/>
          <p:nvPr/>
        </p:nvSpPr>
        <p:spPr>
          <a:xfrm>
            <a:off x="6293644" y="3816939"/>
            <a:ext cx="2378869" cy="89967"/>
          </a:xfrm>
          <a:prstGeom prst="rect">
            <a:avLst/>
          </a:prstGeom>
          <a:solidFill>
            <a:srgbClr val="F6F8FA"/>
          </a:solidFill>
          <a:ln/>
        </p:spPr>
      </p:sp>
      <p:sp>
        <p:nvSpPr>
          <p:cNvPr id="88" name="Text 85"/>
          <p:cNvSpPr/>
          <p:nvPr/>
        </p:nvSpPr>
        <p:spPr>
          <a:xfrm>
            <a:off x="6293644" y="3816939"/>
            <a:ext cx="2378869" cy="89967"/>
          </a:xfrm>
          <a:prstGeom prst="rect">
            <a:avLst/>
          </a:prstGeom>
          <a:noFill/>
          <a:ln/>
        </p:spPr>
        <p:txBody>
          <a:bodyPr wrap="none" lIns="25527" tIns="0" rIns="25527" bIns="0" rtlCol="0" anchor="t">
            <a:spAutoFit/>
          </a:bodyPr>
          <a:lstStyle/>
          <a:p>
            <a:pPr algn="l" indent="0" marL="0">
              <a:lnSpc>
                <a:spcPct val="96000"/>
              </a:lnSpc>
              <a:buNone/>
            </a:pPr>
            <a:r>
              <a:rPr lang="en-US" sz="550" dirty="0">
                <a:solidFill>
                  <a:srgbClr val="B42318"/>
                </a:solidFill>
                <a:latin typeface="JetBrains Mono" pitchFamily="34" charset="0"/>
                <a:ea typeface="JetBrains Mono" pitchFamily="34" charset="-122"/>
                <a:cs typeface="JetBrains Mono" pitchFamily="34" charset="-120"/>
              </a:rPr>
              <a:t>artifacts/run_state/&lt;run-id&gt;.json</a:t>
            </a:r>
            <a:endParaRPr lang="en-US" sz="550" dirty="0"/>
          </a:p>
        </p:txBody>
      </p:sp>
      <p:sp>
        <p:nvSpPr>
          <p:cNvPr id="89" name="Text 86"/>
          <p:cNvSpPr/>
          <p:nvPr/>
        </p:nvSpPr>
        <p:spPr>
          <a:xfrm>
            <a:off x="5829300" y="3955238"/>
            <a:ext cx="414338" cy="109724"/>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11111"/>
                </a:solidFill>
                <a:latin typeface="Oswald SemiBold" pitchFamily="34" charset="0"/>
                <a:ea typeface="Oswald SemiBold" pitchFamily="34" charset="-122"/>
                <a:cs typeface="Oswald SemiBold" pitchFamily="34" charset="-120"/>
              </a:rPr>
              <a:t>CHECKS</a:t>
            </a:r>
            <a:endParaRPr lang="en-US" sz="600" dirty="0"/>
          </a:p>
        </p:txBody>
      </p:sp>
      <p:sp>
        <p:nvSpPr>
          <p:cNvPr id="90" name="Text 87"/>
          <p:cNvSpPr/>
          <p:nvPr/>
        </p:nvSpPr>
        <p:spPr>
          <a:xfrm>
            <a:off x="6293644" y="3955238"/>
            <a:ext cx="2378869" cy="89967"/>
          </a:xfrm>
          <a:prstGeom prst="rect">
            <a:avLst/>
          </a:prstGeom>
          <a:noFill/>
          <a:ln/>
        </p:spPr>
        <p:txBody>
          <a:bodyPr wrap="none" lIns="0" tIns="0" rIns="0" bIns="0" rtlCol="0" anchor="t">
            <a:spAutoFit/>
          </a:bodyPr>
          <a:lstStyle/>
          <a:p>
            <a:pPr algn="l" indent="0" marL="0">
              <a:lnSpc>
                <a:spcPct val="96000"/>
              </a:lnSpc>
              <a:buNone/>
            </a:pPr>
            <a:r>
              <a:rPr lang="en-US" sz="550" dirty="0">
                <a:solidFill>
                  <a:srgbClr val="222222"/>
                </a:solidFill>
                <a:latin typeface="Inter" pitchFamily="34" charset="0"/>
                <a:ea typeface="Inter" pitchFamily="34" charset="-122"/>
                <a:cs typeface="Inter" pitchFamily="34" charset="-120"/>
              </a:rPr>
              <a:t>transition · exactly one skill · protected paths · next-action hashes</a:t>
            </a:r>
            <a:endParaRPr lang="en-US" sz="550" dirty="0"/>
          </a:p>
        </p:txBody>
      </p:sp>
      <p:sp>
        <p:nvSpPr>
          <p:cNvPr id="91" name="Shape 88"/>
          <p:cNvSpPr/>
          <p:nvPr/>
        </p:nvSpPr>
        <p:spPr>
          <a:xfrm>
            <a:off x="1535240" y="4535790"/>
            <a:ext cx="6073520" cy="302136"/>
          </a:xfrm>
          <a:prstGeom prst="rect">
            <a:avLst/>
          </a:prstGeom>
          <a:solidFill>
            <a:srgbClr val="FFDF00"/>
          </a:solidFill>
          <a:ln w="18288">
            <a:solidFill>
              <a:srgbClr val="111111"/>
            </a:solidFill>
            <a:prstDash val="solid"/>
          </a:ln>
        </p:spPr>
      </p:sp>
      <p:sp>
        <p:nvSpPr>
          <p:cNvPr id="92" name="Text 89"/>
          <p:cNvSpPr/>
          <p:nvPr/>
        </p:nvSpPr>
        <p:spPr>
          <a:xfrm>
            <a:off x="1535240" y="4535790"/>
            <a:ext cx="6073520" cy="302136"/>
          </a:xfrm>
          <a:prstGeom prst="rect">
            <a:avLst/>
          </a:prstGeom>
          <a:noFill/>
          <a:ln/>
        </p:spPr>
        <p:txBody>
          <a:bodyPr wrap="square" lIns="119126" tIns="59563" rIns="119126" bIns="59563" rtlCol="0" anchor="t">
            <a:spAutoFit/>
          </a:bodyPr>
          <a:lstStyle/>
          <a:p>
            <a:pPr algn="ctr" indent="0" marL="0">
              <a:lnSpc>
                <a:spcPct val="84000"/>
              </a:lnSpc>
              <a:buNone/>
            </a:pPr>
            <a:r>
              <a:rPr lang="en-US" sz="850" b="1" dirty="0">
                <a:solidFill>
                  <a:srgbClr val="111111"/>
                </a:solidFill>
                <a:latin typeface="Kalam Bold" pitchFamily="34" charset="0"/>
                <a:ea typeface="Kalam Bold" pitchFamily="34" charset="-122"/>
                <a:cs typeface="Kalam Bold" pitchFamily="34" charset="-120"/>
              </a:rPr>
              <a:t>Bottom line:</a:t>
            </a:r>
            <a:r>
              <a:rPr lang="en-US" sz="900" dirty="0">
                <a:solidFill>
                  <a:srgbClr val="111111"/>
                </a:solidFill>
                <a:latin typeface="Kalam Bold" pitchFamily="34" charset="0"/>
                <a:ea typeface="Kalam Bold" pitchFamily="34" charset="-122"/>
                <a:cs typeface="Kalam Bold" pitchFamily="34" charset="-120"/>
              </a:rPr>
              <a:t> The orchestrato</a:t>
            </a:r>
            <a:r>
              <a:rPr lang="en-US" sz="900" dirty="0">
                <a:solidFill>
                  <a:srgbClr val="111111"/>
                </a:solidFill>
                <a:latin typeface="Kalam Bold" pitchFamily="34" charset="0"/>
                <a:ea typeface="Kalam Bold" pitchFamily="34" charset="-122"/>
                <a:cs typeface="Kalam Bold" pitchFamily="34" charset="-120"/>
              </a:rPr>
              <a:t>r is the only thing the pr</a:t>
            </a:r>
            <a:r>
              <a:rPr lang="en-US" sz="900" dirty="0">
                <a:solidFill>
                  <a:srgbClr val="111111"/>
                </a:solidFill>
                <a:latin typeface="Kalam Bold" pitchFamily="34" charset="0"/>
                <a:ea typeface="Kalam Bold" pitchFamily="34" charset="-122"/>
                <a:cs typeface="Kalam Bold" pitchFamily="34" charset="-120"/>
              </a:rPr>
              <a:t>ompt actually invokes.</a:t>
            </a:r>
            <a:endParaRPr lang="en-US" sz="850" dirty="0"/>
          </a:p>
        </p:txBody>
      </p:sp>
      <p:sp>
        <p:nvSpPr>
          <p:cNvPr id="93" name="Shape 90"/>
          <p:cNvSpPr/>
          <p:nvPr/>
        </p:nvSpPr>
        <p:spPr>
          <a:xfrm>
            <a:off x="0" y="4843463"/>
            <a:ext cx="9144000" cy="300038"/>
          </a:xfrm>
          <a:prstGeom prst="rect">
            <a:avLst/>
          </a:prstGeom>
          <a:solidFill>
            <a:srgbClr val="0055FF"/>
          </a:solidFill>
          <a:ln/>
        </p:spPr>
      </p:sp>
      <p:sp>
        <p:nvSpPr>
          <p:cNvPr id="94" name="Shape 91"/>
          <p:cNvSpPr/>
          <p:nvPr/>
        </p:nvSpPr>
        <p:spPr>
          <a:xfrm>
            <a:off x="0" y="4843463"/>
            <a:ext cx="9144000" cy="28575"/>
          </a:xfrm>
          <a:prstGeom prst="rect">
            <a:avLst/>
          </a:prstGeom>
          <a:solidFill>
            <a:srgbClr val="111111"/>
          </a:solidFill>
          <a:ln/>
        </p:spPr>
      </p:sp>
      <p:sp>
        <p:nvSpPr>
          <p:cNvPr id="95" name="Text 92"/>
          <p:cNvSpPr/>
          <p:nvPr/>
        </p:nvSpPr>
        <p:spPr>
          <a:xfrm>
            <a:off x="271463" y="4941689"/>
            <a:ext cx="2125266" cy="103584"/>
          </a:xfrm>
          <a:prstGeom prst="rect">
            <a:avLst/>
          </a:prstGeom>
          <a:noFill/>
          <a:ln/>
        </p:spPr>
        <p:txBody>
          <a:bodyPr wrap="square" lIns="0" tIns="0" rIns="0" bIns="0" rtlCol="0" anchor="t">
            <a:spAutoFit/>
          </a:bodyPr>
          <a:lstStyle/>
          <a:p>
            <a:pPr algn="l" indent="0" marL="0">
              <a:buNone/>
            </a:pPr>
            <a:r>
              <a:rPr lang="en-US" sz="600" b="1" spc="1" kern="0" dirty="0">
                <a:solidFill>
                  <a:srgbClr val="FFFFFF"/>
                </a:solidFill>
                <a:latin typeface="Inter Bold" pitchFamily="34" charset="0"/>
                <a:ea typeface="Inter Bold" pitchFamily="34" charset="-122"/>
                <a:cs typeface="Inter Bold" pitchFamily="34" charset="-120"/>
              </a:rPr>
              <a:t>ACTUAL ORCHESTRATE/SKILL.MD OUTLINE</a:t>
            </a:r>
            <a:endParaRPr lang="en-US" sz="600" dirty="0"/>
          </a:p>
        </p:txBody>
      </p:sp>
      <p:sp>
        <p:nvSpPr>
          <p:cNvPr id="96" name="Text 93"/>
          <p:cNvSpPr/>
          <p:nvPr/>
        </p:nvSpPr>
        <p:spPr>
          <a:xfrm>
            <a:off x="7250906" y="4941689"/>
            <a:ext cx="1621631" cy="103584"/>
          </a:xfrm>
          <a:prstGeom prst="rect">
            <a:avLst/>
          </a:prstGeom>
          <a:noFill/>
          <a:ln/>
        </p:spPr>
        <p:txBody>
          <a:bodyPr wrap="square" lIns="0" tIns="0" rIns="0" bIns="0" rtlCol="0" anchor="t">
            <a:spAutoFit/>
          </a:bodyPr>
          <a:lstStyle/>
          <a:p>
            <a:pPr algn="l" indent="0" marL="0">
              <a:buNone/>
            </a:pPr>
            <a:r>
              <a:rPr lang="en-US" sz="600" b="1" spc="1" kern="0" dirty="0">
                <a:solidFill>
                  <a:srgbClr val="FFFFFF"/>
                </a:solidFill>
                <a:latin typeface="Inter Bold" pitchFamily="34" charset="0"/>
                <a:ea typeface="Inter Bold" pitchFamily="34" charset="-122"/>
                <a:cs typeface="Inter Bold" pitchFamily="34" charset="-120"/>
              </a:rPr>
              <a:t>RENDERED MARKDOWN PREVIEW</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00038" y="214313"/>
            <a:ext cx="8543925" cy="700088"/>
          </a:xfrm>
          <a:prstGeom prst="rect">
            <a:avLst/>
          </a:prstGeom>
          <a:solidFill>
            <a:srgbClr val="000000">
              <a:alpha val="0"/>
            </a:srgbClr>
          </a:solidFill>
          <a:ln/>
        </p:spPr>
      </p:sp>
      <p:sp>
        <p:nvSpPr>
          <p:cNvPr id="5" name="Shape 1"/>
          <p:cNvSpPr/>
          <p:nvPr/>
        </p:nvSpPr>
        <p:spPr>
          <a:xfrm>
            <a:off x="300038" y="892969"/>
            <a:ext cx="8543925" cy="21431"/>
          </a:xfrm>
          <a:prstGeom prst="rect">
            <a:avLst/>
          </a:prstGeom>
          <a:solidFill>
            <a:srgbClr val="333333"/>
          </a:solidFill>
          <a:ln/>
        </p:spPr>
      </p:sp>
      <p:sp>
        <p:nvSpPr>
          <p:cNvPr id="6" name="Text 2"/>
          <p:cNvSpPr/>
          <p:nvPr/>
        </p:nvSpPr>
        <p:spPr>
          <a:xfrm>
            <a:off x="300038" y="274700"/>
            <a:ext cx="8543925" cy="390004"/>
          </a:xfrm>
          <a:prstGeom prst="rect">
            <a:avLst/>
          </a:prstGeom>
          <a:noFill/>
          <a:ln/>
        </p:spPr>
        <p:txBody>
          <a:bodyPr wrap="none" lIns="0" tIns="0" rIns="0" bIns="0" rtlCol="0" anchor="t">
            <a:spAutoFit/>
          </a:bodyPr>
          <a:lstStyle/>
          <a:p>
            <a:pPr algn="l" indent="0" marL="0">
              <a:lnSpc>
                <a:spcPct val="84000"/>
              </a:lnSpc>
              <a:buNone/>
            </a:pPr>
            <a:r>
              <a:rPr lang="en-US" sz="2650" b="1" spc="1" kern="0" dirty="0">
                <a:solidFill>
                  <a:srgbClr val="F0F0F0"/>
                </a:solidFill>
                <a:latin typeface="Oswald SemiBold" pitchFamily="34" charset="0"/>
                <a:ea typeface="Oswald SemiBold" pitchFamily="34" charset="-122"/>
                <a:cs typeface="Oswald SemiBold" pitchFamily="34" charset="-120"/>
              </a:rPr>
              <a:t>WHAT ORCHESTRATE CONTROLS</a:t>
            </a:r>
            <a:endParaRPr lang="en-US" sz="2650" dirty="0"/>
          </a:p>
        </p:txBody>
      </p:sp>
      <p:sp>
        <p:nvSpPr>
          <p:cNvPr id="7" name="Text 3"/>
          <p:cNvSpPr/>
          <p:nvPr/>
        </p:nvSpPr>
        <p:spPr>
          <a:xfrm>
            <a:off x="300038" y="678991"/>
            <a:ext cx="8543925" cy="175022"/>
          </a:xfrm>
          <a:prstGeom prst="rect">
            <a:avLst/>
          </a:prstGeom>
          <a:noFill/>
          <a:ln/>
        </p:spPr>
        <p:txBody>
          <a:bodyPr wrap="square" lIns="0" tIns="0" rIns="0" bIns="0" rtlCol="0" anchor="t">
            <a:spAutoFit/>
          </a:bodyPr>
          <a:lstStyle/>
          <a:p>
            <a:pPr algn="l" indent="0" marL="0">
              <a:buNone/>
            </a:pPr>
            <a:r>
              <a:rPr lang="en-US" sz="1000" b="1" dirty="0">
                <a:solidFill>
                  <a:srgbClr val="0088FF"/>
                </a:solidFill>
                <a:latin typeface="Inter SemiBold" pitchFamily="34" charset="0"/>
                <a:ea typeface="Inter SemiBold" pitchFamily="34" charset="-122"/>
                <a:cs typeface="Inter SemiBold" pitchFamily="34" charset="-120"/>
              </a:rPr>
              <a:t>It does not do the work. It authorizes one controlled turn.</a:t>
            </a:r>
            <a:endParaRPr lang="en-US" sz="1000" dirty="0"/>
          </a:p>
        </p:txBody>
      </p:sp>
      <p:sp>
        <p:nvSpPr>
          <p:cNvPr id="8" name="Shape 4"/>
          <p:cNvSpPr/>
          <p:nvPr/>
        </p:nvSpPr>
        <p:spPr>
          <a:xfrm>
            <a:off x="300038" y="1114425"/>
            <a:ext cx="1285875" cy="457200"/>
          </a:xfrm>
          <a:prstGeom prst="rect">
            <a:avLst/>
          </a:prstGeom>
          <a:solidFill>
            <a:srgbClr val="151515"/>
          </a:solidFill>
          <a:ln w="18288">
            <a:solidFill>
              <a:srgbClr val="F0F0F0"/>
            </a:solidFill>
            <a:prstDash val="solid"/>
          </a:ln>
        </p:spPr>
      </p:sp>
      <p:sp>
        <p:nvSpPr>
          <p:cNvPr id="9" name="Text 5"/>
          <p:cNvSpPr/>
          <p:nvPr/>
        </p:nvSpPr>
        <p:spPr>
          <a:xfrm>
            <a:off x="469702" y="1155502"/>
            <a:ext cx="946547" cy="242888"/>
          </a:xfrm>
          <a:prstGeom prst="rect">
            <a:avLst/>
          </a:prstGeom>
          <a:noFill/>
          <a:ln/>
        </p:spPr>
        <p:txBody>
          <a:bodyPr wrap="none" lIns="0" tIns="0" rIns="0" bIns="0" rtlCol="0" anchor="t">
            <a:spAutoFit/>
          </a:bodyPr>
          <a:lstStyle/>
          <a:p>
            <a:pPr algn="l" indent="0" marL="0">
              <a:buNone/>
            </a:pPr>
            <a:r>
              <a:rPr lang="en-US" sz="1200" dirty="0">
                <a:solidFill>
                  <a:srgbClr val="FFFFFF"/>
                </a:solidFill>
                <a:latin typeface="Oswald SemiBold" pitchFamily="34" charset="0"/>
                <a:ea typeface="Oswald SemiBold" pitchFamily="34" charset="-122"/>
                <a:cs typeface="Oswald SemiBold" pitchFamily="34" charset="-120"/>
              </a:rPr>
              <a:t>USER PROMPT</a:t>
            </a:r>
            <a:endParaRPr lang="en-US" sz="1200" dirty="0"/>
          </a:p>
        </p:txBody>
      </p:sp>
      <p:sp>
        <p:nvSpPr>
          <p:cNvPr id="10" name="Text 6"/>
          <p:cNvSpPr/>
          <p:nvPr/>
        </p:nvSpPr>
        <p:spPr>
          <a:xfrm>
            <a:off x="476845" y="1419820"/>
            <a:ext cx="932259" cy="110728"/>
          </a:xfrm>
          <a:prstGeom prst="rect">
            <a:avLst/>
          </a:prstGeom>
          <a:noFill/>
          <a:ln/>
        </p:spPr>
        <p:txBody>
          <a:bodyPr wrap="none" lIns="0" tIns="0" rIns="0" bIns="0" rtlCol="0" anchor="t">
            <a:spAutoFit/>
          </a:bodyPr>
          <a:lstStyle/>
          <a:p>
            <a:pPr algn="l" indent="0" marL="0">
              <a:buNone/>
            </a:pPr>
            <a:r>
              <a:rPr lang="en-US" sz="650" dirty="0">
                <a:solidFill>
                  <a:srgbClr val="BDBDBD"/>
                </a:solidFill>
                <a:latin typeface="Inter" pitchFamily="34" charset="0"/>
                <a:ea typeface="Inter" pitchFamily="34" charset="-122"/>
                <a:cs typeface="Inter" pitchFamily="34" charset="-120"/>
              </a:rPr>
              <a:t>requests an outcome</a:t>
            </a:r>
            <a:endParaRPr lang="en-US" sz="650" dirty="0"/>
          </a:p>
        </p:txBody>
      </p:sp>
      <p:sp>
        <p:nvSpPr>
          <p:cNvPr id="11" name="Text 7"/>
          <p:cNvSpPr/>
          <p:nvPr/>
        </p:nvSpPr>
        <p:spPr>
          <a:xfrm>
            <a:off x="1585913" y="1162645"/>
            <a:ext cx="400050" cy="360759"/>
          </a:xfrm>
          <a:prstGeom prst="rect">
            <a:avLst/>
          </a:prstGeom>
          <a:noFill/>
          <a:ln/>
        </p:spPr>
        <p:txBody>
          <a:bodyPr wrap="none" lIns="0" tIns="0" rIns="0" bIns="0" rtlCol="0" anchor="t">
            <a:spAutoFit/>
          </a:bodyPr>
          <a:lstStyle/>
          <a:p>
            <a:pPr algn="ctr" indent="0" marL="0">
              <a:buNone/>
            </a:pPr>
            <a:r>
              <a:rPr lang="en-US" sz="1800" dirty="0">
                <a:solidFill>
                  <a:srgbClr val="FFBD2E"/>
                </a:solidFill>
                <a:latin typeface="Oswald SemiBold" pitchFamily="34" charset="0"/>
                <a:ea typeface="Oswald SemiBold" pitchFamily="34" charset="-122"/>
                <a:cs typeface="Oswald SemiBold" pitchFamily="34" charset="-120"/>
              </a:rPr>
              <a:t>→</a:t>
            </a:r>
            <a:endParaRPr lang="en-US" sz="1800" dirty="0"/>
          </a:p>
        </p:txBody>
      </p:sp>
      <p:sp>
        <p:nvSpPr>
          <p:cNvPr id="12" name="Shape 8"/>
          <p:cNvSpPr/>
          <p:nvPr/>
        </p:nvSpPr>
        <p:spPr>
          <a:xfrm>
            <a:off x="1985963" y="1114425"/>
            <a:ext cx="3457575" cy="457200"/>
          </a:xfrm>
          <a:prstGeom prst="rect">
            <a:avLst/>
          </a:prstGeom>
          <a:solidFill>
            <a:srgbClr val="111B2A"/>
          </a:solidFill>
          <a:ln w="27432">
            <a:solidFill>
              <a:srgbClr val="0088FF"/>
            </a:solidFill>
            <a:prstDash val="solid"/>
          </a:ln>
        </p:spPr>
      </p:sp>
      <p:sp>
        <p:nvSpPr>
          <p:cNvPr id="13" name="Text 9"/>
          <p:cNvSpPr/>
          <p:nvPr/>
        </p:nvSpPr>
        <p:spPr>
          <a:xfrm>
            <a:off x="2143125" y="1194792"/>
            <a:ext cx="1218009" cy="296466"/>
          </a:xfrm>
          <a:prstGeom prst="rect">
            <a:avLst/>
          </a:prstGeom>
          <a:noFill/>
          <a:ln/>
        </p:spPr>
        <p:txBody>
          <a:bodyPr wrap="none" lIns="0" tIns="0" rIns="0" bIns="0" rtlCol="0" anchor="t">
            <a:spAutoFit/>
          </a:bodyPr>
          <a:lstStyle/>
          <a:p>
            <a:pPr algn="l" indent="0" marL="0">
              <a:buNone/>
            </a:pPr>
            <a:r>
              <a:rPr lang="en-US" sz="1500" spc="1" kern="0" dirty="0">
                <a:solidFill>
                  <a:srgbClr val="0088FF"/>
                </a:solidFill>
                <a:latin typeface="Oswald SemiBold" pitchFamily="34" charset="0"/>
                <a:ea typeface="Oswald SemiBold" pitchFamily="34" charset="-122"/>
                <a:cs typeface="Oswald SemiBold" pitchFamily="34" charset="-120"/>
              </a:rPr>
              <a:t>ORCHESTRATE</a:t>
            </a:r>
            <a:endParaRPr lang="en-US" sz="1500" dirty="0"/>
          </a:p>
        </p:txBody>
      </p:sp>
      <p:sp>
        <p:nvSpPr>
          <p:cNvPr id="14" name="Text 10"/>
          <p:cNvSpPr/>
          <p:nvPr/>
        </p:nvSpPr>
        <p:spPr>
          <a:xfrm>
            <a:off x="3907631" y="1278731"/>
            <a:ext cx="1378744" cy="128588"/>
          </a:xfrm>
          <a:prstGeom prst="rect">
            <a:avLst/>
          </a:prstGeom>
          <a:noFill/>
          <a:ln/>
        </p:spPr>
        <p:txBody>
          <a:bodyPr wrap="square" lIns="0" tIns="0" rIns="0" bIns="0" rtlCol="0" anchor="t">
            <a:spAutoFit/>
          </a:bodyPr>
          <a:lstStyle/>
          <a:p>
            <a:pPr algn="l" indent="0" marL="0">
              <a:buNone/>
            </a:pPr>
            <a:r>
              <a:rPr lang="en-US" sz="750" b="1" dirty="0">
                <a:solidFill>
                  <a:srgbClr val="D9E9FF"/>
                </a:solidFill>
                <a:latin typeface="Inter SemiBold" pitchFamily="34" charset="0"/>
                <a:ea typeface="Inter SemiBold" pitchFamily="34" charset="-122"/>
                <a:cs typeface="Inter SemiBold" pitchFamily="34" charset="-120"/>
              </a:rPr>
              <a:t>reads the current run state</a:t>
            </a:r>
            <a:endParaRPr lang="en-US" sz="750" dirty="0"/>
          </a:p>
        </p:txBody>
      </p:sp>
      <p:sp>
        <p:nvSpPr>
          <p:cNvPr id="15" name="Text 11"/>
          <p:cNvSpPr/>
          <p:nvPr/>
        </p:nvSpPr>
        <p:spPr>
          <a:xfrm>
            <a:off x="1985963" y="1580555"/>
            <a:ext cx="3457575" cy="382191"/>
          </a:xfrm>
          <a:prstGeom prst="rect">
            <a:avLst/>
          </a:prstGeom>
          <a:noFill/>
          <a:ln/>
        </p:spPr>
        <p:txBody>
          <a:bodyPr wrap="square" lIns="0" tIns="0" rIns="0" bIns="0" rtlCol="0" anchor="t">
            <a:spAutoFit/>
          </a:bodyPr>
          <a:lstStyle/>
          <a:p>
            <a:pPr algn="ctr" indent="0" marL="0">
              <a:buNone/>
            </a:pPr>
            <a:r>
              <a:rPr lang="en-US" sz="1900" dirty="0">
                <a:solidFill>
                  <a:srgbClr val="FFBD2E"/>
                </a:solidFill>
                <a:latin typeface="Oswald SemiBold" pitchFamily="34" charset="0"/>
                <a:ea typeface="Oswald SemiBold" pitchFamily="34" charset="-122"/>
                <a:cs typeface="Oswald SemiBold" pitchFamily="34" charset="-120"/>
              </a:rPr>
              <a:t>↓</a:t>
            </a:r>
            <a:endParaRPr lang="en-US" sz="1900" dirty="0"/>
          </a:p>
        </p:txBody>
      </p:sp>
      <p:sp>
        <p:nvSpPr>
          <p:cNvPr id="16" name="Shape 12"/>
          <p:cNvSpPr/>
          <p:nvPr/>
        </p:nvSpPr>
        <p:spPr>
          <a:xfrm>
            <a:off x="1985963" y="1950244"/>
            <a:ext cx="3457575" cy="342900"/>
          </a:xfrm>
          <a:prstGeom prst="rect">
            <a:avLst/>
          </a:prstGeom>
          <a:solidFill>
            <a:srgbClr val="151515"/>
          </a:solidFill>
          <a:ln/>
        </p:spPr>
      </p:sp>
      <p:sp>
        <p:nvSpPr>
          <p:cNvPr id="17" name="Shape 13"/>
          <p:cNvSpPr/>
          <p:nvPr/>
        </p:nvSpPr>
        <p:spPr>
          <a:xfrm>
            <a:off x="1985963" y="1950244"/>
            <a:ext cx="3457575" cy="14288"/>
          </a:xfrm>
          <a:prstGeom prst="rect">
            <a:avLst/>
          </a:prstGeom>
          <a:solidFill>
            <a:srgbClr val="333333"/>
          </a:solidFill>
          <a:ln/>
        </p:spPr>
      </p:sp>
      <p:sp>
        <p:nvSpPr>
          <p:cNvPr id="18" name="Shape 14"/>
          <p:cNvSpPr/>
          <p:nvPr/>
        </p:nvSpPr>
        <p:spPr>
          <a:xfrm>
            <a:off x="5429250" y="1950244"/>
            <a:ext cx="14288" cy="342900"/>
          </a:xfrm>
          <a:prstGeom prst="rect">
            <a:avLst/>
          </a:prstGeom>
          <a:solidFill>
            <a:srgbClr val="333333"/>
          </a:solidFill>
          <a:ln/>
        </p:spPr>
      </p:sp>
      <p:sp>
        <p:nvSpPr>
          <p:cNvPr id="19" name="Shape 15"/>
          <p:cNvSpPr/>
          <p:nvPr/>
        </p:nvSpPr>
        <p:spPr>
          <a:xfrm>
            <a:off x="1985963" y="2278856"/>
            <a:ext cx="3457575" cy="14288"/>
          </a:xfrm>
          <a:prstGeom prst="rect">
            <a:avLst/>
          </a:prstGeom>
          <a:solidFill>
            <a:srgbClr val="333333"/>
          </a:solidFill>
          <a:ln/>
        </p:spPr>
      </p:sp>
      <p:sp>
        <p:nvSpPr>
          <p:cNvPr id="20" name="Shape 16"/>
          <p:cNvSpPr/>
          <p:nvPr/>
        </p:nvSpPr>
        <p:spPr>
          <a:xfrm>
            <a:off x="1985963" y="1950244"/>
            <a:ext cx="35719" cy="342900"/>
          </a:xfrm>
          <a:prstGeom prst="rect">
            <a:avLst/>
          </a:prstGeom>
          <a:solidFill>
            <a:srgbClr val="0088FF"/>
          </a:solidFill>
          <a:ln/>
        </p:spPr>
      </p:sp>
      <p:sp>
        <p:nvSpPr>
          <p:cNvPr id="21" name="Shape 17"/>
          <p:cNvSpPr/>
          <p:nvPr/>
        </p:nvSpPr>
        <p:spPr>
          <a:xfrm>
            <a:off x="1985963" y="1950244"/>
            <a:ext cx="371475" cy="342900"/>
          </a:xfrm>
          <a:prstGeom prst="rect">
            <a:avLst/>
          </a:prstGeom>
          <a:solidFill>
            <a:srgbClr val="222222"/>
          </a:solidFill>
          <a:ln/>
        </p:spPr>
      </p:sp>
      <p:sp>
        <p:nvSpPr>
          <p:cNvPr id="22" name="Text 18"/>
          <p:cNvSpPr/>
          <p:nvPr/>
        </p:nvSpPr>
        <p:spPr>
          <a:xfrm>
            <a:off x="1985963" y="1950244"/>
            <a:ext cx="371475" cy="342900"/>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1</a:t>
            </a:r>
            <a:endParaRPr lang="en-US" sz="1050" dirty="0"/>
          </a:p>
        </p:txBody>
      </p:sp>
      <p:sp>
        <p:nvSpPr>
          <p:cNvPr id="23" name="Text 19"/>
          <p:cNvSpPr/>
          <p:nvPr/>
        </p:nvSpPr>
        <p:spPr>
          <a:xfrm>
            <a:off x="2357438" y="2010966"/>
            <a:ext cx="1071563" cy="221456"/>
          </a:xfrm>
          <a:prstGeom prst="rect">
            <a:avLst/>
          </a:prstGeom>
          <a:noFill/>
          <a:ln/>
        </p:spPr>
        <p:txBody>
          <a:bodyPr wrap="none" lIns="119126" tIns="0" rIns="0" bIns="0" rtlCol="0" anchor="t">
            <a:spAutoFit/>
          </a:bodyPr>
          <a:lstStyle/>
          <a:p>
            <a:pPr algn="l" indent="0" marL="0">
              <a:buNone/>
            </a:pPr>
            <a:r>
              <a:rPr lang="en-US" sz="1100" spc="1" kern="0" dirty="0">
                <a:solidFill>
                  <a:srgbClr val="0088FF"/>
                </a:solidFill>
                <a:latin typeface="Oswald SemiBold" pitchFamily="34" charset="0"/>
                <a:ea typeface="Oswald SemiBold" pitchFamily="34" charset="-122"/>
                <a:cs typeface="Oswald SemiBold" pitchFamily="34" charset="-120"/>
              </a:rPr>
              <a:t>ROLE</a:t>
            </a:r>
            <a:endParaRPr lang="en-US" sz="1100" dirty="0"/>
          </a:p>
        </p:txBody>
      </p:sp>
      <p:sp>
        <p:nvSpPr>
          <p:cNvPr id="24" name="Text 20"/>
          <p:cNvSpPr/>
          <p:nvPr/>
        </p:nvSpPr>
        <p:spPr>
          <a:xfrm>
            <a:off x="3429000" y="2057400"/>
            <a:ext cx="2014538" cy="128588"/>
          </a:xfrm>
          <a:prstGeom prst="rect">
            <a:avLst/>
          </a:prstGeom>
          <a:noFill/>
          <a:ln/>
        </p:spPr>
        <p:txBody>
          <a:bodyPr wrap="square" lIns="0" tIns="0" rIns="0"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Who is allowed to act?</a:t>
            </a:r>
            <a:endParaRPr lang="en-US" sz="750" dirty="0"/>
          </a:p>
        </p:txBody>
      </p:sp>
      <p:sp>
        <p:nvSpPr>
          <p:cNvPr id="25" name="Shape 21"/>
          <p:cNvSpPr/>
          <p:nvPr/>
        </p:nvSpPr>
        <p:spPr>
          <a:xfrm>
            <a:off x="1985963" y="2350294"/>
            <a:ext cx="3457575" cy="342900"/>
          </a:xfrm>
          <a:prstGeom prst="rect">
            <a:avLst/>
          </a:prstGeom>
          <a:solidFill>
            <a:srgbClr val="151515"/>
          </a:solidFill>
          <a:ln/>
        </p:spPr>
      </p:sp>
      <p:sp>
        <p:nvSpPr>
          <p:cNvPr id="26" name="Shape 22"/>
          <p:cNvSpPr/>
          <p:nvPr/>
        </p:nvSpPr>
        <p:spPr>
          <a:xfrm>
            <a:off x="1985963" y="2350294"/>
            <a:ext cx="3457575" cy="14288"/>
          </a:xfrm>
          <a:prstGeom prst="rect">
            <a:avLst/>
          </a:prstGeom>
          <a:solidFill>
            <a:srgbClr val="333333"/>
          </a:solidFill>
          <a:ln/>
        </p:spPr>
      </p:sp>
      <p:sp>
        <p:nvSpPr>
          <p:cNvPr id="27" name="Shape 23"/>
          <p:cNvSpPr/>
          <p:nvPr/>
        </p:nvSpPr>
        <p:spPr>
          <a:xfrm>
            <a:off x="5429250" y="2350294"/>
            <a:ext cx="14288" cy="342900"/>
          </a:xfrm>
          <a:prstGeom prst="rect">
            <a:avLst/>
          </a:prstGeom>
          <a:solidFill>
            <a:srgbClr val="333333"/>
          </a:solidFill>
          <a:ln/>
        </p:spPr>
      </p:sp>
      <p:sp>
        <p:nvSpPr>
          <p:cNvPr id="28" name="Shape 24"/>
          <p:cNvSpPr/>
          <p:nvPr/>
        </p:nvSpPr>
        <p:spPr>
          <a:xfrm>
            <a:off x="1985963" y="2678906"/>
            <a:ext cx="3457575" cy="14288"/>
          </a:xfrm>
          <a:prstGeom prst="rect">
            <a:avLst/>
          </a:prstGeom>
          <a:solidFill>
            <a:srgbClr val="333333"/>
          </a:solidFill>
          <a:ln/>
        </p:spPr>
      </p:sp>
      <p:sp>
        <p:nvSpPr>
          <p:cNvPr id="29" name="Shape 25"/>
          <p:cNvSpPr/>
          <p:nvPr/>
        </p:nvSpPr>
        <p:spPr>
          <a:xfrm>
            <a:off x="1985963" y="2350294"/>
            <a:ext cx="35719" cy="342900"/>
          </a:xfrm>
          <a:prstGeom prst="rect">
            <a:avLst/>
          </a:prstGeom>
          <a:solidFill>
            <a:srgbClr val="27C93F"/>
          </a:solidFill>
          <a:ln/>
        </p:spPr>
      </p:sp>
      <p:sp>
        <p:nvSpPr>
          <p:cNvPr id="30" name="Shape 26"/>
          <p:cNvSpPr/>
          <p:nvPr/>
        </p:nvSpPr>
        <p:spPr>
          <a:xfrm>
            <a:off x="1985963" y="2350294"/>
            <a:ext cx="371475" cy="342900"/>
          </a:xfrm>
          <a:prstGeom prst="rect">
            <a:avLst/>
          </a:prstGeom>
          <a:solidFill>
            <a:srgbClr val="222222"/>
          </a:solidFill>
          <a:ln/>
        </p:spPr>
      </p:sp>
      <p:sp>
        <p:nvSpPr>
          <p:cNvPr id="31" name="Text 27"/>
          <p:cNvSpPr/>
          <p:nvPr/>
        </p:nvSpPr>
        <p:spPr>
          <a:xfrm>
            <a:off x="1985963" y="2350294"/>
            <a:ext cx="371475" cy="342900"/>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2</a:t>
            </a:r>
            <a:endParaRPr lang="en-US" sz="1050" dirty="0"/>
          </a:p>
        </p:txBody>
      </p:sp>
      <p:sp>
        <p:nvSpPr>
          <p:cNvPr id="32" name="Text 28"/>
          <p:cNvSpPr/>
          <p:nvPr/>
        </p:nvSpPr>
        <p:spPr>
          <a:xfrm>
            <a:off x="2357438" y="2411016"/>
            <a:ext cx="1071563" cy="221456"/>
          </a:xfrm>
          <a:prstGeom prst="rect">
            <a:avLst/>
          </a:prstGeom>
          <a:noFill/>
          <a:ln/>
        </p:spPr>
        <p:txBody>
          <a:bodyPr wrap="none" lIns="119126" tIns="0" rIns="0" bIns="0" rtlCol="0" anchor="t">
            <a:spAutoFit/>
          </a:bodyPr>
          <a:lstStyle/>
          <a:p>
            <a:pPr algn="l" indent="0" marL="0">
              <a:buNone/>
            </a:pPr>
            <a:r>
              <a:rPr lang="en-US" sz="1100" spc="1" kern="0" dirty="0">
                <a:solidFill>
                  <a:srgbClr val="27C93F"/>
                </a:solidFill>
                <a:latin typeface="Oswald SemiBold" pitchFamily="34" charset="0"/>
                <a:ea typeface="Oswald SemiBold" pitchFamily="34" charset="-122"/>
                <a:cs typeface="Oswald SemiBold" pitchFamily="34" charset="-120"/>
              </a:rPr>
              <a:t>SKILL</a:t>
            </a:r>
            <a:endParaRPr lang="en-US" sz="1100" dirty="0"/>
          </a:p>
        </p:txBody>
      </p:sp>
      <p:sp>
        <p:nvSpPr>
          <p:cNvPr id="33" name="Text 29"/>
          <p:cNvSpPr/>
          <p:nvPr/>
        </p:nvSpPr>
        <p:spPr>
          <a:xfrm>
            <a:off x="3429000" y="2457450"/>
            <a:ext cx="2014538" cy="128588"/>
          </a:xfrm>
          <a:prstGeom prst="rect">
            <a:avLst/>
          </a:prstGeom>
          <a:noFill/>
          <a:ln/>
        </p:spPr>
        <p:txBody>
          <a:bodyPr wrap="square" lIns="0" tIns="0" rIns="0"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What single action may run?</a:t>
            </a:r>
            <a:endParaRPr lang="en-US" sz="750" dirty="0"/>
          </a:p>
        </p:txBody>
      </p:sp>
      <p:sp>
        <p:nvSpPr>
          <p:cNvPr id="34" name="Shape 30"/>
          <p:cNvSpPr/>
          <p:nvPr/>
        </p:nvSpPr>
        <p:spPr>
          <a:xfrm>
            <a:off x="1985963" y="2750344"/>
            <a:ext cx="3457575" cy="342900"/>
          </a:xfrm>
          <a:prstGeom prst="rect">
            <a:avLst/>
          </a:prstGeom>
          <a:solidFill>
            <a:srgbClr val="151515"/>
          </a:solidFill>
          <a:ln/>
        </p:spPr>
      </p:sp>
      <p:sp>
        <p:nvSpPr>
          <p:cNvPr id="35" name="Shape 31"/>
          <p:cNvSpPr/>
          <p:nvPr/>
        </p:nvSpPr>
        <p:spPr>
          <a:xfrm>
            <a:off x="1985963" y="2750344"/>
            <a:ext cx="3457575" cy="14288"/>
          </a:xfrm>
          <a:prstGeom prst="rect">
            <a:avLst/>
          </a:prstGeom>
          <a:solidFill>
            <a:srgbClr val="333333"/>
          </a:solidFill>
          <a:ln/>
        </p:spPr>
      </p:sp>
      <p:sp>
        <p:nvSpPr>
          <p:cNvPr id="36" name="Shape 32"/>
          <p:cNvSpPr/>
          <p:nvPr/>
        </p:nvSpPr>
        <p:spPr>
          <a:xfrm>
            <a:off x="5429250" y="2750344"/>
            <a:ext cx="14288" cy="342900"/>
          </a:xfrm>
          <a:prstGeom prst="rect">
            <a:avLst/>
          </a:prstGeom>
          <a:solidFill>
            <a:srgbClr val="333333"/>
          </a:solidFill>
          <a:ln/>
        </p:spPr>
      </p:sp>
      <p:sp>
        <p:nvSpPr>
          <p:cNvPr id="37" name="Shape 33"/>
          <p:cNvSpPr/>
          <p:nvPr/>
        </p:nvSpPr>
        <p:spPr>
          <a:xfrm>
            <a:off x="1985963" y="3078956"/>
            <a:ext cx="3457575" cy="14288"/>
          </a:xfrm>
          <a:prstGeom prst="rect">
            <a:avLst/>
          </a:prstGeom>
          <a:solidFill>
            <a:srgbClr val="333333"/>
          </a:solidFill>
          <a:ln/>
        </p:spPr>
      </p:sp>
      <p:sp>
        <p:nvSpPr>
          <p:cNvPr id="38" name="Shape 34"/>
          <p:cNvSpPr/>
          <p:nvPr/>
        </p:nvSpPr>
        <p:spPr>
          <a:xfrm>
            <a:off x="1985963" y="2750344"/>
            <a:ext cx="35719" cy="342900"/>
          </a:xfrm>
          <a:prstGeom prst="rect">
            <a:avLst/>
          </a:prstGeom>
          <a:solidFill>
            <a:srgbClr val="FFBD2E"/>
          </a:solidFill>
          <a:ln/>
        </p:spPr>
      </p:sp>
      <p:sp>
        <p:nvSpPr>
          <p:cNvPr id="39" name="Shape 35"/>
          <p:cNvSpPr/>
          <p:nvPr/>
        </p:nvSpPr>
        <p:spPr>
          <a:xfrm>
            <a:off x="1985963" y="2750344"/>
            <a:ext cx="371475" cy="342900"/>
          </a:xfrm>
          <a:prstGeom prst="rect">
            <a:avLst/>
          </a:prstGeom>
          <a:solidFill>
            <a:srgbClr val="222222"/>
          </a:solidFill>
          <a:ln/>
        </p:spPr>
      </p:sp>
      <p:sp>
        <p:nvSpPr>
          <p:cNvPr id="40" name="Text 36"/>
          <p:cNvSpPr/>
          <p:nvPr/>
        </p:nvSpPr>
        <p:spPr>
          <a:xfrm>
            <a:off x="1985963" y="2750344"/>
            <a:ext cx="371475" cy="342900"/>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3</a:t>
            </a:r>
            <a:endParaRPr lang="en-US" sz="1050" dirty="0"/>
          </a:p>
        </p:txBody>
      </p:sp>
      <p:sp>
        <p:nvSpPr>
          <p:cNvPr id="41" name="Text 37"/>
          <p:cNvSpPr/>
          <p:nvPr/>
        </p:nvSpPr>
        <p:spPr>
          <a:xfrm>
            <a:off x="2357438" y="2811066"/>
            <a:ext cx="1071563" cy="221456"/>
          </a:xfrm>
          <a:prstGeom prst="rect">
            <a:avLst/>
          </a:prstGeom>
          <a:noFill/>
          <a:ln/>
        </p:spPr>
        <p:txBody>
          <a:bodyPr wrap="none" lIns="119126" tIns="0" rIns="0" bIns="0" rtlCol="0" anchor="t">
            <a:spAutoFit/>
          </a:bodyPr>
          <a:lstStyle/>
          <a:p>
            <a:pPr algn="l" indent="0" marL="0">
              <a:buNone/>
            </a:pPr>
            <a:r>
              <a:rPr lang="en-US" sz="1100" spc="1" kern="0" dirty="0">
                <a:solidFill>
                  <a:srgbClr val="FFBD2E"/>
                </a:solidFill>
                <a:latin typeface="Oswald SemiBold" pitchFamily="34" charset="0"/>
                <a:ea typeface="Oswald SemiBold" pitchFamily="34" charset="-122"/>
                <a:cs typeface="Oswald SemiBold" pitchFamily="34" charset="-120"/>
              </a:rPr>
              <a:t>ARTIFACT</a:t>
            </a:r>
            <a:endParaRPr lang="en-US" sz="1100" dirty="0"/>
          </a:p>
        </p:txBody>
      </p:sp>
      <p:sp>
        <p:nvSpPr>
          <p:cNvPr id="42" name="Text 38"/>
          <p:cNvSpPr/>
          <p:nvPr/>
        </p:nvSpPr>
        <p:spPr>
          <a:xfrm>
            <a:off x="3429000" y="2857500"/>
            <a:ext cx="2014538" cy="128588"/>
          </a:xfrm>
          <a:prstGeom prst="rect">
            <a:avLst/>
          </a:prstGeom>
          <a:noFill/>
          <a:ln/>
        </p:spPr>
        <p:txBody>
          <a:bodyPr wrap="square" lIns="0" tIns="0" rIns="0"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What durable evidence must return?</a:t>
            </a:r>
            <a:endParaRPr lang="en-US" sz="750" dirty="0"/>
          </a:p>
        </p:txBody>
      </p:sp>
      <p:sp>
        <p:nvSpPr>
          <p:cNvPr id="43" name="Shape 39"/>
          <p:cNvSpPr/>
          <p:nvPr/>
        </p:nvSpPr>
        <p:spPr>
          <a:xfrm>
            <a:off x="1985963" y="3150394"/>
            <a:ext cx="3457575" cy="342900"/>
          </a:xfrm>
          <a:prstGeom prst="rect">
            <a:avLst/>
          </a:prstGeom>
          <a:solidFill>
            <a:srgbClr val="151515"/>
          </a:solidFill>
          <a:ln/>
        </p:spPr>
      </p:sp>
      <p:sp>
        <p:nvSpPr>
          <p:cNvPr id="44" name="Shape 40"/>
          <p:cNvSpPr/>
          <p:nvPr/>
        </p:nvSpPr>
        <p:spPr>
          <a:xfrm>
            <a:off x="1985963" y="3150394"/>
            <a:ext cx="3457575" cy="14288"/>
          </a:xfrm>
          <a:prstGeom prst="rect">
            <a:avLst/>
          </a:prstGeom>
          <a:solidFill>
            <a:srgbClr val="333333"/>
          </a:solidFill>
          <a:ln/>
        </p:spPr>
      </p:sp>
      <p:sp>
        <p:nvSpPr>
          <p:cNvPr id="45" name="Shape 41"/>
          <p:cNvSpPr/>
          <p:nvPr/>
        </p:nvSpPr>
        <p:spPr>
          <a:xfrm>
            <a:off x="5429250" y="3150394"/>
            <a:ext cx="14288" cy="342900"/>
          </a:xfrm>
          <a:prstGeom prst="rect">
            <a:avLst/>
          </a:prstGeom>
          <a:solidFill>
            <a:srgbClr val="333333"/>
          </a:solidFill>
          <a:ln/>
        </p:spPr>
      </p:sp>
      <p:sp>
        <p:nvSpPr>
          <p:cNvPr id="46" name="Shape 42"/>
          <p:cNvSpPr/>
          <p:nvPr/>
        </p:nvSpPr>
        <p:spPr>
          <a:xfrm>
            <a:off x="1985963" y="3479006"/>
            <a:ext cx="3457575" cy="14288"/>
          </a:xfrm>
          <a:prstGeom prst="rect">
            <a:avLst/>
          </a:prstGeom>
          <a:solidFill>
            <a:srgbClr val="333333"/>
          </a:solidFill>
          <a:ln/>
        </p:spPr>
      </p:sp>
      <p:sp>
        <p:nvSpPr>
          <p:cNvPr id="47" name="Shape 43"/>
          <p:cNvSpPr/>
          <p:nvPr/>
        </p:nvSpPr>
        <p:spPr>
          <a:xfrm>
            <a:off x="1985963" y="3150394"/>
            <a:ext cx="35719" cy="342900"/>
          </a:xfrm>
          <a:prstGeom prst="rect">
            <a:avLst/>
          </a:prstGeom>
          <a:solidFill>
            <a:srgbClr val="FF5F56"/>
          </a:solidFill>
          <a:ln/>
        </p:spPr>
      </p:sp>
      <p:sp>
        <p:nvSpPr>
          <p:cNvPr id="48" name="Shape 44"/>
          <p:cNvSpPr/>
          <p:nvPr/>
        </p:nvSpPr>
        <p:spPr>
          <a:xfrm>
            <a:off x="1985963" y="3150394"/>
            <a:ext cx="371475" cy="342900"/>
          </a:xfrm>
          <a:prstGeom prst="rect">
            <a:avLst/>
          </a:prstGeom>
          <a:solidFill>
            <a:srgbClr val="222222"/>
          </a:solidFill>
          <a:ln/>
        </p:spPr>
      </p:sp>
      <p:sp>
        <p:nvSpPr>
          <p:cNvPr id="49" name="Text 45"/>
          <p:cNvSpPr/>
          <p:nvPr/>
        </p:nvSpPr>
        <p:spPr>
          <a:xfrm>
            <a:off x="1985963" y="3150394"/>
            <a:ext cx="371475" cy="342900"/>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4</a:t>
            </a:r>
            <a:endParaRPr lang="en-US" sz="1050" dirty="0"/>
          </a:p>
        </p:txBody>
      </p:sp>
      <p:sp>
        <p:nvSpPr>
          <p:cNvPr id="50" name="Text 46"/>
          <p:cNvSpPr/>
          <p:nvPr/>
        </p:nvSpPr>
        <p:spPr>
          <a:xfrm>
            <a:off x="2357438" y="3211116"/>
            <a:ext cx="1071563" cy="221456"/>
          </a:xfrm>
          <a:prstGeom prst="rect">
            <a:avLst/>
          </a:prstGeom>
          <a:noFill/>
          <a:ln/>
        </p:spPr>
        <p:txBody>
          <a:bodyPr wrap="none" lIns="119126" tIns="0" rIns="0" bIns="0" rtlCol="0" anchor="t">
            <a:spAutoFit/>
          </a:bodyPr>
          <a:lstStyle/>
          <a:p>
            <a:pPr algn="l" indent="0" marL="0">
              <a:buNone/>
            </a:pPr>
            <a:r>
              <a:rPr lang="en-US" sz="1100" spc="1" kern="0" dirty="0">
                <a:solidFill>
                  <a:srgbClr val="FF5F56"/>
                </a:solidFill>
                <a:latin typeface="Oswald SemiBold" pitchFamily="34" charset="0"/>
                <a:ea typeface="Oswald SemiBold" pitchFamily="34" charset="-122"/>
                <a:cs typeface="Oswald SemiBold" pitchFamily="34" charset="-120"/>
              </a:rPr>
              <a:t>GATE</a:t>
            </a:r>
            <a:endParaRPr lang="en-US" sz="1100" dirty="0"/>
          </a:p>
        </p:txBody>
      </p:sp>
      <p:sp>
        <p:nvSpPr>
          <p:cNvPr id="51" name="Text 47"/>
          <p:cNvSpPr/>
          <p:nvPr/>
        </p:nvSpPr>
        <p:spPr>
          <a:xfrm>
            <a:off x="3429000" y="3257550"/>
            <a:ext cx="2014538" cy="128588"/>
          </a:xfrm>
          <a:prstGeom prst="rect">
            <a:avLst/>
          </a:prstGeom>
          <a:noFill/>
          <a:ln/>
        </p:spPr>
        <p:txBody>
          <a:bodyPr wrap="square" lIns="0" tIns="0" rIns="0"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Did the step PASS, FAIL, or BLOCK?</a:t>
            </a:r>
            <a:endParaRPr lang="en-US" sz="750" dirty="0"/>
          </a:p>
        </p:txBody>
      </p:sp>
      <p:sp>
        <p:nvSpPr>
          <p:cNvPr id="52" name="Shape 48"/>
          <p:cNvSpPr/>
          <p:nvPr/>
        </p:nvSpPr>
        <p:spPr>
          <a:xfrm>
            <a:off x="1985963" y="3550444"/>
            <a:ext cx="3457575" cy="342900"/>
          </a:xfrm>
          <a:prstGeom prst="rect">
            <a:avLst/>
          </a:prstGeom>
          <a:solidFill>
            <a:srgbClr val="151515"/>
          </a:solidFill>
          <a:ln/>
        </p:spPr>
      </p:sp>
      <p:sp>
        <p:nvSpPr>
          <p:cNvPr id="53" name="Shape 49"/>
          <p:cNvSpPr/>
          <p:nvPr/>
        </p:nvSpPr>
        <p:spPr>
          <a:xfrm>
            <a:off x="1985963" y="3550444"/>
            <a:ext cx="3457575" cy="14288"/>
          </a:xfrm>
          <a:prstGeom prst="rect">
            <a:avLst/>
          </a:prstGeom>
          <a:solidFill>
            <a:srgbClr val="333333"/>
          </a:solidFill>
          <a:ln/>
        </p:spPr>
      </p:sp>
      <p:sp>
        <p:nvSpPr>
          <p:cNvPr id="54" name="Shape 50"/>
          <p:cNvSpPr/>
          <p:nvPr/>
        </p:nvSpPr>
        <p:spPr>
          <a:xfrm>
            <a:off x="5429250" y="3550444"/>
            <a:ext cx="14288" cy="342900"/>
          </a:xfrm>
          <a:prstGeom prst="rect">
            <a:avLst/>
          </a:prstGeom>
          <a:solidFill>
            <a:srgbClr val="333333"/>
          </a:solidFill>
          <a:ln/>
        </p:spPr>
      </p:sp>
      <p:sp>
        <p:nvSpPr>
          <p:cNvPr id="55" name="Shape 51"/>
          <p:cNvSpPr/>
          <p:nvPr/>
        </p:nvSpPr>
        <p:spPr>
          <a:xfrm>
            <a:off x="1985963" y="3879056"/>
            <a:ext cx="3457575" cy="14288"/>
          </a:xfrm>
          <a:prstGeom prst="rect">
            <a:avLst/>
          </a:prstGeom>
          <a:solidFill>
            <a:srgbClr val="333333"/>
          </a:solidFill>
          <a:ln/>
        </p:spPr>
      </p:sp>
      <p:sp>
        <p:nvSpPr>
          <p:cNvPr id="56" name="Shape 52"/>
          <p:cNvSpPr/>
          <p:nvPr/>
        </p:nvSpPr>
        <p:spPr>
          <a:xfrm>
            <a:off x="1985963" y="3550444"/>
            <a:ext cx="35719" cy="342900"/>
          </a:xfrm>
          <a:prstGeom prst="rect">
            <a:avLst/>
          </a:prstGeom>
          <a:solidFill>
            <a:srgbClr val="0088FF"/>
          </a:solidFill>
          <a:ln/>
        </p:spPr>
      </p:sp>
      <p:sp>
        <p:nvSpPr>
          <p:cNvPr id="57" name="Shape 53"/>
          <p:cNvSpPr/>
          <p:nvPr/>
        </p:nvSpPr>
        <p:spPr>
          <a:xfrm>
            <a:off x="1985963" y="3550444"/>
            <a:ext cx="371475" cy="342900"/>
          </a:xfrm>
          <a:prstGeom prst="rect">
            <a:avLst/>
          </a:prstGeom>
          <a:solidFill>
            <a:srgbClr val="222222"/>
          </a:solidFill>
          <a:ln/>
        </p:spPr>
      </p:sp>
      <p:sp>
        <p:nvSpPr>
          <p:cNvPr id="58" name="Text 54"/>
          <p:cNvSpPr/>
          <p:nvPr/>
        </p:nvSpPr>
        <p:spPr>
          <a:xfrm>
            <a:off x="1985963" y="3550444"/>
            <a:ext cx="371475" cy="342900"/>
          </a:xfrm>
          <a:prstGeom prst="rect">
            <a:avLst/>
          </a:prstGeom>
          <a:noFill/>
          <a:ln/>
        </p:spPr>
        <p:txBody>
          <a:bodyPr wrap="none" lIns="0" tIns="0" rIns="0" bIns="0" rtlCol="0" anchor="ctr">
            <a:spAutoFit/>
          </a:bodyPr>
          <a:lstStyle/>
          <a:p>
            <a:pPr algn="ctr" indent="0" marL="0">
              <a:buNone/>
            </a:pPr>
            <a:r>
              <a:rPr lang="en-US" sz="1050" dirty="0">
                <a:solidFill>
                  <a:srgbClr val="FFFFFF"/>
                </a:solidFill>
                <a:latin typeface="Oswald SemiBold" pitchFamily="34" charset="0"/>
                <a:ea typeface="Oswald SemiBold" pitchFamily="34" charset="-122"/>
                <a:cs typeface="Oswald SemiBold" pitchFamily="34" charset="-120"/>
              </a:rPr>
              <a:t>5</a:t>
            </a:r>
            <a:endParaRPr lang="en-US" sz="1050" dirty="0"/>
          </a:p>
        </p:txBody>
      </p:sp>
      <p:sp>
        <p:nvSpPr>
          <p:cNvPr id="59" name="Text 55"/>
          <p:cNvSpPr/>
          <p:nvPr/>
        </p:nvSpPr>
        <p:spPr>
          <a:xfrm>
            <a:off x="2357438" y="3611166"/>
            <a:ext cx="1071563" cy="221456"/>
          </a:xfrm>
          <a:prstGeom prst="rect">
            <a:avLst/>
          </a:prstGeom>
          <a:noFill/>
          <a:ln/>
        </p:spPr>
        <p:txBody>
          <a:bodyPr wrap="none" lIns="119126" tIns="0" rIns="0" bIns="0" rtlCol="0" anchor="t">
            <a:spAutoFit/>
          </a:bodyPr>
          <a:lstStyle/>
          <a:p>
            <a:pPr algn="l" indent="0" marL="0">
              <a:buNone/>
            </a:pPr>
            <a:r>
              <a:rPr lang="en-US" sz="1100" spc="1" kern="0" dirty="0">
                <a:solidFill>
                  <a:srgbClr val="0088FF"/>
                </a:solidFill>
                <a:latin typeface="Oswald SemiBold" pitchFamily="34" charset="0"/>
                <a:ea typeface="Oswald SemiBold" pitchFamily="34" charset="-122"/>
                <a:cs typeface="Oswald SemiBold" pitchFamily="34" charset="-120"/>
              </a:rPr>
              <a:t>RUN STATE</a:t>
            </a:r>
            <a:endParaRPr lang="en-US" sz="1100" dirty="0"/>
          </a:p>
        </p:txBody>
      </p:sp>
      <p:sp>
        <p:nvSpPr>
          <p:cNvPr id="60" name="Text 56"/>
          <p:cNvSpPr/>
          <p:nvPr/>
        </p:nvSpPr>
        <p:spPr>
          <a:xfrm>
            <a:off x="3429000" y="3657600"/>
            <a:ext cx="2014538" cy="128588"/>
          </a:xfrm>
          <a:prstGeom prst="rect">
            <a:avLst/>
          </a:prstGeom>
          <a:noFill/>
          <a:ln/>
        </p:spPr>
        <p:txBody>
          <a:bodyPr wrap="square" lIns="0" tIns="0" rIns="0"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What move is permitted next?</a:t>
            </a:r>
            <a:endParaRPr lang="en-US" sz="750" dirty="0"/>
          </a:p>
        </p:txBody>
      </p:sp>
      <p:sp>
        <p:nvSpPr>
          <p:cNvPr id="61" name="Shape 57"/>
          <p:cNvSpPr/>
          <p:nvPr/>
        </p:nvSpPr>
        <p:spPr>
          <a:xfrm>
            <a:off x="1985963" y="3979069"/>
            <a:ext cx="3457575" cy="314325"/>
          </a:xfrm>
          <a:prstGeom prst="rect">
            <a:avLst/>
          </a:prstGeom>
          <a:solidFill>
            <a:srgbClr val="F0F0F0"/>
          </a:solidFill>
          <a:ln w="18288">
            <a:solidFill>
              <a:srgbClr val="FFFFFF"/>
            </a:solidFill>
            <a:prstDash val="solid"/>
          </a:ln>
        </p:spPr>
      </p:sp>
      <p:sp>
        <p:nvSpPr>
          <p:cNvPr id="62" name="Text 58"/>
          <p:cNvSpPr/>
          <p:nvPr/>
        </p:nvSpPr>
        <p:spPr>
          <a:xfrm>
            <a:off x="1985963" y="3979069"/>
            <a:ext cx="3457575" cy="314325"/>
          </a:xfrm>
          <a:prstGeom prst="rect">
            <a:avLst/>
          </a:prstGeom>
          <a:noFill/>
          <a:ln/>
        </p:spPr>
        <p:txBody>
          <a:bodyPr wrap="square" lIns="0" tIns="0" rIns="0" bIns="0" rtlCol="0" anchor="ctr">
            <a:spAutoFit/>
          </a:bodyPr>
          <a:lstStyle/>
          <a:p>
            <a:pPr algn="ctr" indent="0" marL="0">
              <a:buNone/>
            </a:pPr>
            <a:r>
              <a:rPr lang="en-US" sz="1150" spc="2" kern="0" dirty="0">
                <a:solidFill>
                  <a:srgbClr val="111111"/>
                </a:solidFill>
                <a:latin typeface="Oswald SemiBold" pitchFamily="34" charset="0"/>
                <a:ea typeface="Oswald SemiBold" pitchFamily="34" charset="-122"/>
                <a:cs typeface="Oswald SemiBold" pitchFamily="34" charset="-120"/>
              </a:rPr>
              <a:t>STOP AFTER ONE SKILL</a:t>
            </a:r>
            <a:endParaRPr lang="en-US" sz="1150" dirty="0"/>
          </a:p>
        </p:txBody>
      </p:sp>
      <p:sp>
        <p:nvSpPr>
          <p:cNvPr id="63" name="Text 59"/>
          <p:cNvSpPr/>
          <p:nvPr/>
        </p:nvSpPr>
        <p:spPr>
          <a:xfrm>
            <a:off x="5907881" y="1392362"/>
            <a:ext cx="2936081" cy="307181"/>
          </a:xfrm>
          <a:prstGeom prst="rect">
            <a:avLst/>
          </a:prstGeom>
          <a:noFill/>
          <a:ln/>
        </p:spPr>
        <p:txBody>
          <a:bodyPr wrap="square" lIns="0" tIns="0" rIns="0" bIns="0" rtlCol="0" anchor="t">
            <a:spAutoFit/>
          </a:bodyPr>
          <a:lstStyle/>
          <a:p>
            <a:pPr algn="l" indent="0" marL="0">
              <a:buNone/>
            </a:pPr>
            <a:r>
              <a:rPr lang="en-US" sz="1550" dirty="0">
                <a:solidFill>
                  <a:srgbClr val="F0F0F0"/>
                </a:solidFill>
                <a:latin typeface="Oswald SemiBold" pitchFamily="34" charset="0"/>
                <a:ea typeface="Oswald SemiBold" pitchFamily="34" charset="-122"/>
                <a:cs typeface="Oswald SemiBold" pitchFamily="34" charset="-120"/>
              </a:rPr>
              <a:t>ONE CONTROLLED TURN</a:t>
            </a:r>
            <a:endParaRPr lang="en-US" sz="1550" dirty="0"/>
          </a:p>
        </p:txBody>
      </p:sp>
      <p:sp>
        <p:nvSpPr>
          <p:cNvPr id="64" name="Text 60"/>
          <p:cNvSpPr/>
          <p:nvPr/>
        </p:nvSpPr>
        <p:spPr>
          <a:xfrm>
            <a:off x="5907881" y="1881708"/>
            <a:ext cx="242888" cy="242888"/>
          </a:xfrm>
          <a:prstGeom prst="rect">
            <a:avLst/>
          </a:prstGeom>
          <a:noFill/>
          <a:ln/>
        </p:spPr>
        <p:txBody>
          <a:bodyPr wrap="none" lIns="0" tIns="0" rIns="0" bIns="0" rtlCol="0" anchor="ctr">
            <a:spAutoFit/>
          </a:bodyPr>
          <a:lstStyle/>
          <a:p>
            <a:pPr algn="ctr" indent="0" marL="0">
              <a:buNone/>
            </a:pPr>
            <a:r>
              <a:rPr lang="en-US" sz="1100" dirty="0">
                <a:solidFill>
                  <a:srgbClr val="27C93F"/>
                </a:solidFill>
                <a:latin typeface="Oswald SemiBold" pitchFamily="34" charset="0"/>
                <a:ea typeface="Oswald SemiBold" pitchFamily="34" charset="-122"/>
                <a:cs typeface="Oswald SemiBold" pitchFamily="34" charset="-120"/>
              </a:rPr>
              <a:t>✓</a:t>
            </a:r>
            <a:endParaRPr lang="en-US" sz="1100" dirty="0"/>
          </a:p>
        </p:txBody>
      </p:sp>
      <p:sp>
        <p:nvSpPr>
          <p:cNvPr id="65" name="Text 61"/>
          <p:cNvSpPr/>
          <p:nvPr/>
        </p:nvSpPr>
        <p:spPr>
          <a:xfrm>
            <a:off x="6265069" y="1842418"/>
            <a:ext cx="2578894" cy="321469"/>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D8D8D8"/>
                </a:solidFill>
                <a:latin typeface="Inter SemiBold" pitchFamily="34" charset="0"/>
                <a:ea typeface="Inter SemiBold" pitchFamily="34" charset="-122"/>
                <a:cs typeface="Inter SemiBold" pitchFamily="34" charset="-120"/>
              </a:rPr>
              <a:t>Selects one next action—never the whole migration.</a:t>
            </a:r>
            <a:endParaRPr lang="en-US" sz="900" dirty="0"/>
          </a:p>
        </p:txBody>
      </p:sp>
      <p:sp>
        <p:nvSpPr>
          <p:cNvPr id="66" name="Text 62"/>
          <p:cNvSpPr/>
          <p:nvPr/>
        </p:nvSpPr>
        <p:spPr>
          <a:xfrm>
            <a:off x="5907881" y="2331765"/>
            <a:ext cx="242888" cy="242888"/>
          </a:xfrm>
          <a:prstGeom prst="rect">
            <a:avLst/>
          </a:prstGeom>
          <a:noFill/>
          <a:ln/>
        </p:spPr>
        <p:txBody>
          <a:bodyPr wrap="none" lIns="0" tIns="0" rIns="0" bIns="0" rtlCol="0" anchor="ctr">
            <a:spAutoFit/>
          </a:bodyPr>
          <a:lstStyle/>
          <a:p>
            <a:pPr algn="ctr" indent="0" marL="0">
              <a:buNone/>
            </a:pPr>
            <a:r>
              <a:rPr lang="en-US" sz="1100" dirty="0">
                <a:solidFill>
                  <a:srgbClr val="27C93F"/>
                </a:solidFill>
                <a:latin typeface="Oswald SemiBold" pitchFamily="34" charset="0"/>
                <a:ea typeface="Oswald SemiBold" pitchFamily="34" charset="-122"/>
                <a:cs typeface="Oswald SemiBold" pitchFamily="34" charset="-120"/>
              </a:rPr>
              <a:t>✓</a:t>
            </a:r>
            <a:endParaRPr lang="en-US" sz="1100" dirty="0"/>
          </a:p>
        </p:txBody>
      </p:sp>
      <p:sp>
        <p:nvSpPr>
          <p:cNvPr id="67" name="Text 63"/>
          <p:cNvSpPr/>
          <p:nvPr/>
        </p:nvSpPr>
        <p:spPr>
          <a:xfrm>
            <a:off x="6265069" y="2292474"/>
            <a:ext cx="2578894" cy="321469"/>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D8D8D8"/>
                </a:solidFill>
                <a:latin typeface="Inter SemiBold" pitchFamily="34" charset="0"/>
                <a:ea typeface="Inter SemiBold" pitchFamily="34" charset="-122"/>
                <a:cs typeface="Inter SemiBold" pitchFamily="34" charset="-120"/>
              </a:rPr>
              <a:t>Requires a named artifact before progress.</a:t>
            </a:r>
            <a:endParaRPr lang="en-US" sz="900" dirty="0"/>
          </a:p>
        </p:txBody>
      </p:sp>
      <p:sp>
        <p:nvSpPr>
          <p:cNvPr id="68" name="Text 64"/>
          <p:cNvSpPr/>
          <p:nvPr/>
        </p:nvSpPr>
        <p:spPr>
          <a:xfrm>
            <a:off x="5907881" y="2781821"/>
            <a:ext cx="242888" cy="242888"/>
          </a:xfrm>
          <a:prstGeom prst="rect">
            <a:avLst/>
          </a:prstGeom>
          <a:noFill/>
          <a:ln/>
        </p:spPr>
        <p:txBody>
          <a:bodyPr wrap="none" lIns="0" tIns="0" rIns="0" bIns="0" rtlCol="0" anchor="ctr">
            <a:spAutoFit/>
          </a:bodyPr>
          <a:lstStyle/>
          <a:p>
            <a:pPr algn="ctr" indent="0" marL="0">
              <a:buNone/>
            </a:pPr>
            <a:r>
              <a:rPr lang="en-US" sz="1100" dirty="0">
                <a:solidFill>
                  <a:srgbClr val="27C93F"/>
                </a:solidFill>
                <a:latin typeface="Oswald SemiBold" pitchFamily="34" charset="0"/>
                <a:ea typeface="Oswald SemiBold" pitchFamily="34" charset="-122"/>
                <a:cs typeface="Oswald SemiBold" pitchFamily="34" charset="-120"/>
              </a:rPr>
              <a:t>✓</a:t>
            </a:r>
            <a:endParaRPr lang="en-US" sz="1100" dirty="0"/>
          </a:p>
        </p:txBody>
      </p:sp>
      <p:sp>
        <p:nvSpPr>
          <p:cNvPr id="69" name="Text 65"/>
          <p:cNvSpPr/>
          <p:nvPr/>
        </p:nvSpPr>
        <p:spPr>
          <a:xfrm>
            <a:off x="6265069" y="2742530"/>
            <a:ext cx="2578894" cy="321469"/>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D8D8D8"/>
                </a:solidFill>
                <a:latin typeface="Inter SemiBold" pitchFamily="34" charset="0"/>
                <a:ea typeface="Inter SemiBold" pitchFamily="34" charset="-122"/>
                <a:cs typeface="Inter SemiBold" pitchFamily="34" charset="-120"/>
              </a:rPr>
              <a:t>Records the verdict and updates durable state.</a:t>
            </a:r>
            <a:endParaRPr lang="en-US" sz="900" dirty="0"/>
          </a:p>
        </p:txBody>
      </p:sp>
      <p:sp>
        <p:nvSpPr>
          <p:cNvPr id="70" name="Text 66"/>
          <p:cNvSpPr/>
          <p:nvPr/>
        </p:nvSpPr>
        <p:spPr>
          <a:xfrm>
            <a:off x="5907881" y="3231877"/>
            <a:ext cx="242888" cy="242888"/>
          </a:xfrm>
          <a:prstGeom prst="rect">
            <a:avLst/>
          </a:prstGeom>
          <a:noFill/>
          <a:ln/>
        </p:spPr>
        <p:txBody>
          <a:bodyPr wrap="none" lIns="0" tIns="0" rIns="0" bIns="0" rtlCol="0" anchor="ctr">
            <a:spAutoFit/>
          </a:bodyPr>
          <a:lstStyle/>
          <a:p>
            <a:pPr algn="ctr" indent="0" marL="0">
              <a:buNone/>
            </a:pPr>
            <a:r>
              <a:rPr lang="en-US" sz="1100" dirty="0">
                <a:solidFill>
                  <a:srgbClr val="27C93F"/>
                </a:solidFill>
                <a:latin typeface="Oswald SemiBold" pitchFamily="34" charset="0"/>
                <a:ea typeface="Oswald SemiBold" pitchFamily="34" charset="-122"/>
                <a:cs typeface="Oswald SemiBold" pitchFamily="34" charset="-120"/>
              </a:rPr>
              <a:t>✓</a:t>
            </a:r>
            <a:endParaRPr lang="en-US" sz="1100" dirty="0"/>
          </a:p>
        </p:txBody>
      </p:sp>
      <p:sp>
        <p:nvSpPr>
          <p:cNvPr id="71" name="Text 67"/>
          <p:cNvSpPr/>
          <p:nvPr/>
        </p:nvSpPr>
        <p:spPr>
          <a:xfrm>
            <a:off x="6265069" y="3192587"/>
            <a:ext cx="2578894" cy="321469"/>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D8D8D8"/>
                </a:solidFill>
                <a:latin typeface="Inter SemiBold" pitchFamily="34" charset="0"/>
                <a:ea typeface="Inter SemiBold" pitchFamily="34" charset="-122"/>
                <a:cs typeface="Inter SemiBold" pitchFamily="34" charset="-120"/>
              </a:rPr>
              <a:t>Cannot cross a human approval boundary.</a:t>
            </a:r>
            <a:endParaRPr lang="en-US" sz="900" dirty="0"/>
          </a:p>
        </p:txBody>
      </p:sp>
      <p:sp>
        <p:nvSpPr>
          <p:cNvPr id="72" name="Text 68"/>
          <p:cNvSpPr/>
          <p:nvPr/>
        </p:nvSpPr>
        <p:spPr>
          <a:xfrm>
            <a:off x="5907881" y="3714080"/>
            <a:ext cx="2936081" cy="537121"/>
          </a:xfrm>
          <a:prstGeom prst="rect">
            <a:avLst/>
          </a:prstGeom>
          <a:noFill/>
          <a:ln/>
        </p:spPr>
        <p:txBody>
          <a:bodyPr wrap="square" lIns="119126" tIns="119126" rIns="119126" bIns="119126" rtlCol="0" anchor="t">
            <a:spAutoFit/>
          </a:bodyPr>
          <a:lstStyle/>
          <a:p>
            <a:pPr algn="ctr" indent="0" marL="0">
              <a:lnSpc>
                <a:spcPct val="108000"/>
              </a:lnSpc>
              <a:buNone/>
            </a:pPr>
            <a:r>
              <a:rPr lang="en-US" sz="800" b="1" dirty="0">
                <a:solidFill>
                  <a:srgbClr val="9FD0FF"/>
                </a:solidFill>
                <a:latin typeface="Inter Bold" pitchFamily="34" charset="0"/>
                <a:ea typeface="Inter Bold" pitchFamily="34" charset="-122"/>
                <a:cs typeface="Inter Bold" pitchFamily="34" charset="-120"/>
              </a:rPr>
              <a:t>NEXT PROMPT OR APPROVAL</a:t>
            </a:r>
            <a:r>
              <a:rPr lang="en-US" sz="800" b="1" dirty="0">
                <a:solidFill>
                  <a:srgbClr val="9FD0FF"/>
                </a:solidFill>
                <a:latin typeface="Inter Bold" pitchFamily="34" charset="0"/>
                <a:ea typeface="Inter Bold" pitchFamily="34" charset="-122"/>
                <a:cs typeface="Inter Bold" pitchFamily="34" charset="-120"/>
              </a:rPr>
              <a:t>
</a:t>
            </a:r>
            <a:r>
              <a:rPr lang="en-US" sz="800" b="1" dirty="0">
                <a:solidFill>
                  <a:srgbClr val="9FD0FF"/>
                </a:solidFill>
                <a:latin typeface="Inter Bold" pitchFamily="34" charset="0"/>
                <a:ea typeface="Inter Bold" pitchFamily="34" charset="-122"/>
                <a:cs typeface="Inter Bold" pitchFamily="34" charset="-120"/>
              </a:rPr>
              <a:t>returns control to orchestrate</a:t>
            </a:r>
            <a:endParaRPr lang="en-US" sz="800" dirty="0"/>
          </a:p>
        </p:txBody>
      </p:sp>
      <p:sp>
        <p:nvSpPr>
          <p:cNvPr id="73" name="Shape 69"/>
          <p:cNvSpPr/>
          <p:nvPr/>
        </p:nvSpPr>
        <p:spPr>
          <a:xfrm>
            <a:off x="298584" y="4581863"/>
            <a:ext cx="8546831" cy="505730"/>
          </a:xfrm>
          <a:prstGeom prst="rect">
            <a:avLst/>
          </a:prstGeom>
          <a:solidFill>
            <a:srgbClr val="FFDF00"/>
          </a:solidFill>
          <a:ln w="27432">
            <a:solidFill>
              <a:srgbClr val="111111"/>
            </a:solidFill>
            <a:prstDash val="solid"/>
          </a:ln>
        </p:spPr>
      </p:sp>
      <p:sp>
        <p:nvSpPr>
          <p:cNvPr id="74" name="Text 70"/>
          <p:cNvSpPr/>
          <p:nvPr/>
        </p:nvSpPr>
        <p:spPr>
          <a:xfrm>
            <a:off x="298584" y="4581863"/>
            <a:ext cx="8546831" cy="505730"/>
          </a:xfrm>
          <a:prstGeom prst="rect">
            <a:avLst/>
          </a:prstGeom>
          <a:noFill/>
          <a:ln/>
        </p:spPr>
        <p:txBody>
          <a:bodyPr wrap="square" lIns="204089" tIns="119126" rIns="204089" bIns="119126" rtlCol="0" anchor="t">
            <a:spAutoFit/>
          </a:bodyPr>
          <a:lstStyle/>
          <a:p>
            <a:pPr algn="ctr" indent="0" marL="0">
              <a:lnSpc>
                <a:spcPct val="92000"/>
              </a:lnSpc>
              <a:buNone/>
            </a:pPr>
            <a:r>
              <a:rPr lang="en-US" sz="1150" b="1" dirty="0">
                <a:solidFill>
                  <a:srgbClr val="111111"/>
                </a:solidFill>
                <a:latin typeface="Kalam Bold" pitchFamily="34" charset="0"/>
                <a:ea typeface="Kalam Bold" pitchFamily="34" charset="-122"/>
                <a:cs typeface="Kalam Bold" pitchFamily="34" charset="-120"/>
              </a:rPr>
              <a:t>Orchestrate is the traffic controller: one role, one skill, one artifact, one gate, then stop.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00038" y="214313"/>
            <a:ext cx="8543925" cy="700088"/>
          </a:xfrm>
          <a:prstGeom prst="rect">
            <a:avLst/>
          </a:prstGeom>
          <a:solidFill>
            <a:srgbClr val="000000">
              <a:alpha val="0"/>
            </a:srgbClr>
          </a:solidFill>
          <a:ln/>
        </p:spPr>
      </p:sp>
      <p:sp>
        <p:nvSpPr>
          <p:cNvPr id="5" name="Shape 1"/>
          <p:cNvSpPr/>
          <p:nvPr/>
        </p:nvSpPr>
        <p:spPr>
          <a:xfrm>
            <a:off x="300038" y="892969"/>
            <a:ext cx="8543925" cy="21431"/>
          </a:xfrm>
          <a:prstGeom prst="rect">
            <a:avLst/>
          </a:prstGeom>
          <a:solidFill>
            <a:srgbClr val="333333"/>
          </a:solidFill>
          <a:ln/>
        </p:spPr>
      </p:sp>
      <p:sp>
        <p:nvSpPr>
          <p:cNvPr id="6" name="Text 2"/>
          <p:cNvSpPr/>
          <p:nvPr/>
        </p:nvSpPr>
        <p:spPr>
          <a:xfrm>
            <a:off x="300038" y="274700"/>
            <a:ext cx="8543925" cy="390004"/>
          </a:xfrm>
          <a:prstGeom prst="rect">
            <a:avLst/>
          </a:prstGeom>
          <a:noFill/>
          <a:ln/>
        </p:spPr>
        <p:txBody>
          <a:bodyPr wrap="none" lIns="0" tIns="0" rIns="0" bIns="0" rtlCol="0" anchor="t">
            <a:spAutoFit/>
          </a:bodyPr>
          <a:lstStyle/>
          <a:p>
            <a:pPr algn="l" indent="0" marL="0">
              <a:lnSpc>
                <a:spcPct val="84000"/>
              </a:lnSpc>
              <a:buNone/>
            </a:pPr>
            <a:r>
              <a:rPr lang="en-US" sz="2650" b="1" spc="1" kern="0" dirty="0">
                <a:solidFill>
                  <a:srgbClr val="F0F0F0"/>
                </a:solidFill>
                <a:latin typeface="Oswald SemiBold" pitchFamily="34" charset="0"/>
                <a:ea typeface="Oswald SemiBold" pitchFamily="34" charset="-122"/>
                <a:cs typeface="Oswald SemiBold" pitchFamily="34" charset="-120"/>
              </a:rPr>
              <a:t>EVERY SKILL FOLLOWS THE SAME CONTRACT</a:t>
            </a:r>
            <a:endParaRPr lang="en-US" sz="2650" dirty="0"/>
          </a:p>
        </p:txBody>
      </p:sp>
      <p:sp>
        <p:nvSpPr>
          <p:cNvPr id="7" name="Text 3"/>
          <p:cNvSpPr/>
          <p:nvPr/>
        </p:nvSpPr>
        <p:spPr>
          <a:xfrm>
            <a:off x="300038" y="678991"/>
            <a:ext cx="8543925" cy="175022"/>
          </a:xfrm>
          <a:prstGeom prst="rect">
            <a:avLst/>
          </a:prstGeom>
          <a:noFill/>
          <a:ln/>
        </p:spPr>
        <p:txBody>
          <a:bodyPr wrap="square" lIns="0" tIns="0" rIns="0" bIns="0" rtlCol="0" anchor="t">
            <a:spAutoFit/>
          </a:bodyPr>
          <a:lstStyle/>
          <a:p>
            <a:pPr algn="l" indent="0" marL="0">
              <a:buNone/>
            </a:pPr>
            <a:r>
              <a:rPr lang="en-US" sz="1000" b="1" dirty="0">
                <a:solidFill>
                  <a:srgbClr val="0088FF"/>
                </a:solidFill>
                <a:latin typeface="Inter SemiBold" pitchFamily="34" charset="0"/>
                <a:ea typeface="Inter SemiBold" pitchFamily="34" charset="-122"/>
                <a:cs typeface="Inter SemiBold" pitchFamily="34" charset="-120"/>
              </a:rPr>
              <a:t>One job, one artifact, one verification point, then stop.</a:t>
            </a:r>
            <a:endParaRPr lang="en-US" sz="1000" dirty="0"/>
          </a:p>
        </p:txBody>
      </p:sp>
      <p:sp>
        <p:nvSpPr>
          <p:cNvPr id="8" name="Shape 4"/>
          <p:cNvSpPr/>
          <p:nvPr/>
        </p:nvSpPr>
        <p:spPr>
          <a:xfrm>
            <a:off x="300038" y="1200150"/>
            <a:ext cx="2733656" cy="3729038"/>
          </a:xfrm>
          <a:prstGeom prst="rect">
            <a:avLst/>
          </a:prstGeom>
          <a:solidFill>
            <a:srgbClr val="151515"/>
          </a:solidFill>
          <a:ln/>
        </p:spPr>
      </p:sp>
      <p:sp>
        <p:nvSpPr>
          <p:cNvPr id="9" name="Shape 5"/>
          <p:cNvSpPr/>
          <p:nvPr/>
        </p:nvSpPr>
        <p:spPr>
          <a:xfrm>
            <a:off x="300038" y="1200150"/>
            <a:ext cx="2733656" cy="28575"/>
          </a:xfrm>
          <a:prstGeom prst="rect">
            <a:avLst/>
          </a:prstGeom>
          <a:solidFill>
            <a:srgbClr val="FF5F56"/>
          </a:solidFill>
          <a:ln/>
        </p:spPr>
      </p:sp>
      <p:sp>
        <p:nvSpPr>
          <p:cNvPr id="10" name="Shape 6"/>
          <p:cNvSpPr/>
          <p:nvPr/>
        </p:nvSpPr>
        <p:spPr>
          <a:xfrm>
            <a:off x="3019406" y="1200150"/>
            <a:ext cx="14288" cy="3729038"/>
          </a:xfrm>
          <a:prstGeom prst="rect">
            <a:avLst/>
          </a:prstGeom>
          <a:solidFill>
            <a:srgbClr val="222222"/>
          </a:solidFill>
          <a:ln/>
        </p:spPr>
      </p:sp>
      <p:sp>
        <p:nvSpPr>
          <p:cNvPr id="11" name="Shape 7"/>
          <p:cNvSpPr/>
          <p:nvPr/>
        </p:nvSpPr>
        <p:spPr>
          <a:xfrm>
            <a:off x="300038" y="4914900"/>
            <a:ext cx="2733656" cy="14288"/>
          </a:xfrm>
          <a:prstGeom prst="rect">
            <a:avLst/>
          </a:prstGeom>
          <a:solidFill>
            <a:srgbClr val="222222"/>
          </a:solidFill>
          <a:ln/>
        </p:spPr>
      </p:sp>
      <p:sp>
        <p:nvSpPr>
          <p:cNvPr id="12" name="Shape 8"/>
          <p:cNvSpPr/>
          <p:nvPr/>
        </p:nvSpPr>
        <p:spPr>
          <a:xfrm>
            <a:off x="300038" y="1200150"/>
            <a:ext cx="14288" cy="3729038"/>
          </a:xfrm>
          <a:prstGeom prst="rect">
            <a:avLst/>
          </a:prstGeom>
          <a:solidFill>
            <a:srgbClr val="222222"/>
          </a:solidFill>
          <a:ln/>
        </p:spPr>
      </p:sp>
      <p:sp>
        <p:nvSpPr>
          <p:cNvPr id="13" name="Text 9"/>
          <p:cNvSpPr/>
          <p:nvPr/>
        </p:nvSpPr>
        <p:spPr>
          <a:xfrm>
            <a:off x="471488" y="1371600"/>
            <a:ext cx="2390756" cy="296466"/>
          </a:xfrm>
          <a:prstGeom prst="rect">
            <a:avLst/>
          </a:prstGeom>
          <a:noFill/>
          <a:ln/>
        </p:spPr>
        <p:txBody>
          <a:bodyPr wrap="square" lIns="0" tIns="0" rIns="0" bIns="0" rtlCol="0" anchor="t">
            <a:spAutoFit/>
          </a:bodyPr>
          <a:lstStyle/>
          <a:p>
            <a:pPr algn="ctr" indent="0" marL="0">
              <a:buNone/>
            </a:pPr>
            <a:r>
              <a:rPr lang="en-US" sz="1500" spc="1" kern="0" dirty="0">
                <a:solidFill>
                  <a:srgbClr val="FF5F56"/>
                </a:solidFill>
                <a:latin typeface="Oswald SemiBold" pitchFamily="34" charset="0"/>
                <a:ea typeface="Oswald SemiBold" pitchFamily="34" charset="-122"/>
                <a:cs typeface="Oswald SemiBold" pitchFamily="34" charset="-120"/>
              </a:rPr>
              <a:t>BEFORE</a:t>
            </a:r>
            <a:endParaRPr lang="en-US" sz="1500" dirty="0"/>
          </a:p>
        </p:txBody>
      </p:sp>
      <p:sp>
        <p:nvSpPr>
          <p:cNvPr id="14" name="Shape 10"/>
          <p:cNvSpPr/>
          <p:nvPr/>
        </p:nvSpPr>
        <p:spPr>
          <a:xfrm>
            <a:off x="471488" y="1810941"/>
            <a:ext cx="2390756" cy="371475"/>
          </a:xfrm>
          <a:prstGeom prst="rect">
            <a:avLst/>
          </a:prstGeom>
          <a:solidFill>
            <a:srgbClr val="222222"/>
          </a:solidFill>
          <a:ln w="9144">
            <a:solidFill>
              <a:srgbClr val="333333"/>
            </a:solidFill>
            <a:prstDash val="solid"/>
          </a:ln>
        </p:spPr>
      </p:sp>
      <p:sp>
        <p:nvSpPr>
          <p:cNvPr id="15" name="Text 11"/>
          <p:cNvSpPr/>
          <p:nvPr/>
        </p:nvSpPr>
        <p:spPr>
          <a:xfrm>
            <a:off x="471488" y="1810941"/>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Check trigger</a:t>
            </a:r>
            <a:endParaRPr lang="en-US" sz="900" dirty="0"/>
          </a:p>
        </p:txBody>
      </p:sp>
      <p:sp>
        <p:nvSpPr>
          <p:cNvPr id="16" name="Shape 12"/>
          <p:cNvSpPr/>
          <p:nvPr/>
        </p:nvSpPr>
        <p:spPr>
          <a:xfrm>
            <a:off x="471488" y="2253853"/>
            <a:ext cx="2390756" cy="371475"/>
          </a:xfrm>
          <a:prstGeom prst="rect">
            <a:avLst/>
          </a:prstGeom>
          <a:solidFill>
            <a:srgbClr val="222222"/>
          </a:solidFill>
          <a:ln w="9144">
            <a:solidFill>
              <a:srgbClr val="333333"/>
            </a:solidFill>
            <a:prstDash val="solid"/>
          </a:ln>
        </p:spPr>
      </p:sp>
      <p:sp>
        <p:nvSpPr>
          <p:cNvPr id="17" name="Text 13"/>
          <p:cNvSpPr/>
          <p:nvPr/>
        </p:nvSpPr>
        <p:spPr>
          <a:xfrm>
            <a:off x="471488" y="2253853"/>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Check inputs</a:t>
            </a:r>
            <a:endParaRPr lang="en-US" sz="900" dirty="0"/>
          </a:p>
        </p:txBody>
      </p:sp>
      <p:sp>
        <p:nvSpPr>
          <p:cNvPr id="18" name="Shape 14"/>
          <p:cNvSpPr/>
          <p:nvPr/>
        </p:nvSpPr>
        <p:spPr>
          <a:xfrm>
            <a:off x="471488" y="2696766"/>
            <a:ext cx="2390756" cy="371475"/>
          </a:xfrm>
          <a:prstGeom prst="rect">
            <a:avLst/>
          </a:prstGeom>
          <a:solidFill>
            <a:srgbClr val="222222"/>
          </a:solidFill>
          <a:ln w="9144">
            <a:solidFill>
              <a:srgbClr val="333333"/>
            </a:solidFill>
            <a:prstDash val="solid"/>
          </a:ln>
        </p:spPr>
      </p:sp>
      <p:sp>
        <p:nvSpPr>
          <p:cNvPr id="19" name="Text 15"/>
          <p:cNvSpPr/>
          <p:nvPr/>
        </p:nvSpPr>
        <p:spPr>
          <a:xfrm>
            <a:off x="471488" y="2696766"/>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Check assumptions</a:t>
            </a:r>
            <a:endParaRPr lang="en-US" sz="900" dirty="0"/>
          </a:p>
        </p:txBody>
      </p:sp>
      <p:sp>
        <p:nvSpPr>
          <p:cNvPr id="20" name="Shape 16"/>
          <p:cNvSpPr/>
          <p:nvPr/>
        </p:nvSpPr>
        <p:spPr>
          <a:xfrm>
            <a:off x="471488" y="3139678"/>
            <a:ext cx="2390756" cy="371475"/>
          </a:xfrm>
          <a:prstGeom prst="rect">
            <a:avLst/>
          </a:prstGeom>
          <a:solidFill>
            <a:srgbClr val="222222"/>
          </a:solidFill>
          <a:ln w="9144">
            <a:solidFill>
              <a:srgbClr val="333333"/>
            </a:solidFill>
            <a:prstDash val="solid"/>
          </a:ln>
        </p:spPr>
      </p:sp>
      <p:sp>
        <p:nvSpPr>
          <p:cNvPr id="21" name="Text 17"/>
          <p:cNvSpPr/>
          <p:nvPr/>
        </p:nvSpPr>
        <p:spPr>
          <a:xfrm>
            <a:off x="471488" y="3139678"/>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Check gate</a:t>
            </a:r>
            <a:endParaRPr lang="en-US" sz="900" dirty="0"/>
          </a:p>
        </p:txBody>
      </p:sp>
      <p:sp>
        <p:nvSpPr>
          <p:cNvPr id="22" name="Shape 18"/>
          <p:cNvSpPr/>
          <p:nvPr/>
        </p:nvSpPr>
        <p:spPr>
          <a:xfrm>
            <a:off x="3205144" y="1200150"/>
            <a:ext cx="2733656" cy="3729038"/>
          </a:xfrm>
          <a:prstGeom prst="rect">
            <a:avLst/>
          </a:prstGeom>
          <a:solidFill>
            <a:srgbClr val="151515"/>
          </a:solidFill>
          <a:ln/>
        </p:spPr>
      </p:sp>
      <p:sp>
        <p:nvSpPr>
          <p:cNvPr id="23" name="Shape 19"/>
          <p:cNvSpPr/>
          <p:nvPr/>
        </p:nvSpPr>
        <p:spPr>
          <a:xfrm>
            <a:off x="3205144" y="1200150"/>
            <a:ext cx="2733656" cy="28575"/>
          </a:xfrm>
          <a:prstGeom prst="rect">
            <a:avLst/>
          </a:prstGeom>
          <a:solidFill>
            <a:srgbClr val="FFBD2E"/>
          </a:solidFill>
          <a:ln/>
        </p:spPr>
      </p:sp>
      <p:sp>
        <p:nvSpPr>
          <p:cNvPr id="24" name="Shape 20"/>
          <p:cNvSpPr/>
          <p:nvPr/>
        </p:nvSpPr>
        <p:spPr>
          <a:xfrm>
            <a:off x="5924513" y="1200150"/>
            <a:ext cx="14288" cy="3729038"/>
          </a:xfrm>
          <a:prstGeom prst="rect">
            <a:avLst/>
          </a:prstGeom>
          <a:solidFill>
            <a:srgbClr val="222222"/>
          </a:solidFill>
          <a:ln/>
        </p:spPr>
      </p:sp>
      <p:sp>
        <p:nvSpPr>
          <p:cNvPr id="25" name="Shape 21"/>
          <p:cNvSpPr/>
          <p:nvPr/>
        </p:nvSpPr>
        <p:spPr>
          <a:xfrm>
            <a:off x="3205144" y="4914900"/>
            <a:ext cx="2733656" cy="14288"/>
          </a:xfrm>
          <a:prstGeom prst="rect">
            <a:avLst/>
          </a:prstGeom>
          <a:solidFill>
            <a:srgbClr val="222222"/>
          </a:solidFill>
          <a:ln/>
        </p:spPr>
      </p:sp>
      <p:sp>
        <p:nvSpPr>
          <p:cNvPr id="26" name="Shape 22"/>
          <p:cNvSpPr/>
          <p:nvPr/>
        </p:nvSpPr>
        <p:spPr>
          <a:xfrm>
            <a:off x="3205144" y="1200150"/>
            <a:ext cx="14288" cy="3729038"/>
          </a:xfrm>
          <a:prstGeom prst="rect">
            <a:avLst/>
          </a:prstGeom>
          <a:solidFill>
            <a:srgbClr val="222222"/>
          </a:solidFill>
          <a:ln/>
        </p:spPr>
      </p:sp>
      <p:sp>
        <p:nvSpPr>
          <p:cNvPr id="27" name="Text 23"/>
          <p:cNvSpPr/>
          <p:nvPr/>
        </p:nvSpPr>
        <p:spPr>
          <a:xfrm>
            <a:off x="3376594" y="1371600"/>
            <a:ext cx="2390756" cy="296466"/>
          </a:xfrm>
          <a:prstGeom prst="rect">
            <a:avLst/>
          </a:prstGeom>
          <a:noFill/>
          <a:ln/>
        </p:spPr>
        <p:txBody>
          <a:bodyPr wrap="square" lIns="0" tIns="0" rIns="0" bIns="0" rtlCol="0" anchor="t">
            <a:spAutoFit/>
          </a:bodyPr>
          <a:lstStyle/>
          <a:p>
            <a:pPr algn="ctr" indent="0" marL="0">
              <a:buNone/>
            </a:pPr>
            <a:r>
              <a:rPr lang="en-US" sz="1500" spc="1" kern="0" dirty="0">
                <a:solidFill>
                  <a:srgbClr val="FFBD2E"/>
                </a:solidFill>
                <a:latin typeface="Oswald SemiBold" pitchFamily="34" charset="0"/>
                <a:ea typeface="Oswald SemiBold" pitchFamily="34" charset="-122"/>
                <a:cs typeface="Oswald SemiBold" pitchFamily="34" charset="-120"/>
              </a:rPr>
              <a:t>DURING</a:t>
            </a:r>
            <a:endParaRPr lang="en-US" sz="1500" dirty="0"/>
          </a:p>
        </p:txBody>
      </p:sp>
      <p:sp>
        <p:nvSpPr>
          <p:cNvPr id="28" name="Shape 24"/>
          <p:cNvSpPr/>
          <p:nvPr/>
        </p:nvSpPr>
        <p:spPr>
          <a:xfrm>
            <a:off x="3376594" y="1810941"/>
            <a:ext cx="2390756" cy="371475"/>
          </a:xfrm>
          <a:prstGeom prst="rect">
            <a:avLst/>
          </a:prstGeom>
          <a:solidFill>
            <a:srgbClr val="222222"/>
          </a:solidFill>
          <a:ln w="9144">
            <a:solidFill>
              <a:srgbClr val="333333"/>
            </a:solidFill>
            <a:prstDash val="solid"/>
          </a:ln>
        </p:spPr>
      </p:sp>
      <p:sp>
        <p:nvSpPr>
          <p:cNvPr id="29" name="Text 25"/>
          <p:cNvSpPr/>
          <p:nvPr/>
        </p:nvSpPr>
        <p:spPr>
          <a:xfrm>
            <a:off x="3376594" y="1810941"/>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Follow ordered workflow</a:t>
            </a:r>
            <a:endParaRPr lang="en-US" sz="900" dirty="0"/>
          </a:p>
        </p:txBody>
      </p:sp>
      <p:sp>
        <p:nvSpPr>
          <p:cNvPr id="30" name="Shape 26"/>
          <p:cNvSpPr/>
          <p:nvPr/>
        </p:nvSpPr>
        <p:spPr>
          <a:xfrm>
            <a:off x="3376594" y="2253853"/>
            <a:ext cx="2390756" cy="371475"/>
          </a:xfrm>
          <a:prstGeom prst="rect">
            <a:avLst/>
          </a:prstGeom>
          <a:solidFill>
            <a:srgbClr val="222222"/>
          </a:solidFill>
          <a:ln w="9144">
            <a:solidFill>
              <a:srgbClr val="333333"/>
            </a:solidFill>
            <a:prstDash val="solid"/>
          </a:ln>
        </p:spPr>
      </p:sp>
      <p:sp>
        <p:nvSpPr>
          <p:cNvPr id="31" name="Text 27"/>
          <p:cNvSpPr/>
          <p:nvPr/>
        </p:nvSpPr>
        <p:spPr>
          <a:xfrm>
            <a:off x="3376594" y="2253853"/>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Stay inside boundary</a:t>
            </a:r>
            <a:endParaRPr lang="en-US" sz="900" dirty="0"/>
          </a:p>
        </p:txBody>
      </p:sp>
      <p:sp>
        <p:nvSpPr>
          <p:cNvPr id="32" name="Shape 28"/>
          <p:cNvSpPr/>
          <p:nvPr/>
        </p:nvSpPr>
        <p:spPr>
          <a:xfrm>
            <a:off x="3376594" y="2696766"/>
            <a:ext cx="2390756" cy="371475"/>
          </a:xfrm>
          <a:prstGeom prst="rect">
            <a:avLst/>
          </a:prstGeom>
          <a:solidFill>
            <a:srgbClr val="222222"/>
          </a:solidFill>
          <a:ln w="9144">
            <a:solidFill>
              <a:srgbClr val="333333"/>
            </a:solidFill>
            <a:prstDash val="solid"/>
          </a:ln>
        </p:spPr>
      </p:sp>
      <p:sp>
        <p:nvSpPr>
          <p:cNvPr id="33" name="Text 29"/>
          <p:cNvSpPr/>
          <p:nvPr/>
        </p:nvSpPr>
        <p:spPr>
          <a:xfrm>
            <a:off x="3376594" y="2696766"/>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Produce only allowed output</a:t>
            </a:r>
            <a:endParaRPr lang="en-US" sz="900" dirty="0"/>
          </a:p>
        </p:txBody>
      </p:sp>
      <p:sp>
        <p:nvSpPr>
          <p:cNvPr id="34" name="Shape 30"/>
          <p:cNvSpPr/>
          <p:nvPr/>
        </p:nvSpPr>
        <p:spPr>
          <a:xfrm>
            <a:off x="6110250" y="1200150"/>
            <a:ext cx="2733656" cy="3729038"/>
          </a:xfrm>
          <a:prstGeom prst="rect">
            <a:avLst/>
          </a:prstGeom>
          <a:solidFill>
            <a:srgbClr val="151515"/>
          </a:solidFill>
          <a:ln/>
        </p:spPr>
      </p:sp>
      <p:sp>
        <p:nvSpPr>
          <p:cNvPr id="35" name="Shape 31"/>
          <p:cNvSpPr/>
          <p:nvPr/>
        </p:nvSpPr>
        <p:spPr>
          <a:xfrm>
            <a:off x="6110250" y="1200150"/>
            <a:ext cx="2733656" cy="28575"/>
          </a:xfrm>
          <a:prstGeom prst="rect">
            <a:avLst/>
          </a:prstGeom>
          <a:solidFill>
            <a:srgbClr val="27C93F"/>
          </a:solidFill>
          <a:ln/>
        </p:spPr>
      </p:sp>
      <p:sp>
        <p:nvSpPr>
          <p:cNvPr id="36" name="Shape 32"/>
          <p:cNvSpPr/>
          <p:nvPr/>
        </p:nvSpPr>
        <p:spPr>
          <a:xfrm>
            <a:off x="8829619" y="1200150"/>
            <a:ext cx="14288" cy="3729038"/>
          </a:xfrm>
          <a:prstGeom prst="rect">
            <a:avLst/>
          </a:prstGeom>
          <a:solidFill>
            <a:srgbClr val="222222"/>
          </a:solidFill>
          <a:ln/>
        </p:spPr>
      </p:sp>
      <p:sp>
        <p:nvSpPr>
          <p:cNvPr id="37" name="Shape 33"/>
          <p:cNvSpPr/>
          <p:nvPr/>
        </p:nvSpPr>
        <p:spPr>
          <a:xfrm>
            <a:off x="6110250" y="4914900"/>
            <a:ext cx="2733656" cy="14288"/>
          </a:xfrm>
          <a:prstGeom prst="rect">
            <a:avLst/>
          </a:prstGeom>
          <a:solidFill>
            <a:srgbClr val="222222"/>
          </a:solidFill>
          <a:ln/>
        </p:spPr>
      </p:sp>
      <p:sp>
        <p:nvSpPr>
          <p:cNvPr id="38" name="Shape 34"/>
          <p:cNvSpPr/>
          <p:nvPr/>
        </p:nvSpPr>
        <p:spPr>
          <a:xfrm>
            <a:off x="6110250" y="1200150"/>
            <a:ext cx="14288" cy="3729038"/>
          </a:xfrm>
          <a:prstGeom prst="rect">
            <a:avLst/>
          </a:prstGeom>
          <a:solidFill>
            <a:srgbClr val="222222"/>
          </a:solidFill>
          <a:ln/>
        </p:spPr>
      </p:sp>
      <p:sp>
        <p:nvSpPr>
          <p:cNvPr id="39" name="Text 35"/>
          <p:cNvSpPr/>
          <p:nvPr/>
        </p:nvSpPr>
        <p:spPr>
          <a:xfrm>
            <a:off x="6281700" y="1371600"/>
            <a:ext cx="2390756" cy="296466"/>
          </a:xfrm>
          <a:prstGeom prst="rect">
            <a:avLst/>
          </a:prstGeom>
          <a:noFill/>
          <a:ln/>
        </p:spPr>
        <p:txBody>
          <a:bodyPr wrap="square" lIns="0" tIns="0" rIns="0" bIns="0" rtlCol="0" anchor="t">
            <a:spAutoFit/>
          </a:bodyPr>
          <a:lstStyle/>
          <a:p>
            <a:pPr algn="ctr" indent="0" marL="0">
              <a:buNone/>
            </a:pPr>
            <a:r>
              <a:rPr lang="en-US" sz="1500" spc="1" kern="0" dirty="0">
                <a:solidFill>
                  <a:srgbClr val="27C93F"/>
                </a:solidFill>
                <a:latin typeface="Oswald SemiBold" pitchFamily="34" charset="0"/>
                <a:ea typeface="Oswald SemiBold" pitchFamily="34" charset="-122"/>
                <a:cs typeface="Oswald SemiBold" pitchFamily="34" charset="-120"/>
              </a:rPr>
              <a:t>AFTER</a:t>
            </a:r>
            <a:endParaRPr lang="en-US" sz="1500" dirty="0"/>
          </a:p>
        </p:txBody>
      </p:sp>
      <p:sp>
        <p:nvSpPr>
          <p:cNvPr id="40" name="Shape 36"/>
          <p:cNvSpPr/>
          <p:nvPr/>
        </p:nvSpPr>
        <p:spPr>
          <a:xfrm>
            <a:off x="6281700" y="1810941"/>
            <a:ext cx="2390756" cy="371475"/>
          </a:xfrm>
          <a:prstGeom prst="rect">
            <a:avLst/>
          </a:prstGeom>
          <a:solidFill>
            <a:srgbClr val="222222"/>
          </a:solidFill>
          <a:ln w="9144">
            <a:solidFill>
              <a:srgbClr val="333333"/>
            </a:solidFill>
            <a:prstDash val="solid"/>
          </a:ln>
        </p:spPr>
      </p:sp>
      <p:sp>
        <p:nvSpPr>
          <p:cNvPr id="41" name="Text 37"/>
          <p:cNvSpPr/>
          <p:nvPr/>
        </p:nvSpPr>
        <p:spPr>
          <a:xfrm>
            <a:off x="6281700" y="1810941"/>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Write artifact</a:t>
            </a:r>
            <a:endParaRPr lang="en-US" sz="900" dirty="0"/>
          </a:p>
        </p:txBody>
      </p:sp>
      <p:sp>
        <p:nvSpPr>
          <p:cNvPr id="42" name="Shape 38"/>
          <p:cNvSpPr/>
          <p:nvPr/>
        </p:nvSpPr>
        <p:spPr>
          <a:xfrm>
            <a:off x="6281700" y="2253853"/>
            <a:ext cx="2390756" cy="371475"/>
          </a:xfrm>
          <a:prstGeom prst="rect">
            <a:avLst/>
          </a:prstGeom>
          <a:solidFill>
            <a:srgbClr val="222222"/>
          </a:solidFill>
          <a:ln w="9144">
            <a:solidFill>
              <a:srgbClr val="333333"/>
            </a:solidFill>
            <a:prstDash val="solid"/>
          </a:ln>
        </p:spPr>
      </p:sp>
      <p:sp>
        <p:nvSpPr>
          <p:cNvPr id="43" name="Text 39"/>
          <p:cNvSpPr/>
          <p:nvPr/>
        </p:nvSpPr>
        <p:spPr>
          <a:xfrm>
            <a:off x="6281700" y="2253853"/>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Execute verification</a:t>
            </a:r>
            <a:endParaRPr lang="en-US" sz="900" dirty="0"/>
          </a:p>
        </p:txBody>
      </p:sp>
      <p:sp>
        <p:nvSpPr>
          <p:cNvPr id="44" name="Shape 40"/>
          <p:cNvSpPr/>
          <p:nvPr/>
        </p:nvSpPr>
        <p:spPr>
          <a:xfrm>
            <a:off x="6281700" y="2696766"/>
            <a:ext cx="2390756" cy="371475"/>
          </a:xfrm>
          <a:prstGeom prst="rect">
            <a:avLst/>
          </a:prstGeom>
          <a:solidFill>
            <a:srgbClr val="222222"/>
          </a:solidFill>
          <a:ln w="9144">
            <a:solidFill>
              <a:srgbClr val="333333"/>
            </a:solidFill>
            <a:prstDash val="solid"/>
          </a:ln>
        </p:spPr>
      </p:sp>
      <p:sp>
        <p:nvSpPr>
          <p:cNvPr id="45" name="Text 41"/>
          <p:cNvSpPr/>
          <p:nvPr/>
        </p:nvSpPr>
        <p:spPr>
          <a:xfrm>
            <a:off x="6281700" y="2696766"/>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Record evidence</a:t>
            </a:r>
            <a:endParaRPr lang="en-US" sz="900" dirty="0"/>
          </a:p>
        </p:txBody>
      </p:sp>
      <p:sp>
        <p:nvSpPr>
          <p:cNvPr id="46" name="Shape 42"/>
          <p:cNvSpPr/>
          <p:nvPr/>
        </p:nvSpPr>
        <p:spPr>
          <a:xfrm>
            <a:off x="6281700" y="3139678"/>
            <a:ext cx="2390756" cy="371475"/>
          </a:xfrm>
          <a:prstGeom prst="rect">
            <a:avLst/>
          </a:prstGeom>
          <a:solidFill>
            <a:srgbClr val="222222"/>
          </a:solidFill>
          <a:ln w="9144">
            <a:solidFill>
              <a:srgbClr val="333333"/>
            </a:solidFill>
            <a:prstDash val="solid"/>
          </a:ln>
        </p:spPr>
      </p:sp>
      <p:sp>
        <p:nvSpPr>
          <p:cNvPr id="47" name="Text 43"/>
          <p:cNvSpPr/>
          <p:nvPr/>
        </p:nvSpPr>
        <p:spPr>
          <a:xfrm>
            <a:off x="6281700" y="3139678"/>
            <a:ext cx="2390756" cy="371475"/>
          </a:xfrm>
          <a:prstGeom prst="rect">
            <a:avLst/>
          </a:prstGeom>
          <a:noFill/>
          <a:ln/>
        </p:spPr>
        <p:txBody>
          <a:bodyPr wrap="square" lIns="153035" tIns="119126" rIns="153035" bIns="119126" rtlCol="0" anchor="t">
            <a:spAutoFit/>
          </a:bodyPr>
          <a:lstStyle/>
          <a:p>
            <a:pPr algn="ctr" indent="0" marL="0">
              <a:buNone/>
            </a:pPr>
            <a:r>
              <a:rPr lang="en-US" sz="900" b="1" dirty="0">
                <a:solidFill>
                  <a:srgbClr val="DDDDDD"/>
                </a:solidFill>
                <a:latin typeface="Inter SemiBold" pitchFamily="34" charset="0"/>
                <a:ea typeface="Inter SemiBold" pitchFamily="34" charset="-122"/>
                <a:cs typeface="Inter SemiBold" pitchFamily="34" charset="-120"/>
              </a:rPr>
              <a:t>Hand off or stop</a:t>
            </a:r>
            <a:endParaRPr lang="en-US" sz="900" dirty="0"/>
          </a:p>
        </p:txBody>
      </p:sp>
      <p:sp>
        <p:nvSpPr>
          <p:cNvPr id="48" name="Shape 44"/>
          <p:cNvSpPr/>
          <p:nvPr/>
        </p:nvSpPr>
        <p:spPr>
          <a:xfrm>
            <a:off x="300038" y="4229100"/>
            <a:ext cx="8543925" cy="314325"/>
          </a:xfrm>
          <a:prstGeom prst="rect">
            <a:avLst/>
          </a:prstGeom>
          <a:solidFill>
            <a:srgbClr val="0055FF">
              <a:alpha val="10000"/>
            </a:srgbClr>
          </a:solidFill>
          <a:ln w="9144">
            <a:solidFill>
              <a:srgbClr val="0088FF"/>
            </a:solidFill>
            <a:prstDash val="solid"/>
          </a:ln>
        </p:spPr>
      </p:sp>
      <p:sp>
        <p:nvSpPr>
          <p:cNvPr id="49" name="Text 45"/>
          <p:cNvSpPr/>
          <p:nvPr/>
        </p:nvSpPr>
        <p:spPr>
          <a:xfrm>
            <a:off x="300038" y="4229100"/>
            <a:ext cx="8543925" cy="314325"/>
          </a:xfrm>
          <a:prstGeom prst="rect">
            <a:avLst/>
          </a:prstGeom>
          <a:noFill/>
          <a:ln/>
        </p:spPr>
        <p:txBody>
          <a:bodyPr wrap="square" lIns="102108" tIns="102108" rIns="102108" bIns="102108" rtlCol="0" anchor="t">
            <a:spAutoFit/>
          </a:bodyPr>
          <a:lstStyle/>
          <a:p>
            <a:pPr algn="ctr" indent="0" marL="0">
              <a:buNone/>
            </a:pPr>
            <a:r>
              <a:rPr lang="en-US" sz="750" b="1" spc="1" kern="0" dirty="0">
                <a:solidFill>
                  <a:srgbClr val="0088FF"/>
                </a:solidFill>
                <a:latin typeface="Inter Bold" pitchFamily="34" charset="0"/>
                <a:ea typeface="Inter Bold" pitchFamily="34" charset="-122"/>
                <a:cs typeface="Inter Bold" pitchFamily="34" charset="-120"/>
              </a:rPr>
              <a:t>APPLIES TO: INTERVIEW · SPECIFY · TRACE · MAP · MODEL · GENERATE · TEST · VALIDATE · REVIEW</a:t>
            </a:r>
            <a:endParaRPr lang="en-US" sz="750" dirty="0"/>
          </a:p>
        </p:txBody>
      </p:sp>
      <p:sp>
        <p:nvSpPr>
          <p:cNvPr id="50" name="Shape 46"/>
          <p:cNvSpPr/>
          <p:nvPr/>
        </p:nvSpPr>
        <p:spPr>
          <a:xfrm rot="60000">
            <a:off x="300038" y="4603477"/>
            <a:ext cx="8543925" cy="454298"/>
          </a:xfrm>
          <a:prstGeom prst="rect">
            <a:avLst/>
          </a:prstGeom>
          <a:solidFill>
            <a:srgbClr val="FFDF00"/>
          </a:solidFill>
          <a:ln w="27432">
            <a:solidFill>
              <a:srgbClr val="111111"/>
            </a:solidFill>
            <a:prstDash val="solid"/>
          </a:ln>
        </p:spPr>
      </p:sp>
      <p:sp>
        <p:nvSpPr>
          <p:cNvPr id="51" name="Text 47"/>
          <p:cNvSpPr/>
          <p:nvPr/>
        </p:nvSpPr>
        <p:spPr>
          <a:xfrm rot="60000">
            <a:off x="300882" y="4640719"/>
            <a:ext cx="8542237" cy="3798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Repeatability comes from the contract, not from the model remembering what to do.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00038" y="214313"/>
            <a:ext cx="8543925" cy="700088"/>
          </a:xfrm>
          <a:prstGeom prst="rect">
            <a:avLst/>
          </a:prstGeom>
          <a:solidFill>
            <a:srgbClr val="000000">
              <a:alpha val="0"/>
            </a:srgbClr>
          </a:solidFill>
          <a:ln/>
        </p:spPr>
      </p:sp>
      <p:sp>
        <p:nvSpPr>
          <p:cNvPr id="5" name="Shape 1"/>
          <p:cNvSpPr/>
          <p:nvPr/>
        </p:nvSpPr>
        <p:spPr>
          <a:xfrm>
            <a:off x="300038" y="892969"/>
            <a:ext cx="8543925" cy="21431"/>
          </a:xfrm>
          <a:prstGeom prst="rect">
            <a:avLst/>
          </a:prstGeom>
          <a:solidFill>
            <a:srgbClr val="333333"/>
          </a:solidFill>
          <a:ln/>
        </p:spPr>
      </p:sp>
      <p:sp>
        <p:nvSpPr>
          <p:cNvPr id="6" name="Text 2"/>
          <p:cNvSpPr/>
          <p:nvPr/>
        </p:nvSpPr>
        <p:spPr>
          <a:xfrm>
            <a:off x="300038" y="274700"/>
            <a:ext cx="8543925" cy="390004"/>
          </a:xfrm>
          <a:prstGeom prst="rect">
            <a:avLst/>
          </a:prstGeom>
          <a:noFill/>
          <a:ln/>
        </p:spPr>
        <p:txBody>
          <a:bodyPr wrap="none" lIns="0" tIns="0" rIns="0" bIns="0" rtlCol="0" anchor="t">
            <a:spAutoFit/>
          </a:bodyPr>
          <a:lstStyle/>
          <a:p>
            <a:pPr algn="l" indent="0" marL="0">
              <a:lnSpc>
                <a:spcPct val="84000"/>
              </a:lnSpc>
              <a:buNone/>
            </a:pPr>
            <a:r>
              <a:rPr lang="en-US" sz="2650" b="1" spc="1" kern="0" dirty="0">
                <a:solidFill>
                  <a:srgbClr val="F0F0F0"/>
                </a:solidFill>
                <a:latin typeface="Oswald SemiBold" pitchFamily="34" charset="0"/>
                <a:ea typeface="Oswald SemiBold" pitchFamily="34" charset="-122"/>
                <a:cs typeface="Oswald SemiBold" pitchFamily="34" charset="-120"/>
              </a:rPr>
              <a:t>THE FIVE-ACT MIGRATION JOURNEY</a:t>
            </a:r>
            <a:endParaRPr lang="en-US" sz="2650" dirty="0"/>
          </a:p>
        </p:txBody>
      </p:sp>
      <p:sp>
        <p:nvSpPr>
          <p:cNvPr id="7" name="Text 3"/>
          <p:cNvSpPr/>
          <p:nvPr/>
        </p:nvSpPr>
        <p:spPr>
          <a:xfrm>
            <a:off x="300038" y="678991"/>
            <a:ext cx="8543925" cy="175022"/>
          </a:xfrm>
          <a:prstGeom prst="rect">
            <a:avLst/>
          </a:prstGeom>
          <a:noFill/>
          <a:ln/>
        </p:spPr>
        <p:txBody>
          <a:bodyPr wrap="square" lIns="0" tIns="0" rIns="0" bIns="0" rtlCol="0" anchor="t">
            <a:spAutoFit/>
          </a:bodyPr>
          <a:lstStyle/>
          <a:p>
            <a:pPr algn="l" indent="0" marL="0">
              <a:buNone/>
            </a:pPr>
            <a:r>
              <a:rPr lang="en-US" sz="1000" b="1" dirty="0">
                <a:solidFill>
                  <a:srgbClr val="0088FF"/>
                </a:solidFill>
                <a:latin typeface="Inter SemiBold" pitchFamily="34" charset="0"/>
                <a:ea typeface="Inter SemiBold" pitchFamily="34" charset="-122"/>
                <a:cs typeface="Inter SemiBold" pitchFamily="34" charset="-120"/>
              </a:rPr>
              <a:t>The repo moves from business intent to verified evidence in controlled acts.</a:t>
            </a:r>
            <a:endParaRPr lang="en-US" sz="1000" dirty="0"/>
          </a:p>
        </p:txBody>
      </p:sp>
      <p:sp>
        <p:nvSpPr>
          <p:cNvPr id="8" name="Shape 4"/>
          <p:cNvSpPr/>
          <p:nvPr/>
        </p:nvSpPr>
        <p:spPr>
          <a:xfrm>
            <a:off x="300038" y="1200150"/>
            <a:ext cx="1640216" cy="2714625"/>
          </a:xfrm>
          <a:prstGeom prst="rect">
            <a:avLst/>
          </a:prstGeom>
          <a:solidFill>
            <a:srgbClr val="151515"/>
          </a:solidFill>
          <a:ln w="18288">
            <a:solidFill>
              <a:srgbClr val="222222"/>
            </a:solidFill>
            <a:prstDash val="solid"/>
          </a:ln>
        </p:spPr>
      </p:sp>
      <p:sp>
        <p:nvSpPr>
          <p:cNvPr id="9" name="Text 5"/>
          <p:cNvSpPr/>
          <p:nvPr/>
        </p:nvSpPr>
        <p:spPr>
          <a:xfrm>
            <a:off x="300038" y="1200150"/>
            <a:ext cx="1617334" cy="457200"/>
          </a:xfrm>
          <a:prstGeom prst="rect">
            <a:avLst/>
          </a:prstGeom>
          <a:noFill/>
          <a:ln/>
        </p:spPr>
        <p:txBody>
          <a:bodyPr wrap="square" lIns="102108" tIns="119126" rIns="102108" bIns="119126" rtlCol="0" anchor="t">
            <a:spAutoFit/>
          </a:bodyPr>
          <a:lstStyle/>
          <a:p>
            <a:pPr algn="ctr" indent="0" marL="0">
              <a:buNone/>
            </a:pPr>
            <a:r>
              <a:rPr lang="en-US" sz="1050" spc="1" kern="0" dirty="0">
                <a:solidFill>
                  <a:srgbClr val="0088FF"/>
                </a:solidFill>
                <a:latin typeface="Oswald SemiBold" pitchFamily="34" charset="0"/>
                <a:ea typeface="Oswald SemiBold" pitchFamily="34" charset="-122"/>
                <a:cs typeface="Oswald SemiBold" pitchFamily="34" charset="-120"/>
              </a:rPr>
              <a:t>ACT 1 · ALIGN</a:t>
            </a:r>
            <a:endParaRPr lang="en-US" sz="1050" dirty="0"/>
          </a:p>
        </p:txBody>
      </p:sp>
      <p:sp>
        <p:nvSpPr>
          <p:cNvPr id="10" name="Shape 6"/>
          <p:cNvSpPr/>
          <p:nvPr/>
        </p:nvSpPr>
        <p:spPr>
          <a:xfrm>
            <a:off x="385763" y="2291358"/>
            <a:ext cx="1445884" cy="282178"/>
          </a:xfrm>
          <a:prstGeom prst="rect">
            <a:avLst/>
          </a:prstGeom>
          <a:solidFill>
            <a:srgbClr val="222222"/>
          </a:solidFill>
          <a:ln/>
        </p:spPr>
      </p:sp>
      <p:sp>
        <p:nvSpPr>
          <p:cNvPr id="11" name="Text 7"/>
          <p:cNvSpPr/>
          <p:nvPr/>
        </p:nvSpPr>
        <p:spPr>
          <a:xfrm>
            <a:off x="385763" y="2291358"/>
            <a:ext cx="1445884"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Interview</a:t>
            </a:r>
            <a:endParaRPr lang="en-US" sz="800" dirty="0"/>
          </a:p>
        </p:txBody>
      </p:sp>
      <p:sp>
        <p:nvSpPr>
          <p:cNvPr id="12" name="Shape 8"/>
          <p:cNvSpPr/>
          <p:nvPr/>
        </p:nvSpPr>
        <p:spPr>
          <a:xfrm>
            <a:off x="385763" y="2644973"/>
            <a:ext cx="1445884" cy="282178"/>
          </a:xfrm>
          <a:prstGeom prst="rect">
            <a:avLst/>
          </a:prstGeom>
          <a:solidFill>
            <a:srgbClr val="222222"/>
          </a:solidFill>
          <a:ln/>
        </p:spPr>
      </p:sp>
      <p:sp>
        <p:nvSpPr>
          <p:cNvPr id="13" name="Text 9"/>
          <p:cNvSpPr/>
          <p:nvPr/>
        </p:nvSpPr>
        <p:spPr>
          <a:xfrm>
            <a:off x="385763" y="2644973"/>
            <a:ext cx="1445884"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Specify</a:t>
            </a:r>
            <a:endParaRPr lang="en-US" sz="800" dirty="0"/>
          </a:p>
        </p:txBody>
      </p:sp>
      <p:sp>
        <p:nvSpPr>
          <p:cNvPr id="14" name="Shape 10"/>
          <p:cNvSpPr/>
          <p:nvPr/>
        </p:nvSpPr>
        <p:spPr>
          <a:xfrm>
            <a:off x="385763" y="2998589"/>
            <a:ext cx="1445884" cy="282178"/>
          </a:xfrm>
          <a:prstGeom prst="rect">
            <a:avLst/>
          </a:prstGeom>
          <a:solidFill>
            <a:srgbClr val="222222"/>
          </a:solidFill>
          <a:ln/>
        </p:spPr>
      </p:sp>
      <p:sp>
        <p:nvSpPr>
          <p:cNvPr id="15" name="Text 11"/>
          <p:cNvSpPr/>
          <p:nvPr/>
        </p:nvSpPr>
        <p:spPr>
          <a:xfrm>
            <a:off x="385763" y="2998589"/>
            <a:ext cx="1445884"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Decide</a:t>
            </a:r>
            <a:endParaRPr lang="en-US" sz="800" dirty="0"/>
          </a:p>
        </p:txBody>
      </p:sp>
      <p:sp>
        <p:nvSpPr>
          <p:cNvPr id="16" name="Shape 12"/>
          <p:cNvSpPr/>
          <p:nvPr/>
        </p:nvSpPr>
        <p:spPr>
          <a:xfrm>
            <a:off x="2003096" y="1200150"/>
            <a:ext cx="1645909" cy="2714625"/>
          </a:xfrm>
          <a:prstGeom prst="rect">
            <a:avLst/>
          </a:prstGeom>
          <a:solidFill>
            <a:srgbClr val="151515"/>
          </a:solidFill>
          <a:ln w="18288">
            <a:solidFill>
              <a:srgbClr val="222222"/>
            </a:solidFill>
            <a:prstDash val="solid"/>
          </a:ln>
        </p:spPr>
      </p:sp>
      <p:sp>
        <p:nvSpPr>
          <p:cNvPr id="17" name="Text 13"/>
          <p:cNvSpPr/>
          <p:nvPr/>
        </p:nvSpPr>
        <p:spPr>
          <a:xfrm>
            <a:off x="2008845" y="1200150"/>
            <a:ext cx="1623082" cy="457200"/>
          </a:xfrm>
          <a:prstGeom prst="rect">
            <a:avLst/>
          </a:prstGeom>
          <a:noFill/>
          <a:ln/>
        </p:spPr>
        <p:txBody>
          <a:bodyPr wrap="square" lIns="102108" tIns="119126" rIns="102108" bIns="119126" rtlCol="0" anchor="t">
            <a:spAutoFit/>
          </a:bodyPr>
          <a:lstStyle/>
          <a:p>
            <a:pPr algn="ctr" indent="0" marL="0">
              <a:buNone/>
            </a:pPr>
            <a:r>
              <a:rPr lang="en-US" sz="1050" spc="1" kern="0" dirty="0">
                <a:solidFill>
                  <a:srgbClr val="27C93F"/>
                </a:solidFill>
                <a:latin typeface="Oswald SemiBold" pitchFamily="34" charset="0"/>
                <a:ea typeface="Oswald SemiBold" pitchFamily="34" charset="-122"/>
                <a:cs typeface="Oswald SemiBold" pitchFamily="34" charset="-120"/>
              </a:rPr>
              <a:t>ACT 2 · RECONSTRUCT</a:t>
            </a:r>
            <a:endParaRPr lang="en-US" sz="1050" dirty="0"/>
          </a:p>
        </p:txBody>
      </p:sp>
      <p:sp>
        <p:nvSpPr>
          <p:cNvPr id="18" name="Shape 14"/>
          <p:cNvSpPr/>
          <p:nvPr/>
        </p:nvSpPr>
        <p:spPr>
          <a:xfrm>
            <a:off x="2094570" y="2291358"/>
            <a:ext cx="1451632" cy="282178"/>
          </a:xfrm>
          <a:prstGeom prst="rect">
            <a:avLst/>
          </a:prstGeom>
          <a:solidFill>
            <a:srgbClr val="222222"/>
          </a:solidFill>
          <a:ln/>
        </p:spPr>
      </p:sp>
      <p:sp>
        <p:nvSpPr>
          <p:cNvPr id="19" name="Text 15"/>
          <p:cNvSpPr/>
          <p:nvPr/>
        </p:nvSpPr>
        <p:spPr>
          <a:xfrm>
            <a:off x="2094570" y="2291358"/>
            <a:ext cx="1451632"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Trace</a:t>
            </a:r>
            <a:endParaRPr lang="en-US" sz="800" dirty="0"/>
          </a:p>
        </p:txBody>
      </p:sp>
      <p:sp>
        <p:nvSpPr>
          <p:cNvPr id="20" name="Shape 16"/>
          <p:cNvSpPr/>
          <p:nvPr/>
        </p:nvSpPr>
        <p:spPr>
          <a:xfrm>
            <a:off x="2094570" y="2644973"/>
            <a:ext cx="1451632" cy="282178"/>
          </a:xfrm>
          <a:prstGeom prst="rect">
            <a:avLst/>
          </a:prstGeom>
          <a:solidFill>
            <a:srgbClr val="222222"/>
          </a:solidFill>
          <a:ln/>
        </p:spPr>
      </p:sp>
      <p:sp>
        <p:nvSpPr>
          <p:cNvPr id="21" name="Text 17"/>
          <p:cNvSpPr/>
          <p:nvPr/>
        </p:nvSpPr>
        <p:spPr>
          <a:xfrm>
            <a:off x="2094570" y="2644973"/>
            <a:ext cx="1451632"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Map</a:t>
            </a:r>
            <a:endParaRPr lang="en-US" sz="800" dirty="0"/>
          </a:p>
        </p:txBody>
      </p:sp>
      <p:sp>
        <p:nvSpPr>
          <p:cNvPr id="22" name="Shape 18"/>
          <p:cNvSpPr/>
          <p:nvPr/>
        </p:nvSpPr>
        <p:spPr>
          <a:xfrm>
            <a:off x="2094570" y="2998589"/>
            <a:ext cx="1451632" cy="282178"/>
          </a:xfrm>
          <a:prstGeom prst="rect">
            <a:avLst/>
          </a:prstGeom>
          <a:solidFill>
            <a:srgbClr val="222222"/>
          </a:solidFill>
          <a:ln/>
        </p:spPr>
      </p:sp>
      <p:sp>
        <p:nvSpPr>
          <p:cNvPr id="23" name="Text 19"/>
          <p:cNvSpPr/>
          <p:nvPr/>
        </p:nvSpPr>
        <p:spPr>
          <a:xfrm>
            <a:off x="2094570" y="2998589"/>
            <a:ext cx="1451632"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Model</a:t>
            </a:r>
            <a:endParaRPr lang="en-US" sz="800" dirty="0"/>
          </a:p>
        </p:txBody>
      </p:sp>
      <p:sp>
        <p:nvSpPr>
          <p:cNvPr id="24" name="Shape 20"/>
          <p:cNvSpPr/>
          <p:nvPr/>
        </p:nvSpPr>
        <p:spPr>
          <a:xfrm>
            <a:off x="3717652" y="1200150"/>
            <a:ext cx="1651657" cy="2714625"/>
          </a:xfrm>
          <a:prstGeom prst="rect">
            <a:avLst/>
          </a:prstGeom>
          <a:solidFill>
            <a:srgbClr val="151515"/>
          </a:solidFill>
          <a:ln w="18288">
            <a:solidFill>
              <a:srgbClr val="222222"/>
            </a:solidFill>
            <a:prstDash val="solid"/>
          </a:ln>
        </p:spPr>
      </p:sp>
      <p:sp>
        <p:nvSpPr>
          <p:cNvPr id="25" name="Text 21"/>
          <p:cNvSpPr/>
          <p:nvPr/>
        </p:nvSpPr>
        <p:spPr>
          <a:xfrm>
            <a:off x="3729038" y="1200150"/>
            <a:ext cx="1628775" cy="671513"/>
          </a:xfrm>
          <a:prstGeom prst="rect">
            <a:avLst/>
          </a:prstGeom>
          <a:noFill/>
          <a:ln/>
        </p:spPr>
        <p:txBody>
          <a:bodyPr wrap="square" lIns="102108" tIns="119126" rIns="102108" bIns="119126" rtlCol="0" anchor="t">
            <a:spAutoFit/>
          </a:bodyPr>
          <a:lstStyle/>
          <a:p>
            <a:pPr algn="ctr" indent="0" marL="0">
              <a:buNone/>
            </a:pPr>
            <a:r>
              <a:rPr lang="en-US" sz="1050" spc="1" kern="0" dirty="0">
                <a:solidFill>
                  <a:srgbClr val="FFBD2E"/>
                </a:solidFill>
                <a:latin typeface="Oswald SemiBold" pitchFamily="34" charset="0"/>
                <a:ea typeface="Oswald SemiBold" pitchFamily="34" charset="-122"/>
                <a:cs typeface="Oswald SemiBold" pitchFamily="34" charset="-120"/>
              </a:rPr>
              <a:t>ACT 3 · PROVE LOCALLY</a:t>
            </a:r>
            <a:endParaRPr lang="en-US" sz="1050" dirty="0"/>
          </a:p>
        </p:txBody>
      </p:sp>
      <p:sp>
        <p:nvSpPr>
          <p:cNvPr id="26" name="Shape 22"/>
          <p:cNvSpPr/>
          <p:nvPr/>
        </p:nvSpPr>
        <p:spPr>
          <a:xfrm>
            <a:off x="3814763" y="2398514"/>
            <a:ext cx="1457325" cy="282178"/>
          </a:xfrm>
          <a:prstGeom prst="rect">
            <a:avLst/>
          </a:prstGeom>
          <a:solidFill>
            <a:srgbClr val="222222"/>
          </a:solidFill>
          <a:ln/>
        </p:spPr>
      </p:sp>
      <p:sp>
        <p:nvSpPr>
          <p:cNvPr id="27" name="Text 23"/>
          <p:cNvSpPr/>
          <p:nvPr/>
        </p:nvSpPr>
        <p:spPr>
          <a:xfrm>
            <a:off x="3814763" y="2398514"/>
            <a:ext cx="1457325"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Generate</a:t>
            </a:r>
            <a:endParaRPr lang="en-US" sz="800" dirty="0"/>
          </a:p>
        </p:txBody>
      </p:sp>
      <p:sp>
        <p:nvSpPr>
          <p:cNvPr id="28" name="Shape 24"/>
          <p:cNvSpPr/>
          <p:nvPr/>
        </p:nvSpPr>
        <p:spPr>
          <a:xfrm>
            <a:off x="3814763" y="2752130"/>
            <a:ext cx="1457325" cy="282178"/>
          </a:xfrm>
          <a:prstGeom prst="rect">
            <a:avLst/>
          </a:prstGeom>
          <a:solidFill>
            <a:srgbClr val="222222"/>
          </a:solidFill>
          <a:ln/>
        </p:spPr>
      </p:sp>
      <p:sp>
        <p:nvSpPr>
          <p:cNvPr id="29" name="Text 25"/>
          <p:cNvSpPr/>
          <p:nvPr/>
        </p:nvSpPr>
        <p:spPr>
          <a:xfrm>
            <a:off x="3814763" y="2752130"/>
            <a:ext cx="1457325"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Test</a:t>
            </a:r>
            <a:endParaRPr lang="en-US" sz="800" dirty="0"/>
          </a:p>
        </p:txBody>
      </p:sp>
      <p:sp>
        <p:nvSpPr>
          <p:cNvPr id="30" name="Shape 26"/>
          <p:cNvSpPr/>
          <p:nvPr/>
        </p:nvSpPr>
        <p:spPr>
          <a:xfrm>
            <a:off x="3814763" y="3105745"/>
            <a:ext cx="1457325" cy="282178"/>
          </a:xfrm>
          <a:prstGeom prst="rect">
            <a:avLst/>
          </a:prstGeom>
          <a:solidFill>
            <a:srgbClr val="222222"/>
          </a:solidFill>
          <a:ln/>
        </p:spPr>
      </p:sp>
      <p:sp>
        <p:nvSpPr>
          <p:cNvPr id="31" name="Text 27"/>
          <p:cNvSpPr/>
          <p:nvPr/>
        </p:nvSpPr>
        <p:spPr>
          <a:xfrm>
            <a:off x="3814763" y="3105745"/>
            <a:ext cx="1457325"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Validate</a:t>
            </a:r>
            <a:endParaRPr lang="en-US" sz="800" dirty="0"/>
          </a:p>
        </p:txBody>
      </p:sp>
      <p:sp>
        <p:nvSpPr>
          <p:cNvPr id="32" name="Shape 28"/>
          <p:cNvSpPr/>
          <p:nvPr/>
        </p:nvSpPr>
        <p:spPr>
          <a:xfrm>
            <a:off x="5443538" y="1200150"/>
            <a:ext cx="1657350" cy="2714625"/>
          </a:xfrm>
          <a:prstGeom prst="rect">
            <a:avLst/>
          </a:prstGeom>
          <a:solidFill>
            <a:srgbClr val="151515"/>
          </a:solidFill>
          <a:ln w="18288">
            <a:solidFill>
              <a:srgbClr val="222222"/>
            </a:solidFill>
            <a:prstDash val="solid"/>
          </a:ln>
        </p:spPr>
      </p:sp>
      <p:sp>
        <p:nvSpPr>
          <p:cNvPr id="33" name="Text 29"/>
          <p:cNvSpPr/>
          <p:nvPr/>
        </p:nvSpPr>
        <p:spPr>
          <a:xfrm>
            <a:off x="5460616" y="1200150"/>
            <a:ext cx="1634468" cy="457200"/>
          </a:xfrm>
          <a:prstGeom prst="rect">
            <a:avLst/>
          </a:prstGeom>
          <a:noFill/>
          <a:ln/>
        </p:spPr>
        <p:txBody>
          <a:bodyPr wrap="square" lIns="102108" tIns="119126" rIns="102108" bIns="119126" rtlCol="0" anchor="t">
            <a:spAutoFit/>
          </a:bodyPr>
          <a:lstStyle/>
          <a:p>
            <a:pPr algn="ctr" indent="0" marL="0">
              <a:buNone/>
            </a:pPr>
            <a:r>
              <a:rPr lang="en-US" sz="1050" spc="1" kern="0" dirty="0">
                <a:solidFill>
                  <a:srgbClr val="FF5F56"/>
                </a:solidFill>
                <a:latin typeface="Oswald SemiBold" pitchFamily="34" charset="0"/>
                <a:ea typeface="Oswald SemiBold" pitchFamily="34" charset="-122"/>
                <a:cs typeface="Oswald SemiBold" pitchFamily="34" charset="-120"/>
              </a:rPr>
              <a:t>ACT 4 · OPERATE</a:t>
            </a:r>
            <a:endParaRPr lang="en-US" sz="1050" dirty="0"/>
          </a:p>
        </p:txBody>
      </p:sp>
      <p:sp>
        <p:nvSpPr>
          <p:cNvPr id="34" name="Shape 30"/>
          <p:cNvSpPr/>
          <p:nvPr/>
        </p:nvSpPr>
        <p:spPr>
          <a:xfrm>
            <a:off x="5546341" y="2114550"/>
            <a:ext cx="1463018" cy="282178"/>
          </a:xfrm>
          <a:prstGeom prst="rect">
            <a:avLst/>
          </a:prstGeom>
          <a:solidFill>
            <a:srgbClr val="222222"/>
          </a:solidFill>
          <a:ln/>
        </p:spPr>
      </p:sp>
      <p:sp>
        <p:nvSpPr>
          <p:cNvPr id="35" name="Text 31"/>
          <p:cNvSpPr/>
          <p:nvPr/>
        </p:nvSpPr>
        <p:spPr>
          <a:xfrm>
            <a:off x="5546341" y="2114550"/>
            <a:ext cx="1463018"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Adapt</a:t>
            </a:r>
            <a:endParaRPr lang="en-US" sz="800" dirty="0"/>
          </a:p>
        </p:txBody>
      </p:sp>
      <p:sp>
        <p:nvSpPr>
          <p:cNvPr id="36" name="Shape 32"/>
          <p:cNvSpPr/>
          <p:nvPr/>
        </p:nvSpPr>
        <p:spPr>
          <a:xfrm>
            <a:off x="5546341" y="2468166"/>
            <a:ext cx="1463018" cy="282178"/>
          </a:xfrm>
          <a:prstGeom prst="rect">
            <a:avLst/>
          </a:prstGeom>
          <a:solidFill>
            <a:srgbClr val="222222"/>
          </a:solidFill>
          <a:ln/>
        </p:spPr>
      </p:sp>
      <p:sp>
        <p:nvSpPr>
          <p:cNvPr id="37" name="Text 33"/>
          <p:cNvSpPr/>
          <p:nvPr/>
        </p:nvSpPr>
        <p:spPr>
          <a:xfrm>
            <a:off x="5546341" y="2468166"/>
            <a:ext cx="1463018"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Ingest</a:t>
            </a:r>
            <a:endParaRPr lang="en-US" sz="800" dirty="0"/>
          </a:p>
        </p:txBody>
      </p:sp>
      <p:sp>
        <p:nvSpPr>
          <p:cNvPr id="38" name="Shape 34"/>
          <p:cNvSpPr/>
          <p:nvPr/>
        </p:nvSpPr>
        <p:spPr>
          <a:xfrm>
            <a:off x="5546341" y="2821781"/>
            <a:ext cx="1463018" cy="282178"/>
          </a:xfrm>
          <a:prstGeom prst="rect">
            <a:avLst/>
          </a:prstGeom>
          <a:solidFill>
            <a:srgbClr val="222222"/>
          </a:solidFill>
          <a:ln/>
        </p:spPr>
      </p:sp>
      <p:sp>
        <p:nvSpPr>
          <p:cNvPr id="39" name="Text 35"/>
          <p:cNvSpPr/>
          <p:nvPr/>
        </p:nvSpPr>
        <p:spPr>
          <a:xfrm>
            <a:off x="5546341" y="2821781"/>
            <a:ext cx="1463018"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Review</a:t>
            </a:r>
            <a:endParaRPr lang="en-US" sz="800" dirty="0"/>
          </a:p>
        </p:txBody>
      </p:sp>
      <p:sp>
        <p:nvSpPr>
          <p:cNvPr id="40" name="Shape 36"/>
          <p:cNvSpPr/>
          <p:nvPr/>
        </p:nvSpPr>
        <p:spPr>
          <a:xfrm>
            <a:off x="5546341" y="3175397"/>
            <a:ext cx="1463018" cy="282178"/>
          </a:xfrm>
          <a:prstGeom prst="rect">
            <a:avLst/>
          </a:prstGeom>
          <a:solidFill>
            <a:srgbClr val="222222"/>
          </a:solidFill>
          <a:ln/>
        </p:spPr>
      </p:sp>
      <p:sp>
        <p:nvSpPr>
          <p:cNvPr id="41" name="Text 37"/>
          <p:cNvSpPr/>
          <p:nvPr/>
        </p:nvSpPr>
        <p:spPr>
          <a:xfrm>
            <a:off x="5546341" y="3175397"/>
            <a:ext cx="1463018"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Release</a:t>
            </a:r>
            <a:endParaRPr lang="en-US" sz="800" dirty="0"/>
          </a:p>
        </p:txBody>
      </p:sp>
      <p:sp>
        <p:nvSpPr>
          <p:cNvPr id="42" name="Shape 38"/>
          <p:cNvSpPr/>
          <p:nvPr/>
        </p:nvSpPr>
        <p:spPr>
          <a:xfrm>
            <a:off x="7180808" y="1200150"/>
            <a:ext cx="1663043" cy="2714625"/>
          </a:xfrm>
          <a:prstGeom prst="rect">
            <a:avLst/>
          </a:prstGeom>
          <a:solidFill>
            <a:srgbClr val="151515"/>
          </a:solidFill>
          <a:ln w="18288">
            <a:solidFill>
              <a:srgbClr val="222222"/>
            </a:solidFill>
            <a:prstDash val="solid"/>
          </a:ln>
        </p:spPr>
      </p:sp>
      <p:sp>
        <p:nvSpPr>
          <p:cNvPr id="43" name="Text 39"/>
          <p:cNvSpPr/>
          <p:nvPr/>
        </p:nvSpPr>
        <p:spPr>
          <a:xfrm>
            <a:off x="7203802" y="1200150"/>
            <a:ext cx="1640216" cy="457200"/>
          </a:xfrm>
          <a:prstGeom prst="rect">
            <a:avLst/>
          </a:prstGeom>
          <a:noFill/>
          <a:ln/>
        </p:spPr>
        <p:txBody>
          <a:bodyPr wrap="square" lIns="102108" tIns="119126" rIns="102108" bIns="119126" rtlCol="0" anchor="t">
            <a:spAutoFit/>
          </a:bodyPr>
          <a:lstStyle/>
          <a:p>
            <a:pPr algn="ctr" indent="0" marL="0">
              <a:buNone/>
            </a:pPr>
            <a:r>
              <a:rPr lang="en-US" sz="1050" spc="1" kern="0" dirty="0">
                <a:solidFill>
                  <a:srgbClr val="C586C0"/>
                </a:solidFill>
                <a:latin typeface="Oswald SemiBold" pitchFamily="34" charset="0"/>
                <a:ea typeface="Oswald SemiBold" pitchFamily="34" charset="-122"/>
                <a:cs typeface="Oswald SemiBold" pitchFamily="34" charset="-120"/>
              </a:rPr>
              <a:t>ACT 5 · LEARN</a:t>
            </a:r>
            <a:endParaRPr lang="en-US" sz="1050" dirty="0"/>
          </a:p>
        </p:txBody>
      </p:sp>
      <p:sp>
        <p:nvSpPr>
          <p:cNvPr id="44" name="Shape 40"/>
          <p:cNvSpPr/>
          <p:nvPr/>
        </p:nvSpPr>
        <p:spPr>
          <a:xfrm>
            <a:off x="7289527" y="2291358"/>
            <a:ext cx="1468766" cy="282178"/>
          </a:xfrm>
          <a:prstGeom prst="rect">
            <a:avLst/>
          </a:prstGeom>
          <a:solidFill>
            <a:srgbClr val="222222"/>
          </a:solidFill>
          <a:ln/>
        </p:spPr>
      </p:sp>
      <p:sp>
        <p:nvSpPr>
          <p:cNvPr id="45" name="Text 41"/>
          <p:cNvSpPr/>
          <p:nvPr/>
        </p:nvSpPr>
        <p:spPr>
          <a:xfrm>
            <a:off x="7289527" y="2291358"/>
            <a:ext cx="1468766"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Repeated Evidence</a:t>
            </a:r>
            <a:endParaRPr lang="en-US" sz="800" dirty="0"/>
          </a:p>
        </p:txBody>
      </p:sp>
      <p:sp>
        <p:nvSpPr>
          <p:cNvPr id="46" name="Shape 42"/>
          <p:cNvSpPr/>
          <p:nvPr/>
        </p:nvSpPr>
        <p:spPr>
          <a:xfrm>
            <a:off x="7289527" y="2644973"/>
            <a:ext cx="1468766" cy="282178"/>
          </a:xfrm>
          <a:prstGeom prst="rect">
            <a:avLst/>
          </a:prstGeom>
          <a:solidFill>
            <a:srgbClr val="222222"/>
          </a:solidFill>
          <a:ln/>
        </p:spPr>
      </p:sp>
      <p:sp>
        <p:nvSpPr>
          <p:cNvPr id="47" name="Text 43"/>
          <p:cNvSpPr/>
          <p:nvPr/>
        </p:nvSpPr>
        <p:spPr>
          <a:xfrm>
            <a:off x="7289527" y="2644973"/>
            <a:ext cx="1468766"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Candidate Pattern</a:t>
            </a:r>
            <a:endParaRPr lang="en-US" sz="800" dirty="0"/>
          </a:p>
        </p:txBody>
      </p:sp>
      <p:sp>
        <p:nvSpPr>
          <p:cNvPr id="48" name="Shape 44"/>
          <p:cNvSpPr/>
          <p:nvPr/>
        </p:nvSpPr>
        <p:spPr>
          <a:xfrm>
            <a:off x="7289527" y="2998589"/>
            <a:ext cx="1468766" cy="282178"/>
          </a:xfrm>
          <a:prstGeom prst="rect">
            <a:avLst/>
          </a:prstGeom>
          <a:solidFill>
            <a:srgbClr val="222222"/>
          </a:solidFill>
          <a:ln/>
        </p:spPr>
      </p:sp>
      <p:sp>
        <p:nvSpPr>
          <p:cNvPr id="49" name="Text 45"/>
          <p:cNvSpPr/>
          <p:nvPr/>
        </p:nvSpPr>
        <p:spPr>
          <a:xfrm>
            <a:off x="7289527" y="2998589"/>
            <a:ext cx="1468766" cy="282178"/>
          </a:xfrm>
          <a:prstGeom prst="rect">
            <a:avLst/>
          </a:prstGeom>
          <a:noFill/>
          <a:ln/>
        </p:spPr>
        <p:txBody>
          <a:bodyPr wrap="square" lIns="85090" tIns="85090" rIns="85090" bIns="85090" rtlCol="0" anchor="t">
            <a:spAutoFit/>
          </a:bodyPr>
          <a:lstStyle/>
          <a:p>
            <a:pPr algn="ctr" indent="0" marL="0">
              <a:buNone/>
            </a:pPr>
            <a:r>
              <a:rPr lang="en-US" sz="800" b="1" dirty="0">
                <a:solidFill>
                  <a:srgbClr val="CCCCCC"/>
                </a:solidFill>
                <a:latin typeface="Inter SemiBold" pitchFamily="34" charset="0"/>
                <a:ea typeface="Inter SemiBold" pitchFamily="34" charset="-122"/>
                <a:cs typeface="Inter SemiBold" pitchFamily="34" charset="-120"/>
              </a:rPr>
              <a:t>Human Promotion</a:t>
            </a:r>
            <a:endParaRPr lang="en-US" sz="800" dirty="0"/>
          </a:p>
        </p:txBody>
      </p:sp>
      <p:sp>
        <p:nvSpPr>
          <p:cNvPr id="50" name="Shape 46"/>
          <p:cNvSpPr/>
          <p:nvPr/>
        </p:nvSpPr>
        <p:spPr>
          <a:xfrm rot="-60000">
            <a:off x="300038" y="4422763"/>
            <a:ext cx="8543925" cy="635012"/>
          </a:xfrm>
          <a:prstGeom prst="rect">
            <a:avLst/>
          </a:prstGeom>
          <a:solidFill>
            <a:srgbClr val="FFDF00"/>
          </a:solidFill>
          <a:ln w="27432">
            <a:solidFill>
              <a:srgbClr val="111111"/>
            </a:solidFill>
            <a:prstDash val="solid"/>
          </a:ln>
        </p:spPr>
      </p:sp>
      <p:sp>
        <p:nvSpPr>
          <p:cNvPr id="51" name="Text 47"/>
          <p:cNvSpPr/>
          <p:nvPr/>
        </p:nvSpPr>
        <p:spPr>
          <a:xfrm rot="-60000">
            <a:off x="301671" y="4459980"/>
            <a:ext cx="8540659" cy="560578"/>
          </a:xfrm>
          <a:prstGeom prst="rect">
            <a:avLst/>
          </a:prstGeom>
          <a:noFill/>
          <a:ln/>
        </p:spPr>
        <p:txBody>
          <a:bodyPr wrap="square" lIns="204089" tIns="119126" rIns="204089" bIns="119126" rtlCol="0" anchor="t">
            <a:spAutoFit/>
          </a:bodyPr>
          <a:lstStyle/>
          <a:p>
            <a:pPr algn="ctr" indent="0" marL="0">
              <a:lnSpc>
                <a:spcPct val="92000"/>
              </a:lnSpc>
              <a:buNone/>
            </a:pPr>
            <a:r>
              <a:rPr lang="en-US" sz="1150" b="1" dirty="0">
                <a:solidFill>
                  <a:srgbClr val="111111"/>
                </a:solidFill>
                <a:latin typeface="Kalam Bold" pitchFamily="34" charset="0"/>
                <a:ea typeface="Kalam Bold" pitchFamily="34" charset="-122"/>
                <a:cs typeface="Kalam Bold" pitchFamily="34" charset="-120"/>
              </a:rPr>
              <a:t>The sequence prevents discovery, implementation, checking, and approval from collapsing into one opaque AI action.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ACT 1: THE REQUEST ENTERS THE GOVERNED FLOW</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428625"/>
          </a:xfrm>
          <a:prstGeom prst="rect">
            <a:avLst/>
          </a:prstGeom>
          <a:solidFill>
            <a:srgbClr val="FFFFFF"/>
          </a:solidFill>
          <a:ln w="18288">
            <a:solidFill>
              <a:srgbClr val="111111"/>
            </a:solidFill>
            <a:prstDash val="solid"/>
          </a:ln>
        </p:spPr>
      </p:sp>
      <p:sp>
        <p:nvSpPr>
          <p:cNvPr id="9" name="Shape 5"/>
          <p:cNvSpPr/>
          <p:nvPr/>
        </p:nvSpPr>
        <p:spPr>
          <a:xfrm>
            <a:off x="385763" y="1460897"/>
            <a:ext cx="214313" cy="214313"/>
          </a:xfrm>
          <a:prstGeom prst="rect">
            <a:avLst/>
          </a:prstGeom>
          <a:solidFill>
            <a:srgbClr val="111111"/>
          </a:solidFill>
          <a:ln/>
        </p:spPr>
      </p:sp>
      <p:sp>
        <p:nvSpPr>
          <p:cNvPr id="10" name="Text 6"/>
          <p:cNvSpPr/>
          <p:nvPr/>
        </p:nvSpPr>
        <p:spPr>
          <a:xfrm>
            <a:off x="385763" y="146089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1</a:t>
            </a:r>
            <a:endParaRPr lang="en-US" sz="950" dirty="0"/>
          </a:p>
        </p:txBody>
      </p:sp>
      <p:sp>
        <p:nvSpPr>
          <p:cNvPr id="11" name="Text 7"/>
          <p:cNvSpPr/>
          <p:nvPr/>
        </p:nvSpPr>
        <p:spPr>
          <a:xfrm>
            <a:off x="685800" y="148322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Understand the request</a:t>
            </a:r>
            <a:endParaRPr lang="en-US" sz="950" dirty="0"/>
          </a:p>
        </p:txBody>
      </p:sp>
      <p:sp>
        <p:nvSpPr>
          <p:cNvPr id="12" name="Shape 8"/>
          <p:cNvSpPr/>
          <p:nvPr/>
        </p:nvSpPr>
        <p:spPr>
          <a:xfrm>
            <a:off x="271463" y="1860947"/>
            <a:ext cx="3429000" cy="428625"/>
          </a:xfrm>
          <a:prstGeom prst="rect">
            <a:avLst/>
          </a:prstGeom>
          <a:solidFill>
            <a:srgbClr val="FFFFFF"/>
          </a:solidFill>
          <a:ln w="18288">
            <a:solidFill>
              <a:srgbClr val="111111"/>
            </a:solidFill>
            <a:prstDash val="solid"/>
          </a:ln>
        </p:spPr>
      </p:sp>
      <p:sp>
        <p:nvSpPr>
          <p:cNvPr id="13" name="Shape 9"/>
          <p:cNvSpPr/>
          <p:nvPr/>
        </p:nvSpPr>
        <p:spPr>
          <a:xfrm>
            <a:off x="385763" y="1946672"/>
            <a:ext cx="214313" cy="214313"/>
          </a:xfrm>
          <a:prstGeom prst="rect">
            <a:avLst/>
          </a:prstGeom>
          <a:solidFill>
            <a:srgbClr val="111111"/>
          </a:solidFill>
          <a:ln/>
        </p:spPr>
      </p:sp>
      <p:sp>
        <p:nvSpPr>
          <p:cNvPr id="14" name="Text 10"/>
          <p:cNvSpPr/>
          <p:nvPr/>
        </p:nvSpPr>
        <p:spPr>
          <a:xfrm>
            <a:off x="385763" y="1946672"/>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2</a:t>
            </a:r>
            <a:endParaRPr lang="en-US" sz="950" dirty="0"/>
          </a:p>
        </p:txBody>
      </p:sp>
      <p:sp>
        <p:nvSpPr>
          <p:cNvPr id="15" name="Text 11"/>
          <p:cNvSpPr/>
          <p:nvPr/>
        </p:nvSpPr>
        <p:spPr>
          <a:xfrm>
            <a:off x="685800" y="1968996"/>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Create or resume a run</a:t>
            </a:r>
            <a:endParaRPr lang="en-US" sz="950" dirty="0"/>
          </a:p>
        </p:txBody>
      </p:sp>
      <p:sp>
        <p:nvSpPr>
          <p:cNvPr id="16" name="Shape 12"/>
          <p:cNvSpPr/>
          <p:nvPr/>
        </p:nvSpPr>
        <p:spPr>
          <a:xfrm>
            <a:off x="271463" y="2346722"/>
            <a:ext cx="3429000" cy="428625"/>
          </a:xfrm>
          <a:prstGeom prst="rect">
            <a:avLst/>
          </a:prstGeom>
          <a:solidFill>
            <a:srgbClr val="FFFFFF"/>
          </a:solidFill>
          <a:ln w="18288">
            <a:solidFill>
              <a:srgbClr val="111111"/>
            </a:solidFill>
            <a:prstDash val="solid"/>
          </a:ln>
        </p:spPr>
      </p:sp>
      <p:sp>
        <p:nvSpPr>
          <p:cNvPr id="17" name="Shape 13"/>
          <p:cNvSpPr/>
          <p:nvPr/>
        </p:nvSpPr>
        <p:spPr>
          <a:xfrm>
            <a:off x="385763" y="2432447"/>
            <a:ext cx="214313" cy="214313"/>
          </a:xfrm>
          <a:prstGeom prst="rect">
            <a:avLst/>
          </a:prstGeom>
          <a:solidFill>
            <a:srgbClr val="111111"/>
          </a:solidFill>
          <a:ln/>
        </p:spPr>
      </p:sp>
      <p:sp>
        <p:nvSpPr>
          <p:cNvPr id="18" name="Text 14"/>
          <p:cNvSpPr/>
          <p:nvPr/>
        </p:nvSpPr>
        <p:spPr>
          <a:xfrm>
            <a:off x="385763" y="243244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3</a:t>
            </a:r>
            <a:endParaRPr lang="en-US" sz="950" dirty="0"/>
          </a:p>
        </p:txBody>
      </p:sp>
      <p:sp>
        <p:nvSpPr>
          <p:cNvPr id="19" name="Text 15"/>
          <p:cNvSpPr/>
          <p:nvPr/>
        </p:nvSpPr>
        <p:spPr>
          <a:xfrm>
            <a:off x="685800" y="245477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Read intake evidence</a:t>
            </a:r>
            <a:endParaRPr lang="en-US" sz="950" dirty="0"/>
          </a:p>
        </p:txBody>
      </p:sp>
      <p:sp>
        <p:nvSpPr>
          <p:cNvPr id="20" name="Shape 16"/>
          <p:cNvSpPr/>
          <p:nvPr/>
        </p:nvSpPr>
        <p:spPr>
          <a:xfrm>
            <a:off x="271463" y="2832497"/>
            <a:ext cx="3429000" cy="428625"/>
          </a:xfrm>
          <a:prstGeom prst="rect">
            <a:avLst/>
          </a:prstGeom>
          <a:solidFill>
            <a:srgbClr val="FFFFFF"/>
          </a:solidFill>
          <a:ln w="18288">
            <a:solidFill>
              <a:srgbClr val="111111"/>
            </a:solidFill>
            <a:prstDash val="solid"/>
          </a:ln>
        </p:spPr>
      </p:sp>
      <p:sp>
        <p:nvSpPr>
          <p:cNvPr id="21" name="Shape 17"/>
          <p:cNvSpPr/>
          <p:nvPr/>
        </p:nvSpPr>
        <p:spPr>
          <a:xfrm>
            <a:off x="385763" y="2918222"/>
            <a:ext cx="214313" cy="214313"/>
          </a:xfrm>
          <a:prstGeom prst="rect">
            <a:avLst/>
          </a:prstGeom>
          <a:solidFill>
            <a:srgbClr val="111111"/>
          </a:solidFill>
          <a:ln/>
        </p:spPr>
      </p:sp>
      <p:sp>
        <p:nvSpPr>
          <p:cNvPr id="22" name="Text 18"/>
          <p:cNvSpPr/>
          <p:nvPr/>
        </p:nvSpPr>
        <p:spPr>
          <a:xfrm>
            <a:off x="385763" y="2918222"/>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4</a:t>
            </a:r>
            <a:endParaRPr lang="en-US" sz="950" dirty="0"/>
          </a:p>
        </p:txBody>
      </p:sp>
      <p:sp>
        <p:nvSpPr>
          <p:cNvPr id="23" name="Text 19"/>
          <p:cNvSpPr/>
          <p:nvPr/>
        </p:nvSpPr>
        <p:spPr>
          <a:xfrm>
            <a:off x="685800" y="2940546"/>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Route to interview</a:t>
            </a:r>
            <a:endParaRPr lang="en-US" sz="950" dirty="0"/>
          </a:p>
        </p:txBody>
      </p:sp>
      <p:sp>
        <p:nvSpPr>
          <p:cNvPr id="24" name="Shape 20"/>
          <p:cNvSpPr/>
          <p:nvPr/>
        </p:nvSpPr>
        <p:spPr>
          <a:xfrm>
            <a:off x="271463" y="3318272"/>
            <a:ext cx="3429000" cy="428625"/>
          </a:xfrm>
          <a:prstGeom prst="rect">
            <a:avLst/>
          </a:prstGeom>
          <a:solidFill>
            <a:srgbClr val="FFFFFF"/>
          </a:solidFill>
          <a:ln w="18288">
            <a:solidFill>
              <a:srgbClr val="111111"/>
            </a:solidFill>
            <a:prstDash val="solid"/>
          </a:ln>
        </p:spPr>
      </p:sp>
      <p:sp>
        <p:nvSpPr>
          <p:cNvPr id="25" name="Shape 21"/>
          <p:cNvSpPr/>
          <p:nvPr/>
        </p:nvSpPr>
        <p:spPr>
          <a:xfrm>
            <a:off x="385763" y="3403997"/>
            <a:ext cx="214313" cy="214313"/>
          </a:xfrm>
          <a:prstGeom prst="rect">
            <a:avLst/>
          </a:prstGeom>
          <a:solidFill>
            <a:srgbClr val="111111"/>
          </a:solidFill>
          <a:ln/>
        </p:spPr>
      </p:sp>
      <p:sp>
        <p:nvSpPr>
          <p:cNvPr id="26" name="Text 22"/>
          <p:cNvSpPr/>
          <p:nvPr/>
        </p:nvSpPr>
        <p:spPr>
          <a:xfrm>
            <a:off x="385763" y="340399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5</a:t>
            </a:r>
            <a:endParaRPr lang="en-US" sz="950" dirty="0"/>
          </a:p>
        </p:txBody>
      </p:sp>
      <p:sp>
        <p:nvSpPr>
          <p:cNvPr id="27" name="Text 23"/>
          <p:cNvSpPr/>
          <p:nvPr/>
        </p:nvSpPr>
        <p:spPr>
          <a:xfrm>
            <a:off x="685800" y="342632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Stop before human decisions</a:t>
            </a:r>
            <a:endParaRPr lang="en-US" sz="950" dirty="0"/>
          </a:p>
        </p:txBody>
      </p:sp>
      <p:sp>
        <p:nvSpPr>
          <p:cNvPr id="28" name="Text 24"/>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COPY-READY COPILOT MESSAGE</a:t>
            </a:r>
            <a:endParaRPr lang="en-US" sz="1400" dirty="0"/>
          </a:p>
        </p:txBody>
      </p:sp>
      <p:sp>
        <p:nvSpPr>
          <p:cNvPr id="29" name="Shape 25"/>
          <p:cNvSpPr/>
          <p:nvPr/>
        </p:nvSpPr>
        <p:spPr>
          <a:xfrm>
            <a:off x="3929063" y="1332309"/>
            <a:ext cx="4943475" cy="3282553"/>
          </a:xfrm>
          <a:prstGeom prst="rect">
            <a:avLst/>
          </a:prstGeom>
          <a:solidFill>
            <a:srgbClr val="1E1E1E"/>
          </a:solidFill>
          <a:ln w="27432">
            <a:solidFill>
              <a:srgbClr val="111111"/>
            </a:solidFill>
            <a:prstDash val="solid"/>
          </a:ln>
        </p:spPr>
      </p:sp>
      <p:sp>
        <p:nvSpPr>
          <p:cNvPr id="30" name="Shape 26"/>
          <p:cNvSpPr/>
          <p:nvPr/>
        </p:nvSpPr>
        <p:spPr>
          <a:xfrm>
            <a:off x="3929063" y="1332309"/>
            <a:ext cx="4943475" cy="300038"/>
          </a:xfrm>
          <a:prstGeom prst="rect">
            <a:avLst/>
          </a:prstGeom>
          <a:solidFill>
            <a:srgbClr val="323233"/>
          </a:solidFill>
          <a:ln/>
        </p:spPr>
      </p:sp>
      <p:sp>
        <p:nvSpPr>
          <p:cNvPr id="31" name="Shape 27"/>
          <p:cNvSpPr/>
          <p:nvPr/>
        </p:nvSpPr>
        <p:spPr>
          <a:xfrm>
            <a:off x="3929063" y="1618059"/>
            <a:ext cx="4943475" cy="14288"/>
          </a:xfrm>
          <a:prstGeom prst="rect">
            <a:avLst/>
          </a:prstGeom>
          <a:solidFill>
            <a:srgbClr val="111111"/>
          </a:solidFill>
          <a:ln/>
        </p:spPr>
      </p:sp>
      <p:sp>
        <p:nvSpPr>
          <p:cNvPr id="32" name="Text 28"/>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33" name="Text 29"/>
          <p:cNvSpPr/>
          <p:nvPr/>
        </p:nvSpPr>
        <p:spPr>
          <a:xfrm>
            <a:off x="4129088" y="1803797"/>
            <a:ext cx="4543425" cy="139303"/>
          </a:xfrm>
          <a:prstGeom prst="rect">
            <a:avLst/>
          </a:prstGeom>
          <a:noFill/>
          <a:ln/>
        </p:spPr>
        <p:txBody>
          <a:bodyPr wrap="none" lIns="0" tIns="0" rIns="0" bIns="0" rtlCol="0" anchor="t">
            <a:spAutoFit/>
          </a:bodyPr>
          <a:lstStyle/>
          <a:p>
            <a:pPr algn="l" indent="0" marL="0">
              <a:lnSpc>
                <a:spcPct val="120000"/>
              </a:lnSpc>
              <a:buNone/>
            </a:pPr>
            <a:r>
              <a:rPr lang="en-US" sz="650" b="1" spc="1" kern="0" dirty="0">
                <a:solidFill>
                  <a:srgbClr val="569CD6"/>
                </a:solidFill>
                <a:latin typeface="Inter Bold" pitchFamily="34" charset="0"/>
                <a:ea typeface="Inter Bold" pitchFamily="34" charset="-122"/>
                <a:cs typeface="Inter Bold" pitchFamily="34" charset="-120"/>
              </a:rPr>
              <a:t>USER</a:t>
            </a:r>
            <a:endParaRPr lang="en-US" sz="650" dirty="0"/>
          </a:p>
        </p:txBody>
      </p:sp>
      <p:sp>
        <p:nvSpPr>
          <p:cNvPr id="34" name="Shape 30"/>
          <p:cNvSpPr/>
          <p:nvPr/>
        </p:nvSpPr>
        <p:spPr>
          <a:xfrm>
            <a:off x="4129088" y="2000250"/>
            <a:ext cx="4543425" cy="1628775"/>
          </a:xfrm>
          <a:prstGeom prst="rect">
            <a:avLst/>
          </a:prstGeom>
          <a:solidFill>
            <a:srgbClr val="2D2D2D"/>
          </a:solidFill>
          <a:ln w="18288">
            <a:solidFill>
              <a:srgbClr val="444444"/>
            </a:solidFill>
            <a:prstDash val="solid"/>
          </a:ln>
        </p:spPr>
      </p:sp>
      <p:sp>
        <p:nvSpPr>
          <p:cNvPr id="35" name="Text 31"/>
          <p:cNvSpPr/>
          <p:nvPr/>
        </p:nvSpPr>
        <p:spPr>
          <a:xfrm>
            <a:off x="4129088" y="2000250"/>
            <a:ext cx="4543425" cy="1628775"/>
          </a:xfrm>
          <a:prstGeom prst="rect">
            <a:avLst/>
          </a:prstGeom>
          <a:noFill/>
          <a:ln/>
        </p:spPr>
        <p:txBody>
          <a:bodyPr wrap="square" lIns="170053" tIns="136017" rIns="170053" bIns="136017" rtlCol="0" anchor="t">
            <a:spAutoFit/>
          </a:bodyPr>
          <a:lstStyle/>
          <a:p>
            <a:pPr algn="l" indent="0" marL="0">
              <a:lnSpc>
                <a:spcPct val="120000"/>
              </a:lnSpc>
              <a:buNone/>
            </a:pPr>
            <a:r>
              <a:rPr lang="en-US" sz="800" b="1" dirty="0">
                <a:solidFill>
                  <a:srgbClr val="CE9178"/>
                </a:solidFill>
                <a:latin typeface="JetBrains Mono Bold" pitchFamily="34" charset="0"/>
                <a:ea typeface="JetBrains Mono Bold" pitchFamily="34" charset="-122"/>
                <a:cs typeface="JetBrains Mono Bold" pitchFamily="34" charset="-120"/>
              </a:rPr>
              <a:t>/start-migration new LC-LOGIT-01</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 Request a score-only SAS-to-Python migration with keyed tie-</a:t>
            </a:r>
            <a:r>
              <a:rPr lang="en-US" sz="850" dirty="0">
                <a:solidFill>
                  <a:srgbClr val="D4D4D4"/>
                </a:solidFill>
                <a:latin typeface="JetBrains Mono" pitchFamily="34" charset="0"/>
                <a:ea typeface="JetBrains Mono" pitchFamily="34" charset="-122"/>
                <a:cs typeface="JetBrains Mono" pitchFamily="34" charset="-120"/>
              </a:rPr>
              <a:t>out.</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Record only </a:t>
            </a:r>
            <a:r>
              <a:rPr lang="en-US" sz="800" b="1" dirty="0">
                <a:solidFill>
                  <a:srgbClr val="CE9178"/>
                </a:solidFill>
                <a:latin typeface="JetBrains Mono Bold" pitchFamily="34" charset="0"/>
                <a:ea typeface="JetBrains Mono Bold" pitchFamily="34" charset="-122"/>
                <a:cs typeface="JetBrains Mono Bold" pitchFamily="34" charset="-120"/>
              </a:rPr>
              <a:t>local_tieout_requested: true</a:t>
            </a:r>
            <a:r>
              <a:rPr lang="en-US" sz="850" dirty="0">
                <a:solidFill>
                  <a:srgbClr val="D4D4D4"/>
                </a:solidFill>
                <a:latin typeface="JetBrains Mono" pitchFamily="34" charset="0"/>
                <a:ea typeface="JetBrains Mono" pitchFamily="34" charset="-122"/>
                <a:cs typeface="JetBrains Mono" pitchFamily="34" charset="-120"/>
              </a:rPr>
              <a:t>.</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Present the population choices; do not choose one for me.</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Invoke exactly one authorized skill.</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Stop at the next human gate.</a:t>
            </a:r>
            <a:endParaRPr lang="en-US" sz="850" dirty="0"/>
          </a:p>
        </p:txBody>
      </p:sp>
      <p:sp>
        <p:nvSpPr>
          <p:cNvPr id="36" name="Shape 32"/>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37" name="Text 33"/>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Copi</a:t>
            </a:r>
            <a:r>
              <a:rPr lang="en-US" sz="1250" dirty="0">
                <a:solidFill>
                  <a:srgbClr val="111111"/>
                </a:solidFill>
                <a:latin typeface="Kalam Bold" pitchFamily="34" charset="0"/>
                <a:ea typeface="Kalam Bold" pitchFamily="34" charset="-122"/>
                <a:cs typeface="Kalam Bold" pitchFamily="34" charset="-120"/>
              </a:rPr>
              <a:t>lot receives</a:t>
            </a:r>
            <a:r>
              <a:rPr lang="en-US" sz="1250" dirty="0">
                <a:solidFill>
                  <a:srgbClr val="111111"/>
                </a:solidFill>
                <a:latin typeface="Kalam Bold" pitchFamily="34" charset="0"/>
                <a:ea typeface="Kalam Bold" pitchFamily="34" charset="-122"/>
                <a:cs typeface="Kalam Bold" pitchFamily="34" charset="-120"/>
              </a:rPr>
              <a:t> the busin</a:t>
            </a:r>
            <a:r>
              <a:rPr lang="en-US" sz="1250" dirty="0">
                <a:solidFill>
                  <a:srgbClr val="111111"/>
                </a:solidFill>
                <a:latin typeface="Kalam Bold" pitchFamily="34" charset="0"/>
                <a:ea typeface="Kalam Bold" pitchFamily="34" charset="-122"/>
                <a:cs typeface="Kalam Bold" pitchFamily="34" charset="-120"/>
              </a:rPr>
              <a:t>ess intent,</a:t>
            </a:r>
            <a:r>
              <a:rPr lang="en-US" sz="1250" dirty="0">
                <a:solidFill>
                  <a:srgbClr val="111111"/>
                </a:solidFill>
                <a:latin typeface="Kalam Bold" pitchFamily="34" charset="0"/>
                <a:ea typeface="Kalam Bold" pitchFamily="34" charset="-122"/>
                <a:cs typeface="Kalam Bold" pitchFamily="34" charset="-120"/>
              </a:rPr>
              <a:t> but the re</a:t>
            </a:r>
            <a:r>
              <a:rPr lang="en-US" sz="1250" dirty="0">
                <a:solidFill>
                  <a:srgbClr val="111111"/>
                </a:solidFill>
                <a:latin typeface="Kalam Bold" pitchFamily="34" charset="0"/>
                <a:ea typeface="Kalam Bold" pitchFamily="34" charset="-122"/>
                <a:cs typeface="Kalam Bold" pitchFamily="34" charset="-120"/>
              </a:rPr>
              <a:t>po prevent</a:t>
            </a:r>
            <a:r>
              <a:rPr lang="en-US" sz="1250" dirty="0">
                <a:solidFill>
                  <a:srgbClr val="111111"/>
                </a:solidFill>
                <a:latin typeface="Kalam Bold" pitchFamily="34" charset="0"/>
                <a:ea typeface="Kalam Bold" pitchFamily="34" charset="-122"/>
                <a:cs typeface="Kalam Bold" pitchFamily="34" charset="-120"/>
              </a:rPr>
              <a:t>s it from j</a:t>
            </a:r>
            <a:r>
              <a:rPr lang="en-US" sz="1250" dirty="0">
                <a:solidFill>
                  <a:srgbClr val="111111"/>
                </a:solidFill>
                <a:latin typeface="Kalam Bold" pitchFamily="34" charset="0"/>
                <a:ea typeface="Kalam Bold" pitchFamily="34" charset="-122"/>
                <a:cs typeface="Kalam Bold" pitchFamily="34" charset="-120"/>
              </a:rPr>
              <a:t>umping to </a:t>
            </a:r>
            <a:r>
              <a:rPr lang="en-US" sz="1250" dirty="0">
                <a:solidFill>
                  <a:srgbClr val="111111"/>
                </a:solidFill>
                <a:latin typeface="Kalam Bold" pitchFamily="34" charset="0"/>
                <a:ea typeface="Kalam Bold" pitchFamily="34" charset="-122"/>
                <a:cs typeface="Kalam Bold" pitchFamily="34" charset="-120"/>
              </a:rPr>
              <a:t>code.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00025" y="128588"/>
            <a:ext cx="8743950" cy="457200"/>
          </a:xfrm>
          <a:prstGeom prst="rect">
            <a:avLst/>
          </a:prstGeom>
          <a:solidFill>
            <a:srgbClr val="000000">
              <a:alpha val="0"/>
            </a:srgbClr>
          </a:solidFill>
          <a:ln/>
        </p:spPr>
      </p:sp>
      <p:sp>
        <p:nvSpPr>
          <p:cNvPr id="5" name="Shape 1"/>
          <p:cNvSpPr/>
          <p:nvPr/>
        </p:nvSpPr>
        <p:spPr>
          <a:xfrm>
            <a:off x="200025" y="557213"/>
            <a:ext cx="8743950" cy="28575"/>
          </a:xfrm>
          <a:prstGeom prst="rect">
            <a:avLst/>
          </a:prstGeom>
          <a:solidFill>
            <a:srgbClr val="111111"/>
          </a:solidFill>
          <a:ln/>
        </p:spPr>
      </p:sp>
      <p:sp>
        <p:nvSpPr>
          <p:cNvPr id="6" name="Text 2"/>
          <p:cNvSpPr/>
          <p:nvPr/>
        </p:nvSpPr>
        <p:spPr>
          <a:xfrm>
            <a:off x="200025" y="207169"/>
            <a:ext cx="3957638" cy="300038"/>
          </a:xfrm>
          <a:prstGeom prst="rect">
            <a:avLst/>
          </a:prstGeom>
          <a:noFill/>
          <a:ln/>
        </p:spPr>
        <p:txBody>
          <a:bodyPr wrap="none" lIns="0" tIns="0" rIns="0" bIns="0" rtlCol="0" anchor="t">
            <a:spAutoFit/>
          </a:bodyPr>
          <a:lstStyle/>
          <a:p>
            <a:pPr algn="l" indent="0" marL="0">
              <a:lnSpc>
                <a:spcPct val="84000"/>
              </a:lnSpc>
              <a:buNone/>
            </a:pPr>
            <a:r>
              <a:rPr lang="en-US" sz="2000" b="1" dirty="0">
                <a:solidFill>
                  <a:srgbClr val="111111"/>
                </a:solidFill>
                <a:latin typeface="Oswald SemiBold" pitchFamily="34" charset="0"/>
                <a:ea typeface="Oswald SemiBold" pitchFamily="34" charset="-122"/>
                <a:cs typeface="Oswald SemiBold" pitchFamily="34" charset="-120"/>
              </a:rPr>
              <a:t>ACT 1: THE FIRST HUMAN DECISION</a:t>
            </a:r>
            <a:endParaRPr lang="en-US" sz="2000" dirty="0"/>
          </a:p>
        </p:txBody>
      </p:sp>
      <p:sp>
        <p:nvSpPr>
          <p:cNvPr id="7" name="Text 3"/>
          <p:cNvSpPr/>
          <p:nvPr/>
        </p:nvSpPr>
        <p:spPr>
          <a:xfrm>
            <a:off x="200025" y="671513"/>
            <a:ext cx="314325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WHAT THE REPO DOES</a:t>
            </a:r>
            <a:endParaRPr lang="en-US" sz="1150" dirty="0"/>
          </a:p>
        </p:txBody>
      </p:sp>
      <p:sp>
        <p:nvSpPr>
          <p:cNvPr id="8" name="Shape 4"/>
          <p:cNvSpPr/>
          <p:nvPr/>
        </p:nvSpPr>
        <p:spPr>
          <a:xfrm>
            <a:off x="200025" y="1017984"/>
            <a:ext cx="3143250" cy="371475"/>
          </a:xfrm>
          <a:prstGeom prst="rect">
            <a:avLst/>
          </a:prstGeom>
          <a:solidFill>
            <a:srgbClr val="FFFFFF"/>
          </a:solidFill>
          <a:ln w="18288">
            <a:solidFill>
              <a:srgbClr val="111111"/>
            </a:solidFill>
            <a:prstDash val="solid"/>
          </a:ln>
        </p:spPr>
      </p:sp>
      <p:sp>
        <p:nvSpPr>
          <p:cNvPr id="9" name="Shape 5"/>
          <p:cNvSpPr/>
          <p:nvPr/>
        </p:nvSpPr>
        <p:spPr>
          <a:xfrm>
            <a:off x="285750" y="1089422"/>
            <a:ext cx="185738" cy="185738"/>
          </a:xfrm>
          <a:prstGeom prst="rect">
            <a:avLst/>
          </a:prstGeom>
          <a:solidFill>
            <a:srgbClr val="111111"/>
          </a:solidFill>
          <a:ln/>
        </p:spPr>
      </p:sp>
      <p:sp>
        <p:nvSpPr>
          <p:cNvPr id="10" name="Text 6"/>
          <p:cNvSpPr/>
          <p:nvPr/>
        </p:nvSpPr>
        <p:spPr>
          <a:xfrm>
            <a:off x="285750" y="108942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542925" y="1109402"/>
            <a:ext cx="27146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Present proof options</a:t>
            </a:r>
            <a:endParaRPr lang="en-US" sz="850" dirty="0"/>
          </a:p>
        </p:txBody>
      </p:sp>
      <p:sp>
        <p:nvSpPr>
          <p:cNvPr id="12" name="Shape 8"/>
          <p:cNvSpPr/>
          <p:nvPr/>
        </p:nvSpPr>
        <p:spPr>
          <a:xfrm>
            <a:off x="200025" y="1418034"/>
            <a:ext cx="3143250" cy="371475"/>
          </a:xfrm>
          <a:prstGeom prst="rect">
            <a:avLst/>
          </a:prstGeom>
          <a:solidFill>
            <a:srgbClr val="FFFFFF"/>
          </a:solidFill>
          <a:ln w="18288">
            <a:solidFill>
              <a:srgbClr val="111111"/>
            </a:solidFill>
            <a:prstDash val="solid"/>
          </a:ln>
        </p:spPr>
      </p:sp>
      <p:sp>
        <p:nvSpPr>
          <p:cNvPr id="13" name="Shape 9"/>
          <p:cNvSpPr/>
          <p:nvPr/>
        </p:nvSpPr>
        <p:spPr>
          <a:xfrm>
            <a:off x="285750" y="1489472"/>
            <a:ext cx="185738" cy="185738"/>
          </a:xfrm>
          <a:prstGeom prst="rect">
            <a:avLst/>
          </a:prstGeom>
          <a:solidFill>
            <a:srgbClr val="111111"/>
          </a:solidFill>
          <a:ln/>
        </p:spPr>
      </p:sp>
      <p:sp>
        <p:nvSpPr>
          <p:cNvPr id="14" name="Text 10"/>
          <p:cNvSpPr/>
          <p:nvPr/>
        </p:nvSpPr>
        <p:spPr>
          <a:xfrm>
            <a:off x="285750" y="148947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5" name="Text 11"/>
          <p:cNvSpPr/>
          <p:nvPr/>
        </p:nvSpPr>
        <p:spPr>
          <a:xfrm>
            <a:off x="542925" y="1509452"/>
            <a:ext cx="27146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Explain trade-offs</a:t>
            </a:r>
            <a:endParaRPr lang="en-US" sz="850" dirty="0"/>
          </a:p>
        </p:txBody>
      </p:sp>
      <p:sp>
        <p:nvSpPr>
          <p:cNvPr id="16" name="Shape 12"/>
          <p:cNvSpPr/>
          <p:nvPr/>
        </p:nvSpPr>
        <p:spPr>
          <a:xfrm>
            <a:off x="200025" y="1818084"/>
            <a:ext cx="3143250" cy="371475"/>
          </a:xfrm>
          <a:prstGeom prst="rect">
            <a:avLst/>
          </a:prstGeom>
          <a:solidFill>
            <a:srgbClr val="FFFFFF"/>
          </a:solidFill>
          <a:ln w="18288">
            <a:solidFill>
              <a:srgbClr val="111111"/>
            </a:solidFill>
            <a:prstDash val="solid"/>
          </a:ln>
        </p:spPr>
      </p:sp>
      <p:sp>
        <p:nvSpPr>
          <p:cNvPr id="17" name="Shape 13"/>
          <p:cNvSpPr/>
          <p:nvPr/>
        </p:nvSpPr>
        <p:spPr>
          <a:xfrm>
            <a:off x="285750" y="1889522"/>
            <a:ext cx="185738" cy="185738"/>
          </a:xfrm>
          <a:prstGeom prst="rect">
            <a:avLst/>
          </a:prstGeom>
          <a:solidFill>
            <a:srgbClr val="111111"/>
          </a:solidFill>
          <a:ln/>
        </p:spPr>
      </p:sp>
      <p:sp>
        <p:nvSpPr>
          <p:cNvPr id="18" name="Text 14"/>
          <p:cNvSpPr/>
          <p:nvPr/>
        </p:nvSpPr>
        <p:spPr>
          <a:xfrm>
            <a:off x="285750" y="188952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19" name="Text 15"/>
          <p:cNvSpPr/>
          <p:nvPr/>
        </p:nvSpPr>
        <p:spPr>
          <a:xfrm>
            <a:off x="542925" y="1909502"/>
            <a:ext cx="27146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Human selects boundary</a:t>
            </a:r>
            <a:endParaRPr lang="en-US" sz="850" dirty="0"/>
          </a:p>
        </p:txBody>
      </p:sp>
      <p:sp>
        <p:nvSpPr>
          <p:cNvPr id="20" name="Shape 16"/>
          <p:cNvSpPr/>
          <p:nvPr/>
        </p:nvSpPr>
        <p:spPr>
          <a:xfrm>
            <a:off x="200025" y="2218134"/>
            <a:ext cx="3143250" cy="371475"/>
          </a:xfrm>
          <a:prstGeom prst="rect">
            <a:avLst/>
          </a:prstGeom>
          <a:solidFill>
            <a:srgbClr val="FFFFFF"/>
          </a:solidFill>
          <a:ln w="18288">
            <a:solidFill>
              <a:srgbClr val="111111"/>
            </a:solidFill>
            <a:prstDash val="solid"/>
          </a:ln>
        </p:spPr>
      </p:sp>
      <p:sp>
        <p:nvSpPr>
          <p:cNvPr id="21" name="Shape 17"/>
          <p:cNvSpPr/>
          <p:nvPr/>
        </p:nvSpPr>
        <p:spPr>
          <a:xfrm>
            <a:off x="285750" y="2289572"/>
            <a:ext cx="185738" cy="185738"/>
          </a:xfrm>
          <a:prstGeom prst="rect">
            <a:avLst/>
          </a:prstGeom>
          <a:solidFill>
            <a:srgbClr val="111111"/>
          </a:solidFill>
          <a:ln/>
        </p:spPr>
      </p:sp>
      <p:sp>
        <p:nvSpPr>
          <p:cNvPr id="22" name="Text 18"/>
          <p:cNvSpPr/>
          <p:nvPr/>
        </p:nvSpPr>
        <p:spPr>
          <a:xfrm>
            <a:off x="285750" y="228957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23" name="Text 19"/>
          <p:cNvSpPr/>
          <p:nvPr/>
        </p:nvSpPr>
        <p:spPr>
          <a:xfrm>
            <a:off x="542925" y="2309552"/>
            <a:ext cx="27146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Record decision</a:t>
            </a:r>
            <a:endParaRPr lang="en-US" sz="850" dirty="0"/>
          </a:p>
        </p:txBody>
      </p:sp>
      <p:sp>
        <p:nvSpPr>
          <p:cNvPr id="24" name="Shape 20"/>
          <p:cNvSpPr/>
          <p:nvPr/>
        </p:nvSpPr>
        <p:spPr>
          <a:xfrm>
            <a:off x="200025" y="2618184"/>
            <a:ext cx="3143250" cy="371475"/>
          </a:xfrm>
          <a:prstGeom prst="rect">
            <a:avLst/>
          </a:prstGeom>
          <a:solidFill>
            <a:srgbClr val="FFFFFF"/>
          </a:solidFill>
          <a:ln w="18288">
            <a:solidFill>
              <a:srgbClr val="111111"/>
            </a:solidFill>
            <a:prstDash val="solid"/>
          </a:ln>
        </p:spPr>
      </p:sp>
      <p:sp>
        <p:nvSpPr>
          <p:cNvPr id="25" name="Shape 21"/>
          <p:cNvSpPr/>
          <p:nvPr/>
        </p:nvSpPr>
        <p:spPr>
          <a:xfrm>
            <a:off x="285750" y="2689622"/>
            <a:ext cx="185738" cy="185738"/>
          </a:xfrm>
          <a:prstGeom prst="rect">
            <a:avLst/>
          </a:prstGeom>
          <a:solidFill>
            <a:srgbClr val="111111"/>
          </a:solidFill>
          <a:ln/>
        </p:spPr>
      </p:sp>
      <p:sp>
        <p:nvSpPr>
          <p:cNvPr id="26" name="Text 22"/>
          <p:cNvSpPr/>
          <p:nvPr/>
        </p:nvSpPr>
        <p:spPr>
          <a:xfrm>
            <a:off x="285750" y="2689622"/>
            <a:ext cx="185738" cy="185738"/>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5</a:t>
            </a:r>
            <a:endParaRPr lang="en-US" sz="850" dirty="0"/>
          </a:p>
        </p:txBody>
      </p:sp>
      <p:sp>
        <p:nvSpPr>
          <p:cNvPr id="27" name="Text 23"/>
          <p:cNvSpPr/>
          <p:nvPr/>
        </p:nvSpPr>
        <p:spPr>
          <a:xfrm>
            <a:off x="542925" y="2709602"/>
            <a:ext cx="27146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Stop at next gate</a:t>
            </a:r>
            <a:endParaRPr lang="en-US" sz="850" dirty="0"/>
          </a:p>
        </p:txBody>
      </p:sp>
      <p:sp>
        <p:nvSpPr>
          <p:cNvPr id="28" name="Text 24"/>
          <p:cNvSpPr/>
          <p:nvPr/>
        </p:nvSpPr>
        <p:spPr>
          <a:xfrm>
            <a:off x="3514725" y="671513"/>
            <a:ext cx="5429250" cy="232172"/>
          </a:xfrm>
          <a:prstGeom prst="rect">
            <a:avLst/>
          </a:prstGeom>
          <a:noFill/>
          <a:ln/>
        </p:spPr>
        <p:txBody>
          <a:bodyPr wrap="square" lIns="0" tIns="0" rIns="0" bIns="0" rtlCol="0" anchor="t">
            <a:spAutoFit/>
          </a:bodyPr>
          <a:lstStyle/>
          <a:p>
            <a:pPr algn="l" indent="0" marL="0">
              <a:buNone/>
            </a:pPr>
            <a:r>
              <a:rPr lang="en-US" sz="1150" dirty="0">
                <a:solidFill>
                  <a:srgbClr val="111111"/>
                </a:solidFill>
                <a:latin typeface="Oswald SemiBold" pitchFamily="34" charset="0"/>
                <a:ea typeface="Oswald SemiBold" pitchFamily="34" charset="-122"/>
                <a:cs typeface="Oswald SemiBold" pitchFamily="34" charset="-120"/>
              </a:rPr>
              <a:t>COPILOT ASKS; HUMAN DECIDES</a:t>
            </a:r>
            <a:endParaRPr lang="en-US" sz="1150" dirty="0"/>
          </a:p>
        </p:txBody>
      </p:sp>
      <p:sp>
        <p:nvSpPr>
          <p:cNvPr id="29" name="Shape 25"/>
          <p:cNvSpPr/>
          <p:nvPr/>
        </p:nvSpPr>
        <p:spPr>
          <a:xfrm>
            <a:off x="3514725" y="989409"/>
            <a:ext cx="5429250" cy="3625453"/>
          </a:xfrm>
          <a:prstGeom prst="rect">
            <a:avLst/>
          </a:prstGeom>
          <a:solidFill>
            <a:srgbClr val="1E1E1E"/>
          </a:solidFill>
          <a:ln w="27432">
            <a:solidFill>
              <a:srgbClr val="111111"/>
            </a:solidFill>
            <a:prstDash val="solid"/>
          </a:ln>
        </p:spPr>
      </p:sp>
      <p:sp>
        <p:nvSpPr>
          <p:cNvPr id="30" name="Shape 26"/>
          <p:cNvSpPr/>
          <p:nvPr/>
        </p:nvSpPr>
        <p:spPr>
          <a:xfrm>
            <a:off x="3514725" y="989409"/>
            <a:ext cx="5429250" cy="271463"/>
          </a:xfrm>
          <a:prstGeom prst="rect">
            <a:avLst/>
          </a:prstGeom>
          <a:solidFill>
            <a:srgbClr val="323233"/>
          </a:solidFill>
          <a:ln/>
        </p:spPr>
      </p:sp>
      <p:sp>
        <p:nvSpPr>
          <p:cNvPr id="31" name="Shape 27"/>
          <p:cNvSpPr/>
          <p:nvPr/>
        </p:nvSpPr>
        <p:spPr>
          <a:xfrm>
            <a:off x="3514725" y="1246584"/>
            <a:ext cx="5429250" cy="14288"/>
          </a:xfrm>
          <a:prstGeom prst="rect">
            <a:avLst/>
          </a:prstGeom>
          <a:solidFill>
            <a:srgbClr val="111111"/>
          </a:solidFill>
          <a:ln/>
        </p:spPr>
      </p:sp>
      <p:sp>
        <p:nvSpPr>
          <p:cNvPr id="32" name="Text 28"/>
          <p:cNvSpPr/>
          <p:nvPr/>
        </p:nvSpPr>
        <p:spPr>
          <a:xfrm>
            <a:off x="8083153" y="1073348"/>
            <a:ext cx="775097" cy="103584"/>
          </a:xfrm>
          <a:prstGeom prst="rect">
            <a:avLst/>
          </a:prstGeom>
          <a:noFill/>
          <a:ln/>
        </p:spPr>
        <p:txBody>
          <a:bodyPr wrap="none" lIns="0" tIns="0" rIns="0" bIns="0" rtlCol="0" anchor="t">
            <a:spAutoFit/>
          </a:bodyPr>
          <a:lstStyle/>
          <a:p>
            <a:pPr algn="l" indent="0" marL="0">
              <a:buNone/>
            </a:pPr>
            <a:r>
              <a:rPr lang="en-US" sz="600" b="1" dirty="0">
                <a:solidFill>
                  <a:srgbClr val="9CDCFE"/>
                </a:solidFill>
                <a:latin typeface="Inter SemiBold" pitchFamily="34" charset="0"/>
                <a:ea typeface="Inter SemiBold" pitchFamily="34" charset="-122"/>
                <a:cs typeface="Inter SemiBold" pitchFamily="34" charset="-120"/>
              </a:rPr>
              <a:t>GITHUB COPILOT</a:t>
            </a:r>
            <a:endParaRPr lang="en-US" sz="600" dirty="0"/>
          </a:p>
        </p:txBody>
      </p:sp>
      <p:sp>
        <p:nvSpPr>
          <p:cNvPr id="33" name="Text 29"/>
          <p:cNvSpPr/>
          <p:nvPr/>
        </p:nvSpPr>
        <p:spPr>
          <a:xfrm>
            <a:off x="3657600" y="1389459"/>
            <a:ext cx="5143500" cy="124290"/>
          </a:xfrm>
          <a:prstGeom prst="rect">
            <a:avLst/>
          </a:prstGeom>
          <a:noFill/>
          <a:ln/>
        </p:spPr>
        <p:txBody>
          <a:bodyPr wrap="none" lIns="0" tIns="0" rIns="0" bIns="0" rtlCol="0" anchor="t">
            <a:spAutoFit/>
          </a:bodyPr>
          <a:lstStyle/>
          <a:p>
            <a:pPr algn="l" indent="0" marL="0">
              <a:lnSpc>
                <a:spcPct val="116000"/>
              </a:lnSpc>
              <a:buNone/>
            </a:pPr>
            <a:r>
              <a:rPr lang="en-US" sz="600" b="1" spc="1" kern="0" dirty="0">
                <a:solidFill>
                  <a:srgbClr val="C586C0"/>
                </a:solidFill>
                <a:latin typeface="Inter Bold" pitchFamily="34" charset="0"/>
                <a:ea typeface="Inter Bold" pitchFamily="34" charset="-122"/>
                <a:cs typeface="Inter Bold" pitchFamily="34" charset="-120"/>
              </a:rPr>
              <a:t>COPILOT</a:t>
            </a:r>
            <a:endParaRPr lang="en-US" sz="600" dirty="0"/>
          </a:p>
        </p:txBody>
      </p:sp>
      <p:sp>
        <p:nvSpPr>
          <p:cNvPr id="34" name="Shape 30"/>
          <p:cNvSpPr/>
          <p:nvPr/>
        </p:nvSpPr>
        <p:spPr>
          <a:xfrm>
            <a:off x="3657600" y="1556612"/>
            <a:ext cx="5143500" cy="1070000"/>
          </a:xfrm>
          <a:prstGeom prst="rect">
            <a:avLst/>
          </a:prstGeom>
          <a:solidFill>
            <a:srgbClr val="2D2D2D"/>
          </a:solidFill>
          <a:ln w="18288">
            <a:solidFill>
              <a:srgbClr val="444444"/>
            </a:solidFill>
            <a:prstDash val="solid"/>
          </a:ln>
        </p:spPr>
      </p:sp>
      <p:sp>
        <p:nvSpPr>
          <p:cNvPr id="35" name="Text 31"/>
          <p:cNvSpPr/>
          <p:nvPr/>
        </p:nvSpPr>
        <p:spPr>
          <a:xfrm>
            <a:off x="3657600" y="1556612"/>
            <a:ext cx="5143500" cy="1070000"/>
          </a:xfrm>
          <a:prstGeom prst="rect">
            <a:avLst/>
          </a:prstGeom>
          <a:noFill/>
          <a:ln/>
        </p:spPr>
        <p:txBody>
          <a:bodyPr wrap="square" lIns="119126" tIns="102108" rIns="119126" bIns="102108" rtlCol="0" anchor="t">
            <a:spAutoFit/>
          </a:bodyPr>
          <a:lstStyle/>
          <a:p>
            <a:pPr algn="l" indent="0" marL="0">
              <a:lnSpc>
                <a:spcPct val="116000"/>
              </a:lnSpc>
              <a:buNone/>
            </a:pPr>
            <a:r>
              <a:rPr lang="en-US" sz="750" dirty="0">
                <a:solidFill>
                  <a:srgbClr val="D4D4D4"/>
                </a:solidFill>
                <a:latin typeface="JetBrains Mono" pitchFamily="34" charset="0"/>
                <a:ea typeface="JetBrains Mono" pitchFamily="34" charset="-122"/>
                <a:cs typeface="JetBrains Mono" pitchFamily="34" charset="-120"/>
              </a:rPr>
              <a:t>To proceed with keyed tie-out, select your proof boundary:</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 </a:t>
            </a:r>
            <a:r>
              <a:rPr lang="en-US" sz="700" b="1" dirty="0">
                <a:solidFill>
                  <a:srgbClr val="CE9178"/>
                </a:solidFill>
                <a:latin typeface="JetBrains Mono Bold" pitchFamily="34" charset="0"/>
                <a:ea typeface="JetBrains Mono Bold" pitchFamily="34" charset="-122"/>
                <a:cs typeface="JetBrains Mono Bold" pitchFamily="34" charset="-120"/>
              </a:rPr>
              <a:t>GOVERNED_SAMPLE_50</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a:t>
            </a:r>
            <a:r>
              <a:rPr lang="en-US" sz="700" b="1" dirty="0">
                <a:solidFill>
                  <a:srgbClr val="CE9178"/>
                </a:solidFill>
                <a:latin typeface="JetBrains Mono Bold" pitchFamily="34" charset="0"/>
                <a:ea typeface="JetBrains Mono Bold" pitchFamily="34" charset="-122"/>
                <a:cs typeface="JetBrains Mono Bold" pitchFamily="34" charset="-120"/>
              </a:rPr>
              <a:t>FULL_POPULATION</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a:t>
            </a:r>
            <a:r>
              <a:rPr lang="en-US" sz="700" b="1" dirty="0">
                <a:solidFill>
                  <a:srgbClr val="CE9178"/>
                </a:solidFill>
                <a:latin typeface="JetBrains Mono Bold" pitchFamily="34" charset="0"/>
                <a:ea typeface="JetBrains Mono Bold" pitchFamily="34" charset="-122"/>
                <a:cs typeface="JetBrains Mono Bold" pitchFamily="34" charset="-120"/>
              </a:rPr>
              <a:t>PHASED_50_THEN_FULL</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a:t>
            </a:r>
            <a:r>
              <a:rPr lang="en-US" sz="700" b="1" dirty="0">
                <a:solidFill>
                  <a:srgbClr val="CE9178"/>
                </a:solidFill>
                <a:latin typeface="JetBrains Mono Bold" pitchFamily="34" charset="0"/>
                <a:ea typeface="JetBrains Mono Bold" pitchFamily="34" charset="-122"/>
                <a:cs typeface="JetBrains Mono Bold" pitchFamily="34" charset="-120"/>
              </a:rPr>
              <a:t>CUSTOM_GOVERNED_SAMPLE</a:t>
            </a:r>
            <a:r>
              <a:rPr lang="en-US" sz="750" dirty="0">
                <a:solidFill>
                  <a:srgbClr val="D4D4D4"/>
                </a:solidFill>
                <a:latin typeface="JetBrains Mono" pitchFamily="34" charset="0"/>
                <a:ea typeface="JetBrains Mono" pitchFamily="34" charset="-122"/>
                <a:cs typeface="JetBrains Mono" pitchFamily="34" charset="-120"/>
              </a:rPr>
              <a:t>
</a:t>
            </a:r>
            <a:endParaRPr lang="en-US" sz="750" dirty="0"/>
          </a:p>
        </p:txBody>
      </p:sp>
      <p:sp>
        <p:nvSpPr>
          <p:cNvPr id="36" name="Text 32"/>
          <p:cNvSpPr/>
          <p:nvPr/>
        </p:nvSpPr>
        <p:spPr>
          <a:xfrm>
            <a:off x="4377723" y="2669474"/>
            <a:ext cx="4423377" cy="124290"/>
          </a:xfrm>
          <a:prstGeom prst="rect">
            <a:avLst/>
          </a:prstGeom>
          <a:noFill/>
          <a:ln/>
        </p:spPr>
        <p:txBody>
          <a:bodyPr wrap="none" lIns="0" tIns="0" rIns="0" bIns="0" rtlCol="0" anchor="t">
            <a:spAutoFit/>
          </a:bodyPr>
          <a:lstStyle/>
          <a:p>
            <a:pPr algn="r" indent="0" marL="0">
              <a:lnSpc>
                <a:spcPct val="116000"/>
              </a:lnSpc>
              <a:buNone/>
            </a:pPr>
            <a:r>
              <a:rPr lang="en-US" sz="600" b="1" spc="1" kern="0" dirty="0">
                <a:solidFill>
                  <a:srgbClr val="569CD6"/>
                </a:solidFill>
                <a:latin typeface="Inter Bold" pitchFamily="34" charset="0"/>
                <a:ea typeface="Inter Bold" pitchFamily="34" charset="-122"/>
                <a:cs typeface="Inter Bold" pitchFamily="34" charset="-120"/>
              </a:rPr>
              <a:t>USER</a:t>
            </a:r>
            <a:endParaRPr lang="en-US" sz="600" dirty="0"/>
          </a:p>
        </p:txBody>
      </p:sp>
      <p:sp>
        <p:nvSpPr>
          <p:cNvPr id="37" name="Shape 33"/>
          <p:cNvSpPr/>
          <p:nvPr/>
        </p:nvSpPr>
        <p:spPr>
          <a:xfrm>
            <a:off x="4377723" y="2836627"/>
            <a:ext cx="4423377" cy="635012"/>
          </a:xfrm>
          <a:prstGeom prst="rect">
            <a:avLst/>
          </a:prstGeom>
          <a:solidFill>
            <a:srgbClr val="112233"/>
          </a:solidFill>
          <a:ln w="18288">
            <a:solidFill>
              <a:srgbClr val="0055FF"/>
            </a:solidFill>
            <a:prstDash val="solid"/>
          </a:ln>
        </p:spPr>
      </p:sp>
      <p:sp>
        <p:nvSpPr>
          <p:cNvPr id="38" name="Text 34"/>
          <p:cNvSpPr/>
          <p:nvPr/>
        </p:nvSpPr>
        <p:spPr>
          <a:xfrm>
            <a:off x="4377723" y="2836627"/>
            <a:ext cx="4423377" cy="635012"/>
          </a:xfrm>
          <a:prstGeom prst="rect">
            <a:avLst/>
          </a:prstGeom>
          <a:noFill/>
          <a:ln/>
        </p:spPr>
        <p:txBody>
          <a:bodyPr wrap="square" lIns="119126" tIns="102108" rIns="119126" bIns="102108" rtlCol="0" anchor="t">
            <a:spAutoFit/>
          </a:bodyPr>
          <a:lstStyle/>
          <a:p>
            <a:pPr algn="l" indent="0" marL="0">
              <a:lnSpc>
                <a:spcPct val="116000"/>
              </a:lnSpc>
              <a:buNone/>
            </a:pPr>
            <a:r>
              <a:rPr lang="en-US" sz="750" dirty="0">
                <a:solidFill>
                  <a:srgbClr val="D4D4D4"/>
                </a:solidFill>
                <a:latin typeface="JetBrains Mono" pitchFamily="34" charset="0"/>
                <a:ea typeface="JetBrains Mono" pitchFamily="34" charset="-122"/>
                <a:cs typeface="JetBrains Mono" pitchFamily="34" charset="-120"/>
              </a:rPr>
              <a:t>I select </a:t>
            </a:r>
            <a:r>
              <a:rPr lang="en-US" sz="700" b="1" dirty="0">
                <a:solidFill>
                  <a:srgbClr val="FFFFFF"/>
                </a:solidFill>
                <a:latin typeface="JetBrains Mono Bold" pitchFamily="34" charset="0"/>
                <a:ea typeface="JetBrains Mono Bold" pitchFamily="34" charset="-122"/>
                <a:cs typeface="JetBrains Mono Bold" pitchFamily="34" charset="-120"/>
              </a:rPr>
              <a:t>GOVERNED_SAMPLE_50</a:t>
            </a:r>
            <a:r>
              <a:rPr lang="en-US" sz="750" dirty="0">
                <a:solidFill>
                  <a:srgbClr val="D4D4D4"/>
                </a:solidFill>
                <a:latin typeface="JetBrains Mono" pitchFamily="34" charset="0"/>
                <a:ea typeface="JetBrains Mono" pitchFamily="34" charset="-122"/>
                <a:cs typeface="JetBrains Mono" pitchFamily="34" charset="-120"/>
              </a:rPr>
              <a: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Record it as the local semantic-core demonstration boundary.</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Invoke exactly </a:t>
            </a:r>
            <a:r>
              <a:rPr lang="en-US" sz="700" b="1" dirty="0">
                <a:solidFill>
                  <a:srgbClr val="CE9178"/>
                </a:solidFill>
                <a:latin typeface="JetBrains Mono Bold" pitchFamily="34" charset="0"/>
                <a:ea typeface="JetBrains Mono Bold" pitchFamily="34" charset="-122"/>
                <a:cs typeface="JetBrains Mono Bold" pitchFamily="34" charset="-120"/>
              </a:rPr>
              <a:t>specify</a:t>
            </a:r>
            <a:r>
              <a:rPr lang="en-US" sz="750" dirty="0">
                <a:solidFill>
                  <a:srgbClr val="D4D4D4"/>
                </a:solidFill>
                <a:latin typeface="JetBrains Mono" pitchFamily="34" charset="0"/>
                <a:ea typeface="JetBrains Mono" pitchFamily="34" charset="-122"/>
                <a:cs typeface="JetBrains Mono" pitchFamily="34" charset="-120"/>
              </a:rPr>
              <a:t> and stop at the PRD / SPEC approval gate.</a:t>
            </a:r>
            <a:endParaRPr lang="en-US" sz="750" dirty="0"/>
          </a:p>
        </p:txBody>
      </p:sp>
      <p:sp>
        <p:nvSpPr>
          <p:cNvPr id="39" name="Shape 35"/>
          <p:cNvSpPr/>
          <p:nvPr/>
        </p:nvSpPr>
        <p:spPr>
          <a:xfrm rot="-60000">
            <a:off x="400050" y="4586288"/>
            <a:ext cx="8343900" cy="357188"/>
          </a:xfrm>
          <a:prstGeom prst="rect">
            <a:avLst/>
          </a:prstGeom>
          <a:solidFill>
            <a:srgbClr val="FFDF00"/>
          </a:solidFill>
          <a:ln w="27432">
            <a:solidFill>
              <a:srgbClr val="111111"/>
            </a:solidFill>
            <a:prstDash val="solid"/>
          </a:ln>
        </p:spPr>
      </p:sp>
      <p:sp>
        <p:nvSpPr>
          <p:cNvPr id="40" name="Text 36"/>
          <p:cNvSpPr/>
          <p:nvPr/>
        </p:nvSpPr>
        <p:spPr>
          <a:xfrm rot="-60000">
            <a:off x="400497" y="4622669"/>
            <a:ext cx="8343006" cy="284425"/>
          </a:xfrm>
          <a:prstGeom prst="rect">
            <a:avLst/>
          </a:prstGeom>
          <a:noFill/>
          <a:ln/>
        </p:spPr>
        <p:txBody>
          <a:bodyPr wrap="square" lIns="153035" tIns="85090" rIns="153035" bIns="85090" rtlCol="0" anchor="t">
            <a:spAutoFit/>
          </a:bodyPr>
          <a:lstStyle/>
          <a:p>
            <a:pPr algn="ctr" indent="0" marL="0">
              <a:lnSpc>
                <a:spcPct val="88000"/>
              </a:lnSpc>
              <a:buNone/>
            </a:pPr>
            <a:r>
              <a:rPr lang="en-US" sz="1000" b="1" dirty="0">
                <a:solidFill>
                  <a:srgbClr val="111111"/>
                </a:solidFill>
                <a:latin typeface="Kalam Bold" pitchFamily="34" charset="0"/>
                <a:ea typeface="Kalam Bold" pitchFamily="34" charset="-122"/>
                <a:cs typeface="Kalam Bold" pitchFamily="34" charset="-120"/>
              </a:rPr>
              <a:t>Business meaning:</a:t>
            </a:r>
            <a:r>
              <a:rPr lang="en-US" sz="1050" dirty="0">
                <a:solidFill>
                  <a:srgbClr val="111111"/>
                </a:solidFill>
                <a:latin typeface="Kalam Bold" pitchFamily="34" charset="0"/>
                <a:ea typeface="Kalam Bold" pitchFamily="34" charset="-122"/>
                <a:cs typeface="Kalam Bold" pitchFamily="34" charset="-120"/>
              </a:rPr>
              <a:t> </a:t>
            </a:r>
            <a:r>
              <a:rPr lang="en-US" sz="1050" dirty="0">
                <a:solidFill>
                  <a:srgbClr val="111111"/>
                </a:solidFill>
                <a:latin typeface="Kalam Bold" pitchFamily="34" charset="0"/>
                <a:ea typeface="Kalam Bold" pitchFamily="34" charset="-122"/>
                <a:cs typeface="Kalam Bold" pitchFamily="34" charset="-120"/>
              </a:rPr>
              <a:t>The human c</a:t>
            </a:r>
            <a:r>
              <a:rPr lang="en-US" sz="1050" dirty="0">
                <a:solidFill>
                  <a:srgbClr val="111111"/>
                </a:solidFill>
                <a:latin typeface="Kalam Bold" pitchFamily="34" charset="0"/>
                <a:ea typeface="Kalam Bold" pitchFamily="34" charset="-122"/>
                <a:cs typeface="Kalam Bold" pitchFamily="34" charset="-120"/>
              </a:rPr>
              <a:t>hooses what </a:t>
            </a:r>
            <a:r>
              <a:rPr lang="en-US" sz="1050" dirty="0">
                <a:solidFill>
                  <a:srgbClr val="111111"/>
                </a:solidFill>
                <a:latin typeface="Kalam Bold" pitchFamily="34" charset="0"/>
                <a:ea typeface="Kalam Bold" pitchFamily="34" charset="-122"/>
                <a:cs typeface="Kalam Bold" pitchFamily="34" charset="-120"/>
              </a:rPr>
              <a:t>the evidence</a:t>
            </a:r>
            <a:r>
              <a:rPr lang="en-US" sz="1050" dirty="0">
                <a:solidFill>
                  <a:srgbClr val="111111"/>
                </a:solidFill>
                <a:latin typeface="Kalam Bold" pitchFamily="34" charset="0"/>
                <a:ea typeface="Kalam Bold" pitchFamily="34" charset="-122"/>
                <a:cs typeface="Kalam Bold" pitchFamily="34" charset="-120"/>
              </a:rPr>
              <a:t> is allowed t</a:t>
            </a:r>
            <a:r>
              <a:rPr lang="en-US" sz="1050" dirty="0">
                <a:solidFill>
                  <a:srgbClr val="111111"/>
                </a:solidFill>
                <a:latin typeface="Kalam Bold" pitchFamily="34" charset="0"/>
                <a:ea typeface="Kalam Bold" pitchFamily="34" charset="-122"/>
                <a:cs typeface="Kalam Bold" pitchFamily="34" charset="-120"/>
              </a:rPr>
              <a:t>o prove.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ACT 1: INTENT BECOMES A CONTRACT</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385763"/>
          </a:xfrm>
          <a:prstGeom prst="rect">
            <a:avLst/>
          </a:prstGeom>
          <a:solidFill>
            <a:srgbClr val="FFFFFF"/>
          </a:solidFill>
          <a:ln w="18288">
            <a:solidFill>
              <a:srgbClr val="111111"/>
            </a:solidFill>
            <a:prstDash val="solid"/>
          </a:ln>
        </p:spPr>
      </p:sp>
      <p:sp>
        <p:nvSpPr>
          <p:cNvPr id="9" name="Shape 5"/>
          <p:cNvSpPr/>
          <p:nvPr/>
        </p:nvSpPr>
        <p:spPr>
          <a:xfrm>
            <a:off x="371475" y="1446609"/>
            <a:ext cx="200025" cy="200025"/>
          </a:xfrm>
          <a:prstGeom prst="rect">
            <a:avLst/>
          </a:prstGeom>
          <a:solidFill>
            <a:srgbClr val="111111"/>
          </a:solidFill>
          <a:ln/>
        </p:spPr>
      </p:sp>
      <p:sp>
        <p:nvSpPr>
          <p:cNvPr id="10" name="Text 6"/>
          <p:cNvSpPr/>
          <p:nvPr/>
        </p:nvSpPr>
        <p:spPr>
          <a:xfrm>
            <a:off x="371475" y="144660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657225" y="1473733"/>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PRD</a:t>
            </a:r>
            <a:endParaRPr lang="en-US" sz="850" dirty="0"/>
          </a:p>
        </p:txBody>
      </p:sp>
      <p:sp>
        <p:nvSpPr>
          <p:cNvPr id="12" name="Shape 8"/>
          <p:cNvSpPr/>
          <p:nvPr/>
        </p:nvSpPr>
        <p:spPr>
          <a:xfrm>
            <a:off x="271463" y="1789509"/>
            <a:ext cx="3429000" cy="385763"/>
          </a:xfrm>
          <a:prstGeom prst="rect">
            <a:avLst/>
          </a:prstGeom>
          <a:solidFill>
            <a:srgbClr val="FFFFFF"/>
          </a:solidFill>
          <a:ln w="18288">
            <a:solidFill>
              <a:srgbClr val="111111"/>
            </a:solidFill>
            <a:prstDash val="solid"/>
          </a:ln>
        </p:spPr>
      </p:sp>
      <p:sp>
        <p:nvSpPr>
          <p:cNvPr id="13" name="Shape 9"/>
          <p:cNvSpPr/>
          <p:nvPr/>
        </p:nvSpPr>
        <p:spPr>
          <a:xfrm>
            <a:off x="371475" y="1860947"/>
            <a:ext cx="200025" cy="200025"/>
          </a:xfrm>
          <a:prstGeom prst="rect">
            <a:avLst/>
          </a:prstGeom>
          <a:solidFill>
            <a:srgbClr val="111111"/>
          </a:solidFill>
          <a:ln/>
        </p:spPr>
      </p:sp>
      <p:sp>
        <p:nvSpPr>
          <p:cNvPr id="14" name="Text 10"/>
          <p:cNvSpPr/>
          <p:nvPr/>
        </p:nvSpPr>
        <p:spPr>
          <a:xfrm>
            <a:off x="371475" y="186094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5" name="Text 11"/>
          <p:cNvSpPr/>
          <p:nvPr/>
        </p:nvSpPr>
        <p:spPr>
          <a:xfrm>
            <a:off x="657225" y="1888071"/>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module spec</a:t>
            </a:r>
            <a:endParaRPr lang="en-US" sz="850" dirty="0"/>
          </a:p>
        </p:txBody>
      </p:sp>
      <p:sp>
        <p:nvSpPr>
          <p:cNvPr id="16" name="Shape 12"/>
          <p:cNvSpPr/>
          <p:nvPr/>
        </p:nvSpPr>
        <p:spPr>
          <a:xfrm>
            <a:off x="271463" y="2203847"/>
            <a:ext cx="3429000" cy="385763"/>
          </a:xfrm>
          <a:prstGeom prst="rect">
            <a:avLst/>
          </a:prstGeom>
          <a:solidFill>
            <a:srgbClr val="FFFFFF"/>
          </a:solidFill>
          <a:ln w="18288">
            <a:solidFill>
              <a:srgbClr val="111111"/>
            </a:solidFill>
            <a:prstDash val="solid"/>
          </a:ln>
        </p:spPr>
      </p:sp>
      <p:sp>
        <p:nvSpPr>
          <p:cNvPr id="17" name="Shape 13"/>
          <p:cNvSpPr/>
          <p:nvPr/>
        </p:nvSpPr>
        <p:spPr>
          <a:xfrm>
            <a:off x="371475" y="2275284"/>
            <a:ext cx="200025" cy="200025"/>
          </a:xfrm>
          <a:prstGeom prst="rect">
            <a:avLst/>
          </a:prstGeom>
          <a:solidFill>
            <a:srgbClr val="111111"/>
          </a:solidFill>
          <a:ln/>
        </p:spPr>
      </p:sp>
      <p:sp>
        <p:nvSpPr>
          <p:cNvPr id="18" name="Text 14"/>
          <p:cNvSpPr/>
          <p:nvPr/>
        </p:nvSpPr>
        <p:spPr>
          <a:xfrm>
            <a:off x="371475" y="2275284"/>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19" name="Text 15"/>
          <p:cNvSpPr/>
          <p:nvPr/>
        </p:nvSpPr>
        <p:spPr>
          <a:xfrm>
            <a:off x="657225" y="2302408"/>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Draft tie-out contract</a:t>
            </a:r>
            <a:endParaRPr lang="en-US" sz="850" dirty="0"/>
          </a:p>
        </p:txBody>
      </p:sp>
      <p:sp>
        <p:nvSpPr>
          <p:cNvPr id="20" name="Shape 16"/>
          <p:cNvSpPr/>
          <p:nvPr/>
        </p:nvSpPr>
        <p:spPr>
          <a:xfrm>
            <a:off x="271463" y="2618184"/>
            <a:ext cx="3429000" cy="385763"/>
          </a:xfrm>
          <a:prstGeom prst="rect">
            <a:avLst/>
          </a:prstGeom>
          <a:solidFill>
            <a:srgbClr val="FFFFFF"/>
          </a:solidFill>
          <a:ln w="18288">
            <a:solidFill>
              <a:srgbClr val="111111"/>
            </a:solidFill>
            <a:prstDash val="solid"/>
          </a:ln>
        </p:spPr>
      </p:sp>
      <p:sp>
        <p:nvSpPr>
          <p:cNvPr id="21" name="Shape 17"/>
          <p:cNvSpPr/>
          <p:nvPr/>
        </p:nvSpPr>
        <p:spPr>
          <a:xfrm>
            <a:off x="371475" y="2689622"/>
            <a:ext cx="200025" cy="200025"/>
          </a:xfrm>
          <a:prstGeom prst="rect">
            <a:avLst/>
          </a:prstGeom>
          <a:solidFill>
            <a:srgbClr val="111111"/>
          </a:solidFill>
          <a:ln/>
        </p:spPr>
      </p:sp>
      <p:sp>
        <p:nvSpPr>
          <p:cNvPr id="22" name="Text 18"/>
          <p:cNvSpPr/>
          <p:nvPr/>
        </p:nvSpPr>
        <p:spPr>
          <a:xfrm>
            <a:off x="371475" y="2689622"/>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23" name="Text 19"/>
          <p:cNvSpPr/>
          <p:nvPr/>
        </p:nvSpPr>
        <p:spPr>
          <a:xfrm>
            <a:off x="657225" y="2716746"/>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Record architecture decision</a:t>
            </a:r>
            <a:endParaRPr lang="en-US" sz="850" dirty="0"/>
          </a:p>
        </p:txBody>
      </p:sp>
      <p:sp>
        <p:nvSpPr>
          <p:cNvPr id="24" name="Shape 20"/>
          <p:cNvSpPr/>
          <p:nvPr/>
        </p:nvSpPr>
        <p:spPr>
          <a:xfrm>
            <a:off x="271463" y="3032522"/>
            <a:ext cx="3429000" cy="385763"/>
          </a:xfrm>
          <a:prstGeom prst="rect">
            <a:avLst/>
          </a:prstGeom>
          <a:solidFill>
            <a:srgbClr val="FFFFFF"/>
          </a:solidFill>
          <a:ln w="18288">
            <a:solidFill>
              <a:srgbClr val="111111"/>
            </a:solidFill>
            <a:prstDash val="solid"/>
          </a:ln>
        </p:spPr>
      </p:sp>
      <p:sp>
        <p:nvSpPr>
          <p:cNvPr id="25" name="Shape 21"/>
          <p:cNvSpPr/>
          <p:nvPr/>
        </p:nvSpPr>
        <p:spPr>
          <a:xfrm>
            <a:off x="371475" y="3103959"/>
            <a:ext cx="200025" cy="200025"/>
          </a:xfrm>
          <a:prstGeom prst="rect">
            <a:avLst/>
          </a:prstGeom>
          <a:solidFill>
            <a:srgbClr val="111111"/>
          </a:solidFill>
          <a:ln/>
        </p:spPr>
      </p:sp>
      <p:sp>
        <p:nvSpPr>
          <p:cNvPr id="26" name="Text 22"/>
          <p:cNvSpPr/>
          <p:nvPr/>
        </p:nvSpPr>
        <p:spPr>
          <a:xfrm>
            <a:off x="371475" y="310395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5</a:t>
            </a:r>
            <a:endParaRPr lang="en-US" sz="850" dirty="0"/>
          </a:p>
        </p:txBody>
      </p:sp>
      <p:sp>
        <p:nvSpPr>
          <p:cNvPr id="27" name="Text 23"/>
          <p:cNvSpPr/>
          <p:nvPr/>
        </p:nvSpPr>
        <p:spPr>
          <a:xfrm>
            <a:off x="657225" y="3131083"/>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Ask for approval</a:t>
            </a:r>
            <a:endParaRPr lang="en-US" sz="850" dirty="0"/>
          </a:p>
        </p:txBody>
      </p:sp>
      <p:sp>
        <p:nvSpPr>
          <p:cNvPr id="28" name="Shape 24"/>
          <p:cNvSpPr/>
          <p:nvPr/>
        </p:nvSpPr>
        <p:spPr>
          <a:xfrm>
            <a:off x="271463" y="3504009"/>
            <a:ext cx="3429000" cy="1025128"/>
          </a:xfrm>
          <a:prstGeom prst="rect">
            <a:avLst/>
          </a:prstGeom>
          <a:solidFill>
            <a:srgbClr val="EAF1FF"/>
          </a:solidFill>
          <a:ln w="18288">
            <a:solidFill>
              <a:srgbClr val="111111"/>
            </a:solidFill>
            <a:prstDash val="solid"/>
          </a:ln>
        </p:spPr>
      </p:sp>
      <p:sp>
        <p:nvSpPr>
          <p:cNvPr id="29" name="Text 25"/>
          <p:cNvSpPr/>
          <p:nvPr/>
        </p:nvSpPr>
        <p:spPr>
          <a:xfrm>
            <a:off x="371475" y="3604022"/>
            <a:ext cx="3228975" cy="167878"/>
          </a:xfrm>
          <a:prstGeom prst="rect">
            <a:avLst/>
          </a:prstGeom>
          <a:noFill/>
          <a:ln/>
        </p:spPr>
        <p:txBody>
          <a:bodyPr wrap="square" lIns="0" tIns="0" rIns="0" bIns="0" rtlCol="0" anchor="t">
            <a:spAutoFit/>
          </a:bodyPr>
          <a:lstStyle/>
          <a:p>
            <a:pPr algn="l" indent="0" marL="0">
              <a:buNone/>
            </a:pPr>
            <a:r>
              <a:rPr lang="en-US" sz="850" dirty="0">
                <a:solidFill>
                  <a:srgbClr val="111111"/>
                </a:solidFill>
                <a:latin typeface="Oswald SemiBold" pitchFamily="34" charset="0"/>
                <a:ea typeface="Oswald SemiBold" pitchFamily="34" charset="-122"/>
                <a:cs typeface="Oswald SemiBold" pitchFamily="34" charset="-120"/>
              </a:rPr>
              <a:t>CANONICAL ARTIFACTS CREATED</a:t>
            </a:r>
            <a:endParaRPr lang="en-US" sz="850" dirty="0"/>
          </a:p>
        </p:txBody>
      </p:sp>
      <p:sp>
        <p:nvSpPr>
          <p:cNvPr id="30" name="Text 26"/>
          <p:cNvSpPr/>
          <p:nvPr/>
        </p:nvSpPr>
        <p:spPr>
          <a:xfrm>
            <a:off x="371475" y="3829050"/>
            <a:ext cx="3228975" cy="110728"/>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docs/PRD.md</a:t>
            </a:r>
            <a:endParaRPr lang="en-US" sz="600" dirty="0"/>
          </a:p>
        </p:txBody>
      </p:sp>
      <p:sp>
        <p:nvSpPr>
          <p:cNvPr id="31" name="Text 27"/>
          <p:cNvSpPr/>
          <p:nvPr/>
        </p:nvSpPr>
        <p:spPr>
          <a:xfrm>
            <a:off x="371475" y="3968353"/>
            <a:ext cx="3228975" cy="110728"/>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docs/specs/LC-LOGIT-01.md</a:t>
            </a:r>
            <a:endParaRPr lang="en-US" sz="600" dirty="0"/>
          </a:p>
        </p:txBody>
      </p:sp>
      <p:sp>
        <p:nvSpPr>
          <p:cNvPr id="32" name="Text 28"/>
          <p:cNvSpPr/>
          <p:nvPr/>
        </p:nvSpPr>
        <p:spPr>
          <a:xfrm>
            <a:off x="371475" y="4107656"/>
            <a:ext cx="3228975" cy="110728"/>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config/tieout.yaml</a:t>
            </a:r>
            <a:endParaRPr lang="en-US" sz="600" dirty="0"/>
          </a:p>
        </p:txBody>
      </p:sp>
      <p:sp>
        <p:nvSpPr>
          <p:cNvPr id="33" name="Text 29"/>
          <p:cNvSpPr/>
          <p:nvPr/>
        </p:nvSpPr>
        <p:spPr>
          <a:xfrm>
            <a:off x="371475" y="4246959"/>
            <a:ext cx="3228975" cy="110728"/>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docs/adrs/ADR-0001...</a:t>
            </a:r>
            <a:endParaRPr lang="en-US" sz="600" dirty="0"/>
          </a:p>
        </p:txBody>
      </p:sp>
      <p:sp>
        <p:nvSpPr>
          <p:cNvPr id="34" name="Text 30"/>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HUMAN APPROVALS SENT TO COPILOT</a:t>
            </a:r>
            <a:endParaRPr lang="en-US" sz="1400" dirty="0"/>
          </a:p>
        </p:txBody>
      </p:sp>
      <p:sp>
        <p:nvSpPr>
          <p:cNvPr id="35" name="Shape 31"/>
          <p:cNvSpPr/>
          <p:nvPr/>
        </p:nvSpPr>
        <p:spPr>
          <a:xfrm>
            <a:off x="3929063" y="1332309"/>
            <a:ext cx="4943475" cy="3282553"/>
          </a:xfrm>
          <a:prstGeom prst="rect">
            <a:avLst/>
          </a:prstGeom>
          <a:solidFill>
            <a:srgbClr val="1E1E1E"/>
          </a:solidFill>
          <a:ln w="27432">
            <a:solidFill>
              <a:srgbClr val="111111"/>
            </a:solidFill>
            <a:prstDash val="solid"/>
          </a:ln>
        </p:spPr>
      </p:sp>
      <p:sp>
        <p:nvSpPr>
          <p:cNvPr id="36" name="Shape 32"/>
          <p:cNvSpPr/>
          <p:nvPr/>
        </p:nvSpPr>
        <p:spPr>
          <a:xfrm>
            <a:off x="3929063" y="1332309"/>
            <a:ext cx="4943475" cy="300038"/>
          </a:xfrm>
          <a:prstGeom prst="rect">
            <a:avLst/>
          </a:prstGeom>
          <a:solidFill>
            <a:srgbClr val="323233"/>
          </a:solidFill>
          <a:ln/>
        </p:spPr>
      </p:sp>
      <p:sp>
        <p:nvSpPr>
          <p:cNvPr id="37" name="Shape 33"/>
          <p:cNvSpPr/>
          <p:nvPr/>
        </p:nvSpPr>
        <p:spPr>
          <a:xfrm>
            <a:off x="3929063" y="1618059"/>
            <a:ext cx="4943475" cy="14288"/>
          </a:xfrm>
          <a:prstGeom prst="rect">
            <a:avLst/>
          </a:prstGeom>
          <a:solidFill>
            <a:srgbClr val="111111"/>
          </a:solidFill>
          <a:ln/>
        </p:spPr>
      </p:sp>
      <p:sp>
        <p:nvSpPr>
          <p:cNvPr id="38" name="Text 34"/>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39" name="Text 35"/>
          <p:cNvSpPr/>
          <p:nvPr/>
        </p:nvSpPr>
        <p:spPr>
          <a:xfrm>
            <a:off x="4663473" y="1789509"/>
            <a:ext cx="4023327" cy="124290"/>
          </a:xfrm>
          <a:prstGeom prst="rect">
            <a:avLst/>
          </a:prstGeom>
          <a:noFill/>
          <a:ln/>
        </p:spPr>
        <p:txBody>
          <a:bodyPr wrap="none" lIns="0" tIns="0" rIns="0" bIns="0" rtlCol="0" anchor="t">
            <a:spAutoFit/>
          </a:bodyPr>
          <a:lstStyle/>
          <a:p>
            <a:pPr algn="r" indent="0" marL="0">
              <a:lnSpc>
                <a:spcPct val="116000"/>
              </a:lnSpc>
              <a:buNone/>
            </a:pPr>
            <a:r>
              <a:rPr lang="en-US" sz="600" b="1" spc="1" kern="0" dirty="0">
                <a:solidFill>
                  <a:srgbClr val="569CD6"/>
                </a:solidFill>
                <a:latin typeface="Inter Bold" pitchFamily="34" charset="0"/>
                <a:ea typeface="Inter Bold" pitchFamily="34" charset="-122"/>
                <a:cs typeface="Inter Bold" pitchFamily="34" charset="-120"/>
              </a:rPr>
              <a:t>USER</a:t>
            </a:r>
            <a:endParaRPr lang="en-US" sz="600" dirty="0"/>
          </a:p>
        </p:txBody>
      </p:sp>
      <p:sp>
        <p:nvSpPr>
          <p:cNvPr id="40" name="Shape 36"/>
          <p:cNvSpPr/>
          <p:nvPr/>
        </p:nvSpPr>
        <p:spPr>
          <a:xfrm>
            <a:off x="4663473" y="1956662"/>
            <a:ext cx="4023327" cy="979531"/>
          </a:xfrm>
          <a:prstGeom prst="rect">
            <a:avLst/>
          </a:prstGeom>
          <a:solidFill>
            <a:srgbClr val="2D2D2D"/>
          </a:solidFill>
          <a:ln w="18288">
            <a:solidFill>
              <a:srgbClr val="444444"/>
            </a:solidFill>
            <a:prstDash val="solid"/>
          </a:ln>
        </p:spPr>
      </p:sp>
      <p:sp>
        <p:nvSpPr>
          <p:cNvPr id="41" name="Text 37"/>
          <p:cNvSpPr/>
          <p:nvPr/>
        </p:nvSpPr>
        <p:spPr>
          <a:xfrm>
            <a:off x="4663473" y="1956662"/>
            <a:ext cx="4023327" cy="979531"/>
          </a:xfrm>
          <a:prstGeom prst="rect">
            <a:avLst/>
          </a:prstGeom>
          <a:noFill/>
          <a:ln/>
        </p:spPr>
        <p:txBody>
          <a:bodyPr wrap="square" lIns="153035" tIns="119126" rIns="153035" bIns="119126" rtlCol="0" anchor="t">
            <a:spAutoFit/>
          </a:bodyPr>
          <a:lstStyle/>
          <a:p>
            <a:pPr algn="l" indent="0" marL="0">
              <a:lnSpc>
                <a:spcPct val="116000"/>
              </a:lnSpc>
              <a:buNone/>
            </a:pPr>
            <a:r>
              <a:rPr lang="en-US" sz="700" b="1" dirty="0">
                <a:solidFill>
                  <a:srgbClr val="CE9178"/>
                </a:solidFill>
                <a:latin typeface="JetBrains Mono Bold" pitchFamily="34" charset="0"/>
                <a:ea typeface="JetBrains Mono Bold" pitchFamily="34" charset="-122"/>
                <a:cs typeface="JetBrains Mono Bold" pitchFamily="34" charset="-120"/>
              </a:rPr>
              <a:t>I approve the LC-LOGIT-01 interview decisions.</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Invoke exactly </a:t>
            </a:r>
            <a:r>
              <a:rPr lang="en-US" sz="700" b="1" dirty="0">
                <a:solidFill>
                  <a:srgbClr val="D4D4D4"/>
                </a:solidFill>
                <a:latin typeface="JetBrains Mono Bold" pitchFamily="34" charset="0"/>
                <a:ea typeface="JetBrains Mono Bold" pitchFamily="34" charset="-122"/>
                <a:cs typeface="JetBrains Mono Bold" pitchFamily="34" charset="-120"/>
              </a:rPr>
              <a:t>specify</a:t>
            </a:r>
            <a:r>
              <a:rPr lang="en-US" sz="750" dirty="0">
                <a:solidFill>
                  <a:srgbClr val="D4D4D4"/>
                </a:solidFill>
                <a:latin typeface="JetBrains Mono" pitchFamily="34" charset="0"/>
                <a:ea typeface="JetBrains Mono" pitchFamily="34" charset="-122"/>
                <a:cs typeface="JetBrains Mono" pitchFamily="34" charset="-120"/>
              </a:rPr>
              <a: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Stop at the PRD, module SPEC, and draft tie-out contract </a:t>
            </a:r>
            <a:r>
              <a:rPr lang="en-US" sz="750" dirty="0">
                <a:solidFill>
                  <a:srgbClr val="D4D4D4"/>
                </a:solidFill>
                <a:latin typeface="JetBrains Mono" pitchFamily="34" charset="0"/>
                <a:ea typeface="JetBrains Mono" pitchFamily="34" charset="-122"/>
                <a:cs typeface="JetBrains Mono" pitchFamily="34" charset="-120"/>
              </a:rPr>
              <a:t>approval gate.</a:t>
            </a:r>
            <a:endParaRPr lang="en-US" sz="750" dirty="0"/>
          </a:p>
        </p:txBody>
      </p:sp>
      <p:sp>
        <p:nvSpPr>
          <p:cNvPr id="42" name="Text 38"/>
          <p:cNvSpPr/>
          <p:nvPr/>
        </p:nvSpPr>
        <p:spPr>
          <a:xfrm>
            <a:off x="4663473" y="3007630"/>
            <a:ext cx="4023327" cy="124290"/>
          </a:xfrm>
          <a:prstGeom prst="rect">
            <a:avLst/>
          </a:prstGeom>
          <a:noFill/>
          <a:ln/>
        </p:spPr>
        <p:txBody>
          <a:bodyPr wrap="none" lIns="0" tIns="0" rIns="0" bIns="0" rtlCol="0" anchor="t">
            <a:spAutoFit/>
          </a:bodyPr>
          <a:lstStyle/>
          <a:p>
            <a:pPr algn="r" indent="0" marL="0">
              <a:lnSpc>
                <a:spcPct val="116000"/>
              </a:lnSpc>
              <a:buNone/>
            </a:pPr>
            <a:r>
              <a:rPr lang="en-US" sz="600" b="1" spc="1" kern="0" dirty="0">
                <a:solidFill>
                  <a:srgbClr val="569CD6"/>
                </a:solidFill>
                <a:latin typeface="Inter Bold" pitchFamily="34" charset="0"/>
                <a:ea typeface="Inter Bold" pitchFamily="34" charset="-122"/>
                <a:cs typeface="Inter Bold" pitchFamily="34" charset="-120"/>
              </a:rPr>
              <a:t>USER</a:t>
            </a:r>
            <a:endParaRPr lang="en-US" sz="600" dirty="0"/>
          </a:p>
        </p:txBody>
      </p:sp>
      <p:sp>
        <p:nvSpPr>
          <p:cNvPr id="43" name="Shape 39"/>
          <p:cNvSpPr/>
          <p:nvPr/>
        </p:nvSpPr>
        <p:spPr>
          <a:xfrm>
            <a:off x="4663473" y="3174783"/>
            <a:ext cx="4023327" cy="829345"/>
          </a:xfrm>
          <a:prstGeom prst="rect">
            <a:avLst/>
          </a:prstGeom>
          <a:solidFill>
            <a:srgbClr val="2D2D2D"/>
          </a:solidFill>
          <a:ln w="18288">
            <a:solidFill>
              <a:srgbClr val="444444"/>
            </a:solidFill>
            <a:prstDash val="solid"/>
          </a:ln>
        </p:spPr>
      </p:sp>
      <p:sp>
        <p:nvSpPr>
          <p:cNvPr id="44" name="Text 40"/>
          <p:cNvSpPr/>
          <p:nvPr/>
        </p:nvSpPr>
        <p:spPr>
          <a:xfrm>
            <a:off x="4663473" y="3174783"/>
            <a:ext cx="4023327" cy="829345"/>
          </a:xfrm>
          <a:prstGeom prst="rect">
            <a:avLst/>
          </a:prstGeom>
          <a:noFill/>
          <a:ln/>
        </p:spPr>
        <p:txBody>
          <a:bodyPr wrap="square" lIns="153035" tIns="119126" rIns="153035" bIns="119126" rtlCol="0" anchor="t">
            <a:spAutoFit/>
          </a:bodyPr>
          <a:lstStyle/>
          <a:p>
            <a:pPr algn="l" indent="0" marL="0">
              <a:lnSpc>
                <a:spcPct val="116000"/>
              </a:lnSpc>
              <a:buNone/>
            </a:pPr>
            <a:r>
              <a:rPr lang="en-US" sz="700" b="1" dirty="0">
                <a:solidFill>
                  <a:srgbClr val="CE9178"/>
                </a:solidFill>
                <a:latin typeface="JetBrains Mono Bold" pitchFamily="34" charset="0"/>
                <a:ea typeface="JetBrains Mono Bold" pitchFamily="34" charset="-122"/>
                <a:cs typeface="JetBrains Mono Bold" pitchFamily="34" charset="-120"/>
              </a:rPr>
              <a:t>I approve the PRD, module SPEC, and draft tie-out contract.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Invoke exactly </a:t>
            </a:r>
            <a:r>
              <a:rPr lang="en-US" sz="700" b="1" dirty="0">
                <a:solidFill>
                  <a:srgbClr val="D4D4D4"/>
                </a:solidFill>
                <a:latin typeface="JetBrains Mono Bold" pitchFamily="34" charset="0"/>
                <a:ea typeface="JetBrains Mono Bold" pitchFamily="34" charset="-122"/>
                <a:cs typeface="JetBrains Mono Bold" pitchFamily="34" charset="-120"/>
              </a:rPr>
              <a:t>decide</a:t>
            </a:r>
            <a:r>
              <a:rPr lang="en-US" sz="750" dirty="0">
                <a:solidFill>
                  <a:srgbClr val="D4D4D4"/>
                </a:solidFill>
                <a:latin typeface="JetBrains Mono" pitchFamily="34" charset="0"/>
                <a:ea typeface="JetBrains Mono" pitchFamily="34" charset="-122"/>
                <a:cs typeface="JetBrains Mono" pitchFamily="34" charset="-120"/>
              </a:rPr>
              <a: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Stop at the ADR approval gate.</a:t>
            </a:r>
            <a:endParaRPr lang="en-US" sz="750" dirty="0"/>
          </a:p>
        </p:txBody>
      </p:sp>
      <p:sp>
        <p:nvSpPr>
          <p:cNvPr id="45" name="Shape 41"/>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46" name="Text 42"/>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Be</a:t>
            </a:r>
            <a:r>
              <a:rPr lang="en-US" sz="1250" dirty="0">
                <a:solidFill>
                  <a:srgbClr val="111111"/>
                </a:solidFill>
                <a:latin typeface="Kalam Bold" pitchFamily="34" charset="0"/>
                <a:ea typeface="Kalam Bold" pitchFamily="34" charset="-122"/>
                <a:cs typeface="Kalam Bold" pitchFamily="34" charset="-120"/>
              </a:rPr>
              <a:t>fore imple</a:t>
            </a:r>
            <a:r>
              <a:rPr lang="en-US" sz="1250" dirty="0">
                <a:solidFill>
                  <a:srgbClr val="111111"/>
                </a:solidFill>
                <a:latin typeface="Kalam Bold" pitchFamily="34" charset="0"/>
                <a:ea typeface="Kalam Bold" pitchFamily="34" charset="-122"/>
                <a:cs typeface="Kalam Bold" pitchFamily="34" charset="-120"/>
              </a:rPr>
              <a:t>mentation,</a:t>
            </a:r>
            <a:r>
              <a:rPr lang="en-US" sz="1250" dirty="0">
                <a:solidFill>
                  <a:srgbClr val="111111"/>
                </a:solidFill>
                <a:latin typeface="Kalam Bold" pitchFamily="34" charset="0"/>
                <a:ea typeface="Kalam Bold" pitchFamily="34" charset="-122"/>
                <a:cs typeface="Kalam Bold" pitchFamily="34" charset="-120"/>
              </a:rPr>
              <a:t> the repo </a:t>
            </a:r>
            <a:r>
              <a:rPr lang="en-US" sz="1250" dirty="0">
                <a:solidFill>
                  <a:srgbClr val="111111"/>
                </a:solidFill>
                <a:latin typeface="Kalam Bold" pitchFamily="34" charset="0"/>
                <a:ea typeface="Kalam Bold" pitchFamily="34" charset="-122"/>
                <a:cs typeface="Kalam Bold" pitchFamily="34" charset="-120"/>
              </a:rPr>
              <a:t>writes down</a:t>
            </a:r>
            <a:r>
              <a:rPr lang="en-US" sz="1250" dirty="0">
                <a:solidFill>
                  <a:srgbClr val="111111"/>
                </a:solidFill>
                <a:latin typeface="Kalam Bold" pitchFamily="34" charset="0"/>
                <a:ea typeface="Kalam Bold" pitchFamily="34" charset="-122"/>
                <a:cs typeface="Kalam Bold" pitchFamily="34" charset="-120"/>
              </a:rPr>
              <a:t> scope, evi</a:t>
            </a:r>
            <a:r>
              <a:rPr lang="en-US" sz="1250" dirty="0">
                <a:solidFill>
                  <a:srgbClr val="111111"/>
                </a:solidFill>
                <a:latin typeface="Kalam Bold" pitchFamily="34" charset="0"/>
                <a:ea typeface="Kalam Bold" pitchFamily="34" charset="-122"/>
                <a:cs typeface="Kalam Bold" pitchFamily="34" charset="-120"/>
              </a:rPr>
              <a:t>dence, and</a:t>
            </a:r>
            <a:r>
              <a:rPr lang="en-US" sz="1250" dirty="0">
                <a:solidFill>
                  <a:srgbClr val="111111"/>
                </a:solidFill>
                <a:latin typeface="Kalam Bold" pitchFamily="34" charset="0"/>
                <a:ea typeface="Kalam Bold" pitchFamily="34" charset="-122"/>
                <a:cs typeface="Kalam Bold" pitchFamily="34" charset="-120"/>
              </a:rPr>
              <a:t> architectu</a:t>
            </a:r>
            <a:r>
              <a:rPr lang="en-US" sz="1250" dirty="0">
                <a:solidFill>
                  <a:srgbClr val="111111"/>
                </a:solidFill>
                <a:latin typeface="Kalam Bold" pitchFamily="34" charset="0"/>
                <a:ea typeface="Kalam Bold" pitchFamily="34" charset="-122"/>
                <a:cs typeface="Kalam Bold" pitchFamily="34" charset="-120"/>
              </a:rPr>
              <a:t>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ACT 2: SAS BEHAVIOR BECOMES POLICY</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414338"/>
          </a:xfrm>
          <a:prstGeom prst="rect">
            <a:avLst/>
          </a:prstGeom>
          <a:solidFill>
            <a:srgbClr val="FFFFFF"/>
          </a:solidFill>
          <a:ln w="18288">
            <a:solidFill>
              <a:srgbClr val="111111"/>
            </a:solidFill>
            <a:prstDash val="solid"/>
          </a:ln>
        </p:spPr>
      </p:sp>
      <p:sp>
        <p:nvSpPr>
          <p:cNvPr id="9" name="Shape 5"/>
          <p:cNvSpPr/>
          <p:nvPr/>
        </p:nvSpPr>
        <p:spPr>
          <a:xfrm>
            <a:off x="371475" y="1460897"/>
            <a:ext cx="200025" cy="200025"/>
          </a:xfrm>
          <a:prstGeom prst="rect">
            <a:avLst/>
          </a:prstGeom>
          <a:solidFill>
            <a:srgbClr val="111111"/>
          </a:solidFill>
          <a:ln/>
        </p:spPr>
      </p:sp>
      <p:sp>
        <p:nvSpPr>
          <p:cNvPr id="10" name="Text 6"/>
          <p:cNvSpPr/>
          <p:nvPr/>
        </p:nvSpPr>
        <p:spPr>
          <a:xfrm>
            <a:off x="371475" y="146089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657225" y="1480542"/>
            <a:ext cx="2943225" cy="160734"/>
          </a:xfrm>
          <a:prstGeom prst="rect">
            <a:avLst/>
          </a:prstGeom>
          <a:noFill/>
          <a:ln/>
        </p:spPr>
        <p:txBody>
          <a:bodyPr wrap="none" lIns="0" tIns="0" rIns="0" bIns="0" rtlCol="0" anchor="t">
            <a:spAutoFit/>
          </a:bodyPr>
          <a:lstStyle/>
          <a:p>
            <a:pPr algn="l" indent="0" marL="0">
              <a:lnSpc>
                <a:spcPct val="100000"/>
              </a:lnSpc>
              <a:buNone/>
            </a:pPr>
            <a:r>
              <a:rPr lang="en-US" sz="900" b="1" dirty="0">
                <a:solidFill>
                  <a:srgbClr val="30343B"/>
                </a:solidFill>
                <a:latin typeface="Inter Bold" pitchFamily="34" charset="0"/>
                <a:ea typeface="Inter Bold" pitchFamily="34" charset="-122"/>
                <a:cs typeface="Inter Bold" pitchFamily="34" charset="-120"/>
              </a:rPr>
              <a:t>Take trace evidence</a:t>
            </a:r>
            <a:endParaRPr lang="en-US" sz="900" dirty="0"/>
          </a:p>
        </p:txBody>
      </p:sp>
      <p:sp>
        <p:nvSpPr>
          <p:cNvPr id="12" name="Shape 8"/>
          <p:cNvSpPr/>
          <p:nvPr/>
        </p:nvSpPr>
        <p:spPr>
          <a:xfrm>
            <a:off x="271463" y="1832372"/>
            <a:ext cx="3429000" cy="414338"/>
          </a:xfrm>
          <a:prstGeom prst="rect">
            <a:avLst/>
          </a:prstGeom>
          <a:solidFill>
            <a:srgbClr val="FFFFFF"/>
          </a:solidFill>
          <a:ln w="18288">
            <a:solidFill>
              <a:srgbClr val="111111"/>
            </a:solidFill>
            <a:prstDash val="solid"/>
          </a:ln>
        </p:spPr>
      </p:sp>
      <p:sp>
        <p:nvSpPr>
          <p:cNvPr id="13" name="Shape 9"/>
          <p:cNvSpPr/>
          <p:nvPr/>
        </p:nvSpPr>
        <p:spPr>
          <a:xfrm>
            <a:off x="371475" y="1918097"/>
            <a:ext cx="200025" cy="200025"/>
          </a:xfrm>
          <a:prstGeom prst="rect">
            <a:avLst/>
          </a:prstGeom>
          <a:solidFill>
            <a:srgbClr val="111111"/>
          </a:solidFill>
          <a:ln/>
        </p:spPr>
      </p:sp>
      <p:sp>
        <p:nvSpPr>
          <p:cNvPr id="14" name="Text 10"/>
          <p:cNvSpPr/>
          <p:nvPr/>
        </p:nvSpPr>
        <p:spPr>
          <a:xfrm>
            <a:off x="371475" y="191809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5" name="Text 11"/>
          <p:cNvSpPr/>
          <p:nvPr/>
        </p:nvSpPr>
        <p:spPr>
          <a:xfrm>
            <a:off x="657225" y="1937742"/>
            <a:ext cx="2943225" cy="160734"/>
          </a:xfrm>
          <a:prstGeom prst="rect">
            <a:avLst/>
          </a:prstGeom>
          <a:noFill/>
          <a:ln/>
        </p:spPr>
        <p:txBody>
          <a:bodyPr wrap="none" lIns="0" tIns="0" rIns="0" bIns="0" rtlCol="0" anchor="t">
            <a:spAutoFit/>
          </a:bodyPr>
          <a:lstStyle/>
          <a:p>
            <a:pPr algn="l" indent="0" marL="0">
              <a:lnSpc>
                <a:spcPct val="100000"/>
              </a:lnSpc>
              <a:buNone/>
            </a:pPr>
            <a:r>
              <a:rPr lang="en-US" sz="900" b="1" dirty="0">
                <a:solidFill>
                  <a:srgbClr val="30343B"/>
                </a:solidFill>
                <a:latin typeface="Inter Bold" pitchFamily="34" charset="0"/>
                <a:ea typeface="Inter Bold" pitchFamily="34" charset="-122"/>
                <a:cs typeface="Inter Bold" pitchFamily="34" charset="-120"/>
              </a:rPr>
              <a:t>Identify behavior patterns</a:t>
            </a:r>
            <a:endParaRPr lang="en-US" sz="900" dirty="0"/>
          </a:p>
        </p:txBody>
      </p:sp>
      <p:sp>
        <p:nvSpPr>
          <p:cNvPr id="16" name="Shape 12"/>
          <p:cNvSpPr/>
          <p:nvPr/>
        </p:nvSpPr>
        <p:spPr>
          <a:xfrm>
            <a:off x="271463" y="2289572"/>
            <a:ext cx="3429000" cy="414338"/>
          </a:xfrm>
          <a:prstGeom prst="rect">
            <a:avLst/>
          </a:prstGeom>
          <a:solidFill>
            <a:srgbClr val="FFFFFF"/>
          </a:solidFill>
          <a:ln w="18288">
            <a:solidFill>
              <a:srgbClr val="111111"/>
            </a:solidFill>
            <a:prstDash val="solid"/>
          </a:ln>
        </p:spPr>
      </p:sp>
      <p:sp>
        <p:nvSpPr>
          <p:cNvPr id="17" name="Shape 13"/>
          <p:cNvSpPr/>
          <p:nvPr/>
        </p:nvSpPr>
        <p:spPr>
          <a:xfrm>
            <a:off x="371475" y="2375297"/>
            <a:ext cx="200025" cy="200025"/>
          </a:xfrm>
          <a:prstGeom prst="rect">
            <a:avLst/>
          </a:prstGeom>
          <a:solidFill>
            <a:srgbClr val="111111"/>
          </a:solidFill>
          <a:ln/>
        </p:spPr>
      </p:sp>
      <p:sp>
        <p:nvSpPr>
          <p:cNvPr id="18" name="Text 14"/>
          <p:cNvSpPr/>
          <p:nvPr/>
        </p:nvSpPr>
        <p:spPr>
          <a:xfrm>
            <a:off x="371475" y="237529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19" name="Text 15"/>
          <p:cNvSpPr/>
          <p:nvPr/>
        </p:nvSpPr>
        <p:spPr>
          <a:xfrm>
            <a:off x="657225" y="2394942"/>
            <a:ext cx="2943225" cy="160734"/>
          </a:xfrm>
          <a:prstGeom prst="rect">
            <a:avLst/>
          </a:prstGeom>
          <a:noFill/>
          <a:ln/>
        </p:spPr>
        <p:txBody>
          <a:bodyPr wrap="none" lIns="0" tIns="0" rIns="0" bIns="0" rtlCol="0" anchor="t">
            <a:spAutoFit/>
          </a:bodyPr>
          <a:lstStyle/>
          <a:p>
            <a:pPr algn="l" indent="0" marL="0">
              <a:lnSpc>
                <a:spcPct val="100000"/>
              </a:lnSpc>
              <a:buNone/>
            </a:pPr>
            <a:r>
              <a:rPr lang="en-US" sz="900" b="1" dirty="0">
                <a:solidFill>
                  <a:srgbClr val="30343B"/>
                </a:solidFill>
                <a:latin typeface="Inter Bold" pitchFamily="34" charset="0"/>
                <a:ea typeface="Inter Bold" pitchFamily="34" charset="-122"/>
                <a:cs typeface="Inter Bold" pitchFamily="34" charset="-120"/>
              </a:rPr>
              <a:t>Assign ownership</a:t>
            </a:r>
            <a:endParaRPr lang="en-US" sz="900" dirty="0"/>
          </a:p>
        </p:txBody>
      </p:sp>
      <p:sp>
        <p:nvSpPr>
          <p:cNvPr id="20" name="Shape 16"/>
          <p:cNvSpPr/>
          <p:nvPr/>
        </p:nvSpPr>
        <p:spPr>
          <a:xfrm>
            <a:off x="271463" y="2746772"/>
            <a:ext cx="3429000" cy="414338"/>
          </a:xfrm>
          <a:prstGeom prst="rect">
            <a:avLst/>
          </a:prstGeom>
          <a:solidFill>
            <a:srgbClr val="FFFFFF"/>
          </a:solidFill>
          <a:ln w="18288">
            <a:solidFill>
              <a:srgbClr val="111111"/>
            </a:solidFill>
            <a:prstDash val="solid"/>
          </a:ln>
        </p:spPr>
      </p:sp>
      <p:sp>
        <p:nvSpPr>
          <p:cNvPr id="21" name="Shape 17"/>
          <p:cNvSpPr/>
          <p:nvPr/>
        </p:nvSpPr>
        <p:spPr>
          <a:xfrm>
            <a:off x="371475" y="2832497"/>
            <a:ext cx="200025" cy="200025"/>
          </a:xfrm>
          <a:prstGeom prst="rect">
            <a:avLst/>
          </a:prstGeom>
          <a:solidFill>
            <a:srgbClr val="111111"/>
          </a:solidFill>
          <a:ln/>
        </p:spPr>
      </p:sp>
      <p:sp>
        <p:nvSpPr>
          <p:cNvPr id="22" name="Text 18"/>
          <p:cNvSpPr/>
          <p:nvPr/>
        </p:nvSpPr>
        <p:spPr>
          <a:xfrm>
            <a:off x="371475" y="283249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23" name="Text 19"/>
          <p:cNvSpPr/>
          <p:nvPr/>
        </p:nvSpPr>
        <p:spPr>
          <a:xfrm>
            <a:off x="657225" y="2852142"/>
            <a:ext cx="2943225" cy="160734"/>
          </a:xfrm>
          <a:prstGeom prst="rect">
            <a:avLst/>
          </a:prstGeom>
          <a:noFill/>
          <a:ln/>
        </p:spPr>
        <p:txBody>
          <a:bodyPr wrap="none" lIns="0" tIns="0" rIns="0" bIns="0" rtlCol="0" anchor="t">
            <a:spAutoFit/>
          </a:bodyPr>
          <a:lstStyle/>
          <a:p>
            <a:pPr algn="l" indent="0" marL="0">
              <a:lnSpc>
                <a:spcPct val="100000"/>
              </a:lnSpc>
              <a:buNone/>
            </a:pPr>
            <a:r>
              <a:rPr lang="en-US" sz="900" b="1" dirty="0">
                <a:solidFill>
                  <a:srgbClr val="30343B"/>
                </a:solidFill>
                <a:latin typeface="Inter Bold" pitchFamily="34" charset="0"/>
                <a:ea typeface="Inter Bold" pitchFamily="34" charset="-122"/>
                <a:cs typeface="Inter Bold" pitchFamily="34" charset="-120"/>
              </a:rPr>
              <a:t>Mark unresolved runtime work</a:t>
            </a:r>
            <a:endParaRPr lang="en-US" sz="900" dirty="0"/>
          </a:p>
        </p:txBody>
      </p:sp>
      <p:sp>
        <p:nvSpPr>
          <p:cNvPr id="24" name="Shape 20"/>
          <p:cNvSpPr/>
          <p:nvPr/>
        </p:nvSpPr>
        <p:spPr>
          <a:xfrm>
            <a:off x="271463" y="3203972"/>
            <a:ext cx="3429000" cy="414338"/>
          </a:xfrm>
          <a:prstGeom prst="rect">
            <a:avLst/>
          </a:prstGeom>
          <a:solidFill>
            <a:srgbClr val="FFFFFF"/>
          </a:solidFill>
          <a:ln w="18288">
            <a:solidFill>
              <a:srgbClr val="111111"/>
            </a:solidFill>
            <a:prstDash val="solid"/>
          </a:ln>
        </p:spPr>
      </p:sp>
      <p:sp>
        <p:nvSpPr>
          <p:cNvPr id="25" name="Shape 21"/>
          <p:cNvSpPr/>
          <p:nvPr/>
        </p:nvSpPr>
        <p:spPr>
          <a:xfrm>
            <a:off x="371475" y="3289697"/>
            <a:ext cx="200025" cy="200025"/>
          </a:xfrm>
          <a:prstGeom prst="rect">
            <a:avLst/>
          </a:prstGeom>
          <a:solidFill>
            <a:srgbClr val="111111"/>
          </a:solidFill>
          <a:ln/>
        </p:spPr>
      </p:sp>
      <p:sp>
        <p:nvSpPr>
          <p:cNvPr id="26" name="Text 22"/>
          <p:cNvSpPr/>
          <p:nvPr/>
        </p:nvSpPr>
        <p:spPr>
          <a:xfrm>
            <a:off x="371475" y="328969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5</a:t>
            </a:r>
            <a:endParaRPr lang="en-US" sz="850" dirty="0"/>
          </a:p>
        </p:txBody>
      </p:sp>
      <p:sp>
        <p:nvSpPr>
          <p:cNvPr id="27" name="Text 23"/>
          <p:cNvSpPr/>
          <p:nvPr/>
        </p:nvSpPr>
        <p:spPr>
          <a:xfrm>
            <a:off x="657225" y="3309342"/>
            <a:ext cx="2943225" cy="160734"/>
          </a:xfrm>
          <a:prstGeom prst="rect">
            <a:avLst/>
          </a:prstGeom>
          <a:noFill/>
          <a:ln/>
        </p:spPr>
        <p:txBody>
          <a:bodyPr wrap="none" lIns="0" tIns="0" rIns="0" bIns="0" rtlCol="0" anchor="t">
            <a:spAutoFit/>
          </a:bodyPr>
          <a:lstStyle/>
          <a:p>
            <a:pPr algn="l" indent="0" marL="0">
              <a:lnSpc>
                <a:spcPct val="100000"/>
              </a:lnSpc>
              <a:buNone/>
            </a:pPr>
            <a:r>
              <a:rPr lang="en-US" sz="900" b="1" dirty="0">
                <a:solidFill>
                  <a:srgbClr val="30343B"/>
                </a:solidFill>
                <a:latin typeface="Inter Bold" pitchFamily="34" charset="0"/>
                <a:ea typeface="Inter Bold" pitchFamily="34" charset="-122"/>
                <a:cs typeface="Inter Bold" pitchFamily="34" charset="-120"/>
              </a:rPr>
              <a:t>Write policy registry</a:t>
            </a:r>
            <a:endParaRPr lang="en-US" sz="900" dirty="0"/>
          </a:p>
        </p:txBody>
      </p:sp>
      <p:sp>
        <p:nvSpPr>
          <p:cNvPr id="28" name="Shape 24"/>
          <p:cNvSpPr/>
          <p:nvPr/>
        </p:nvSpPr>
        <p:spPr>
          <a:xfrm>
            <a:off x="271463" y="3732609"/>
            <a:ext cx="3429000" cy="635794"/>
          </a:xfrm>
          <a:prstGeom prst="rect">
            <a:avLst/>
          </a:prstGeom>
          <a:solidFill>
            <a:srgbClr val="EAF1FF"/>
          </a:solidFill>
          <a:ln w="18288">
            <a:solidFill>
              <a:srgbClr val="111111"/>
            </a:solidFill>
            <a:prstDash val="solid"/>
          </a:ln>
        </p:spPr>
      </p:sp>
      <p:sp>
        <p:nvSpPr>
          <p:cNvPr id="29" name="Text 25"/>
          <p:cNvSpPr/>
          <p:nvPr/>
        </p:nvSpPr>
        <p:spPr>
          <a:xfrm>
            <a:off x="385763" y="3846909"/>
            <a:ext cx="3200400" cy="182166"/>
          </a:xfrm>
          <a:prstGeom prst="rect">
            <a:avLst/>
          </a:prstGeom>
          <a:noFill/>
          <a:ln/>
        </p:spPr>
        <p:txBody>
          <a:bodyPr wrap="square" lIns="0" tIns="0" rIns="0" bIns="0" rtlCol="0" anchor="t">
            <a:spAutoFit/>
          </a:bodyPr>
          <a:lstStyle/>
          <a:p>
            <a:pPr algn="l" indent="0" marL="0">
              <a:buNone/>
            </a:pPr>
            <a:r>
              <a:rPr lang="en-US" sz="900" dirty="0">
                <a:solidFill>
                  <a:srgbClr val="111111"/>
                </a:solidFill>
                <a:latin typeface="Oswald SemiBold" pitchFamily="34" charset="0"/>
                <a:ea typeface="Oswald SemiBold" pitchFamily="34" charset="-122"/>
                <a:cs typeface="Oswald SemiBold" pitchFamily="34" charset="-120"/>
              </a:rPr>
              <a:t>CANONICAL ARTIFACT CREATED</a:t>
            </a:r>
            <a:endParaRPr lang="en-US" sz="900" dirty="0"/>
          </a:p>
        </p:txBody>
      </p:sp>
      <p:sp>
        <p:nvSpPr>
          <p:cNvPr id="30" name="Text 26"/>
          <p:cNvSpPr/>
          <p:nvPr/>
        </p:nvSpPr>
        <p:spPr>
          <a:xfrm>
            <a:off x="385763" y="4086225"/>
            <a:ext cx="3200400" cy="125016"/>
          </a:xfrm>
          <a:prstGeom prst="rect">
            <a:avLst/>
          </a:prstGeom>
          <a:noFill/>
          <a:ln/>
        </p:spPr>
        <p:txBody>
          <a:bodyPr wrap="square" lIns="85090" tIns="0" rIns="0" bIns="0" rtlCol="0" anchor="t">
            <a:spAutoFit/>
          </a:bodyPr>
          <a:lstStyle/>
          <a:p>
            <a:pPr algn="l" indent="0" marL="0">
              <a:buNone/>
            </a:pPr>
            <a:r>
              <a:rPr lang="en-US" sz="650" b="1" dirty="0">
                <a:solidFill>
                  <a:srgbClr val="B42318"/>
                </a:solidFill>
                <a:latin typeface="JetBrains Mono Bold" pitchFamily="34" charset="0"/>
                <a:ea typeface="JetBrains Mono Bold" pitchFamily="34" charset="-122"/>
                <a:cs typeface="JetBrains Mono Bold" pitchFamily="34" charset="-120"/>
              </a:rPr>
              <a:t>policy/policy_registry.yaml</a:t>
            </a:r>
            <a:endParaRPr lang="en-US" sz="650" dirty="0"/>
          </a:p>
        </p:txBody>
      </p:sp>
      <p:sp>
        <p:nvSpPr>
          <p:cNvPr id="31" name="Text 27"/>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COPY-READY COPILOT MESSAGE</a:t>
            </a:r>
            <a:endParaRPr lang="en-US" sz="1400" dirty="0"/>
          </a:p>
        </p:txBody>
      </p:sp>
      <p:sp>
        <p:nvSpPr>
          <p:cNvPr id="32" name="Shape 28"/>
          <p:cNvSpPr/>
          <p:nvPr/>
        </p:nvSpPr>
        <p:spPr>
          <a:xfrm>
            <a:off x="3929063" y="1332309"/>
            <a:ext cx="4943475" cy="3282553"/>
          </a:xfrm>
          <a:prstGeom prst="rect">
            <a:avLst/>
          </a:prstGeom>
          <a:solidFill>
            <a:srgbClr val="1E1E1E"/>
          </a:solidFill>
          <a:ln w="27432">
            <a:solidFill>
              <a:srgbClr val="111111"/>
            </a:solidFill>
            <a:prstDash val="solid"/>
          </a:ln>
        </p:spPr>
      </p:sp>
      <p:sp>
        <p:nvSpPr>
          <p:cNvPr id="33" name="Shape 29"/>
          <p:cNvSpPr/>
          <p:nvPr/>
        </p:nvSpPr>
        <p:spPr>
          <a:xfrm>
            <a:off x="3929063" y="1332309"/>
            <a:ext cx="4943475" cy="300038"/>
          </a:xfrm>
          <a:prstGeom prst="rect">
            <a:avLst/>
          </a:prstGeom>
          <a:solidFill>
            <a:srgbClr val="323233"/>
          </a:solidFill>
          <a:ln/>
        </p:spPr>
      </p:sp>
      <p:sp>
        <p:nvSpPr>
          <p:cNvPr id="34" name="Shape 30"/>
          <p:cNvSpPr/>
          <p:nvPr/>
        </p:nvSpPr>
        <p:spPr>
          <a:xfrm>
            <a:off x="3929063" y="1618059"/>
            <a:ext cx="4943475" cy="14288"/>
          </a:xfrm>
          <a:prstGeom prst="rect">
            <a:avLst/>
          </a:prstGeom>
          <a:solidFill>
            <a:srgbClr val="111111"/>
          </a:solidFill>
          <a:ln/>
        </p:spPr>
      </p:sp>
      <p:sp>
        <p:nvSpPr>
          <p:cNvPr id="35" name="Text 31"/>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36" name="Text 32"/>
          <p:cNvSpPr/>
          <p:nvPr/>
        </p:nvSpPr>
        <p:spPr>
          <a:xfrm>
            <a:off x="4129088" y="1803797"/>
            <a:ext cx="4543425" cy="139303"/>
          </a:xfrm>
          <a:prstGeom prst="rect">
            <a:avLst/>
          </a:prstGeom>
          <a:noFill/>
          <a:ln/>
        </p:spPr>
        <p:txBody>
          <a:bodyPr wrap="none" lIns="0" tIns="0" rIns="0" bIns="0" rtlCol="0" anchor="t">
            <a:spAutoFit/>
          </a:bodyPr>
          <a:lstStyle/>
          <a:p>
            <a:pPr algn="l" indent="0" marL="0">
              <a:lnSpc>
                <a:spcPct val="120000"/>
              </a:lnSpc>
              <a:buNone/>
            </a:pPr>
            <a:r>
              <a:rPr lang="en-US" sz="650" b="1" spc="1" kern="0" dirty="0">
                <a:solidFill>
                  <a:srgbClr val="569CD6"/>
                </a:solidFill>
                <a:latin typeface="Inter Bold" pitchFamily="34" charset="0"/>
                <a:ea typeface="Inter Bold" pitchFamily="34" charset="-122"/>
                <a:cs typeface="Inter Bold" pitchFamily="34" charset="-120"/>
              </a:rPr>
              <a:t>USER</a:t>
            </a:r>
            <a:endParaRPr lang="en-US" sz="650" dirty="0"/>
          </a:p>
        </p:txBody>
      </p:sp>
      <p:sp>
        <p:nvSpPr>
          <p:cNvPr id="37" name="Shape 33"/>
          <p:cNvSpPr/>
          <p:nvPr/>
        </p:nvSpPr>
        <p:spPr>
          <a:xfrm>
            <a:off x="4129088" y="2000250"/>
            <a:ext cx="4543425" cy="1457325"/>
          </a:xfrm>
          <a:prstGeom prst="rect">
            <a:avLst/>
          </a:prstGeom>
          <a:solidFill>
            <a:srgbClr val="2D2D2D"/>
          </a:solidFill>
          <a:ln w="18288">
            <a:solidFill>
              <a:srgbClr val="444444"/>
            </a:solidFill>
            <a:prstDash val="solid"/>
          </a:ln>
        </p:spPr>
      </p:sp>
      <p:sp>
        <p:nvSpPr>
          <p:cNvPr id="38" name="Text 34"/>
          <p:cNvSpPr/>
          <p:nvPr/>
        </p:nvSpPr>
        <p:spPr>
          <a:xfrm>
            <a:off x="4129088" y="2000250"/>
            <a:ext cx="4543425" cy="1457325"/>
          </a:xfrm>
          <a:prstGeom prst="rect">
            <a:avLst/>
          </a:prstGeom>
          <a:noFill/>
          <a:ln/>
        </p:spPr>
        <p:txBody>
          <a:bodyPr wrap="square" lIns="170053" tIns="136017" rIns="170053" bIns="136017" rtlCol="0" anchor="t">
            <a:spAutoFit/>
          </a:bodyPr>
          <a:lstStyle/>
          <a:p>
            <a:pPr algn="l" indent="0" marL="0">
              <a:lnSpc>
                <a:spcPct val="120000"/>
              </a:lnSpc>
              <a:buNone/>
            </a:pPr>
            <a:r>
              <a:rPr lang="en-US" sz="800" b="1" dirty="0">
                <a:solidFill>
                  <a:srgbClr val="CE9178"/>
                </a:solidFill>
                <a:latin typeface="JetBrains Mono Bold" pitchFamily="34" charset="0"/>
                <a:ea typeface="JetBrains Mono Bold" pitchFamily="34" charset="-122"/>
                <a:cs typeface="JetBrains Mono Bold" pitchFamily="34" charset="-120"/>
              </a:rPr>
              <a:t>/run-next-stage LC-LOGIT-01</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 Use the approved canonical execution trace.</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Invoke only </a:t>
            </a:r>
            <a:r>
              <a:rPr lang="en-US" sz="800" b="1" dirty="0">
                <a:solidFill>
                  <a:srgbClr val="D4D4D4"/>
                </a:solidFill>
                <a:latin typeface="JetBrains Mono Bold" pitchFamily="34" charset="0"/>
                <a:ea typeface="JetBrains Mono Bold" pitchFamily="34" charset="-122"/>
                <a:cs typeface="JetBrains Mono Bold" pitchFamily="34" charset="-120"/>
              </a:rPr>
              <a:t>map</a:t>
            </a:r>
            <a:r>
              <a:rPr lang="en-US" sz="850" dirty="0">
                <a:solidFill>
                  <a:srgbClr val="D4D4D4"/>
                </a:solidFill>
                <a:latin typeface="JetBrains Mono" pitchFamily="34" charset="0"/>
                <a:ea typeface="JetBrains Mono" pitchFamily="34" charset="-122"/>
                <a:cs typeface="JetBrains Mono" pitchFamily="34" charset="-120"/>
              </a:rPr>
              <a:t>.</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Write and validate </a:t>
            </a:r>
            <a:r>
              <a:rPr lang="en-US" sz="800" b="1" dirty="0">
                <a:solidFill>
                  <a:srgbClr val="CE9178"/>
                </a:solidFill>
                <a:latin typeface="JetBrains Mono Bold" pitchFamily="34" charset="0"/>
                <a:ea typeface="JetBrains Mono Bold" pitchFamily="34" charset="-122"/>
                <a:cs typeface="JetBrains Mono Bold" pitchFamily="34" charset="-120"/>
              </a:rPr>
              <a:t>policy/policy_registry.yaml</a:t>
            </a:r>
            <a:r>
              <a:rPr lang="en-US" sz="850" dirty="0">
                <a:solidFill>
                  <a:srgbClr val="D4D4D4"/>
                </a:solidFill>
                <a:latin typeface="JetBrains Mono" pitchFamily="34" charset="0"/>
                <a:ea typeface="JetBrains Mono" pitchFamily="34" charset="-122"/>
                <a:cs typeface="JetBrains Mono" pitchFamily="34" charset="-120"/>
              </a:rPr>
              <a:t>.</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Record its path and hash; stop.</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Do not invoke </a:t>
            </a:r>
            <a:r>
              <a:rPr lang="en-US" sz="800" b="1" dirty="0">
                <a:solidFill>
                  <a:srgbClr val="D4D4D4"/>
                </a:solidFill>
                <a:latin typeface="JetBrains Mono Bold" pitchFamily="34" charset="0"/>
                <a:ea typeface="JetBrains Mono Bold" pitchFamily="34" charset="-122"/>
                <a:cs typeface="JetBrains Mono Bold" pitchFamily="34" charset="-120"/>
              </a:rPr>
              <a:t>model</a:t>
            </a:r>
            <a:r>
              <a:rPr lang="en-US" sz="850" dirty="0">
                <a:solidFill>
                  <a:srgbClr val="D4D4D4"/>
                </a:solidFill>
                <a:latin typeface="JetBrains Mono" pitchFamily="34" charset="0"/>
                <a:ea typeface="JetBrains Mono" pitchFamily="34" charset="-122"/>
                <a:cs typeface="JetBrains Mono" pitchFamily="34" charset="-120"/>
              </a:rPr>
              <a:t> automatically.</a:t>
            </a:r>
            <a:endParaRPr lang="en-US" sz="850" dirty="0"/>
          </a:p>
        </p:txBody>
      </p:sp>
      <p:sp>
        <p:nvSpPr>
          <p:cNvPr id="39" name="Shape 35"/>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40" name="Text 36"/>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T</a:t>
            </a:r>
            <a:r>
              <a:rPr lang="en-US" sz="1250" dirty="0">
                <a:solidFill>
                  <a:srgbClr val="111111"/>
                </a:solidFill>
                <a:latin typeface="Kalam Bold" pitchFamily="34" charset="0"/>
                <a:ea typeface="Kalam Bold" pitchFamily="34" charset="-122"/>
                <a:cs typeface="Kalam Bold" pitchFamily="34" charset="-120"/>
              </a:rPr>
              <a:t>he repo co</a:t>
            </a:r>
            <a:r>
              <a:rPr lang="en-US" sz="1250" dirty="0">
                <a:solidFill>
                  <a:srgbClr val="111111"/>
                </a:solidFill>
                <a:latin typeface="Kalam Bold" pitchFamily="34" charset="0"/>
                <a:ea typeface="Kalam Bold" pitchFamily="34" charset="-122"/>
                <a:cs typeface="Kalam Bold" pitchFamily="34" charset="-120"/>
              </a:rPr>
              <a:t>nverts lega</a:t>
            </a:r>
            <a:r>
              <a:rPr lang="en-US" sz="1250" dirty="0">
                <a:solidFill>
                  <a:srgbClr val="111111"/>
                </a:solidFill>
                <a:latin typeface="Kalam Bold" pitchFamily="34" charset="0"/>
                <a:ea typeface="Kalam Bold" pitchFamily="34" charset="-122"/>
                <a:cs typeface="Kalam Bold" pitchFamily="34" charset="-120"/>
              </a:rPr>
              <a:t>cy behavio</a:t>
            </a:r>
            <a:r>
              <a:rPr lang="en-US" sz="1250" dirty="0">
                <a:solidFill>
                  <a:srgbClr val="111111"/>
                </a:solidFill>
                <a:latin typeface="Kalam Bold" pitchFamily="34" charset="0"/>
                <a:ea typeface="Kalam Bold" pitchFamily="34" charset="-122"/>
                <a:cs typeface="Kalam Bold" pitchFamily="34" charset="-120"/>
              </a:rPr>
              <a:t>r into rules</a:t>
            </a:r>
            <a:r>
              <a:rPr lang="en-US" sz="1250" dirty="0">
                <a:solidFill>
                  <a:srgbClr val="111111"/>
                </a:solidFill>
                <a:latin typeface="Kalam Bold" pitchFamily="34" charset="0"/>
                <a:ea typeface="Kalam Bold" pitchFamily="34" charset="-122"/>
                <a:cs typeface="Kalam Bold" pitchFamily="34" charset="-120"/>
              </a:rPr>
              <a:t> for safe P</a:t>
            </a:r>
            <a:r>
              <a:rPr lang="en-US" sz="1250" dirty="0">
                <a:solidFill>
                  <a:srgbClr val="111111"/>
                </a:solidFill>
                <a:latin typeface="Kalam Bold" pitchFamily="34" charset="0"/>
                <a:ea typeface="Kalam Bold" pitchFamily="34" charset="-122"/>
                <a:cs typeface="Kalam Bold" pitchFamily="34" charset="-120"/>
              </a:rPr>
              <a:t>ython impl</a:t>
            </a:r>
            <a:r>
              <a:rPr lang="en-US" sz="1250" dirty="0">
                <a:solidFill>
                  <a:srgbClr val="111111"/>
                </a:solidFill>
                <a:latin typeface="Kalam Bold" pitchFamily="34" charset="0"/>
                <a:ea typeface="Kalam Bold" pitchFamily="34" charset="-122"/>
                <a:cs typeface="Kalam Bold" pitchFamily="34" charset="-120"/>
              </a:rPr>
              <a:t>ementatio</a:t>
            </a:r>
            <a:r>
              <a:rPr lang="en-US" sz="1250" dirty="0">
                <a:solidFill>
                  <a:srgbClr val="111111"/>
                </a:solidFill>
                <a:latin typeface="Kalam Bold" pitchFamily="34" charset="0"/>
                <a:ea typeface="Kalam Bold" pitchFamily="34" charset="-122"/>
                <a:cs typeface="Kalam Bold" pitchFamily="34" charset="-120"/>
              </a:rPr>
              <a:t>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ACT 3: POLICY BECOMES PYTHON</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385763"/>
          </a:xfrm>
          <a:prstGeom prst="rect">
            <a:avLst/>
          </a:prstGeom>
          <a:solidFill>
            <a:srgbClr val="FFFFFF"/>
          </a:solidFill>
          <a:ln w="18288">
            <a:solidFill>
              <a:srgbClr val="111111"/>
            </a:solidFill>
            <a:prstDash val="solid"/>
          </a:ln>
        </p:spPr>
      </p:sp>
      <p:sp>
        <p:nvSpPr>
          <p:cNvPr id="9" name="Shape 5"/>
          <p:cNvSpPr/>
          <p:nvPr/>
        </p:nvSpPr>
        <p:spPr>
          <a:xfrm>
            <a:off x="371475" y="1446609"/>
            <a:ext cx="200025" cy="200025"/>
          </a:xfrm>
          <a:prstGeom prst="rect">
            <a:avLst/>
          </a:prstGeom>
          <a:solidFill>
            <a:srgbClr val="111111"/>
          </a:solidFill>
          <a:ln/>
        </p:spPr>
      </p:sp>
      <p:sp>
        <p:nvSpPr>
          <p:cNvPr id="10" name="Text 6"/>
          <p:cNvSpPr/>
          <p:nvPr/>
        </p:nvSpPr>
        <p:spPr>
          <a:xfrm>
            <a:off x="371475" y="144660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657225" y="1471947"/>
            <a:ext cx="417909"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Invoke</a:t>
            </a:r>
            <a:endParaRPr lang="en-US" sz="850" dirty="0"/>
          </a:p>
        </p:txBody>
      </p:sp>
      <p:sp>
        <p:nvSpPr>
          <p:cNvPr id="12" name="Text 8"/>
          <p:cNvSpPr/>
          <p:nvPr/>
        </p:nvSpPr>
        <p:spPr>
          <a:xfrm>
            <a:off x="1075134" y="1461232"/>
            <a:ext cx="364331" cy="164306"/>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monospace" pitchFamily="34" charset="0"/>
                <a:ea typeface="monospace" pitchFamily="34" charset="-122"/>
                <a:cs typeface="monospace" pitchFamily="34" charset="-120"/>
              </a:rPr>
              <a:t>model</a:t>
            </a:r>
            <a:endParaRPr lang="en-US" sz="850" dirty="0"/>
          </a:p>
        </p:txBody>
      </p:sp>
      <p:sp>
        <p:nvSpPr>
          <p:cNvPr id="13" name="Text 9"/>
          <p:cNvSpPr/>
          <p:nvPr/>
        </p:nvSpPr>
        <p:spPr>
          <a:xfrm>
            <a:off x="1439466" y="1471947"/>
            <a:ext cx="821531"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to read policy</a:t>
            </a:r>
            <a:endParaRPr lang="en-US" sz="850" dirty="0"/>
          </a:p>
        </p:txBody>
      </p:sp>
      <p:sp>
        <p:nvSpPr>
          <p:cNvPr id="14" name="Shape 10"/>
          <p:cNvSpPr/>
          <p:nvPr/>
        </p:nvSpPr>
        <p:spPr>
          <a:xfrm>
            <a:off x="271463" y="1789509"/>
            <a:ext cx="3429000" cy="385763"/>
          </a:xfrm>
          <a:prstGeom prst="rect">
            <a:avLst/>
          </a:prstGeom>
          <a:solidFill>
            <a:srgbClr val="FFFFFF"/>
          </a:solidFill>
          <a:ln w="18288">
            <a:solidFill>
              <a:srgbClr val="111111"/>
            </a:solidFill>
            <a:prstDash val="solid"/>
          </a:ln>
        </p:spPr>
      </p:sp>
      <p:sp>
        <p:nvSpPr>
          <p:cNvPr id="15" name="Shape 11"/>
          <p:cNvSpPr/>
          <p:nvPr/>
        </p:nvSpPr>
        <p:spPr>
          <a:xfrm>
            <a:off x="371475" y="1860947"/>
            <a:ext cx="200025" cy="200025"/>
          </a:xfrm>
          <a:prstGeom prst="rect">
            <a:avLst/>
          </a:prstGeom>
          <a:solidFill>
            <a:srgbClr val="111111"/>
          </a:solidFill>
          <a:ln/>
        </p:spPr>
      </p:sp>
      <p:sp>
        <p:nvSpPr>
          <p:cNvPr id="16" name="Text 12"/>
          <p:cNvSpPr/>
          <p:nvPr/>
        </p:nvSpPr>
        <p:spPr>
          <a:xfrm>
            <a:off x="371475" y="186094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7" name="Text 13"/>
          <p:cNvSpPr/>
          <p:nvPr/>
        </p:nvSpPr>
        <p:spPr>
          <a:xfrm>
            <a:off x="657225" y="1888071"/>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semantic IR explicit contract</a:t>
            </a:r>
            <a:endParaRPr lang="en-US" sz="850" dirty="0"/>
          </a:p>
        </p:txBody>
      </p:sp>
      <p:sp>
        <p:nvSpPr>
          <p:cNvPr id="18" name="Shape 14"/>
          <p:cNvSpPr/>
          <p:nvPr/>
        </p:nvSpPr>
        <p:spPr>
          <a:xfrm>
            <a:off x="271463" y="2203847"/>
            <a:ext cx="3429000" cy="385763"/>
          </a:xfrm>
          <a:prstGeom prst="rect">
            <a:avLst/>
          </a:prstGeom>
          <a:solidFill>
            <a:srgbClr val="FFFFFF"/>
          </a:solidFill>
          <a:ln w="18288">
            <a:solidFill>
              <a:srgbClr val="111111"/>
            </a:solidFill>
            <a:prstDash val="solid"/>
          </a:ln>
        </p:spPr>
      </p:sp>
      <p:sp>
        <p:nvSpPr>
          <p:cNvPr id="19" name="Shape 15"/>
          <p:cNvSpPr/>
          <p:nvPr/>
        </p:nvSpPr>
        <p:spPr>
          <a:xfrm>
            <a:off x="371475" y="2275284"/>
            <a:ext cx="200025" cy="200025"/>
          </a:xfrm>
          <a:prstGeom prst="rect">
            <a:avLst/>
          </a:prstGeom>
          <a:solidFill>
            <a:srgbClr val="111111"/>
          </a:solidFill>
          <a:ln/>
        </p:spPr>
      </p:sp>
      <p:sp>
        <p:nvSpPr>
          <p:cNvPr id="20" name="Text 16"/>
          <p:cNvSpPr/>
          <p:nvPr/>
        </p:nvSpPr>
        <p:spPr>
          <a:xfrm>
            <a:off x="371475" y="2275284"/>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21" name="Text 17"/>
          <p:cNvSpPr/>
          <p:nvPr/>
        </p:nvSpPr>
        <p:spPr>
          <a:xfrm>
            <a:off x="657225" y="2300622"/>
            <a:ext cx="417909"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Invoke</a:t>
            </a:r>
            <a:endParaRPr lang="en-US" sz="850" dirty="0"/>
          </a:p>
        </p:txBody>
      </p:sp>
      <p:sp>
        <p:nvSpPr>
          <p:cNvPr id="22" name="Text 18"/>
          <p:cNvSpPr/>
          <p:nvPr/>
        </p:nvSpPr>
        <p:spPr>
          <a:xfrm>
            <a:off x="1075134" y="2289907"/>
            <a:ext cx="582941" cy="164306"/>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monospace" pitchFamily="34" charset="0"/>
                <a:ea typeface="monospace" pitchFamily="34" charset="-122"/>
                <a:cs typeface="monospace" pitchFamily="34" charset="-120"/>
              </a:rPr>
              <a:t>generate</a:t>
            </a:r>
            <a:endParaRPr lang="en-US" sz="850" dirty="0"/>
          </a:p>
        </p:txBody>
      </p:sp>
      <p:sp>
        <p:nvSpPr>
          <p:cNvPr id="23" name="Text 19"/>
          <p:cNvSpPr/>
          <p:nvPr/>
        </p:nvSpPr>
        <p:spPr>
          <a:xfrm>
            <a:off x="1658076" y="2300622"/>
            <a:ext cx="582216"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to read IR</a:t>
            </a:r>
            <a:endParaRPr lang="en-US" sz="850" dirty="0"/>
          </a:p>
        </p:txBody>
      </p:sp>
      <p:sp>
        <p:nvSpPr>
          <p:cNvPr id="24" name="Shape 20"/>
          <p:cNvSpPr/>
          <p:nvPr/>
        </p:nvSpPr>
        <p:spPr>
          <a:xfrm>
            <a:off x="271463" y="2618184"/>
            <a:ext cx="3429000" cy="385763"/>
          </a:xfrm>
          <a:prstGeom prst="rect">
            <a:avLst/>
          </a:prstGeom>
          <a:solidFill>
            <a:srgbClr val="FFFFFF"/>
          </a:solidFill>
          <a:ln w="18288">
            <a:solidFill>
              <a:srgbClr val="111111"/>
            </a:solidFill>
            <a:prstDash val="solid"/>
          </a:ln>
        </p:spPr>
      </p:sp>
      <p:sp>
        <p:nvSpPr>
          <p:cNvPr id="25" name="Shape 21"/>
          <p:cNvSpPr/>
          <p:nvPr/>
        </p:nvSpPr>
        <p:spPr>
          <a:xfrm>
            <a:off x="371475" y="2689622"/>
            <a:ext cx="200025" cy="200025"/>
          </a:xfrm>
          <a:prstGeom prst="rect">
            <a:avLst/>
          </a:prstGeom>
          <a:solidFill>
            <a:srgbClr val="111111"/>
          </a:solidFill>
          <a:ln/>
        </p:spPr>
      </p:sp>
      <p:sp>
        <p:nvSpPr>
          <p:cNvPr id="26" name="Text 22"/>
          <p:cNvSpPr/>
          <p:nvPr/>
        </p:nvSpPr>
        <p:spPr>
          <a:xfrm>
            <a:off x="371475" y="2689622"/>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27" name="Text 23"/>
          <p:cNvSpPr/>
          <p:nvPr/>
        </p:nvSpPr>
        <p:spPr>
          <a:xfrm>
            <a:off x="657225" y="2716746"/>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pure Python semantic core</a:t>
            </a:r>
            <a:endParaRPr lang="en-US" sz="850" dirty="0"/>
          </a:p>
        </p:txBody>
      </p:sp>
      <p:sp>
        <p:nvSpPr>
          <p:cNvPr id="28" name="Shape 24"/>
          <p:cNvSpPr/>
          <p:nvPr/>
        </p:nvSpPr>
        <p:spPr>
          <a:xfrm>
            <a:off x="271463" y="3032522"/>
            <a:ext cx="3429000" cy="385763"/>
          </a:xfrm>
          <a:prstGeom prst="rect">
            <a:avLst/>
          </a:prstGeom>
          <a:solidFill>
            <a:srgbClr val="FFFFFF"/>
          </a:solidFill>
          <a:ln w="18288">
            <a:solidFill>
              <a:srgbClr val="111111"/>
            </a:solidFill>
            <a:prstDash val="solid"/>
          </a:ln>
        </p:spPr>
      </p:sp>
      <p:sp>
        <p:nvSpPr>
          <p:cNvPr id="29" name="Shape 25"/>
          <p:cNvSpPr/>
          <p:nvPr/>
        </p:nvSpPr>
        <p:spPr>
          <a:xfrm>
            <a:off x="371475" y="3103959"/>
            <a:ext cx="200025" cy="200025"/>
          </a:xfrm>
          <a:prstGeom prst="rect">
            <a:avLst/>
          </a:prstGeom>
          <a:solidFill>
            <a:srgbClr val="111111"/>
          </a:solidFill>
          <a:ln/>
        </p:spPr>
      </p:sp>
      <p:sp>
        <p:nvSpPr>
          <p:cNvPr id="30" name="Text 26"/>
          <p:cNvSpPr/>
          <p:nvPr/>
        </p:nvSpPr>
        <p:spPr>
          <a:xfrm>
            <a:off x="371475" y="310395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5</a:t>
            </a:r>
            <a:endParaRPr lang="en-US" sz="850" dirty="0"/>
          </a:p>
        </p:txBody>
      </p:sp>
      <p:sp>
        <p:nvSpPr>
          <p:cNvPr id="31" name="Text 27"/>
          <p:cNvSpPr/>
          <p:nvPr/>
        </p:nvSpPr>
        <p:spPr>
          <a:xfrm>
            <a:off x="657225" y="3129297"/>
            <a:ext cx="417909"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Invoke</a:t>
            </a:r>
            <a:endParaRPr lang="en-US" sz="850" dirty="0"/>
          </a:p>
        </p:txBody>
      </p:sp>
      <p:sp>
        <p:nvSpPr>
          <p:cNvPr id="32" name="Text 28"/>
          <p:cNvSpPr/>
          <p:nvPr/>
        </p:nvSpPr>
        <p:spPr>
          <a:xfrm>
            <a:off x="1075134" y="3118582"/>
            <a:ext cx="291498" cy="164306"/>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monospace" pitchFamily="34" charset="0"/>
                <a:ea typeface="monospace" pitchFamily="34" charset="-122"/>
                <a:cs typeface="monospace" pitchFamily="34" charset="-120"/>
              </a:rPr>
              <a:t>test</a:t>
            </a:r>
            <a:endParaRPr lang="en-US" sz="850" dirty="0"/>
          </a:p>
        </p:txBody>
      </p:sp>
      <p:sp>
        <p:nvSpPr>
          <p:cNvPr id="33" name="Text 29"/>
          <p:cNvSpPr/>
          <p:nvPr/>
        </p:nvSpPr>
        <p:spPr>
          <a:xfrm>
            <a:off x="1366633" y="3129297"/>
            <a:ext cx="1468041" cy="146447"/>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to build governed fixture</a:t>
            </a:r>
            <a:endParaRPr lang="en-US" sz="850" dirty="0"/>
          </a:p>
        </p:txBody>
      </p:sp>
      <p:sp>
        <p:nvSpPr>
          <p:cNvPr id="34" name="Shape 30"/>
          <p:cNvSpPr/>
          <p:nvPr/>
        </p:nvSpPr>
        <p:spPr>
          <a:xfrm>
            <a:off x="271463" y="3504009"/>
            <a:ext cx="3429000" cy="1096566"/>
          </a:xfrm>
          <a:prstGeom prst="rect">
            <a:avLst/>
          </a:prstGeom>
          <a:solidFill>
            <a:srgbClr val="EAF1FF"/>
          </a:solidFill>
          <a:ln w="18288">
            <a:solidFill>
              <a:srgbClr val="111111"/>
            </a:solidFill>
            <a:prstDash val="solid"/>
          </a:ln>
        </p:spPr>
      </p:sp>
      <p:sp>
        <p:nvSpPr>
          <p:cNvPr id="35" name="Text 31"/>
          <p:cNvSpPr/>
          <p:nvPr/>
        </p:nvSpPr>
        <p:spPr>
          <a:xfrm>
            <a:off x="371475" y="3604022"/>
            <a:ext cx="3228975" cy="167878"/>
          </a:xfrm>
          <a:prstGeom prst="rect">
            <a:avLst/>
          </a:prstGeom>
          <a:noFill/>
          <a:ln/>
        </p:spPr>
        <p:txBody>
          <a:bodyPr wrap="square" lIns="0" tIns="0" rIns="0" bIns="0" rtlCol="0" anchor="t">
            <a:spAutoFit/>
          </a:bodyPr>
          <a:lstStyle/>
          <a:p>
            <a:pPr algn="l" indent="0" marL="0">
              <a:buNone/>
            </a:pPr>
            <a:r>
              <a:rPr lang="en-US" sz="850" dirty="0">
                <a:solidFill>
                  <a:srgbClr val="111111"/>
                </a:solidFill>
                <a:latin typeface="Oswald SemiBold" pitchFamily="34" charset="0"/>
                <a:ea typeface="Oswald SemiBold" pitchFamily="34" charset="-122"/>
                <a:cs typeface="Oswald SemiBold" pitchFamily="34" charset="-120"/>
              </a:rPr>
              <a:t>THE PATH TO CODE</a:t>
            </a:r>
            <a:endParaRPr lang="en-US" sz="850" dirty="0"/>
          </a:p>
        </p:txBody>
      </p:sp>
      <p:sp>
        <p:nvSpPr>
          <p:cNvPr id="36" name="Text 32"/>
          <p:cNvSpPr/>
          <p:nvPr/>
        </p:nvSpPr>
        <p:spPr>
          <a:xfrm>
            <a:off x="371475" y="3829050"/>
            <a:ext cx="3228975" cy="128588"/>
          </a:xfrm>
          <a:prstGeom prst="rect">
            <a:avLst/>
          </a:prstGeom>
          <a:noFill/>
          <a:ln/>
        </p:spPr>
        <p:txBody>
          <a:bodyPr wrap="square" lIns="85090" tIns="0" rIns="0" bIns="0" rtlCol="0" anchor="t">
            <a:spAutoFit/>
          </a:bodyPr>
          <a:lstStyle/>
          <a:p>
            <a:pPr algn="l" indent="0" marL="0">
              <a:buNone/>
            </a:pPr>
            <a:r>
              <a:rPr lang="en-US" sz="650" b="1" dirty="0">
                <a:solidFill>
                  <a:srgbClr val="B42318"/>
                </a:solidFill>
                <a:latin typeface="JetBrains Mono Bold" pitchFamily="34" charset="0"/>
                <a:ea typeface="JetBrains Mono Bold" pitchFamily="34" charset="-122"/>
                <a:cs typeface="JetBrains Mono Bold" pitchFamily="34" charset="-120"/>
              </a:rPr>
              <a:t>policy/policy_registry.yaml</a:t>
            </a:r>
            <a:endParaRPr lang="en-US" sz="650" dirty="0"/>
          </a:p>
        </p:txBody>
      </p:sp>
      <p:sp>
        <p:nvSpPr>
          <p:cNvPr id="37" name="Text 33"/>
          <p:cNvSpPr/>
          <p:nvPr/>
        </p:nvSpPr>
        <p:spPr>
          <a:xfrm>
            <a:off x="371475" y="3986213"/>
            <a:ext cx="3228975" cy="128588"/>
          </a:xfrm>
          <a:prstGeom prst="rect">
            <a:avLst/>
          </a:prstGeom>
          <a:noFill/>
          <a:ln/>
        </p:spPr>
        <p:txBody>
          <a:bodyPr wrap="square" lIns="85090" tIns="0" rIns="0" bIns="0" rtlCol="0" anchor="t">
            <a:spAutoFit/>
          </a:bodyPr>
          <a:lstStyle/>
          <a:p>
            <a:pPr algn="l" indent="0" marL="0">
              <a:buNone/>
            </a:pPr>
            <a:r>
              <a:rPr lang="en-US" sz="650" b="1" dirty="0">
                <a:solidFill>
                  <a:srgbClr val="B42318"/>
                </a:solidFill>
                <a:latin typeface="JetBrains Mono Bold" pitchFamily="34" charset="0"/>
                <a:ea typeface="JetBrains Mono Bold" pitchFamily="34" charset="-122"/>
                <a:cs typeface="JetBrains Mono Bold" pitchFamily="34" charset="-120"/>
              </a:rPr>
              <a:t>semantic_ir/LC-LOGIT-01.json</a:t>
            </a:r>
            <a:endParaRPr lang="en-US" sz="650" dirty="0"/>
          </a:p>
        </p:txBody>
      </p:sp>
      <p:sp>
        <p:nvSpPr>
          <p:cNvPr id="38" name="Text 34"/>
          <p:cNvSpPr/>
          <p:nvPr/>
        </p:nvSpPr>
        <p:spPr>
          <a:xfrm>
            <a:off x="371475" y="4143375"/>
            <a:ext cx="3228975" cy="128588"/>
          </a:xfrm>
          <a:prstGeom prst="rect">
            <a:avLst/>
          </a:prstGeom>
          <a:noFill/>
          <a:ln/>
        </p:spPr>
        <p:txBody>
          <a:bodyPr wrap="square" lIns="85090" tIns="0" rIns="0" bIns="0" rtlCol="0" anchor="t">
            <a:spAutoFit/>
          </a:bodyPr>
          <a:lstStyle/>
          <a:p>
            <a:pPr algn="l" indent="0" marL="0">
              <a:buNone/>
            </a:pPr>
            <a:r>
              <a:rPr lang="en-US" sz="650" b="1" dirty="0">
                <a:solidFill>
                  <a:srgbClr val="B42318"/>
                </a:solidFill>
                <a:latin typeface="JetBrains Mono Bold" pitchFamily="34" charset="0"/>
                <a:ea typeface="JetBrains Mono Bold" pitchFamily="34" charset="-122"/>
                <a:cs typeface="JetBrains Mono Bold" pitchFamily="34" charset="-120"/>
              </a:rPr>
              <a:t>src/sas_logit/semantic/scoring.py</a:t>
            </a:r>
            <a:endParaRPr lang="en-US" sz="650" dirty="0"/>
          </a:p>
        </p:txBody>
      </p:sp>
      <p:sp>
        <p:nvSpPr>
          <p:cNvPr id="39" name="Text 35"/>
          <p:cNvSpPr/>
          <p:nvPr/>
        </p:nvSpPr>
        <p:spPr>
          <a:xfrm>
            <a:off x="371475" y="4300538"/>
            <a:ext cx="3228975" cy="128588"/>
          </a:xfrm>
          <a:prstGeom prst="rect">
            <a:avLst/>
          </a:prstGeom>
          <a:noFill/>
          <a:ln/>
        </p:spPr>
        <p:txBody>
          <a:bodyPr wrap="square" lIns="85090" tIns="0" rIns="0" bIns="0" rtlCol="0" anchor="t">
            <a:spAutoFit/>
          </a:bodyPr>
          <a:lstStyle/>
          <a:p>
            <a:pPr algn="l" indent="0" marL="0">
              <a:buNone/>
            </a:pPr>
            <a:r>
              <a:rPr lang="en-US" sz="650" b="1" dirty="0">
                <a:solidFill>
                  <a:srgbClr val="B42318"/>
                </a:solidFill>
                <a:latin typeface="JetBrains Mono Bold" pitchFamily="34" charset="0"/>
                <a:ea typeface="JetBrains Mono Bold" pitchFamily="34" charset="-122"/>
                <a:cs typeface="JetBrains Mono Bold" pitchFamily="34" charset="-120"/>
              </a:rPr>
              <a:t>tests/fixtures/.../fixture.csv</a:t>
            </a:r>
            <a:endParaRPr lang="en-US" sz="650" dirty="0"/>
          </a:p>
        </p:txBody>
      </p:sp>
      <p:sp>
        <p:nvSpPr>
          <p:cNvPr id="40" name="Text 36"/>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ONE MESSAGE PER SKILL</a:t>
            </a:r>
            <a:endParaRPr lang="en-US" sz="1400" dirty="0"/>
          </a:p>
        </p:txBody>
      </p:sp>
      <p:sp>
        <p:nvSpPr>
          <p:cNvPr id="41" name="Shape 37"/>
          <p:cNvSpPr/>
          <p:nvPr/>
        </p:nvSpPr>
        <p:spPr>
          <a:xfrm>
            <a:off x="3929063" y="1332309"/>
            <a:ext cx="4943475" cy="3282553"/>
          </a:xfrm>
          <a:prstGeom prst="rect">
            <a:avLst/>
          </a:prstGeom>
          <a:solidFill>
            <a:srgbClr val="1E1E1E"/>
          </a:solidFill>
          <a:ln w="27432">
            <a:solidFill>
              <a:srgbClr val="111111"/>
            </a:solidFill>
            <a:prstDash val="solid"/>
          </a:ln>
        </p:spPr>
      </p:sp>
      <p:sp>
        <p:nvSpPr>
          <p:cNvPr id="42" name="Shape 38"/>
          <p:cNvSpPr/>
          <p:nvPr/>
        </p:nvSpPr>
        <p:spPr>
          <a:xfrm>
            <a:off x="3929063" y="1332309"/>
            <a:ext cx="4943475" cy="300038"/>
          </a:xfrm>
          <a:prstGeom prst="rect">
            <a:avLst/>
          </a:prstGeom>
          <a:solidFill>
            <a:srgbClr val="323233"/>
          </a:solidFill>
          <a:ln/>
        </p:spPr>
      </p:sp>
      <p:sp>
        <p:nvSpPr>
          <p:cNvPr id="43" name="Shape 39"/>
          <p:cNvSpPr/>
          <p:nvPr/>
        </p:nvSpPr>
        <p:spPr>
          <a:xfrm>
            <a:off x="3929063" y="1618059"/>
            <a:ext cx="4943475" cy="14288"/>
          </a:xfrm>
          <a:prstGeom prst="rect">
            <a:avLst/>
          </a:prstGeom>
          <a:solidFill>
            <a:srgbClr val="111111"/>
          </a:solidFill>
          <a:ln/>
        </p:spPr>
      </p:sp>
      <p:sp>
        <p:nvSpPr>
          <p:cNvPr id="44" name="Text 40"/>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45" name="Text 41"/>
          <p:cNvSpPr/>
          <p:nvPr/>
        </p:nvSpPr>
        <p:spPr>
          <a:xfrm>
            <a:off x="4114800" y="1789509"/>
            <a:ext cx="4572000" cy="124290"/>
          </a:xfrm>
          <a:prstGeom prst="rect">
            <a:avLst/>
          </a:prstGeom>
          <a:noFill/>
          <a:ln/>
        </p:spPr>
        <p:txBody>
          <a:bodyPr wrap="none" lIns="0" tIns="0" rIns="0" bIns="0" rtlCol="0" anchor="t">
            <a:spAutoFit/>
          </a:bodyPr>
          <a:lstStyle/>
          <a:p>
            <a:pPr algn="l" indent="0" marL="0">
              <a:lnSpc>
                <a:spcPct val="116000"/>
              </a:lnSpc>
              <a:buNone/>
            </a:pPr>
            <a:r>
              <a:rPr lang="en-US" sz="600" b="1" spc="1" kern="0" dirty="0">
                <a:solidFill>
                  <a:srgbClr val="569CD6"/>
                </a:solidFill>
                <a:latin typeface="Inter Bold" pitchFamily="34" charset="0"/>
                <a:ea typeface="Inter Bold" pitchFamily="34" charset="-122"/>
                <a:cs typeface="Inter Bold" pitchFamily="34" charset="-120"/>
              </a:rPr>
              <a:t>USER</a:t>
            </a:r>
            <a:endParaRPr lang="en-US" sz="600" dirty="0"/>
          </a:p>
        </p:txBody>
      </p:sp>
      <p:sp>
        <p:nvSpPr>
          <p:cNvPr id="46" name="Shape 42"/>
          <p:cNvSpPr/>
          <p:nvPr/>
        </p:nvSpPr>
        <p:spPr>
          <a:xfrm>
            <a:off x="4114800" y="1956662"/>
            <a:ext cx="4572000" cy="1626989"/>
          </a:xfrm>
          <a:prstGeom prst="rect">
            <a:avLst/>
          </a:prstGeom>
          <a:solidFill>
            <a:srgbClr val="2D2D2D"/>
          </a:solidFill>
          <a:ln w="18288">
            <a:solidFill>
              <a:srgbClr val="444444"/>
            </a:solidFill>
            <a:prstDash val="solid"/>
          </a:ln>
        </p:spPr>
      </p:sp>
      <p:sp>
        <p:nvSpPr>
          <p:cNvPr id="47" name="Text 43"/>
          <p:cNvSpPr/>
          <p:nvPr/>
        </p:nvSpPr>
        <p:spPr>
          <a:xfrm>
            <a:off x="4114800" y="1956662"/>
            <a:ext cx="4572000" cy="1626989"/>
          </a:xfrm>
          <a:prstGeom prst="rect">
            <a:avLst/>
          </a:prstGeom>
          <a:noFill/>
          <a:ln/>
        </p:spPr>
        <p:txBody>
          <a:bodyPr wrap="square" lIns="153035" tIns="119126" rIns="153035" bIns="119126" rtlCol="0" anchor="t">
            <a:spAutoFit/>
          </a:bodyPr>
          <a:lstStyle/>
          <a:p>
            <a:pPr algn="l" indent="0" marL="0">
              <a:lnSpc>
                <a:spcPct val="116000"/>
              </a:lnSpc>
              <a:buNone/>
            </a:pPr>
            <a:r>
              <a:rPr lang="en-US" sz="750" b="1" dirty="0">
                <a:solidFill>
                  <a:srgbClr val="CE9178"/>
                </a:solidFill>
                <a:latin typeface="JetBrains Mono Bold" pitchFamily="34" charset="0"/>
                <a:ea typeface="JetBrains Mono Bold" pitchFamily="34" charset="-122"/>
                <a:cs typeface="JetBrains Mono Bold" pitchFamily="34" charset="-120"/>
              </a:rPr>
              <a:t>/run-next-stage LC-LOGIT-01</a:t>
            </a:r>
            <a:r>
              <a:rPr lang="en-US" sz="800" dirty="0">
                <a:solidFill>
                  <a:srgbClr val="D4D4D4"/>
                </a:solidFill>
                <a:latin typeface="JetBrains Mono" pitchFamily="34" charset="0"/>
                <a:ea typeface="JetBrains Mono" pitchFamily="34" charset="-122"/>
                <a:cs typeface="JetBrains Mono" pitchFamily="34" charset="-120"/>
              </a:rPr>
              <a:t>
</a:t>
            </a:r>
            <a:r>
              <a:rPr lang="en-US" sz="800" dirty="0">
                <a:solidFill>
                  <a:srgbClr val="D4D4D4"/>
                </a:solidFill>
                <a:latin typeface="JetBrains Mono" pitchFamily="34" charset="0"/>
                <a:ea typeface="JetBrains Mono" pitchFamily="34" charset="-122"/>
                <a:cs typeface="JetBrains Mono" pitchFamily="34" charset="-120"/>
              </a:rPr>
              <a:t> Read durable state and run exactly one authorized skill.</a:t>
            </a:r>
            <a:r>
              <a:rPr lang="en-US" sz="800" dirty="0">
                <a:solidFill>
                  <a:srgbClr val="D4D4D4"/>
                </a:solidFill>
                <a:latin typeface="JetBrains Mono" pitchFamily="34" charset="0"/>
                <a:ea typeface="JetBrains Mono" pitchFamily="34" charset="-122"/>
                <a:cs typeface="JetBrains Mono" pitchFamily="34" charset="-120"/>
              </a:rPr>
              <a:t>
</a:t>
            </a:r>
            <a:r>
              <a:rPr lang="en-US" sz="800" dirty="0">
                <a:solidFill>
                  <a:srgbClr val="D4D4D4"/>
                </a:solidFill>
                <a:latin typeface="JetBrains Mono" pitchFamily="34" charset="0"/>
                <a:ea typeface="JetBrains Mono" pitchFamily="34" charset="-122"/>
                <a:cs typeface="JetBrains Mono" pitchFamily="34" charset="-120"/>
              </a:rPr>
              <a:t> </a:t>
            </a:r>
            <a:r>
              <a:rPr lang="en-US" sz="750" b="1" dirty="0">
                <a:solidFill>
                  <a:srgbClr val="CE9178"/>
                </a:solidFill>
                <a:latin typeface="JetBrains Mono Bold" pitchFamily="34" charset="0"/>
                <a:ea typeface="JetBrains Mono Bold" pitchFamily="34" charset="-122"/>
                <a:cs typeface="JetBrains Mono Bold" pitchFamily="34" charset="-120"/>
              </a:rPr>
              <a:t>model</a:t>
            </a:r>
            <a:r>
              <a:rPr lang="en-US" sz="800" dirty="0">
                <a:solidFill>
                  <a:srgbClr val="D4D4D4"/>
                </a:solidFill>
                <a:latin typeface="JetBrains Mono" pitchFamily="34" charset="0"/>
                <a:ea typeface="JetBrains Mono" pitchFamily="34" charset="-122"/>
                <a:cs typeface="JetBrains Mono" pitchFamily="34" charset="-120"/>
              </a:rPr>
              <a:t> → write semantic IR → stop</a:t>
            </a:r>
            <a:r>
              <a:rPr lang="en-US" sz="800" dirty="0">
                <a:solidFill>
                  <a:srgbClr val="D4D4D4"/>
                </a:solidFill>
                <a:latin typeface="JetBrains Mono" pitchFamily="34" charset="0"/>
                <a:ea typeface="JetBrains Mono" pitchFamily="34" charset="-122"/>
                <a:cs typeface="JetBrains Mono" pitchFamily="34" charset="-120"/>
              </a:rPr>
              <a:t>
</a:t>
            </a:r>
            <a:r>
              <a:rPr lang="en-US" sz="750" b="1" dirty="0">
                <a:solidFill>
                  <a:srgbClr val="CE9178"/>
                </a:solidFill>
                <a:latin typeface="JetBrains Mono Bold" pitchFamily="34" charset="0"/>
                <a:ea typeface="JetBrains Mono Bold" pitchFamily="34" charset="-122"/>
                <a:cs typeface="JetBrains Mono Bold" pitchFamily="34" charset="-120"/>
              </a:rPr>
              <a:t>generate</a:t>
            </a:r>
            <a:r>
              <a:rPr lang="en-US" sz="800" dirty="0">
                <a:solidFill>
                  <a:srgbClr val="D4D4D4"/>
                </a:solidFill>
                <a:latin typeface="JetBrains Mono" pitchFamily="34" charset="0"/>
                <a:ea typeface="JetBrains Mono" pitchFamily="34" charset="-122"/>
                <a:cs typeface="JetBrains Mono" pitchFamily="34" charset="-120"/>
              </a:rPr>
              <a:t> → write Python → stop</a:t>
            </a:r>
            <a:r>
              <a:rPr lang="en-US" sz="800" dirty="0">
                <a:solidFill>
                  <a:srgbClr val="D4D4D4"/>
                </a:solidFill>
                <a:latin typeface="JetBrains Mono" pitchFamily="34" charset="0"/>
                <a:ea typeface="JetBrains Mono" pitchFamily="34" charset="-122"/>
                <a:cs typeface="JetBrains Mono" pitchFamily="34" charset="-120"/>
              </a:rPr>
              <a:t>
</a:t>
            </a:r>
            <a:r>
              <a:rPr lang="en-US" sz="750" b="1" dirty="0">
                <a:solidFill>
                  <a:srgbClr val="CE9178"/>
                </a:solidFill>
                <a:latin typeface="JetBrains Mono Bold" pitchFamily="34" charset="0"/>
                <a:ea typeface="JetBrains Mono Bold" pitchFamily="34" charset="-122"/>
                <a:cs typeface="JetBrains Mono Bold" pitchFamily="34" charset="-120"/>
              </a:rPr>
              <a:t>test</a:t>
            </a:r>
            <a:r>
              <a:rPr lang="en-US" sz="800" dirty="0">
                <a:solidFill>
                  <a:srgbClr val="D4D4D4"/>
                </a:solidFill>
                <a:latin typeface="JetBrains Mono" pitchFamily="34" charset="0"/>
                <a:ea typeface="JetBrains Mono" pitchFamily="34" charset="-122"/>
                <a:cs typeface="JetBrains Mono" pitchFamily="34" charset="-120"/>
              </a:rPr>
              <a:t> → build governed fixture → stop</a:t>
            </a:r>
            <a:r>
              <a:rPr lang="en-US" sz="800" dirty="0">
                <a:solidFill>
                  <a:srgbClr val="D4D4D4"/>
                </a:solidFill>
                <a:latin typeface="JetBrains Mono" pitchFamily="34" charset="0"/>
                <a:ea typeface="JetBrains Mono" pitchFamily="34" charset="-122"/>
                <a:cs typeface="JetBrains Mono" pitchFamily="34" charset="-120"/>
              </a:rPr>
              <a:t>
</a:t>
            </a:r>
            <a:r>
              <a:rPr lang="en-US" sz="800" dirty="0">
                <a:solidFill>
                  <a:srgbClr val="D4D4D4"/>
                </a:solidFill>
                <a:latin typeface="JetBrains Mono" pitchFamily="34" charset="0"/>
                <a:ea typeface="JetBrains Mono" pitchFamily="34" charset="-122"/>
                <a:cs typeface="JetBrains Mono" pitchFamily="34" charset="-120"/>
              </a:rPr>
              <a:t> Never run all three in one response.</a:t>
            </a:r>
            <a:endParaRPr lang="en-US" sz="800" dirty="0"/>
          </a:p>
        </p:txBody>
      </p:sp>
      <p:sp>
        <p:nvSpPr>
          <p:cNvPr id="48" name="Shape 44"/>
          <p:cNvSpPr/>
          <p:nvPr/>
        </p:nvSpPr>
        <p:spPr>
          <a:xfrm rot="-60000">
            <a:off x="542925" y="4434929"/>
            <a:ext cx="8601075" cy="651421"/>
          </a:xfrm>
          <a:prstGeom prst="rect">
            <a:avLst/>
          </a:prstGeom>
          <a:solidFill>
            <a:srgbClr val="FFDF00"/>
          </a:solidFill>
          <a:ln w="27432">
            <a:solidFill>
              <a:srgbClr val="111111"/>
            </a:solidFill>
            <a:prstDash val="solid"/>
          </a:ln>
        </p:spPr>
      </p:sp>
      <p:sp>
        <p:nvSpPr>
          <p:cNvPr id="49" name="Text 45"/>
          <p:cNvSpPr/>
          <p:nvPr/>
        </p:nvSpPr>
        <p:spPr>
          <a:xfrm rot="-60000">
            <a:off x="544622" y="4472394"/>
            <a:ext cx="8597681" cy="576491"/>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Policy bec</a:t>
            </a:r>
            <a:r>
              <a:rPr lang="en-US" sz="1250" dirty="0">
                <a:solidFill>
                  <a:srgbClr val="111111"/>
                </a:solidFill>
                <a:latin typeface="Kalam Bold" pitchFamily="34" charset="0"/>
                <a:ea typeface="Kalam Bold" pitchFamily="34" charset="-122"/>
                <a:cs typeface="Kalam Bold" pitchFamily="34" charset="-120"/>
              </a:rPr>
              <a:t>omes sema</a:t>
            </a:r>
            <a:r>
              <a:rPr lang="en-US" sz="1250" dirty="0">
                <a:solidFill>
                  <a:srgbClr val="111111"/>
                </a:solidFill>
                <a:latin typeface="Kalam Bold" pitchFamily="34" charset="0"/>
                <a:ea typeface="Kalam Bold" pitchFamily="34" charset="-122"/>
                <a:cs typeface="Kalam Bold" pitchFamily="34" charset="-120"/>
              </a:rPr>
              <a:t>ntic IR, se</a:t>
            </a:r>
            <a:r>
              <a:rPr lang="en-US" sz="1250" dirty="0">
                <a:solidFill>
                  <a:srgbClr val="111111"/>
                </a:solidFill>
                <a:latin typeface="Kalam Bold" pitchFamily="34" charset="0"/>
                <a:ea typeface="Kalam Bold" pitchFamily="34" charset="-122"/>
                <a:cs typeface="Kalam Bold" pitchFamily="34" charset="-120"/>
              </a:rPr>
              <a:t>mantic IR </a:t>
            </a:r>
            <a:r>
              <a:rPr lang="en-US" sz="1250" dirty="0">
                <a:solidFill>
                  <a:srgbClr val="111111"/>
                </a:solidFill>
                <a:latin typeface="Kalam Bold" pitchFamily="34" charset="0"/>
                <a:ea typeface="Kalam Bold" pitchFamily="34" charset="-122"/>
                <a:cs typeface="Kalam Bold" pitchFamily="34" charset="-120"/>
              </a:rPr>
              <a:t>becomes Py</a:t>
            </a:r>
            <a:r>
              <a:rPr lang="en-US" sz="1250" dirty="0">
                <a:solidFill>
                  <a:srgbClr val="111111"/>
                </a:solidFill>
                <a:latin typeface="Kalam Bold" pitchFamily="34" charset="0"/>
                <a:ea typeface="Kalam Bold" pitchFamily="34" charset="-122"/>
                <a:cs typeface="Kalam Bold" pitchFamily="34" charset="-120"/>
              </a:rPr>
              <a:t>thon, Pyth</a:t>
            </a:r>
            <a:r>
              <a:rPr lang="en-US" sz="1250" dirty="0">
                <a:solidFill>
                  <a:srgbClr val="111111"/>
                </a:solidFill>
                <a:latin typeface="Kalam Bold" pitchFamily="34" charset="0"/>
                <a:ea typeface="Kalam Bold" pitchFamily="34" charset="-122"/>
                <a:cs typeface="Kalam Bold" pitchFamily="34" charset="-120"/>
              </a:rPr>
              <a:t>on must s</a:t>
            </a:r>
            <a:r>
              <a:rPr lang="en-US" sz="1250" dirty="0">
                <a:solidFill>
                  <a:srgbClr val="111111"/>
                </a:solidFill>
                <a:latin typeface="Kalam Bold" pitchFamily="34" charset="0"/>
                <a:ea typeface="Kalam Bold" pitchFamily="34" charset="-122"/>
                <a:cs typeface="Kalam Bold" pitchFamily="34" charset="-120"/>
              </a:rPr>
              <a:t>till pass ti</a:t>
            </a:r>
            <a:r>
              <a:rPr lang="en-US" sz="1250" dirty="0">
                <a:solidFill>
                  <a:srgbClr val="111111"/>
                </a:solidFill>
                <a:latin typeface="Kalam Bold" pitchFamily="34" charset="0"/>
                <a:ea typeface="Kalam Bold" pitchFamily="34" charset="-122"/>
                <a:cs typeface="Kalam Bold" pitchFamily="34" charset="-120"/>
              </a:rPr>
              <a:t>e-</a:t>
            </a:r>
            <a:r>
              <a:rPr lang="en-US" sz="1250" dirty="0">
                <a:solidFill>
                  <a:srgbClr val="111111"/>
                </a:solidFill>
                <a:latin typeface="Kalam Bold" pitchFamily="34" charset="0"/>
                <a:ea typeface="Kalam Bold" pitchFamily="34" charset="-122"/>
                <a:cs typeface="Kalam Bold" pitchFamily="34" charset="-120"/>
              </a:rPr>
              <a:t>out.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ACT 3: VALIDATE RUNS THE TIE-OUT</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385763"/>
          </a:xfrm>
          <a:prstGeom prst="rect">
            <a:avLst/>
          </a:prstGeom>
          <a:solidFill>
            <a:srgbClr val="FFFFFF"/>
          </a:solidFill>
          <a:ln w="18288">
            <a:solidFill>
              <a:srgbClr val="111111"/>
            </a:solidFill>
            <a:prstDash val="solid"/>
          </a:ln>
        </p:spPr>
      </p:sp>
      <p:sp>
        <p:nvSpPr>
          <p:cNvPr id="9" name="Shape 5"/>
          <p:cNvSpPr/>
          <p:nvPr/>
        </p:nvSpPr>
        <p:spPr>
          <a:xfrm>
            <a:off x="371475" y="1446609"/>
            <a:ext cx="200025" cy="200025"/>
          </a:xfrm>
          <a:prstGeom prst="rect">
            <a:avLst/>
          </a:prstGeom>
          <a:solidFill>
            <a:srgbClr val="111111"/>
          </a:solidFill>
          <a:ln/>
        </p:spPr>
      </p:sp>
      <p:sp>
        <p:nvSpPr>
          <p:cNvPr id="10" name="Text 6"/>
          <p:cNvSpPr/>
          <p:nvPr/>
        </p:nvSpPr>
        <p:spPr>
          <a:xfrm>
            <a:off x="371475" y="144660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1</a:t>
            </a:r>
            <a:endParaRPr lang="en-US" sz="850" dirty="0"/>
          </a:p>
        </p:txBody>
      </p:sp>
      <p:sp>
        <p:nvSpPr>
          <p:cNvPr id="11" name="Text 7"/>
          <p:cNvSpPr/>
          <p:nvPr/>
        </p:nvSpPr>
        <p:spPr>
          <a:xfrm>
            <a:off x="657225" y="1473733"/>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Run approved Python producer</a:t>
            </a:r>
            <a:endParaRPr lang="en-US" sz="850" dirty="0"/>
          </a:p>
        </p:txBody>
      </p:sp>
      <p:sp>
        <p:nvSpPr>
          <p:cNvPr id="12" name="Shape 8"/>
          <p:cNvSpPr/>
          <p:nvPr/>
        </p:nvSpPr>
        <p:spPr>
          <a:xfrm>
            <a:off x="271463" y="1789509"/>
            <a:ext cx="3429000" cy="385763"/>
          </a:xfrm>
          <a:prstGeom prst="rect">
            <a:avLst/>
          </a:prstGeom>
          <a:solidFill>
            <a:srgbClr val="FFFFFF"/>
          </a:solidFill>
          <a:ln w="18288">
            <a:solidFill>
              <a:srgbClr val="111111"/>
            </a:solidFill>
            <a:prstDash val="solid"/>
          </a:ln>
        </p:spPr>
      </p:sp>
      <p:sp>
        <p:nvSpPr>
          <p:cNvPr id="13" name="Shape 9"/>
          <p:cNvSpPr/>
          <p:nvPr/>
        </p:nvSpPr>
        <p:spPr>
          <a:xfrm>
            <a:off x="371475" y="1860947"/>
            <a:ext cx="200025" cy="200025"/>
          </a:xfrm>
          <a:prstGeom prst="rect">
            <a:avLst/>
          </a:prstGeom>
          <a:solidFill>
            <a:srgbClr val="111111"/>
          </a:solidFill>
          <a:ln/>
        </p:spPr>
      </p:sp>
      <p:sp>
        <p:nvSpPr>
          <p:cNvPr id="14" name="Text 10"/>
          <p:cNvSpPr/>
          <p:nvPr/>
        </p:nvSpPr>
        <p:spPr>
          <a:xfrm>
            <a:off x="371475" y="1860947"/>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2</a:t>
            </a:r>
            <a:endParaRPr lang="en-US" sz="850" dirty="0"/>
          </a:p>
        </p:txBody>
      </p:sp>
      <p:sp>
        <p:nvSpPr>
          <p:cNvPr id="15" name="Text 11"/>
          <p:cNvSpPr/>
          <p:nvPr/>
        </p:nvSpPr>
        <p:spPr>
          <a:xfrm>
            <a:off x="657225" y="1888071"/>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actual.csv</a:t>
            </a:r>
            <a:endParaRPr lang="en-US" sz="850" dirty="0"/>
          </a:p>
        </p:txBody>
      </p:sp>
      <p:sp>
        <p:nvSpPr>
          <p:cNvPr id="16" name="Shape 12"/>
          <p:cNvSpPr/>
          <p:nvPr/>
        </p:nvSpPr>
        <p:spPr>
          <a:xfrm>
            <a:off x="271463" y="2203847"/>
            <a:ext cx="3429000" cy="385763"/>
          </a:xfrm>
          <a:prstGeom prst="rect">
            <a:avLst/>
          </a:prstGeom>
          <a:solidFill>
            <a:srgbClr val="FFFFFF"/>
          </a:solidFill>
          <a:ln w="18288">
            <a:solidFill>
              <a:srgbClr val="111111"/>
            </a:solidFill>
            <a:prstDash val="solid"/>
          </a:ln>
        </p:spPr>
      </p:sp>
      <p:sp>
        <p:nvSpPr>
          <p:cNvPr id="17" name="Shape 13"/>
          <p:cNvSpPr/>
          <p:nvPr/>
        </p:nvSpPr>
        <p:spPr>
          <a:xfrm>
            <a:off x="371475" y="2275284"/>
            <a:ext cx="200025" cy="200025"/>
          </a:xfrm>
          <a:prstGeom prst="rect">
            <a:avLst/>
          </a:prstGeom>
          <a:solidFill>
            <a:srgbClr val="111111"/>
          </a:solidFill>
          <a:ln/>
        </p:spPr>
      </p:sp>
      <p:sp>
        <p:nvSpPr>
          <p:cNvPr id="18" name="Text 14"/>
          <p:cNvSpPr/>
          <p:nvPr/>
        </p:nvSpPr>
        <p:spPr>
          <a:xfrm>
            <a:off x="371475" y="2275284"/>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3</a:t>
            </a:r>
            <a:endParaRPr lang="en-US" sz="850" dirty="0"/>
          </a:p>
        </p:txBody>
      </p:sp>
      <p:sp>
        <p:nvSpPr>
          <p:cNvPr id="19" name="Text 15"/>
          <p:cNvSpPr/>
          <p:nvPr/>
        </p:nvSpPr>
        <p:spPr>
          <a:xfrm>
            <a:off x="657225" y="2302408"/>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Compare against SAS oracle</a:t>
            </a:r>
            <a:endParaRPr lang="en-US" sz="850" dirty="0"/>
          </a:p>
        </p:txBody>
      </p:sp>
      <p:sp>
        <p:nvSpPr>
          <p:cNvPr id="20" name="Shape 16"/>
          <p:cNvSpPr/>
          <p:nvPr/>
        </p:nvSpPr>
        <p:spPr>
          <a:xfrm>
            <a:off x="271463" y="2618184"/>
            <a:ext cx="3429000" cy="385763"/>
          </a:xfrm>
          <a:prstGeom prst="rect">
            <a:avLst/>
          </a:prstGeom>
          <a:solidFill>
            <a:srgbClr val="FFFFFF"/>
          </a:solidFill>
          <a:ln w="18288">
            <a:solidFill>
              <a:srgbClr val="111111"/>
            </a:solidFill>
            <a:prstDash val="solid"/>
          </a:ln>
        </p:spPr>
      </p:sp>
      <p:sp>
        <p:nvSpPr>
          <p:cNvPr id="21" name="Shape 17"/>
          <p:cNvSpPr/>
          <p:nvPr/>
        </p:nvSpPr>
        <p:spPr>
          <a:xfrm>
            <a:off x="371475" y="2689622"/>
            <a:ext cx="200025" cy="200025"/>
          </a:xfrm>
          <a:prstGeom prst="rect">
            <a:avLst/>
          </a:prstGeom>
          <a:solidFill>
            <a:srgbClr val="111111"/>
          </a:solidFill>
          <a:ln/>
        </p:spPr>
      </p:sp>
      <p:sp>
        <p:nvSpPr>
          <p:cNvPr id="22" name="Text 18"/>
          <p:cNvSpPr/>
          <p:nvPr/>
        </p:nvSpPr>
        <p:spPr>
          <a:xfrm>
            <a:off x="371475" y="2689622"/>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4</a:t>
            </a:r>
            <a:endParaRPr lang="en-US" sz="850" dirty="0"/>
          </a:p>
        </p:txBody>
      </p:sp>
      <p:sp>
        <p:nvSpPr>
          <p:cNvPr id="23" name="Text 19"/>
          <p:cNvSpPr/>
          <p:nvPr/>
        </p:nvSpPr>
        <p:spPr>
          <a:xfrm>
            <a:off x="657225" y="2716746"/>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Apply keys and tolerances</a:t>
            </a:r>
            <a:endParaRPr lang="en-US" sz="850" dirty="0"/>
          </a:p>
        </p:txBody>
      </p:sp>
      <p:sp>
        <p:nvSpPr>
          <p:cNvPr id="24" name="Shape 20"/>
          <p:cNvSpPr/>
          <p:nvPr/>
        </p:nvSpPr>
        <p:spPr>
          <a:xfrm>
            <a:off x="271463" y="3032522"/>
            <a:ext cx="3429000" cy="385763"/>
          </a:xfrm>
          <a:prstGeom prst="rect">
            <a:avLst/>
          </a:prstGeom>
          <a:solidFill>
            <a:srgbClr val="FFFFFF"/>
          </a:solidFill>
          <a:ln w="18288">
            <a:solidFill>
              <a:srgbClr val="111111"/>
            </a:solidFill>
            <a:prstDash val="solid"/>
          </a:ln>
        </p:spPr>
      </p:sp>
      <p:sp>
        <p:nvSpPr>
          <p:cNvPr id="25" name="Shape 21"/>
          <p:cNvSpPr/>
          <p:nvPr/>
        </p:nvSpPr>
        <p:spPr>
          <a:xfrm>
            <a:off x="371475" y="3103959"/>
            <a:ext cx="200025" cy="200025"/>
          </a:xfrm>
          <a:prstGeom prst="rect">
            <a:avLst/>
          </a:prstGeom>
          <a:solidFill>
            <a:srgbClr val="111111"/>
          </a:solidFill>
          <a:ln/>
        </p:spPr>
      </p:sp>
      <p:sp>
        <p:nvSpPr>
          <p:cNvPr id="26" name="Text 22"/>
          <p:cNvSpPr/>
          <p:nvPr/>
        </p:nvSpPr>
        <p:spPr>
          <a:xfrm>
            <a:off x="371475" y="3103959"/>
            <a:ext cx="200025" cy="200025"/>
          </a:xfrm>
          <a:prstGeom prst="rect">
            <a:avLst/>
          </a:prstGeom>
          <a:noFill/>
          <a:ln/>
        </p:spPr>
        <p:txBody>
          <a:bodyPr wrap="none" lIns="0" tIns="0" rIns="0" bIns="0" rtlCol="0" anchor="ctr">
            <a:spAutoFit/>
          </a:bodyPr>
          <a:lstStyle/>
          <a:p>
            <a:pPr algn="ctr" indent="0" marL="0">
              <a:buNone/>
            </a:pPr>
            <a:r>
              <a:rPr lang="en-US" sz="850" dirty="0">
                <a:solidFill>
                  <a:srgbClr val="FFFFFF"/>
                </a:solidFill>
                <a:latin typeface="Oswald SemiBold" pitchFamily="34" charset="0"/>
                <a:ea typeface="Oswald SemiBold" pitchFamily="34" charset="-122"/>
                <a:cs typeface="Oswald SemiBold" pitchFamily="34" charset="-120"/>
              </a:rPr>
              <a:t>5</a:t>
            </a:r>
            <a:endParaRPr lang="en-US" sz="850" dirty="0"/>
          </a:p>
        </p:txBody>
      </p:sp>
      <p:sp>
        <p:nvSpPr>
          <p:cNvPr id="27" name="Text 23"/>
          <p:cNvSpPr/>
          <p:nvPr/>
        </p:nvSpPr>
        <p:spPr>
          <a:xfrm>
            <a:off x="657225" y="3131083"/>
            <a:ext cx="2943225" cy="145721"/>
          </a:xfrm>
          <a:prstGeom prst="rect">
            <a:avLst/>
          </a:prstGeom>
          <a:noFill/>
          <a:ln/>
        </p:spPr>
        <p:txBody>
          <a:bodyPr wrap="none" lIns="0" tIns="0" rIns="0" bIns="0" rtlCol="0" anchor="t">
            <a:spAutoFit/>
          </a:bodyPr>
          <a:lstStyle/>
          <a:p>
            <a:pPr algn="l" indent="0" marL="0">
              <a:lnSpc>
                <a:spcPct val="96000"/>
              </a:lnSpc>
              <a:buNone/>
            </a:pPr>
            <a:r>
              <a:rPr lang="en-US" sz="850" b="1" dirty="0">
                <a:solidFill>
                  <a:srgbClr val="30343B"/>
                </a:solidFill>
                <a:latin typeface="Inter Bold" pitchFamily="34" charset="0"/>
                <a:ea typeface="Inter Bold" pitchFamily="34" charset="-122"/>
                <a:cs typeface="Inter Bold" pitchFamily="34" charset="-120"/>
              </a:rPr>
              <a:t>Write evidence bundle</a:t>
            </a:r>
            <a:endParaRPr lang="en-US" sz="850" dirty="0"/>
          </a:p>
        </p:txBody>
      </p:sp>
      <p:sp>
        <p:nvSpPr>
          <p:cNvPr id="28" name="Shape 24"/>
          <p:cNvSpPr/>
          <p:nvPr/>
        </p:nvSpPr>
        <p:spPr>
          <a:xfrm>
            <a:off x="271463" y="3504009"/>
            <a:ext cx="3429000" cy="917972"/>
          </a:xfrm>
          <a:prstGeom prst="rect">
            <a:avLst/>
          </a:prstGeom>
          <a:solidFill>
            <a:srgbClr val="EAF1FF"/>
          </a:solidFill>
          <a:ln w="18288">
            <a:solidFill>
              <a:srgbClr val="111111"/>
            </a:solidFill>
            <a:prstDash val="solid"/>
          </a:ln>
        </p:spPr>
      </p:sp>
      <p:sp>
        <p:nvSpPr>
          <p:cNvPr id="29" name="Text 25"/>
          <p:cNvSpPr/>
          <p:nvPr/>
        </p:nvSpPr>
        <p:spPr>
          <a:xfrm>
            <a:off x="371475" y="3604022"/>
            <a:ext cx="3228975" cy="167878"/>
          </a:xfrm>
          <a:prstGeom prst="rect">
            <a:avLst/>
          </a:prstGeom>
          <a:noFill/>
          <a:ln/>
        </p:spPr>
        <p:txBody>
          <a:bodyPr wrap="square" lIns="0" tIns="0" rIns="0" bIns="0" rtlCol="0" anchor="t">
            <a:spAutoFit/>
          </a:bodyPr>
          <a:lstStyle/>
          <a:p>
            <a:pPr algn="l" indent="0" marL="0">
              <a:buNone/>
            </a:pPr>
            <a:r>
              <a:rPr lang="en-US" sz="850" dirty="0">
                <a:solidFill>
                  <a:srgbClr val="111111"/>
                </a:solidFill>
                <a:latin typeface="Oswald SemiBold" pitchFamily="34" charset="0"/>
                <a:ea typeface="Oswald SemiBold" pitchFamily="34" charset="-122"/>
                <a:cs typeface="Oswald SemiBold" pitchFamily="34" charset="-120"/>
              </a:rPr>
              <a:t>CANONICAL ARTIFACTS CREATED</a:t>
            </a:r>
            <a:endParaRPr lang="en-US" sz="850" dirty="0"/>
          </a:p>
        </p:txBody>
      </p:sp>
      <p:sp>
        <p:nvSpPr>
          <p:cNvPr id="30" name="Text 26"/>
          <p:cNvSpPr/>
          <p:nvPr/>
        </p:nvSpPr>
        <p:spPr>
          <a:xfrm>
            <a:off x="371475" y="3829050"/>
            <a:ext cx="3228975" cy="121444"/>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artifacts/evidence/.../tieout_result.json</a:t>
            </a:r>
            <a:endParaRPr lang="en-US" sz="600" dirty="0"/>
          </a:p>
        </p:txBody>
      </p:sp>
      <p:sp>
        <p:nvSpPr>
          <p:cNvPr id="31" name="Text 27"/>
          <p:cNvSpPr/>
          <p:nvPr/>
        </p:nvSpPr>
        <p:spPr>
          <a:xfrm>
            <a:off x="371475" y="3979069"/>
            <a:ext cx="3228975" cy="121444"/>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artifacts/evidence/.../tieout_summary.md</a:t>
            </a:r>
            <a:endParaRPr lang="en-US" sz="600" dirty="0"/>
          </a:p>
        </p:txBody>
      </p:sp>
      <p:sp>
        <p:nvSpPr>
          <p:cNvPr id="32" name="Text 28"/>
          <p:cNvSpPr/>
          <p:nvPr/>
        </p:nvSpPr>
        <p:spPr>
          <a:xfrm>
            <a:off x="371475" y="4129088"/>
            <a:ext cx="3228975" cy="121444"/>
          </a:xfrm>
          <a:prstGeom prst="rect">
            <a:avLst/>
          </a:prstGeom>
          <a:noFill/>
          <a:ln/>
        </p:spPr>
        <p:txBody>
          <a:bodyPr wrap="square" lIns="85090" tIns="0" rIns="0" bIns="0" rtlCol="0" anchor="t">
            <a:spAutoFit/>
          </a:bodyPr>
          <a:lstStyle/>
          <a:p>
            <a:pPr algn="l" indent="0" marL="0">
              <a:buNone/>
            </a:pPr>
            <a:r>
              <a:rPr lang="en-US" sz="600" b="1" dirty="0">
                <a:solidFill>
                  <a:srgbClr val="B42318"/>
                </a:solidFill>
                <a:latin typeface="JetBrains Mono Bold" pitchFamily="34" charset="0"/>
                <a:ea typeface="JetBrains Mono Bold" pitchFamily="34" charset="-122"/>
                <a:cs typeface="JetBrains Mono Bold" pitchFamily="34" charset="-120"/>
              </a:rPr>
              <a:t>artifacts/evidence/.../evidence.json</a:t>
            </a:r>
            <a:endParaRPr lang="en-US" sz="600" dirty="0"/>
          </a:p>
        </p:txBody>
      </p:sp>
      <p:sp>
        <p:nvSpPr>
          <p:cNvPr id="33" name="Text 29"/>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HUMAN APPROVAL TO VALIDATE</a:t>
            </a:r>
            <a:endParaRPr lang="en-US" sz="1400" dirty="0"/>
          </a:p>
        </p:txBody>
      </p:sp>
      <p:sp>
        <p:nvSpPr>
          <p:cNvPr id="34" name="Shape 30"/>
          <p:cNvSpPr/>
          <p:nvPr/>
        </p:nvSpPr>
        <p:spPr>
          <a:xfrm>
            <a:off x="3929063" y="1332309"/>
            <a:ext cx="4943475" cy="3282553"/>
          </a:xfrm>
          <a:prstGeom prst="rect">
            <a:avLst/>
          </a:prstGeom>
          <a:solidFill>
            <a:srgbClr val="1E1E1E"/>
          </a:solidFill>
          <a:ln w="27432">
            <a:solidFill>
              <a:srgbClr val="111111"/>
            </a:solidFill>
            <a:prstDash val="solid"/>
          </a:ln>
        </p:spPr>
      </p:sp>
      <p:sp>
        <p:nvSpPr>
          <p:cNvPr id="35" name="Shape 31"/>
          <p:cNvSpPr/>
          <p:nvPr/>
        </p:nvSpPr>
        <p:spPr>
          <a:xfrm>
            <a:off x="3929063" y="1332309"/>
            <a:ext cx="4943475" cy="300038"/>
          </a:xfrm>
          <a:prstGeom prst="rect">
            <a:avLst/>
          </a:prstGeom>
          <a:solidFill>
            <a:srgbClr val="323233"/>
          </a:solidFill>
          <a:ln/>
        </p:spPr>
      </p:sp>
      <p:sp>
        <p:nvSpPr>
          <p:cNvPr id="36" name="Shape 32"/>
          <p:cNvSpPr/>
          <p:nvPr/>
        </p:nvSpPr>
        <p:spPr>
          <a:xfrm>
            <a:off x="3929063" y="1618059"/>
            <a:ext cx="4943475" cy="14288"/>
          </a:xfrm>
          <a:prstGeom prst="rect">
            <a:avLst/>
          </a:prstGeom>
          <a:solidFill>
            <a:srgbClr val="111111"/>
          </a:solidFill>
          <a:ln/>
        </p:spPr>
      </p:sp>
      <p:sp>
        <p:nvSpPr>
          <p:cNvPr id="37" name="Text 33"/>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38" name="Text 34"/>
          <p:cNvSpPr/>
          <p:nvPr/>
        </p:nvSpPr>
        <p:spPr>
          <a:xfrm>
            <a:off x="4114800" y="1789509"/>
            <a:ext cx="4572000" cy="124290"/>
          </a:xfrm>
          <a:prstGeom prst="rect">
            <a:avLst/>
          </a:prstGeom>
          <a:noFill/>
          <a:ln/>
        </p:spPr>
        <p:txBody>
          <a:bodyPr wrap="none" lIns="0" tIns="0" rIns="0" bIns="0" rtlCol="0" anchor="t">
            <a:spAutoFit/>
          </a:bodyPr>
          <a:lstStyle/>
          <a:p>
            <a:pPr algn="l" indent="0" marL="0">
              <a:lnSpc>
                <a:spcPct val="116000"/>
              </a:lnSpc>
              <a:buNone/>
            </a:pPr>
            <a:r>
              <a:rPr lang="en-US" sz="600" b="1" spc="1" kern="0" dirty="0">
                <a:solidFill>
                  <a:srgbClr val="569CD6"/>
                </a:solidFill>
                <a:latin typeface="Inter Bold" pitchFamily="34" charset="0"/>
                <a:ea typeface="Inter Bold" pitchFamily="34" charset="-122"/>
                <a:cs typeface="Inter Bold" pitchFamily="34" charset="-120"/>
              </a:rPr>
              <a:t>USER</a:t>
            </a:r>
            <a:endParaRPr lang="en-US" sz="600" dirty="0"/>
          </a:p>
        </p:txBody>
      </p:sp>
      <p:sp>
        <p:nvSpPr>
          <p:cNvPr id="39" name="Shape 35"/>
          <p:cNvSpPr/>
          <p:nvPr/>
        </p:nvSpPr>
        <p:spPr>
          <a:xfrm>
            <a:off x="4114800" y="1956662"/>
            <a:ext cx="4572000" cy="1430089"/>
          </a:xfrm>
          <a:prstGeom prst="rect">
            <a:avLst/>
          </a:prstGeom>
          <a:solidFill>
            <a:srgbClr val="2D2D2D"/>
          </a:solidFill>
          <a:ln w="18288">
            <a:solidFill>
              <a:srgbClr val="444444"/>
            </a:solidFill>
            <a:prstDash val="solid"/>
          </a:ln>
        </p:spPr>
      </p:sp>
      <p:sp>
        <p:nvSpPr>
          <p:cNvPr id="40" name="Text 36"/>
          <p:cNvSpPr/>
          <p:nvPr/>
        </p:nvSpPr>
        <p:spPr>
          <a:xfrm>
            <a:off x="4114800" y="1956662"/>
            <a:ext cx="4572000" cy="1430089"/>
          </a:xfrm>
          <a:prstGeom prst="rect">
            <a:avLst/>
          </a:prstGeom>
          <a:noFill/>
          <a:ln/>
        </p:spPr>
        <p:txBody>
          <a:bodyPr wrap="square" lIns="153035" tIns="119126" rIns="153035" bIns="119126" rtlCol="0" anchor="t">
            <a:spAutoFit/>
          </a:bodyPr>
          <a:lstStyle/>
          <a:p>
            <a:pPr algn="l" indent="0" marL="0">
              <a:lnSpc>
                <a:spcPct val="116000"/>
              </a:lnSpc>
              <a:buNone/>
            </a:pPr>
            <a:r>
              <a:rPr lang="en-US" sz="700" b="1" dirty="0">
                <a:solidFill>
                  <a:srgbClr val="CE9178"/>
                </a:solidFill>
                <a:latin typeface="JetBrains Mono Bold" pitchFamily="34" charset="0"/>
                <a:ea typeface="JetBrains Mono Bold" pitchFamily="34" charset="-122"/>
                <a:cs typeface="JetBrains Mono Bold" pitchFamily="34" charset="-120"/>
              </a:rPr>
              <a:t>I approve the governed 50-record fixture, SAS oracle, and tie-out </a:t>
            </a:r>
            <a:r>
              <a:rPr lang="en-US" sz="700" b="1" dirty="0">
                <a:solidFill>
                  <a:srgbClr val="CE9178"/>
                </a:solidFill>
                <a:latin typeface="JetBrains Mono Bold" pitchFamily="34" charset="0"/>
                <a:ea typeface="JetBrains Mono Bold" pitchFamily="34" charset="-122"/>
                <a:cs typeface="JetBrains Mono Bold" pitchFamily="34" charset="-120"/>
              </a:rPr>
              <a:t>contract.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 Use absolute tolerance </a:t>
            </a:r>
            <a:r>
              <a:rPr lang="en-US" sz="700" b="1" dirty="0">
                <a:solidFill>
                  <a:srgbClr val="D4D4D4"/>
                </a:solidFill>
                <a:latin typeface="JetBrains Mono Bold" pitchFamily="34" charset="0"/>
                <a:ea typeface="JetBrains Mono Bold" pitchFamily="34" charset="-122"/>
                <a:cs typeface="JetBrains Mono Bold" pitchFamily="34" charset="-120"/>
              </a:rPr>
              <a:t>1e-10</a:t>
            </a:r>
            <a:r>
              <a:rPr lang="en-US" sz="750" dirty="0">
                <a:solidFill>
                  <a:srgbClr val="D4D4D4"/>
                </a:solidFill>
                <a:latin typeface="JetBrains Mono" pitchFamily="34" charset="0"/>
                <a:ea typeface="JetBrains Mono" pitchFamily="34" charset="-122"/>
                <a:cs typeface="JetBrains Mono" pitchFamily="34" charset="-120"/>
              </a:rPr>
              <a:t> for eta and probability.</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Invoke exactly </a:t>
            </a:r>
            <a:r>
              <a:rPr lang="en-US" sz="700" b="1" dirty="0">
                <a:solidFill>
                  <a:srgbClr val="D4D4D4"/>
                </a:solidFill>
                <a:latin typeface="JetBrains Mono Bold" pitchFamily="34" charset="0"/>
                <a:ea typeface="JetBrains Mono Bold" pitchFamily="34" charset="-122"/>
                <a:cs typeface="JetBrains Mono Bold" pitchFamily="34" charset="-120"/>
              </a:rPr>
              <a:t>validate</a:t>
            </a:r>
            <a:r>
              <a:rPr lang="en-US" sz="750" dirty="0">
                <a:solidFill>
                  <a:srgbClr val="D4D4D4"/>
                </a:solidFill>
                <a:latin typeface="JetBrains Mono" pitchFamily="34" charset="0"/>
                <a:ea typeface="JetBrains Mono" pitchFamily="34" charset="-122"/>
                <a:cs typeface="JetBrains Mono" pitchFamily="34" charset="-120"/>
              </a:rPr>
              <a:t>.</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Write the result, summary, and evidence bundle.</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Stop with PASS, FAIL, or BLOCKED.</a:t>
            </a:r>
            <a:r>
              <a:rPr lang="en-US" sz="750" dirty="0">
                <a:solidFill>
                  <a:srgbClr val="D4D4D4"/>
                </a:solidFill>
                <a:latin typeface="JetBrains Mono" pitchFamily="34" charset="0"/>
                <a:ea typeface="JetBrains Mono" pitchFamily="34" charset="-122"/>
                <a:cs typeface="JetBrains Mono" pitchFamily="34" charset="-120"/>
              </a:rPr>
              <a:t>
</a:t>
            </a:r>
            <a:r>
              <a:rPr lang="en-US" sz="750" dirty="0">
                <a:solidFill>
                  <a:srgbClr val="D4D4D4"/>
                </a:solidFill>
                <a:latin typeface="JetBrains Mono" pitchFamily="34" charset="0"/>
                <a:ea typeface="JetBrains Mono" pitchFamily="34" charset="-122"/>
                <a:cs typeface="JetBrains Mono" pitchFamily="34" charset="-120"/>
              </a:rPr>
              <a:t>Do not broaden the proof claim.</a:t>
            </a:r>
            <a:endParaRPr lang="en-US" sz="750" dirty="0"/>
          </a:p>
        </p:txBody>
      </p:sp>
      <p:sp>
        <p:nvSpPr>
          <p:cNvPr id="41" name="Shape 37"/>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42" name="Text 38"/>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Parity is </a:t>
            </a:r>
            <a:r>
              <a:rPr lang="en-US" sz="1250" dirty="0">
                <a:solidFill>
                  <a:srgbClr val="111111"/>
                </a:solidFill>
                <a:latin typeface="Kalam Bold" pitchFamily="34" charset="0"/>
                <a:ea typeface="Kalam Bold" pitchFamily="34" charset="-122"/>
                <a:cs typeface="Kalam Bold" pitchFamily="34" charset="-120"/>
              </a:rPr>
              <a:t>claimed on</a:t>
            </a:r>
            <a:r>
              <a:rPr lang="en-US" sz="1250" dirty="0">
                <a:solidFill>
                  <a:srgbClr val="111111"/>
                </a:solidFill>
                <a:latin typeface="Kalam Bold" pitchFamily="34" charset="0"/>
                <a:ea typeface="Kalam Bold" pitchFamily="34" charset="-122"/>
                <a:cs typeface="Kalam Bold" pitchFamily="34" charset="-120"/>
              </a:rPr>
              <a:t>ly through</a:t>
            </a:r>
            <a:r>
              <a:rPr lang="en-US" sz="1250" dirty="0">
                <a:solidFill>
                  <a:srgbClr val="111111"/>
                </a:solidFill>
                <a:latin typeface="Kalam Bold" pitchFamily="34" charset="0"/>
                <a:ea typeface="Kalam Bold" pitchFamily="34" charset="-122"/>
                <a:cs typeface="Kalam Bold" pitchFamily="34" charset="-120"/>
              </a:rPr>
              <a:t> generated </a:t>
            </a:r>
            <a:r>
              <a:rPr lang="en-US" sz="1250" dirty="0">
                <a:solidFill>
                  <a:srgbClr val="111111"/>
                </a:solidFill>
                <a:latin typeface="Kalam Bold" pitchFamily="34" charset="0"/>
                <a:ea typeface="Kalam Bold" pitchFamily="34" charset="-122"/>
                <a:cs typeface="Kalam Bold" pitchFamily="34" charset="-120"/>
              </a:rPr>
              <a:t>evidence.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TIE-OUT FAIL: ROUTE THE FAILURE</a:t>
            </a:r>
            <a:endParaRPr lang="en-US" sz="2400" dirty="0"/>
          </a:p>
        </p:txBody>
      </p:sp>
      <p:sp>
        <p:nvSpPr>
          <p:cNvPr id="7" name="Text 3"/>
          <p:cNvSpPr/>
          <p:nvPr/>
        </p:nvSpPr>
        <p:spPr>
          <a:xfrm>
            <a:off x="271463" y="942975"/>
            <a:ext cx="3429000"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WHAT THE REPO DOES</a:t>
            </a:r>
            <a:endParaRPr lang="en-US" sz="1400" dirty="0"/>
          </a:p>
        </p:txBody>
      </p:sp>
      <p:sp>
        <p:nvSpPr>
          <p:cNvPr id="8" name="Shape 4"/>
          <p:cNvSpPr/>
          <p:nvPr/>
        </p:nvSpPr>
        <p:spPr>
          <a:xfrm>
            <a:off x="271463" y="1375172"/>
            <a:ext cx="3429000" cy="428625"/>
          </a:xfrm>
          <a:prstGeom prst="rect">
            <a:avLst/>
          </a:prstGeom>
          <a:solidFill>
            <a:srgbClr val="FFFFFF"/>
          </a:solidFill>
          <a:ln w="18288">
            <a:solidFill>
              <a:srgbClr val="111111"/>
            </a:solidFill>
            <a:prstDash val="solid"/>
          </a:ln>
        </p:spPr>
      </p:sp>
      <p:sp>
        <p:nvSpPr>
          <p:cNvPr id="9" name="Shape 5"/>
          <p:cNvSpPr/>
          <p:nvPr/>
        </p:nvSpPr>
        <p:spPr>
          <a:xfrm>
            <a:off x="385763" y="1460897"/>
            <a:ext cx="214313" cy="214313"/>
          </a:xfrm>
          <a:prstGeom prst="rect">
            <a:avLst/>
          </a:prstGeom>
          <a:solidFill>
            <a:srgbClr val="111111"/>
          </a:solidFill>
          <a:ln/>
        </p:spPr>
      </p:sp>
      <p:sp>
        <p:nvSpPr>
          <p:cNvPr id="10" name="Text 6"/>
          <p:cNvSpPr/>
          <p:nvPr/>
        </p:nvSpPr>
        <p:spPr>
          <a:xfrm>
            <a:off x="385763" y="146089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1</a:t>
            </a:r>
            <a:endParaRPr lang="en-US" sz="950" dirty="0"/>
          </a:p>
        </p:txBody>
      </p:sp>
      <p:sp>
        <p:nvSpPr>
          <p:cNvPr id="11" name="Text 7"/>
          <p:cNvSpPr/>
          <p:nvPr/>
        </p:nvSpPr>
        <p:spPr>
          <a:xfrm>
            <a:off x="685800" y="148322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Preserve failed evidence</a:t>
            </a:r>
            <a:endParaRPr lang="en-US" sz="950" dirty="0"/>
          </a:p>
        </p:txBody>
      </p:sp>
      <p:sp>
        <p:nvSpPr>
          <p:cNvPr id="12" name="Shape 8"/>
          <p:cNvSpPr/>
          <p:nvPr/>
        </p:nvSpPr>
        <p:spPr>
          <a:xfrm>
            <a:off x="271463" y="1860947"/>
            <a:ext cx="3429000" cy="428625"/>
          </a:xfrm>
          <a:prstGeom prst="rect">
            <a:avLst/>
          </a:prstGeom>
          <a:solidFill>
            <a:srgbClr val="FFFFFF"/>
          </a:solidFill>
          <a:ln w="18288">
            <a:solidFill>
              <a:srgbClr val="111111"/>
            </a:solidFill>
            <a:prstDash val="solid"/>
          </a:ln>
        </p:spPr>
      </p:sp>
      <p:sp>
        <p:nvSpPr>
          <p:cNvPr id="13" name="Shape 9"/>
          <p:cNvSpPr/>
          <p:nvPr/>
        </p:nvSpPr>
        <p:spPr>
          <a:xfrm>
            <a:off x="385763" y="1946672"/>
            <a:ext cx="214313" cy="214313"/>
          </a:xfrm>
          <a:prstGeom prst="rect">
            <a:avLst/>
          </a:prstGeom>
          <a:solidFill>
            <a:srgbClr val="111111"/>
          </a:solidFill>
          <a:ln/>
        </p:spPr>
      </p:sp>
      <p:sp>
        <p:nvSpPr>
          <p:cNvPr id="14" name="Text 10"/>
          <p:cNvSpPr/>
          <p:nvPr/>
        </p:nvSpPr>
        <p:spPr>
          <a:xfrm>
            <a:off x="385763" y="1946672"/>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2</a:t>
            </a:r>
            <a:endParaRPr lang="en-US" sz="950" dirty="0"/>
          </a:p>
        </p:txBody>
      </p:sp>
      <p:sp>
        <p:nvSpPr>
          <p:cNvPr id="15" name="Text 11"/>
          <p:cNvSpPr/>
          <p:nvPr/>
        </p:nvSpPr>
        <p:spPr>
          <a:xfrm>
            <a:off x="685800" y="1968996"/>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Normalize failure evidence</a:t>
            </a:r>
            <a:endParaRPr lang="en-US" sz="950" dirty="0"/>
          </a:p>
        </p:txBody>
      </p:sp>
      <p:sp>
        <p:nvSpPr>
          <p:cNvPr id="16" name="Shape 12"/>
          <p:cNvSpPr/>
          <p:nvPr/>
        </p:nvSpPr>
        <p:spPr>
          <a:xfrm>
            <a:off x="271463" y="2346722"/>
            <a:ext cx="3429000" cy="428625"/>
          </a:xfrm>
          <a:prstGeom prst="rect">
            <a:avLst/>
          </a:prstGeom>
          <a:solidFill>
            <a:srgbClr val="FFFFFF"/>
          </a:solidFill>
          <a:ln w="18288">
            <a:solidFill>
              <a:srgbClr val="111111"/>
            </a:solidFill>
            <a:prstDash val="solid"/>
          </a:ln>
        </p:spPr>
      </p:sp>
      <p:sp>
        <p:nvSpPr>
          <p:cNvPr id="17" name="Shape 13"/>
          <p:cNvSpPr/>
          <p:nvPr/>
        </p:nvSpPr>
        <p:spPr>
          <a:xfrm>
            <a:off x="385763" y="2432447"/>
            <a:ext cx="214313" cy="214313"/>
          </a:xfrm>
          <a:prstGeom prst="rect">
            <a:avLst/>
          </a:prstGeom>
          <a:solidFill>
            <a:srgbClr val="111111"/>
          </a:solidFill>
          <a:ln/>
        </p:spPr>
      </p:sp>
      <p:sp>
        <p:nvSpPr>
          <p:cNvPr id="18" name="Text 14"/>
          <p:cNvSpPr/>
          <p:nvPr/>
        </p:nvSpPr>
        <p:spPr>
          <a:xfrm>
            <a:off x="385763" y="243244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3</a:t>
            </a:r>
            <a:endParaRPr lang="en-US" sz="950" dirty="0"/>
          </a:p>
        </p:txBody>
      </p:sp>
      <p:sp>
        <p:nvSpPr>
          <p:cNvPr id="19" name="Text 15"/>
          <p:cNvSpPr/>
          <p:nvPr/>
        </p:nvSpPr>
        <p:spPr>
          <a:xfrm>
            <a:off x="685800" y="245477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Diagnose earliest failed gate</a:t>
            </a:r>
            <a:endParaRPr lang="en-US" sz="950" dirty="0"/>
          </a:p>
        </p:txBody>
      </p:sp>
      <p:sp>
        <p:nvSpPr>
          <p:cNvPr id="20" name="Shape 16"/>
          <p:cNvSpPr/>
          <p:nvPr/>
        </p:nvSpPr>
        <p:spPr>
          <a:xfrm>
            <a:off x="271463" y="2832497"/>
            <a:ext cx="3429000" cy="428625"/>
          </a:xfrm>
          <a:prstGeom prst="rect">
            <a:avLst/>
          </a:prstGeom>
          <a:solidFill>
            <a:srgbClr val="FFFFFF"/>
          </a:solidFill>
          <a:ln w="18288">
            <a:solidFill>
              <a:srgbClr val="111111"/>
            </a:solidFill>
            <a:prstDash val="solid"/>
          </a:ln>
        </p:spPr>
      </p:sp>
      <p:sp>
        <p:nvSpPr>
          <p:cNvPr id="21" name="Shape 17"/>
          <p:cNvSpPr/>
          <p:nvPr/>
        </p:nvSpPr>
        <p:spPr>
          <a:xfrm>
            <a:off x="385763" y="2918222"/>
            <a:ext cx="214313" cy="214313"/>
          </a:xfrm>
          <a:prstGeom prst="rect">
            <a:avLst/>
          </a:prstGeom>
          <a:solidFill>
            <a:srgbClr val="111111"/>
          </a:solidFill>
          <a:ln/>
        </p:spPr>
      </p:sp>
      <p:sp>
        <p:nvSpPr>
          <p:cNvPr id="22" name="Text 18"/>
          <p:cNvSpPr/>
          <p:nvPr/>
        </p:nvSpPr>
        <p:spPr>
          <a:xfrm>
            <a:off x="385763" y="2918222"/>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4</a:t>
            </a:r>
            <a:endParaRPr lang="en-US" sz="950" dirty="0"/>
          </a:p>
        </p:txBody>
      </p:sp>
      <p:sp>
        <p:nvSpPr>
          <p:cNvPr id="23" name="Text 19"/>
          <p:cNvSpPr/>
          <p:nvPr/>
        </p:nvSpPr>
        <p:spPr>
          <a:xfrm>
            <a:off x="685800" y="2940546"/>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Repair one owning layer</a:t>
            </a:r>
            <a:endParaRPr lang="en-US" sz="950" dirty="0"/>
          </a:p>
        </p:txBody>
      </p:sp>
      <p:sp>
        <p:nvSpPr>
          <p:cNvPr id="24" name="Shape 20"/>
          <p:cNvSpPr/>
          <p:nvPr/>
        </p:nvSpPr>
        <p:spPr>
          <a:xfrm>
            <a:off x="271463" y="3318272"/>
            <a:ext cx="3429000" cy="428625"/>
          </a:xfrm>
          <a:prstGeom prst="rect">
            <a:avLst/>
          </a:prstGeom>
          <a:solidFill>
            <a:srgbClr val="FFFFFF"/>
          </a:solidFill>
          <a:ln w="18288">
            <a:solidFill>
              <a:srgbClr val="111111"/>
            </a:solidFill>
            <a:prstDash val="solid"/>
          </a:ln>
        </p:spPr>
      </p:sp>
      <p:sp>
        <p:nvSpPr>
          <p:cNvPr id="25" name="Shape 21"/>
          <p:cNvSpPr/>
          <p:nvPr/>
        </p:nvSpPr>
        <p:spPr>
          <a:xfrm>
            <a:off x="385763" y="3403997"/>
            <a:ext cx="214313" cy="214313"/>
          </a:xfrm>
          <a:prstGeom prst="rect">
            <a:avLst/>
          </a:prstGeom>
          <a:solidFill>
            <a:srgbClr val="111111"/>
          </a:solidFill>
          <a:ln/>
        </p:spPr>
      </p:sp>
      <p:sp>
        <p:nvSpPr>
          <p:cNvPr id="26" name="Text 22"/>
          <p:cNvSpPr/>
          <p:nvPr/>
        </p:nvSpPr>
        <p:spPr>
          <a:xfrm>
            <a:off x="385763" y="3403997"/>
            <a:ext cx="214313" cy="214313"/>
          </a:xfrm>
          <a:prstGeom prst="rect">
            <a:avLst/>
          </a:prstGeom>
          <a:noFill/>
          <a:ln/>
        </p:spPr>
        <p:txBody>
          <a:bodyPr wrap="none" lIns="0" tIns="0" rIns="0" bIns="0" rtlCol="0" anchor="ctr">
            <a:spAutoFit/>
          </a:bodyPr>
          <a:lstStyle/>
          <a:p>
            <a:pPr algn="ctr" indent="0" marL="0">
              <a:buNone/>
            </a:pPr>
            <a:r>
              <a:rPr lang="en-US" sz="950" dirty="0">
                <a:solidFill>
                  <a:srgbClr val="FFFFFF"/>
                </a:solidFill>
                <a:latin typeface="Oswald SemiBold" pitchFamily="34" charset="0"/>
                <a:ea typeface="Oswald SemiBold" pitchFamily="34" charset="-122"/>
                <a:cs typeface="Oswald SemiBold" pitchFamily="34" charset="-120"/>
              </a:rPr>
              <a:t>5</a:t>
            </a:r>
            <a:endParaRPr lang="en-US" sz="950" dirty="0"/>
          </a:p>
        </p:txBody>
      </p:sp>
      <p:sp>
        <p:nvSpPr>
          <p:cNvPr id="27" name="Text 23"/>
          <p:cNvSpPr/>
          <p:nvPr/>
        </p:nvSpPr>
        <p:spPr>
          <a:xfrm>
            <a:off x="685800" y="3426321"/>
            <a:ext cx="2900363" cy="169664"/>
          </a:xfrm>
          <a:prstGeom prst="rect">
            <a:avLst/>
          </a:prstGeom>
          <a:noFill/>
          <a:ln/>
        </p:spPr>
        <p:txBody>
          <a:bodyPr wrap="none" lIns="0" tIns="0" rIns="0" bIns="0" rtlCol="0" anchor="t">
            <a:spAutoFit/>
          </a:bodyPr>
          <a:lstStyle/>
          <a:p>
            <a:pPr algn="l" indent="0" marL="0">
              <a:lnSpc>
                <a:spcPct val="100000"/>
              </a:lnSpc>
              <a:buNone/>
            </a:pPr>
            <a:r>
              <a:rPr lang="en-US" sz="950" b="1" dirty="0">
                <a:solidFill>
                  <a:srgbClr val="30343B"/>
                </a:solidFill>
                <a:latin typeface="Inter Bold" pitchFamily="34" charset="0"/>
                <a:ea typeface="Inter Bold" pitchFamily="34" charset="-122"/>
                <a:cs typeface="Inter Bold" pitchFamily="34" charset="-120"/>
              </a:rPr>
              <a:t>Review independently</a:t>
            </a:r>
            <a:endParaRPr lang="en-US" sz="950" dirty="0"/>
          </a:p>
        </p:txBody>
      </p:sp>
      <p:sp>
        <p:nvSpPr>
          <p:cNvPr id="28" name="Text 24"/>
          <p:cNvSpPr/>
          <p:nvPr/>
        </p:nvSpPr>
        <p:spPr>
          <a:xfrm>
            <a:off x="3929063" y="942975"/>
            <a:ext cx="4943475" cy="275034"/>
          </a:xfrm>
          <a:prstGeom prst="rect">
            <a:avLst/>
          </a:prstGeom>
          <a:noFill/>
          <a:ln/>
        </p:spPr>
        <p:txBody>
          <a:bodyPr wrap="square" lIns="0" tIns="0" rIns="0" bIns="0" rtlCol="0" anchor="t">
            <a:spAutoFit/>
          </a:bodyPr>
          <a:lstStyle/>
          <a:p>
            <a:pPr algn="l" indent="0" marL="0">
              <a:buNone/>
            </a:pPr>
            <a:r>
              <a:rPr lang="en-US" sz="1400" dirty="0">
                <a:solidFill>
                  <a:srgbClr val="111111"/>
                </a:solidFill>
                <a:latin typeface="Oswald SemiBold" pitchFamily="34" charset="0"/>
                <a:ea typeface="Oswald SemiBold" pitchFamily="34" charset="-122"/>
                <a:cs typeface="Oswald SemiBold" pitchFamily="34" charset="-120"/>
              </a:rPr>
              <a:t>ACTUAL RECOVERY ENTRY POINT</a:t>
            </a:r>
            <a:endParaRPr lang="en-US" sz="1400" dirty="0"/>
          </a:p>
        </p:txBody>
      </p:sp>
      <p:sp>
        <p:nvSpPr>
          <p:cNvPr id="29" name="Shape 25"/>
          <p:cNvSpPr/>
          <p:nvPr/>
        </p:nvSpPr>
        <p:spPr>
          <a:xfrm>
            <a:off x="3929063" y="1332309"/>
            <a:ext cx="4943475" cy="3282553"/>
          </a:xfrm>
          <a:prstGeom prst="rect">
            <a:avLst/>
          </a:prstGeom>
          <a:solidFill>
            <a:srgbClr val="1E1E1E"/>
          </a:solidFill>
          <a:ln w="27432">
            <a:solidFill>
              <a:srgbClr val="111111"/>
            </a:solidFill>
            <a:prstDash val="solid"/>
          </a:ln>
        </p:spPr>
      </p:sp>
      <p:sp>
        <p:nvSpPr>
          <p:cNvPr id="30" name="Shape 26"/>
          <p:cNvSpPr/>
          <p:nvPr/>
        </p:nvSpPr>
        <p:spPr>
          <a:xfrm>
            <a:off x="3929063" y="1332309"/>
            <a:ext cx="4943475" cy="300038"/>
          </a:xfrm>
          <a:prstGeom prst="rect">
            <a:avLst/>
          </a:prstGeom>
          <a:solidFill>
            <a:srgbClr val="323233"/>
          </a:solidFill>
          <a:ln/>
        </p:spPr>
      </p:sp>
      <p:sp>
        <p:nvSpPr>
          <p:cNvPr id="31" name="Shape 27"/>
          <p:cNvSpPr/>
          <p:nvPr/>
        </p:nvSpPr>
        <p:spPr>
          <a:xfrm>
            <a:off x="3929063" y="1618059"/>
            <a:ext cx="4943475" cy="14288"/>
          </a:xfrm>
          <a:prstGeom prst="rect">
            <a:avLst/>
          </a:prstGeom>
          <a:solidFill>
            <a:srgbClr val="111111"/>
          </a:solidFill>
          <a:ln/>
        </p:spPr>
      </p:sp>
      <p:sp>
        <p:nvSpPr>
          <p:cNvPr id="32" name="Text 28"/>
          <p:cNvSpPr/>
          <p:nvPr/>
        </p:nvSpPr>
        <p:spPr>
          <a:xfrm>
            <a:off x="7943850" y="1426964"/>
            <a:ext cx="828675" cy="110728"/>
          </a:xfrm>
          <a:prstGeom prst="rect">
            <a:avLst/>
          </a:prstGeom>
          <a:noFill/>
          <a:ln/>
        </p:spPr>
        <p:txBody>
          <a:bodyPr wrap="none" lIns="0" tIns="0" rIns="0" bIns="0" rtlCol="0" anchor="t">
            <a:spAutoFit/>
          </a:bodyPr>
          <a:lstStyle/>
          <a:p>
            <a:pPr algn="l" indent="0" marL="0">
              <a:buNone/>
            </a:pPr>
            <a:r>
              <a:rPr lang="en-US" sz="650" b="1" dirty="0">
                <a:solidFill>
                  <a:srgbClr val="9CDCFE"/>
                </a:solidFill>
                <a:latin typeface="Inter SemiBold" pitchFamily="34" charset="0"/>
                <a:ea typeface="Inter SemiBold" pitchFamily="34" charset="-122"/>
                <a:cs typeface="Inter SemiBold" pitchFamily="34" charset="-120"/>
              </a:rPr>
              <a:t>GITHUB COPILOT</a:t>
            </a:r>
            <a:endParaRPr lang="en-US" sz="650" dirty="0"/>
          </a:p>
        </p:txBody>
      </p:sp>
      <p:sp>
        <p:nvSpPr>
          <p:cNvPr id="33" name="Text 29"/>
          <p:cNvSpPr/>
          <p:nvPr/>
        </p:nvSpPr>
        <p:spPr>
          <a:xfrm>
            <a:off x="4129088" y="1803797"/>
            <a:ext cx="4543425" cy="139303"/>
          </a:xfrm>
          <a:prstGeom prst="rect">
            <a:avLst/>
          </a:prstGeom>
          <a:noFill/>
          <a:ln/>
        </p:spPr>
        <p:txBody>
          <a:bodyPr wrap="none" lIns="0" tIns="0" rIns="0" bIns="0" rtlCol="0" anchor="t">
            <a:spAutoFit/>
          </a:bodyPr>
          <a:lstStyle/>
          <a:p>
            <a:pPr algn="l" indent="0" marL="0">
              <a:lnSpc>
                <a:spcPct val="120000"/>
              </a:lnSpc>
              <a:buNone/>
            </a:pPr>
            <a:r>
              <a:rPr lang="en-US" sz="650" b="1" spc="1" kern="0" dirty="0">
                <a:solidFill>
                  <a:srgbClr val="569CD6"/>
                </a:solidFill>
                <a:latin typeface="Inter Bold" pitchFamily="34" charset="0"/>
                <a:ea typeface="Inter Bold" pitchFamily="34" charset="-122"/>
                <a:cs typeface="Inter Bold" pitchFamily="34" charset="-120"/>
              </a:rPr>
              <a:t>USER</a:t>
            </a:r>
            <a:endParaRPr lang="en-US" sz="650" dirty="0"/>
          </a:p>
        </p:txBody>
      </p:sp>
      <p:sp>
        <p:nvSpPr>
          <p:cNvPr id="34" name="Shape 30"/>
          <p:cNvSpPr/>
          <p:nvPr/>
        </p:nvSpPr>
        <p:spPr>
          <a:xfrm>
            <a:off x="4129088" y="2000250"/>
            <a:ext cx="4543425" cy="1457325"/>
          </a:xfrm>
          <a:prstGeom prst="rect">
            <a:avLst/>
          </a:prstGeom>
          <a:solidFill>
            <a:srgbClr val="2D2D2D"/>
          </a:solidFill>
          <a:ln w="18288">
            <a:solidFill>
              <a:srgbClr val="444444"/>
            </a:solidFill>
            <a:prstDash val="solid"/>
          </a:ln>
        </p:spPr>
      </p:sp>
      <p:sp>
        <p:nvSpPr>
          <p:cNvPr id="35" name="Text 31"/>
          <p:cNvSpPr/>
          <p:nvPr/>
        </p:nvSpPr>
        <p:spPr>
          <a:xfrm>
            <a:off x="4129088" y="2000250"/>
            <a:ext cx="4543425" cy="1457325"/>
          </a:xfrm>
          <a:prstGeom prst="rect">
            <a:avLst/>
          </a:prstGeom>
          <a:noFill/>
          <a:ln/>
        </p:spPr>
        <p:txBody>
          <a:bodyPr wrap="square" lIns="170053" tIns="136017" rIns="170053" bIns="136017" rtlCol="0" anchor="t">
            <a:spAutoFit/>
          </a:bodyPr>
          <a:lstStyle/>
          <a:p>
            <a:pPr algn="l" indent="0" marL="0">
              <a:lnSpc>
                <a:spcPct val="120000"/>
              </a:lnSpc>
              <a:buNone/>
            </a:pPr>
            <a:r>
              <a:rPr lang="en-US" sz="800" b="1" dirty="0">
                <a:solidFill>
                  <a:srgbClr val="CE9178"/>
                </a:solidFill>
                <a:latin typeface="JetBrains Mono Bold" pitchFamily="34" charset="0"/>
                <a:ea typeface="JetBrains Mono Bold" pitchFamily="34" charset="-122"/>
                <a:cs typeface="JetBrains Mono Bold" pitchFamily="34" charset="-120"/>
              </a:rPr>
              <a:t>/analyze-failure artifacts/evidence/runs/&lt;run-</a:t>
            </a:r>
            <a:r>
              <a:rPr lang="en-US" sz="800" b="1" dirty="0">
                <a:solidFill>
                  <a:srgbClr val="CE9178"/>
                </a:solidFill>
                <a:latin typeface="JetBrains Mono Bold" pitchFamily="34" charset="0"/>
                <a:ea typeface="JetBrains Mono Bold" pitchFamily="34" charset="-122"/>
                <a:cs typeface="JetBrains Mono Bold" pitchFamily="34" charset="-120"/>
              </a:rPr>
              <a:t>id&gt;/evidence.json</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 Read the latest run state and failed gate.</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If evidence is raw: invoke only </a:t>
            </a:r>
            <a:r>
              <a:rPr lang="en-US" sz="800" b="1" dirty="0">
                <a:solidFill>
                  <a:srgbClr val="D4D4D4"/>
                </a:solidFill>
                <a:latin typeface="JetBrains Mono Bold" pitchFamily="34" charset="0"/>
                <a:ea typeface="JetBrains Mono Bold" pitchFamily="34" charset="-122"/>
                <a:cs typeface="JetBrains Mono Bold" pitchFamily="34" charset="-120"/>
              </a:rPr>
              <a:t>ingest</a:t>
            </a:r>
            <a:r>
              <a:rPr lang="en-US" sz="850" dirty="0">
                <a:solidFill>
                  <a:srgbClr val="D4D4D4"/>
                </a:solidFill>
                <a:latin typeface="JetBrains Mono" pitchFamily="34" charset="0"/>
                <a:ea typeface="JetBrains Mono" pitchFamily="34" charset="-122"/>
                <a:cs typeface="JetBrains Mono" pitchFamily="34" charset="-120"/>
              </a:rPr>
              <a:t>, then stop.</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If normalized: invoke only </a:t>
            </a:r>
            <a:r>
              <a:rPr lang="en-US" sz="800" b="1" dirty="0">
                <a:solidFill>
                  <a:srgbClr val="D4D4D4"/>
                </a:solidFill>
                <a:latin typeface="JetBrains Mono Bold" pitchFamily="34" charset="0"/>
                <a:ea typeface="JetBrains Mono Bold" pitchFamily="34" charset="-122"/>
                <a:cs typeface="JetBrains Mono Bold" pitchFamily="34" charset="-120"/>
              </a:rPr>
              <a:t>diagnose</a:t>
            </a:r>
            <a:r>
              <a:rPr lang="en-US" sz="850" dirty="0">
                <a:solidFill>
                  <a:srgbClr val="D4D4D4"/>
                </a:solidFill>
                <a:latin typeface="JetBrains Mono" pitchFamily="34" charset="0"/>
                <a:ea typeface="JetBrains Mono" pitchFamily="34" charset="-122"/>
                <a:cs typeface="JetBrains Mono" pitchFamily="34" charset="-120"/>
              </a:rPr>
              <a:t>, then stop for approval.</a:t>
            </a:r>
            <a:r>
              <a:rPr lang="en-US" sz="850" dirty="0">
                <a:solidFill>
                  <a:srgbClr val="D4D4D4"/>
                </a:solidFill>
                <a:latin typeface="JetBrains Mono" pitchFamily="34" charset="0"/>
                <a:ea typeface="JetBrains Mono" pitchFamily="34" charset="-122"/>
                <a:cs typeface="JetBrains Mono" pitchFamily="34" charset="-120"/>
              </a:rPr>
              <a:t>
</a:t>
            </a:r>
            <a:r>
              <a:rPr lang="en-US" sz="850" dirty="0">
                <a:solidFill>
                  <a:srgbClr val="D4D4D4"/>
                </a:solidFill>
                <a:latin typeface="JetBrains Mono" pitchFamily="34" charset="0"/>
                <a:ea typeface="JetBrains Mono" pitchFamily="34" charset="-122"/>
                <a:cs typeface="JetBrains Mono" pitchFamily="34" charset="-120"/>
              </a:rPr>
              <a:t>Never repair or review in this message.</a:t>
            </a:r>
            <a:endParaRPr lang="en-US" sz="850" dirty="0"/>
          </a:p>
        </p:txBody>
      </p:sp>
      <p:sp>
        <p:nvSpPr>
          <p:cNvPr id="36" name="Shape 32"/>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37" name="Text 33"/>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Fai</a:t>
            </a:r>
            <a:r>
              <a:rPr lang="en-US" sz="1250" dirty="0">
                <a:solidFill>
                  <a:srgbClr val="111111"/>
                </a:solidFill>
                <a:latin typeface="Kalam Bold" pitchFamily="34" charset="0"/>
                <a:ea typeface="Kalam Bold" pitchFamily="34" charset="-122"/>
                <a:cs typeface="Kalam Bold" pitchFamily="34" charset="-120"/>
              </a:rPr>
              <a:t>lure becom</a:t>
            </a:r>
            <a:r>
              <a:rPr lang="en-US" sz="1250" dirty="0">
                <a:solidFill>
                  <a:srgbClr val="111111"/>
                </a:solidFill>
                <a:latin typeface="Kalam Bold" pitchFamily="34" charset="0"/>
                <a:ea typeface="Kalam Bold" pitchFamily="34" charset="-122"/>
                <a:cs typeface="Kalam Bold" pitchFamily="34" charset="-120"/>
              </a:rPr>
              <a:t>es evidenc</a:t>
            </a:r>
            <a:r>
              <a:rPr lang="en-US" sz="1250" dirty="0">
                <a:solidFill>
                  <a:srgbClr val="111111"/>
                </a:solidFill>
                <a:latin typeface="Kalam Bold" pitchFamily="34" charset="0"/>
                <a:ea typeface="Kalam Bold" pitchFamily="34" charset="-122"/>
                <a:cs typeface="Kalam Bold" pitchFamily="34" charset="-120"/>
              </a:rPr>
              <a:t>e, not a re</a:t>
            </a:r>
            <a:r>
              <a:rPr lang="en-US" sz="1250" dirty="0">
                <a:solidFill>
                  <a:srgbClr val="111111"/>
                </a:solidFill>
                <a:latin typeface="Kalam Bold" pitchFamily="34" charset="0"/>
                <a:ea typeface="Kalam Bold" pitchFamily="34" charset="-122"/>
                <a:cs typeface="Kalam Bold" pitchFamily="34" charset="-120"/>
              </a:rPr>
              <a:t>ason to loo</a:t>
            </a:r>
            <a:r>
              <a:rPr lang="en-US" sz="1250" dirty="0">
                <a:solidFill>
                  <a:srgbClr val="111111"/>
                </a:solidFill>
                <a:latin typeface="Kalam Bold" pitchFamily="34" charset="0"/>
                <a:ea typeface="Kalam Bold" pitchFamily="34" charset="-122"/>
                <a:cs typeface="Kalam Bold" pitchFamily="34" charset="-120"/>
              </a:rPr>
              <a:t>sen the pro</a:t>
            </a:r>
            <a:r>
              <a:rPr lang="en-US" sz="1250" dirty="0">
                <a:solidFill>
                  <a:srgbClr val="111111"/>
                </a:solidFill>
                <a:latin typeface="Kalam Bold" pitchFamily="34" charset="0"/>
                <a:ea typeface="Kalam Bold" pitchFamily="34" charset="-122"/>
                <a:cs typeface="Kalam Bold" pitchFamily="34" charset="-120"/>
              </a:rPr>
              <a:t>of.</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685800"/>
          </a:xfrm>
          <a:prstGeom prst="rect">
            <a:avLst/>
          </a:prstGeom>
          <a:solidFill>
            <a:srgbClr val="000000">
              <a:alpha val="0"/>
            </a:srgbClr>
          </a:solidFill>
          <a:ln/>
        </p:spPr>
      </p:sp>
      <p:sp>
        <p:nvSpPr>
          <p:cNvPr id="5" name="Shape 1"/>
          <p:cNvSpPr/>
          <p:nvPr/>
        </p:nvSpPr>
        <p:spPr>
          <a:xfrm>
            <a:off x="271463" y="871538"/>
            <a:ext cx="8601075" cy="28575"/>
          </a:xfrm>
          <a:prstGeom prst="rect">
            <a:avLst/>
          </a:prstGeom>
          <a:solidFill>
            <a:srgbClr val="111111"/>
          </a:solidFill>
          <a:ln/>
        </p:spPr>
      </p:sp>
      <p:sp>
        <p:nvSpPr>
          <p:cNvPr id="6" name="Text 2"/>
          <p:cNvSpPr/>
          <p:nvPr/>
        </p:nvSpPr>
        <p:spPr>
          <a:xfrm>
            <a:off x="271463" y="214313"/>
            <a:ext cx="5557838" cy="375047"/>
          </a:xfrm>
          <a:prstGeom prst="rect">
            <a:avLst/>
          </a:prstGeom>
          <a:noFill/>
          <a:ln/>
        </p:spPr>
        <p:txBody>
          <a:bodyPr wrap="none" lIns="0" tIns="0" rIns="0" bIns="0" rtlCol="0" anchor="t">
            <a:spAutoFit/>
          </a:bodyPr>
          <a:lstStyle/>
          <a:p>
            <a:pPr algn="l" indent="0" marL="0">
              <a:lnSpc>
                <a:spcPct val="84000"/>
              </a:lnSpc>
              <a:buNone/>
            </a:pPr>
            <a:r>
              <a:rPr lang="en-US" sz="2550" b="1" dirty="0">
                <a:solidFill>
                  <a:srgbClr val="111111"/>
                </a:solidFill>
                <a:latin typeface="Oswald SemiBold" pitchFamily="34" charset="0"/>
                <a:ea typeface="Oswald SemiBold" pitchFamily="34" charset="-122"/>
                <a:cs typeface="Oswald SemiBold" pitchFamily="34" charset="-120"/>
              </a:rPr>
              <a:t>PROOF IN ACTION: THE EVIDENCE TRAIL</a:t>
            </a:r>
            <a:endParaRPr lang="en-US" sz="2550" dirty="0"/>
          </a:p>
        </p:txBody>
      </p:sp>
      <p:sp>
        <p:nvSpPr>
          <p:cNvPr id="7" name="Text 3"/>
          <p:cNvSpPr/>
          <p:nvPr/>
        </p:nvSpPr>
        <p:spPr>
          <a:xfrm>
            <a:off x="271463" y="632222"/>
            <a:ext cx="5557838" cy="192881"/>
          </a:xfrm>
          <a:prstGeom prst="rect">
            <a:avLst/>
          </a:prstGeom>
          <a:noFill/>
          <a:ln/>
        </p:spPr>
        <p:txBody>
          <a:bodyPr wrap="square" lIns="0" tIns="0" rIns="0" bIns="0" rtlCol="0" anchor="t">
            <a:spAutoFit/>
          </a:bodyPr>
          <a:lstStyle/>
          <a:p>
            <a:pPr algn="l" indent="0" marL="0">
              <a:buNone/>
            </a:pPr>
            <a:r>
              <a:rPr lang="en-US" sz="1100" b="1" dirty="0">
                <a:solidFill>
                  <a:srgbClr val="0055FF"/>
                </a:solidFill>
                <a:latin typeface="Inter Bold" pitchFamily="34" charset="0"/>
                <a:ea typeface="Inter Bold" pitchFamily="34" charset="-122"/>
                <a:cs typeface="Inter Bold" pitchFamily="34" charset="-120"/>
              </a:rPr>
              <a:t>Step 1: Extract exactly what SAS executed.</a:t>
            </a:r>
            <a:endParaRPr lang="en-US" sz="1100" dirty="0"/>
          </a:p>
        </p:txBody>
      </p:sp>
      <p:sp>
        <p:nvSpPr>
          <p:cNvPr id="8" name="Shape 4"/>
          <p:cNvSpPr/>
          <p:nvPr/>
        </p:nvSpPr>
        <p:spPr>
          <a:xfrm>
            <a:off x="271463" y="1071563"/>
            <a:ext cx="2571750" cy="1175761"/>
          </a:xfrm>
          <a:prstGeom prst="rect">
            <a:avLst/>
          </a:prstGeom>
          <a:solidFill>
            <a:srgbClr val="FFFFFF"/>
          </a:solidFill>
          <a:ln w="18288">
            <a:solidFill>
              <a:srgbClr val="111111"/>
            </a:solidFill>
            <a:prstDash val="solid"/>
          </a:ln>
        </p:spPr>
      </p:sp>
      <p:sp>
        <p:nvSpPr>
          <p:cNvPr id="9" name="Text 5"/>
          <p:cNvSpPr/>
          <p:nvPr/>
        </p:nvSpPr>
        <p:spPr>
          <a:xfrm>
            <a:off x="414338" y="1214438"/>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ACTION</a:t>
            </a:r>
            <a:endParaRPr lang="en-US" sz="1150" dirty="0"/>
          </a:p>
        </p:txBody>
      </p:sp>
      <p:sp>
        <p:nvSpPr>
          <p:cNvPr id="10" name="Text 6"/>
          <p:cNvSpPr/>
          <p:nvPr/>
        </p:nvSpPr>
        <p:spPr>
          <a:xfrm>
            <a:off x="414338" y="1532334"/>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Copilot reads the SAS program and logs to reconstruct behavior without writing any Python.</a:t>
            </a:r>
            <a:endParaRPr lang="en-US" sz="950" dirty="0"/>
          </a:p>
        </p:txBody>
      </p:sp>
      <p:sp>
        <p:nvSpPr>
          <p:cNvPr id="11" name="Shape 7"/>
          <p:cNvSpPr/>
          <p:nvPr/>
        </p:nvSpPr>
        <p:spPr>
          <a:xfrm>
            <a:off x="271463" y="2375911"/>
            <a:ext cx="2571750" cy="1797267"/>
          </a:xfrm>
          <a:prstGeom prst="rect">
            <a:avLst/>
          </a:prstGeom>
          <a:solidFill>
            <a:srgbClr val="FFFFFF"/>
          </a:solidFill>
          <a:ln w="18288">
            <a:solidFill>
              <a:srgbClr val="111111"/>
            </a:solidFill>
            <a:prstDash val="solid"/>
          </a:ln>
        </p:spPr>
      </p:sp>
      <p:sp>
        <p:nvSpPr>
          <p:cNvPr id="12" name="Text 8"/>
          <p:cNvSpPr/>
          <p:nvPr/>
        </p:nvSpPr>
        <p:spPr>
          <a:xfrm>
            <a:off x="414338" y="2518786"/>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ARTIFACT CREATED</a:t>
            </a:r>
            <a:endParaRPr lang="en-US" sz="1150" dirty="0"/>
          </a:p>
        </p:txBody>
      </p:sp>
      <p:sp>
        <p:nvSpPr>
          <p:cNvPr id="13" name="Text 9"/>
          <p:cNvSpPr/>
          <p:nvPr/>
        </p:nvSpPr>
        <p:spPr>
          <a:xfrm>
            <a:off x="414338" y="2836683"/>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The trace file records exactly which models ran and how they converged.</a:t>
            </a:r>
            <a:endParaRPr lang="en-US" sz="950" dirty="0"/>
          </a:p>
        </p:txBody>
      </p:sp>
      <p:sp>
        <p:nvSpPr>
          <p:cNvPr id="14" name="Shape 10"/>
          <p:cNvSpPr/>
          <p:nvPr/>
        </p:nvSpPr>
        <p:spPr>
          <a:xfrm>
            <a:off x="414338" y="3523097"/>
            <a:ext cx="2286000" cy="464344"/>
          </a:xfrm>
          <a:prstGeom prst="rect">
            <a:avLst/>
          </a:prstGeom>
          <a:solidFill>
            <a:srgbClr val="FFF7CC"/>
          </a:solidFill>
          <a:ln w="18288">
            <a:solidFill>
              <a:srgbClr val="111111"/>
            </a:solidFill>
            <a:prstDash val="solid"/>
          </a:ln>
        </p:spPr>
      </p:sp>
      <p:sp>
        <p:nvSpPr>
          <p:cNvPr id="15" name="Text 11"/>
          <p:cNvSpPr/>
          <p:nvPr/>
        </p:nvSpPr>
        <p:spPr>
          <a:xfrm>
            <a:off x="414338" y="3523097"/>
            <a:ext cx="2286000" cy="464344"/>
          </a:xfrm>
          <a:prstGeom prst="rect">
            <a:avLst/>
          </a:prstGeom>
          <a:noFill/>
          <a:ln/>
        </p:spPr>
        <p:txBody>
          <a:bodyPr wrap="square" lIns="102108" tIns="102108" rIns="102108" bIns="102108" rtlCol="0" anchor="t">
            <a:spAutoFit/>
          </a:bodyPr>
          <a:lstStyle/>
          <a:p>
            <a:pPr algn="l" indent="0" marL="0">
              <a:buNone/>
            </a:pPr>
            <a:r>
              <a:rPr lang="en-US" sz="700" b="1" dirty="0">
                <a:solidFill>
                  <a:srgbClr val="B42318"/>
                </a:solidFill>
                <a:latin typeface="JetBrains Mono Bold" pitchFamily="34" charset="0"/>
                <a:ea typeface="JetBrains Mono Bold" pitchFamily="34" charset="-122"/>
                <a:cs typeface="JetBrains Mono Bold" pitchFamily="34" charset="-120"/>
              </a:rPr>
              <a:t>stage1_extraction/output/execution_trace.json</a:t>
            </a:r>
            <a:endParaRPr lang="en-US" sz="700" dirty="0"/>
          </a:p>
        </p:txBody>
      </p:sp>
      <p:sp>
        <p:nvSpPr>
          <p:cNvPr id="16" name="Shape 12"/>
          <p:cNvSpPr/>
          <p:nvPr/>
        </p:nvSpPr>
        <p:spPr>
          <a:xfrm>
            <a:off x="3071813" y="1071563"/>
            <a:ext cx="5800725" cy="3571875"/>
          </a:xfrm>
          <a:prstGeom prst="rect">
            <a:avLst/>
          </a:prstGeom>
          <a:solidFill>
            <a:srgbClr val="1E1E1E"/>
          </a:solidFill>
          <a:ln w="27432">
            <a:solidFill>
              <a:srgbClr val="111111"/>
            </a:solidFill>
            <a:prstDash val="solid"/>
          </a:ln>
        </p:spPr>
      </p:sp>
      <p:sp>
        <p:nvSpPr>
          <p:cNvPr id="17" name="Shape 13"/>
          <p:cNvSpPr/>
          <p:nvPr/>
        </p:nvSpPr>
        <p:spPr>
          <a:xfrm>
            <a:off x="3071813" y="1071563"/>
            <a:ext cx="5800725" cy="328613"/>
          </a:xfrm>
          <a:prstGeom prst="rect">
            <a:avLst/>
          </a:prstGeom>
          <a:solidFill>
            <a:srgbClr val="323233"/>
          </a:solidFill>
          <a:ln/>
        </p:spPr>
      </p:sp>
      <p:sp>
        <p:nvSpPr>
          <p:cNvPr id="18" name="Shape 14"/>
          <p:cNvSpPr/>
          <p:nvPr/>
        </p:nvSpPr>
        <p:spPr>
          <a:xfrm>
            <a:off x="3071813" y="1385888"/>
            <a:ext cx="5800725" cy="14288"/>
          </a:xfrm>
          <a:prstGeom prst="rect">
            <a:avLst/>
          </a:prstGeom>
          <a:solidFill>
            <a:srgbClr val="111111"/>
          </a:solidFill>
          <a:ln/>
        </p:spPr>
      </p:sp>
      <p:sp>
        <p:nvSpPr>
          <p:cNvPr id="19" name="Shape 15"/>
          <p:cNvSpPr/>
          <p:nvPr/>
        </p:nvSpPr>
        <p:spPr>
          <a:xfrm>
            <a:off x="3729038" y="1078706"/>
            <a:ext cx="1414463" cy="314325"/>
          </a:xfrm>
          <a:prstGeom prst="rect">
            <a:avLst/>
          </a:prstGeom>
          <a:solidFill>
            <a:srgbClr val="1E1E1E"/>
          </a:solidFill>
          <a:ln/>
        </p:spPr>
      </p:sp>
      <p:sp>
        <p:nvSpPr>
          <p:cNvPr id="20" name="Shape 16"/>
          <p:cNvSpPr/>
          <p:nvPr/>
        </p:nvSpPr>
        <p:spPr>
          <a:xfrm>
            <a:off x="3729038" y="1078706"/>
            <a:ext cx="1414463" cy="28575"/>
          </a:xfrm>
          <a:prstGeom prst="rect">
            <a:avLst/>
          </a:prstGeom>
          <a:solidFill>
            <a:srgbClr val="0055FF"/>
          </a:solidFill>
          <a:ln/>
        </p:spPr>
      </p:sp>
      <p:sp>
        <p:nvSpPr>
          <p:cNvPr id="21" name="Text 17"/>
          <p:cNvSpPr/>
          <p:nvPr/>
        </p:nvSpPr>
        <p:spPr>
          <a:xfrm>
            <a:off x="3729038" y="1078706"/>
            <a:ext cx="1414463" cy="314325"/>
          </a:xfrm>
          <a:prstGeom prst="rect">
            <a:avLst/>
          </a:prstGeom>
          <a:noFill/>
          <a:ln/>
        </p:spPr>
        <p:txBody>
          <a:bodyPr wrap="square" lIns="204089" tIns="102108" rIns="204089"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execution_trace.json</a:t>
            </a:r>
            <a:endParaRPr lang="en-US" sz="750" dirty="0"/>
          </a:p>
        </p:txBody>
      </p:sp>
      <p:sp>
        <p:nvSpPr>
          <p:cNvPr id="22" name="Text 18"/>
          <p:cNvSpPr/>
          <p:nvPr/>
        </p:nvSpPr>
        <p:spPr>
          <a:xfrm>
            <a:off x="7929563" y="1184077"/>
            <a:ext cx="842963" cy="103584"/>
          </a:xfrm>
          <a:prstGeom prst="rect">
            <a:avLst/>
          </a:prstGeom>
          <a:noFill/>
          <a:ln/>
        </p:spPr>
        <p:txBody>
          <a:bodyPr wrap="none" lIns="0" tIns="0" rIns="0" bIns="0" rtlCol="0" anchor="t">
            <a:spAutoFit/>
          </a:bodyPr>
          <a:lstStyle/>
          <a:p>
            <a:pPr algn="l" indent="0" marL="0">
              <a:buNone/>
            </a:pPr>
            <a:r>
              <a:rPr lang="en-US" sz="600" b="1" spc="1" kern="0" dirty="0">
                <a:solidFill>
                  <a:srgbClr val="9CDCFE"/>
                </a:solidFill>
                <a:latin typeface="Inter Bold" pitchFamily="34" charset="0"/>
                <a:ea typeface="Inter Bold" pitchFamily="34" charset="-122"/>
                <a:cs typeface="Inter Bold" pitchFamily="34" charset="-120"/>
              </a:rPr>
              <a:t>TRACE ARTIFACT</a:t>
            </a:r>
            <a:endParaRPr lang="en-US" sz="600" dirty="0"/>
          </a:p>
        </p:txBody>
      </p:sp>
      <p:sp>
        <p:nvSpPr>
          <p:cNvPr id="23" name="Text 19"/>
          <p:cNvSpPr/>
          <p:nvPr/>
        </p:nvSpPr>
        <p:spPr>
          <a:xfrm>
            <a:off x="3200400" y="1514475"/>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1</a:t>
            </a:r>
            <a:endParaRPr lang="en-US" sz="550" dirty="0"/>
          </a:p>
        </p:txBody>
      </p:sp>
      <p:sp>
        <p:nvSpPr>
          <p:cNvPr id="24" name="Text 20"/>
          <p:cNvSpPr/>
          <p:nvPr/>
        </p:nvSpPr>
        <p:spPr>
          <a:xfrm>
            <a:off x="3443288" y="1560575"/>
            <a:ext cx="5300663" cy="114970"/>
          </a:xfrm>
          <a:prstGeom prst="rect">
            <a:avLst/>
          </a:prstGeom>
          <a:noFill/>
          <a:ln/>
        </p:spPr>
        <p:txBody>
          <a:bodyPr wrap="none" lIns="110617" tIns="0" rIns="0" bIns="0" rtlCol="0" anchor="t">
            <a:spAutoFit/>
          </a:bodyPr>
          <a:lstStyle/>
          <a:p>
            <a:pPr algn="l" indent="0" marL="0">
              <a:lnSpc>
                <a:spcPct val="92000"/>
              </a:lnSpc>
              <a:buNone/>
            </a:pP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25" name="Text 21"/>
          <p:cNvSpPr/>
          <p:nvPr/>
        </p:nvSpPr>
        <p:spPr>
          <a:xfrm>
            <a:off x="3200400" y="1728788"/>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2</a:t>
            </a:r>
            <a:endParaRPr lang="en-US" sz="550" dirty="0"/>
          </a:p>
        </p:txBody>
      </p:sp>
      <p:sp>
        <p:nvSpPr>
          <p:cNvPr id="26" name="Text 22"/>
          <p:cNvSpPr/>
          <p:nvPr/>
        </p:nvSpPr>
        <p:spPr>
          <a:xfrm>
            <a:off x="3443288" y="1774887"/>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"step_id"</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"S04"</a:t>
            </a: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27" name="Text 23"/>
          <p:cNvSpPr/>
          <p:nvPr/>
        </p:nvSpPr>
        <p:spPr>
          <a:xfrm>
            <a:off x="3200400" y="1943100"/>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3</a:t>
            </a:r>
            <a:endParaRPr lang="en-US" sz="550" dirty="0"/>
          </a:p>
        </p:txBody>
      </p:sp>
      <p:sp>
        <p:nvSpPr>
          <p:cNvPr id="28" name="Text 24"/>
          <p:cNvSpPr/>
          <p:nvPr/>
        </p:nvSpPr>
        <p:spPr>
          <a:xfrm>
            <a:off x="3443288" y="1989200"/>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"command"</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"PROC LOGISTIC"</a:t>
            </a: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29" name="Text 25"/>
          <p:cNvSpPr/>
          <p:nvPr/>
        </p:nvSpPr>
        <p:spPr>
          <a:xfrm>
            <a:off x="3200400" y="2157413"/>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4</a:t>
            </a:r>
            <a:endParaRPr lang="en-US" sz="550" dirty="0"/>
          </a:p>
        </p:txBody>
      </p:sp>
      <p:sp>
        <p:nvSpPr>
          <p:cNvPr id="30" name="Text 26"/>
          <p:cNvSpPr/>
          <p:nvPr/>
        </p:nvSpPr>
        <p:spPr>
          <a:xfrm>
            <a:off x="3443288" y="2203512"/>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"inputs"</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"WORK.TRAIN_DATA"</a:t>
            </a: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31" name="Text 27"/>
          <p:cNvSpPr/>
          <p:nvPr/>
        </p:nvSpPr>
        <p:spPr>
          <a:xfrm>
            <a:off x="3200400" y="2371725"/>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5</a:t>
            </a:r>
            <a:endParaRPr lang="en-US" sz="550" dirty="0"/>
          </a:p>
        </p:txBody>
      </p:sp>
      <p:sp>
        <p:nvSpPr>
          <p:cNvPr id="32" name="Text 28"/>
          <p:cNvSpPr/>
          <p:nvPr/>
        </p:nvSpPr>
        <p:spPr>
          <a:xfrm>
            <a:off x="3443288" y="2417825"/>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"outputs"</a:t>
            </a:r>
            <a:r>
              <a:rPr lang="en-US" sz="750" dirty="0">
                <a:solidFill>
                  <a:srgbClr val="D4D4D4"/>
                </a:solidFill>
                <a:latin typeface="Consolas" pitchFamily="34" charset="0"/>
                <a:ea typeface="Consolas" pitchFamily="34" charset="-122"/>
                <a:cs typeface="Consolas" pitchFamily="34" charset="-120"/>
              </a:rPr>
              <a:t>: {</a:t>
            </a:r>
            <a:endParaRPr lang="en-US" sz="750" dirty="0"/>
          </a:p>
        </p:txBody>
      </p:sp>
      <p:sp>
        <p:nvSpPr>
          <p:cNvPr id="33" name="Text 29"/>
          <p:cNvSpPr/>
          <p:nvPr/>
        </p:nvSpPr>
        <p:spPr>
          <a:xfrm>
            <a:off x="3200400" y="2586038"/>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6</a:t>
            </a:r>
            <a:endParaRPr lang="en-US" sz="550" dirty="0"/>
          </a:p>
        </p:txBody>
      </p:sp>
      <p:sp>
        <p:nvSpPr>
          <p:cNvPr id="34" name="Text 30"/>
          <p:cNvSpPr/>
          <p:nvPr/>
        </p:nvSpPr>
        <p:spPr>
          <a:xfrm>
            <a:off x="3443288" y="2632137"/>
            <a:ext cx="5300663" cy="114970"/>
          </a:xfrm>
          <a:prstGeom prst="rect">
            <a:avLst/>
          </a:prstGeom>
          <a:noFill/>
          <a:ln/>
        </p:spPr>
        <p:txBody>
          <a:bodyPr wrap="none" lIns="544322"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"model_store"</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"WORK.LC_LOGIT_01"</a:t>
            </a: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35" name="Text 31"/>
          <p:cNvSpPr/>
          <p:nvPr/>
        </p:nvSpPr>
        <p:spPr>
          <a:xfrm>
            <a:off x="3200400" y="2800350"/>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7</a:t>
            </a:r>
            <a:endParaRPr lang="en-US" sz="550" dirty="0"/>
          </a:p>
        </p:txBody>
      </p:sp>
      <p:sp>
        <p:nvSpPr>
          <p:cNvPr id="36" name="Text 32"/>
          <p:cNvSpPr/>
          <p:nvPr/>
        </p:nvSpPr>
        <p:spPr>
          <a:xfrm>
            <a:off x="3443288" y="2846450"/>
            <a:ext cx="5300663" cy="114970"/>
          </a:xfrm>
          <a:prstGeom prst="rect">
            <a:avLst/>
          </a:prstGeom>
          <a:noFill/>
          <a:ln/>
        </p:spPr>
        <p:txBody>
          <a:bodyPr wrap="none" lIns="544322"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"target"</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"Default (Event='1')"</a:t>
            </a:r>
            <a:endParaRPr lang="en-US" sz="750" dirty="0"/>
          </a:p>
        </p:txBody>
      </p:sp>
      <p:sp>
        <p:nvSpPr>
          <p:cNvPr id="37" name="Text 33"/>
          <p:cNvSpPr/>
          <p:nvPr/>
        </p:nvSpPr>
        <p:spPr>
          <a:xfrm>
            <a:off x="3200400" y="3014663"/>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8</a:t>
            </a:r>
            <a:endParaRPr lang="en-US" sz="550" dirty="0"/>
          </a:p>
        </p:txBody>
      </p:sp>
      <p:sp>
        <p:nvSpPr>
          <p:cNvPr id="38" name="Text 34"/>
          <p:cNvSpPr/>
          <p:nvPr/>
        </p:nvSpPr>
        <p:spPr>
          <a:xfrm>
            <a:off x="3443288" y="3060762"/>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39" name="Text 35"/>
          <p:cNvSpPr/>
          <p:nvPr/>
        </p:nvSpPr>
        <p:spPr>
          <a:xfrm>
            <a:off x="3200400" y="3228975"/>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9</a:t>
            </a:r>
            <a:endParaRPr lang="en-US" sz="550" dirty="0"/>
          </a:p>
        </p:txBody>
      </p:sp>
      <p:sp>
        <p:nvSpPr>
          <p:cNvPr id="40" name="Text 36"/>
          <p:cNvSpPr/>
          <p:nvPr/>
        </p:nvSpPr>
        <p:spPr>
          <a:xfrm>
            <a:off x="3443288" y="3275075"/>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"log_evidence"</a:t>
            </a:r>
            <a:r>
              <a:rPr lang="en-US" sz="750" dirty="0">
                <a:solidFill>
                  <a:srgbClr val="D4D4D4"/>
                </a:solidFill>
                <a:latin typeface="Consolas" pitchFamily="34" charset="0"/>
                <a:ea typeface="Consolas" pitchFamily="34" charset="-122"/>
                <a:cs typeface="Consolas" pitchFamily="34" charset="-120"/>
              </a:rPr>
              <a:t>: {</a:t>
            </a:r>
            <a:endParaRPr lang="en-US" sz="750" dirty="0"/>
          </a:p>
        </p:txBody>
      </p:sp>
      <p:sp>
        <p:nvSpPr>
          <p:cNvPr id="41" name="Text 37"/>
          <p:cNvSpPr/>
          <p:nvPr/>
        </p:nvSpPr>
        <p:spPr>
          <a:xfrm>
            <a:off x="3200400" y="3443288"/>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10</a:t>
            </a:r>
            <a:endParaRPr lang="en-US" sz="550" dirty="0"/>
          </a:p>
        </p:txBody>
      </p:sp>
      <p:sp>
        <p:nvSpPr>
          <p:cNvPr id="42" name="Text 38"/>
          <p:cNvSpPr/>
          <p:nvPr/>
        </p:nvSpPr>
        <p:spPr>
          <a:xfrm>
            <a:off x="3443288" y="3489387"/>
            <a:ext cx="5300663" cy="114970"/>
          </a:xfrm>
          <a:prstGeom prst="rect">
            <a:avLst/>
          </a:prstGeom>
          <a:noFill/>
          <a:ln/>
        </p:spPr>
        <p:txBody>
          <a:bodyPr wrap="none" lIns="544322" tIns="0" rIns="0" bIns="0" rtlCol="0" anchor="t">
            <a:spAutoFit/>
          </a:bodyPr>
          <a:lstStyle/>
          <a:p>
            <a:pPr algn="l" indent="0" marL="0">
              <a:lnSpc>
                <a:spcPct val="92000"/>
              </a:lnSpc>
              <a:buNone/>
            </a:pPr>
            <a:r>
              <a:rPr lang="en-US" sz="750" dirty="0">
                <a:solidFill>
                  <a:srgbClr val="9CDCFE"/>
                </a:solidFill>
                <a:latin typeface="Consolas" pitchFamily="34" charset="0"/>
                <a:ea typeface="Consolas" pitchFamily="34" charset="-122"/>
                <a:cs typeface="Consolas" pitchFamily="34" charset="-120"/>
              </a:rPr>
              <a:t>"observations_read"</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CE9178"/>
                </a:solidFill>
                <a:latin typeface="Consolas" pitchFamily="34" charset="0"/>
                <a:ea typeface="Consolas" pitchFamily="34" charset="-122"/>
                <a:cs typeface="Consolas" pitchFamily="34" charset="-120"/>
              </a:rPr>
              <a:t>"1265975"</a:t>
            </a: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43" name="Shape 39"/>
          <p:cNvSpPr/>
          <p:nvPr/>
        </p:nvSpPr>
        <p:spPr>
          <a:xfrm>
            <a:off x="3200400" y="3671888"/>
            <a:ext cx="5543550" cy="214313"/>
          </a:xfrm>
          <a:prstGeom prst="rect">
            <a:avLst/>
          </a:prstGeom>
          <a:solidFill>
            <a:srgbClr val="FFDF00"/>
          </a:solidFill>
          <a:ln w="18288">
            <a:solidFill>
              <a:srgbClr val="111111"/>
            </a:solidFill>
            <a:prstDash val="solid"/>
          </a:ln>
        </p:spPr>
      </p:sp>
      <p:sp>
        <p:nvSpPr>
          <p:cNvPr id="44" name="Text 40"/>
          <p:cNvSpPr/>
          <p:nvPr/>
        </p:nvSpPr>
        <p:spPr>
          <a:xfrm>
            <a:off x="3200400" y="3671888"/>
            <a:ext cx="242888" cy="214313"/>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111111"/>
                </a:solidFill>
                <a:latin typeface="Consolas" pitchFamily="34" charset="0"/>
                <a:ea typeface="Consolas" pitchFamily="34" charset="-122"/>
                <a:cs typeface="Consolas" pitchFamily="34" charset="-120"/>
              </a:rPr>
              <a:t>11</a:t>
            </a:r>
            <a:endParaRPr lang="en-US" sz="550" dirty="0"/>
          </a:p>
        </p:txBody>
      </p:sp>
      <p:sp>
        <p:nvSpPr>
          <p:cNvPr id="45" name="Text 41"/>
          <p:cNvSpPr/>
          <p:nvPr/>
        </p:nvSpPr>
        <p:spPr>
          <a:xfrm>
            <a:off x="3443288" y="3721559"/>
            <a:ext cx="5300663" cy="114970"/>
          </a:xfrm>
          <a:prstGeom prst="rect">
            <a:avLst/>
          </a:prstGeom>
          <a:noFill/>
          <a:ln/>
        </p:spPr>
        <p:txBody>
          <a:bodyPr wrap="none" lIns="544322" tIns="0" rIns="0" bIns="0" rtlCol="0" anchor="t">
            <a:spAutoFit/>
          </a:bodyPr>
          <a:lstStyle/>
          <a:p>
            <a:pPr algn="l" indent="0" marL="0">
              <a:lnSpc>
                <a:spcPct val="92000"/>
              </a:lnSpc>
              <a:buNone/>
            </a:pPr>
            <a:r>
              <a:rPr lang="en-US" sz="700" b="1" dirty="0">
                <a:solidFill>
                  <a:srgbClr val="111111"/>
                </a:solidFill>
                <a:latin typeface="Consolas" pitchFamily="34" charset="0"/>
                <a:ea typeface="Consolas" pitchFamily="34" charset="-122"/>
                <a:cs typeface="Consolas" pitchFamily="34" charset="-120"/>
              </a:rPr>
              <a:t>"convergence"</a:t>
            </a:r>
            <a:r>
              <a:rPr lang="en-US" sz="750" dirty="0">
                <a:solidFill>
                  <a:srgbClr val="D4D4D4"/>
                </a:solidFill>
                <a:latin typeface="Consolas" pitchFamily="34" charset="0"/>
                <a:ea typeface="Consolas" pitchFamily="34" charset="-122"/>
                <a:cs typeface="Consolas" pitchFamily="34" charset="-120"/>
              </a:rPr>
              <a:t>: </a:t>
            </a:r>
            <a:r>
              <a:rPr lang="en-US" sz="700" b="1" dirty="0">
                <a:solidFill>
                  <a:srgbClr val="111111"/>
                </a:solidFill>
                <a:latin typeface="Consolas" pitchFamily="34" charset="0"/>
                <a:ea typeface="Consolas" pitchFamily="34" charset="-122"/>
                <a:cs typeface="Consolas" pitchFamily="34" charset="-120"/>
              </a:rPr>
              <a:t>"Satisfied"</a:t>
            </a:r>
            <a:endParaRPr lang="en-US" sz="700" dirty="0"/>
          </a:p>
        </p:txBody>
      </p:sp>
      <p:sp>
        <p:nvSpPr>
          <p:cNvPr id="46" name="Text 42"/>
          <p:cNvSpPr/>
          <p:nvPr/>
        </p:nvSpPr>
        <p:spPr>
          <a:xfrm>
            <a:off x="3200400" y="3900488"/>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12</a:t>
            </a:r>
            <a:endParaRPr lang="en-US" sz="550" dirty="0"/>
          </a:p>
        </p:txBody>
      </p:sp>
      <p:sp>
        <p:nvSpPr>
          <p:cNvPr id="47" name="Text 43"/>
          <p:cNvSpPr/>
          <p:nvPr/>
        </p:nvSpPr>
        <p:spPr>
          <a:xfrm>
            <a:off x="3443288" y="3946587"/>
            <a:ext cx="5300663" cy="114970"/>
          </a:xfrm>
          <a:prstGeom prst="rect">
            <a:avLst/>
          </a:prstGeom>
          <a:noFill/>
          <a:ln/>
        </p:spPr>
        <p:txBody>
          <a:bodyPr wrap="none" lIns="323215" tIns="0" rIns="0" bIns="0" rtlCol="0" anchor="t">
            <a:spAutoFit/>
          </a:bodyPr>
          <a:lstStyle/>
          <a:p>
            <a:pPr algn="l" indent="0" marL="0">
              <a:lnSpc>
                <a:spcPct val="92000"/>
              </a:lnSpc>
              <a:buNone/>
            </a:pP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48" name="Text 44"/>
          <p:cNvSpPr/>
          <p:nvPr/>
        </p:nvSpPr>
        <p:spPr>
          <a:xfrm>
            <a:off x="3200400" y="4114800"/>
            <a:ext cx="242888" cy="207169"/>
          </a:xfrm>
          <a:prstGeom prst="rect">
            <a:avLst/>
          </a:prstGeom>
          <a:noFill/>
          <a:ln/>
        </p:spPr>
        <p:txBody>
          <a:bodyPr wrap="square" lIns="0" tIns="0" rIns="76581" bIns="0" rtlCol="0" anchor="t">
            <a:spAutoFit/>
          </a:bodyPr>
          <a:lstStyle/>
          <a:p>
            <a:pPr algn="l" indent="0" marL="0">
              <a:lnSpc>
                <a:spcPct val="92000"/>
              </a:lnSpc>
              <a:buNone/>
            </a:pPr>
            <a:r>
              <a:rPr lang="en-US" sz="550" dirty="0">
                <a:solidFill>
                  <a:srgbClr val="707070"/>
                </a:solidFill>
                <a:latin typeface="Consolas" pitchFamily="34" charset="0"/>
                <a:ea typeface="Consolas" pitchFamily="34" charset="-122"/>
                <a:cs typeface="Consolas" pitchFamily="34" charset="-120"/>
              </a:rPr>
              <a:t>13</a:t>
            </a:r>
            <a:endParaRPr lang="en-US" sz="550" dirty="0"/>
          </a:p>
        </p:txBody>
      </p:sp>
      <p:sp>
        <p:nvSpPr>
          <p:cNvPr id="49" name="Text 45"/>
          <p:cNvSpPr/>
          <p:nvPr/>
        </p:nvSpPr>
        <p:spPr>
          <a:xfrm>
            <a:off x="3443288" y="4160900"/>
            <a:ext cx="5300663" cy="114970"/>
          </a:xfrm>
          <a:prstGeom prst="rect">
            <a:avLst/>
          </a:prstGeom>
          <a:noFill/>
          <a:ln/>
        </p:spPr>
        <p:txBody>
          <a:bodyPr wrap="none" lIns="110617" tIns="0" rIns="0" bIns="0" rtlCol="0" anchor="t">
            <a:spAutoFit/>
          </a:bodyPr>
          <a:lstStyle/>
          <a:p>
            <a:pPr algn="l" indent="0" marL="0">
              <a:lnSpc>
                <a:spcPct val="92000"/>
              </a:lnSpc>
              <a:buNone/>
            </a:pPr>
            <a:r>
              <a:rPr lang="en-US" sz="750" dirty="0">
                <a:solidFill>
                  <a:srgbClr val="D4D4D4"/>
                </a:solidFill>
                <a:latin typeface="Consolas" pitchFamily="34" charset="0"/>
                <a:ea typeface="Consolas" pitchFamily="34" charset="-122"/>
                <a:cs typeface="Consolas" pitchFamily="34" charset="-120"/>
              </a:rPr>
              <a:t>}</a:t>
            </a:r>
            <a:endParaRPr lang="en-US" sz="750" dirty="0"/>
          </a:p>
        </p:txBody>
      </p:sp>
      <p:sp>
        <p:nvSpPr>
          <p:cNvPr id="50" name="Shape 46"/>
          <p:cNvSpPr/>
          <p:nvPr/>
        </p:nvSpPr>
        <p:spPr>
          <a:xfrm>
            <a:off x="0" y="4814888"/>
            <a:ext cx="9144000" cy="328613"/>
          </a:xfrm>
          <a:prstGeom prst="rect">
            <a:avLst/>
          </a:prstGeom>
          <a:solidFill>
            <a:srgbClr val="0055FF"/>
          </a:solidFill>
          <a:ln/>
        </p:spPr>
      </p:sp>
      <p:sp>
        <p:nvSpPr>
          <p:cNvPr id="51" name="Shape 47"/>
          <p:cNvSpPr/>
          <p:nvPr/>
        </p:nvSpPr>
        <p:spPr>
          <a:xfrm>
            <a:off x="0" y="4814888"/>
            <a:ext cx="9144000" cy="28575"/>
          </a:xfrm>
          <a:prstGeom prst="rect">
            <a:avLst/>
          </a:prstGeom>
          <a:solidFill>
            <a:srgbClr val="111111"/>
          </a:solidFill>
          <a:ln/>
        </p:spPr>
      </p:sp>
      <p:sp>
        <p:nvSpPr>
          <p:cNvPr id="52" name="Text 48"/>
          <p:cNvSpPr/>
          <p:nvPr/>
        </p:nvSpPr>
        <p:spPr>
          <a:xfrm>
            <a:off x="271463" y="4918472"/>
            <a:ext cx="1092994" cy="121444"/>
          </a:xfrm>
          <a:prstGeom prst="rect">
            <a:avLst/>
          </a:prstGeom>
          <a:noFill/>
          <a:ln/>
        </p:spPr>
        <p:txBody>
          <a:bodyPr wrap="non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STEP 3: THE TRACE</a:t>
            </a:r>
            <a:endParaRPr lang="en-US" sz="700" dirty="0"/>
          </a:p>
        </p:txBody>
      </p:sp>
      <p:sp>
        <p:nvSpPr>
          <p:cNvPr id="53" name="Text 49"/>
          <p:cNvSpPr/>
          <p:nvPr/>
        </p:nvSpPr>
        <p:spPr>
          <a:xfrm>
            <a:off x="5139928" y="4918472"/>
            <a:ext cx="3732609"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SOURCE: STAGE1_EXTRACTION/OUTPUT/EXECUTION_TRACE.JSON</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685800"/>
          </a:xfrm>
          <a:prstGeom prst="rect">
            <a:avLst/>
          </a:prstGeom>
          <a:solidFill>
            <a:srgbClr val="000000">
              <a:alpha val="0"/>
            </a:srgbClr>
          </a:solidFill>
          <a:ln/>
        </p:spPr>
      </p:sp>
      <p:sp>
        <p:nvSpPr>
          <p:cNvPr id="5" name="Shape 1"/>
          <p:cNvSpPr/>
          <p:nvPr/>
        </p:nvSpPr>
        <p:spPr>
          <a:xfrm>
            <a:off x="271463" y="871538"/>
            <a:ext cx="8601075" cy="28575"/>
          </a:xfrm>
          <a:prstGeom prst="rect">
            <a:avLst/>
          </a:prstGeom>
          <a:solidFill>
            <a:srgbClr val="111111"/>
          </a:solidFill>
          <a:ln/>
        </p:spPr>
      </p:sp>
      <p:sp>
        <p:nvSpPr>
          <p:cNvPr id="6" name="Text 2"/>
          <p:cNvSpPr/>
          <p:nvPr/>
        </p:nvSpPr>
        <p:spPr>
          <a:xfrm>
            <a:off x="271463" y="214313"/>
            <a:ext cx="5175647" cy="375047"/>
          </a:xfrm>
          <a:prstGeom prst="rect">
            <a:avLst/>
          </a:prstGeom>
          <a:noFill/>
          <a:ln/>
        </p:spPr>
        <p:txBody>
          <a:bodyPr wrap="none" lIns="0" tIns="0" rIns="0" bIns="0" rtlCol="0" anchor="t">
            <a:spAutoFit/>
          </a:bodyPr>
          <a:lstStyle/>
          <a:p>
            <a:pPr algn="l" indent="0" marL="0">
              <a:lnSpc>
                <a:spcPct val="84000"/>
              </a:lnSpc>
              <a:buNone/>
            </a:pPr>
            <a:r>
              <a:rPr lang="en-US" sz="2550" b="1" dirty="0">
                <a:solidFill>
                  <a:srgbClr val="111111"/>
                </a:solidFill>
                <a:latin typeface="Oswald SemiBold" pitchFamily="34" charset="0"/>
                <a:ea typeface="Oswald SemiBold" pitchFamily="34" charset="-122"/>
                <a:cs typeface="Oswald SemiBold" pitchFamily="34" charset="-120"/>
              </a:rPr>
              <a:t>PROOF IN ACTION: SEMANTIC MODEL</a:t>
            </a:r>
            <a:endParaRPr lang="en-US" sz="2550" dirty="0"/>
          </a:p>
        </p:txBody>
      </p:sp>
      <p:sp>
        <p:nvSpPr>
          <p:cNvPr id="7" name="Text 3"/>
          <p:cNvSpPr/>
          <p:nvPr/>
        </p:nvSpPr>
        <p:spPr>
          <a:xfrm>
            <a:off x="271463" y="632222"/>
            <a:ext cx="5175647" cy="192881"/>
          </a:xfrm>
          <a:prstGeom prst="rect">
            <a:avLst/>
          </a:prstGeom>
          <a:noFill/>
          <a:ln/>
        </p:spPr>
        <p:txBody>
          <a:bodyPr wrap="square" lIns="0" tIns="0" rIns="0" bIns="0" rtlCol="0" anchor="t">
            <a:spAutoFit/>
          </a:bodyPr>
          <a:lstStyle/>
          <a:p>
            <a:pPr algn="l" indent="0" marL="0">
              <a:buNone/>
            </a:pPr>
            <a:r>
              <a:rPr lang="en-US" sz="1100" b="1" dirty="0">
                <a:solidFill>
                  <a:srgbClr val="0055FF"/>
                </a:solidFill>
                <a:latin typeface="Inter Bold" pitchFamily="34" charset="0"/>
                <a:ea typeface="Inter Bold" pitchFamily="34" charset="-122"/>
                <a:cs typeface="Inter Bold" pitchFamily="34" charset="-120"/>
              </a:rPr>
              <a:t>Step 2: Turn SAS behavior into a Python-ready contract.</a:t>
            </a:r>
            <a:endParaRPr lang="en-US" sz="1100" dirty="0"/>
          </a:p>
        </p:txBody>
      </p:sp>
      <p:sp>
        <p:nvSpPr>
          <p:cNvPr id="8" name="Shape 4"/>
          <p:cNvSpPr/>
          <p:nvPr/>
        </p:nvSpPr>
        <p:spPr>
          <a:xfrm>
            <a:off x="271463" y="1071563"/>
            <a:ext cx="2571750" cy="1175761"/>
          </a:xfrm>
          <a:prstGeom prst="rect">
            <a:avLst/>
          </a:prstGeom>
          <a:solidFill>
            <a:srgbClr val="FFFFFF"/>
          </a:solidFill>
          <a:ln w="18288">
            <a:solidFill>
              <a:srgbClr val="111111"/>
            </a:solidFill>
            <a:prstDash val="solid"/>
          </a:ln>
        </p:spPr>
      </p:sp>
      <p:sp>
        <p:nvSpPr>
          <p:cNvPr id="9" name="Text 5"/>
          <p:cNvSpPr/>
          <p:nvPr/>
        </p:nvSpPr>
        <p:spPr>
          <a:xfrm>
            <a:off x="414338" y="1214438"/>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ACTION</a:t>
            </a:r>
            <a:endParaRPr lang="en-US" sz="1150" dirty="0"/>
          </a:p>
        </p:txBody>
      </p:sp>
      <p:sp>
        <p:nvSpPr>
          <p:cNvPr id="10" name="Text 6"/>
          <p:cNvSpPr/>
          <p:nvPr/>
        </p:nvSpPr>
        <p:spPr>
          <a:xfrm>
            <a:off x="414338" y="1532334"/>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Copilot models the math and transformations explicitly, preserving ownership.</a:t>
            </a:r>
            <a:endParaRPr lang="en-US" sz="950" dirty="0"/>
          </a:p>
        </p:txBody>
      </p:sp>
      <p:sp>
        <p:nvSpPr>
          <p:cNvPr id="11" name="Shape 7"/>
          <p:cNvSpPr/>
          <p:nvPr/>
        </p:nvSpPr>
        <p:spPr>
          <a:xfrm>
            <a:off x="271463" y="2375911"/>
            <a:ext cx="2571750" cy="1797267"/>
          </a:xfrm>
          <a:prstGeom prst="rect">
            <a:avLst/>
          </a:prstGeom>
          <a:solidFill>
            <a:srgbClr val="FFFFFF"/>
          </a:solidFill>
          <a:ln w="18288">
            <a:solidFill>
              <a:srgbClr val="111111"/>
            </a:solidFill>
            <a:prstDash val="solid"/>
          </a:ln>
        </p:spPr>
      </p:sp>
      <p:sp>
        <p:nvSpPr>
          <p:cNvPr id="12" name="Text 8"/>
          <p:cNvSpPr/>
          <p:nvPr/>
        </p:nvSpPr>
        <p:spPr>
          <a:xfrm>
            <a:off x="414338" y="2518786"/>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ARTIFACT CREATED</a:t>
            </a:r>
            <a:endParaRPr lang="en-US" sz="1150" dirty="0"/>
          </a:p>
        </p:txBody>
      </p:sp>
      <p:sp>
        <p:nvSpPr>
          <p:cNvPr id="13" name="Text 9"/>
          <p:cNvSpPr/>
          <p:nvPr/>
        </p:nvSpPr>
        <p:spPr>
          <a:xfrm>
            <a:off x="414338" y="2836683"/>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The semantic IR prevents the generator from improvising formulas.</a:t>
            </a:r>
            <a:endParaRPr lang="en-US" sz="950" dirty="0"/>
          </a:p>
        </p:txBody>
      </p:sp>
      <p:sp>
        <p:nvSpPr>
          <p:cNvPr id="14" name="Shape 10"/>
          <p:cNvSpPr/>
          <p:nvPr/>
        </p:nvSpPr>
        <p:spPr>
          <a:xfrm>
            <a:off x="414338" y="3523097"/>
            <a:ext cx="2286000" cy="464344"/>
          </a:xfrm>
          <a:prstGeom prst="rect">
            <a:avLst/>
          </a:prstGeom>
          <a:solidFill>
            <a:srgbClr val="FFF7CC"/>
          </a:solidFill>
          <a:ln w="18288">
            <a:solidFill>
              <a:srgbClr val="111111"/>
            </a:solidFill>
            <a:prstDash val="solid"/>
          </a:ln>
        </p:spPr>
      </p:sp>
      <p:sp>
        <p:nvSpPr>
          <p:cNvPr id="15" name="Text 11"/>
          <p:cNvSpPr/>
          <p:nvPr/>
        </p:nvSpPr>
        <p:spPr>
          <a:xfrm>
            <a:off x="414338" y="3523097"/>
            <a:ext cx="2286000" cy="464344"/>
          </a:xfrm>
          <a:prstGeom prst="rect">
            <a:avLst/>
          </a:prstGeom>
          <a:noFill/>
          <a:ln/>
        </p:spPr>
        <p:txBody>
          <a:bodyPr wrap="square" lIns="102108" tIns="102108" rIns="102108" bIns="102108" rtlCol="0" anchor="t">
            <a:spAutoFit/>
          </a:bodyPr>
          <a:lstStyle/>
          <a:p>
            <a:pPr algn="l" indent="0" marL="0">
              <a:buNone/>
            </a:pPr>
            <a:r>
              <a:rPr lang="en-US" sz="700" b="1" dirty="0">
                <a:solidFill>
                  <a:srgbClr val="B42318"/>
                </a:solidFill>
                <a:latin typeface="JetBrains Mono Bold" pitchFamily="34" charset="0"/>
                <a:ea typeface="JetBrains Mono Bold" pitchFamily="34" charset="-122"/>
                <a:cs typeface="JetBrains Mono Bold" pitchFamily="34" charset="-120"/>
              </a:rPr>
              <a:t>artifacts/semantic_ir/LC-LOGIT-01.json</a:t>
            </a:r>
            <a:endParaRPr lang="en-US" sz="700" dirty="0"/>
          </a:p>
        </p:txBody>
      </p:sp>
      <p:sp>
        <p:nvSpPr>
          <p:cNvPr id="16" name="Shape 12"/>
          <p:cNvSpPr/>
          <p:nvPr/>
        </p:nvSpPr>
        <p:spPr>
          <a:xfrm>
            <a:off x="3071813" y="1071563"/>
            <a:ext cx="5800725" cy="3571875"/>
          </a:xfrm>
          <a:prstGeom prst="rect">
            <a:avLst/>
          </a:prstGeom>
          <a:solidFill>
            <a:srgbClr val="1E1E1E"/>
          </a:solidFill>
          <a:ln w="27432">
            <a:solidFill>
              <a:srgbClr val="111111"/>
            </a:solidFill>
            <a:prstDash val="solid"/>
          </a:ln>
        </p:spPr>
      </p:sp>
      <p:sp>
        <p:nvSpPr>
          <p:cNvPr id="17" name="Shape 13"/>
          <p:cNvSpPr/>
          <p:nvPr/>
        </p:nvSpPr>
        <p:spPr>
          <a:xfrm>
            <a:off x="3071813" y="1071563"/>
            <a:ext cx="5800725" cy="328613"/>
          </a:xfrm>
          <a:prstGeom prst="rect">
            <a:avLst/>
          </a:prstGeom>
          <a:solidFill>
            <a:srgbClr val="323233"/>
          </a:solidFill>
          <a:ln/>
        </p:spPr>
      </p:sp>
      <p:sp>
        <p:nvSpPr>
          <p:cNvPr id="18" name="Shape 14"/>
          <p:cNvSpPr/>
          <p:nvPr/>
        </p:nvSpPr>
        <p:spPr>
          <a:xfrm>
            <a:off x="3071813" y="1385888"/>
            <a:ext cx="5800725" cy="14288"/>
          </a:xfrm>
          <a:prstGeom prst="rect">
            <a:avLst/>
          </a:prstGeom>
          <a:solidFill>
            <a:srgbClr val="111111"/>
          </a:solidFill>
          <a:ln/>
        </p:spPr>
      </p:sp>
      <p:sp>
        <p:nvSpPr>
          <p:cNvPr id="19" name="Shape 15"/>
          <p:cNvSpPr/>
          <p:nvPr/>
        </p:nvSpPr>
        <p:spPr>
          <a:xfrm>
            <a:off x="3729038" y="1078706"/>
            <a:ext cx="1257300" cy="314325"/>
          </a:xfrm>
          <a:prstGeom prst="rect">
            <a:avLst/>
          </a:prstGeom>
          <a:solidFill>
            <a:srgbClr val="1E1E1E"/>
          </a:solidFill>
          <a:ln/>
        </p:spPr>
      </p:sp>
      <p:sp>
        <p:nvSpPr>
          <p:cNvPr id="20" name="Shape 16"/>
          <p:cNvSpPr/>
          <p:nvPr/>
        </p:nvSpPr>
        <p:spPr>
          <a:xfrm>
            <a:off x="3729038" y="1078706"/>
            <a:ext cx="1257300" cy="28575"/>
          </a:xfrm>
          <a:prstGeom prst="rect">
            <a:avLst/>
          </a:prstGeom>
          <a:solidFill>
            <a:srgbClr val="0055FF"/>
          </a:solidFill>
          <a:ln/>
        </p:spPr>
      </p:sp>
      <p:sp>
        <p:nvSpPr>
          <p:cNvPr id="21" name="Text 17"/>
          <p:cNvSpPr/>
          <p:nvPr/>
        </p:nvSpPr>
        <p:spPr>
          <a:xfrm>
            <a:off x="3729038" y="1078706"/>
            <a:ext cx="1257300" cy="314325"/>
          </a:xfrm>
          <a:prstGeom prst="rect">
            <a:avLst/>
          </a:prstGeom>
          <a:noFill/>
          <a:ln/>
        </p:spPr>
        <p:txBody>
          <a:bodyPr wrap="none" lIns="204089" tIns="102108" rIns="204089"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LC-LOGIT-01.json</a:t>
            </a:r>
            <a:endParaRPr lang="en-US" sz="750" dirty="0"/>
          </a:p>
        </p:txBody>
      </p:sp>
      <p:sp>
        <p:nvSpPr>
          <p:cNvPr id="22" name="Text 18"/>
          <p:cNvSpPr/>
          <p:nvPr/>
        </p:nvSpPr>
        <p:spPr>
          <a:xfrm>
            <a:off x="7736681" y="1184077"/>
            <a:ext cx="1035844" cy="103584"/>
          </a:xfrm>
          <a:prstGeom prst="rect">
            <a:avLst/>
          </a:prstGeom>
          <a:noFill/>
          <a:ln/>
        </p:spPr>
        <p:txBody>
          <a:bodyPr wrap="none" lIns="0" tIns="0" rIns="0" bIns="0" rtlCol="0" anchor="t">
            <a:spAutoFit/>
          </a:bodyPr>
          <a:lstStyle/>
          <a:p>
            <a:pPr algn="l" indent="0" marL="0">
              <a:buNone/>
            </a:pPr>
            <a:r>
              <a:rPr lang="en-US" sz="600" b="1" spc="1" kern="0" dirty="0">
                <a:solidFill>
                  <a:srgbClr val="9CDCFE"/>
                </a:solidFill>
                <a:latin typeface="Inter Bold" pitchFamily="34" charset="0"/>
                <a:ea typeface="Inter Bold" pitchFamily="34" charset="-122"/>
                <a:cs typeface="Inter Bold" pitchFamily="34" charset="-120"/>
              </a:rPr>
              <a:t>SEMANTIC ARTIFACT</a:t>
            </a:r>
            <a:endParaRPr lang="en-US" sz="600" dirty="0"/>
          </a:p>
        </p:txBody>
      </p:sp>
      <p:sp>
        <p:nvSpPr>
          <p:cNvPr id="23" name="Text 19"/>
          <p:cNvSpPr/>
          <p:nvPr/>
        </p:nvSpPr>
        <p:spPr>
          <a:xfrm>
            <a:off x="3271838" y="1582341"/>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24" name="Text 20"/>
          <p:cNvSpPr/>
          <p:nvPr/>
        </p:nvSpPr>
        <p:spPr>
          <a:xfrm>
            <a:off x="3271838" y="1764506"/>
            <a:ext cx="6429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"step_id"</a:t>
            </a:r>
            <a:endParaRPr lang="en-US" sz="900" dirty="0"/>
          </a:p>
        </p:txBody>
      </p:sp>
      <p:sp>
        <p:nvSpPr>
          <p:cNvPr id="25" name="Text 21"/>
          <p:cNvSpPr/>
          <p:nvPr/>
        </p:nvSpPr>
        <p:spPr>
          <a:xfrm>
            <a:off x="3914775" y="1764506"/>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26" name="Text 22"/>
          <p:cNvSpPr/>
          <p:nvPr/>
        </p:nvSpPr>
        <p:spPr>
          <a:xfrm>
            <a:off x="4057650" y="1764506"/>
            <a:ext cx="42862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"T003"</a:t>
            </a:r>
            <a:endParaRPr lang="en-US" sz="900" dirty="0"/>
          </a:p>
        </p:txBody>
      </p:sp>
      <p:sp>
        <p:nvSpPr>
          <p:cNvPr id="27" name="Text 23"/>
          <p:cNvSpPr/>
          <p:nvPr/>
        </p:nvSpPr>
        <p:spPr>
          <a:xfrm>
            <a:off x="4486275" y="1764506"/>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28" name="Text 24"/>
          <p:cNvSpPr/>
          <p:nvPr/>
        </p:nvSpPr>
        <p:spPr>
          <a:xfrm>
            <a:off x="3271838" y="1946672"/>
            <a:ext cx="42862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"name"</a:t>
            </a:r>
            <a:endParaRPr lang="en-US" sz="900" dirty="0"/>
          </a:p>
        </p:txBody>
      </p:sp>
      <p:sp>
        <p:nvSpPr>
          <p:cNvPr id="29" name="Text 25"/>
          <p:cNvSpPr/>
          <p:nvPr/>
        </p:nvSpPr>
        <p:spPr>
          <a:xfrm>
            <a:off x="3700463" y="1946672"/>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0" name="Text 26"/>
          <p:cNvSpPr/>
          <p:nvPr/>
        </p:nvSpPr>
        <p:spPr>
          <a:xfrm>
            <a:off x="3843338" y="1946672"/>
            <a:ext cx="214312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"logistic_link_transformation"</a:t>
            </a:r>
            <a:endParaRPr lang="en-US" sz="900" dirty="0"/>
          </a:p>
        </p:txBody>
      </p:sp>
      <p:sp>
        <p:nvSpPr>
          <p:cNvPr id="31" name="Text 27"/>
          <p:cNvSpPr/>
          <p:nvPr/>
        </p:nvSpPr>
        <p:spPr>
          <a:xfrm>
            <a:off x="5986463" y="1946672"/>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2" name="Text 28"/>
          <p:cNvSpPr/>
          <p:nvPr/>
        </p:nvSpPr>
        <p:spPr>
          <a:xfrm>
            <a:off x="3271838" y="2128838"/>
            <a:ext cx="92868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"description"</a:t>
            </a:r>
            <a:endParaRPr lang="en-US" sz="900" dirty="0"/>
          </a:p>
        </p:txBody>
      </p:sp>
      <p:sp>
        <p:nvSpPr>
          <p:cNvPr id="33" name="Text 29"/>
          <p:cNvSpPr/>
          <p:nvPr/>
        </p:nvSpPr>
        <p:spPr>
          <a:xfrm>
            <a:off x="4200525" y="2128838"/>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4" name="Text 30"/>
          <p:cNvSpPr/>
          <p:nvPr/>
        </p:nvSpPr>
        <p:spPr>
          <a:xfrm>
            <a:off x="4343400" y="2128838"/>
            <a:ext cx="321468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"Calculate probability with stability guards"</a:t>
            </a:r>
            <a:endParaRPr lang="en-US" sz="900" dirty="0"/>
          </a:p>
        </p:txBody>
      </p:sp>
      <p:sp>
        <p:nvSpPr>
          <p:cNvPr id="35" name="Text 31"/>
          <p:cNvSpPr/>
          <p:nvPr/>
        </p:nvSpPr>
        <p:spPr>
          <a:xfrm>
            <a:off x="7558088" y="2128838"/>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6" name="Text 32"/>
          <p:cNvSpPr/>
          <p:nvPr/>
        </p:nvSpPr>
        <p:spPr>
          <a:xfrm>
            <a:off x="3271838" y="2339578"/>
            <a:ext cx="6429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"formula"</a:t>
            </a:r>
            <a:endParaRPr lang="en-US" sz="900" dirty="0"/>
          </a:p>
        </p:txBody>
      </p:sp>
      <p:sp>
        <p:nvSpPr>
          <p:cNvPr id="37" name="Text 33"/>
          <p:cNvSpPr/>
          <p:nvPr/>
        </p:nvSpPr>
        <p:spPr>
          <a:xfrm>
            <a:off x="3914775" y="2339578"/>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38" name="Shape 34"/>
          <p:cNvSpPr/>
          <p:nvPr/>
        </p:nvSpPr>
        <p:spPr>
          <a:xfrm>
            <a:off x="4057650" y="2300288"/>
            <a:ext cx="2414588" cy="239316"/>
          </a:xfrm>
          <a:prstGeom prst="rect">
            <a:avLst/>
          </a:prstGeom>
          <a:solidFill>
            <a:srgbClr val="FFDF00"/>
          </a:solidFill>
          <a:ln w="18288">
            <a:solidFill>
              <a:srgbClr val="111111"/>
            </a:solidFill>
            <a:prstDash val="solid"/>
          </a:ln>
        </p:spPr>
      </p:sp>
      <p:sp>
        <p:nvSpPr>
          <p:cNvPr id="39" name="Text 35"/>
          <p:cNvSpPr/>
          <p:nvPr/>
        </p:nvSpPr>
        <p:spPr>
          <a:xfrm>
            <a:off x="4107656" y="2325291"/>
            <a:ext cx="2286000" cy="160734"/>
          </a:xfrm>
          <a:prstGeom prst="rect">
            <a:avLst/>
          </a:prstGeom>
          <a:noFill/>
          <a:ln/>
        </p:spPr>
        <p:txBody>
          <a:bodyPr wrap="none" lIns="0" tIns="0" rIns="0" bIns="0" rtlCol="0" anchor="t">
            <a:spAutoFit/>
          </a:bodyPr>
          <a:lstStyle/>
          <a:p>
            <a:pPr algn="l" indent="0" marL="0">
              <a:lnSpc>
                <a:spcPct val="120000"/>
              </a:lnSpc>
              <a:buNone/>
            </a:pPr>
            <a:r>
              <a:rPr lang="en-US" sz="850" b="1" dirty="0">
                <a:solidFill>
                  <a:srgbClr val="CE9178"/>
                </a:solidFill>
                <a:latin typeface="JetBrains Mono Bold" pitchFamily="34" charset="0"/>
                <a:ea typeface="JetBrains Mono Bold" pitchFamily="34" charset="-122"/>
                <a:cs typeface="JetBrains Mono Bold" pitchFamily="34" charset="-120"/>
              </a:rPr>
              <a:t>"phat = 1.0 / (1.0 + exp(-eta))"</a:t>
            </a:r>
            <a:endParaRPr lang="en-US" sz="850" dirty="0"/>
          </a:p>
        </p:txBody>
      </p:sp>
      <p:sp>
        <p:nvSpPr>
          <p:cNvPr id="40" name="Text 36"/>
          <p:cNvSpPr/>
          <p:nvPr/>
        </p:nvSpPr>
        <p:spPr>
          <a:xfrm>
            <a:off x="6443663" y="2325291"/>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1" name="Text 37"/>
          <p:cNvSpPr/>
          <p:nvPr/>
        </p:nvSpPr>
        <p:spPr>
          <a:xfrm>
            <a:off x="3271838" y="2521744"/>
            <a:ext cx="100012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"target_event"</a:t>
            </a:r>
            <a:endParaRPr lang="en-US" sz="900" dirty="0"/>
          </a:p>
        </p:txBody>
      </p:sp>
      <p:sp>
        <p:nvSpPr>
          <p:cNvPr id="42" name="Text 38"/>
          <p:cNvSpPr/>
          <p:nvPr/>
        </p:nvSpPr>
        <p:spPr>
          <a:xfrm>
            <a:off x="4271963" y="2521744"/>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3" name="Text 39"/>
          <p:cNvSpPr/>
          <p:nvPr/>
        </p:nvSpPr>
        <p:spPr>
          <a:xfrm>
            <a:off x="4414838" y="2521744"/>
            <a:ext cx="785813"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"Default=1"</a:t>
            </a:r>
            <a:endParaRPr lang="en-US" sz="900" dirty="0"/>
          </a:p>
        </p:txBody>
      </p:sp>
      <p:sp>
        <p:nvSpPr>
          <p:cNvPr id="44" name="Text 40"/>
          <p:cNvSpPr/>
          <p:nvPr/>
        </p:nvSpPr>
        <p:spPr>
          <a:xfrm>
            <a:off x="5200650" y="2521744"/>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5" name="Text 41"/>
          <p:cNvSpPr/>
          <p:nvPr/>
        </p:nvSpPr>
        <p:spPr>
          <a:xfrm>
            <a:off x="3271838" y="2703909"/>
            <a:ext cx="785813"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9CDCFE"/>
                </a:solidFill>
                <a:latin typeface="JetBrains Mono" pitchFamily="34" charset="0"/>
                <a:ea typeface="JetBrains Mono" pitchFamily="34" charset="-122"/>
                <a:cs typeface="JetBrains Mono" pitchFamily="34" charset="-120"/>
              </a:rPr>
              <a:t>"direction"</a:t>
            </a:r>
            <a:endParaRPr lang="en-US" sz="900" dirty="0"/>
          </a:p>
        </p:txBody>
      </p:sp>
      <p:sp>
        <p:nvSpPr>
          <p:cNvPr id="46" name="Text 42"/>
          <p:cNvSpPr/>
          <p:nvPr/>
        </p:nvSpPr>
        <p:spPr>
          <a:xfrm>
            <a:off x="4057650" y="2703909"/>
            <a:ext cx="142875"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7" name="Text 43"/>
          <p:cNvSpPr/>
          <p:nvPr/>
        </p:nvSpPr>
        <p:spPr>
          <a:xfrm>
            <a:off x="4200525" y="2703909"/>
            <a:ext cx="857250"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CE9178"/>
                </a:solidFill>
                <a:latin typeface="JetBrains Mono" pitchFamily="34" charset="0"/>
                <a:ea typeface="JetBrains Mono" pitchFamily="34" charset="-122"/>
                <a:cs typeface="JetBrains Mono" pitchFamily="34" charset="-120"/>
              </a:rPr>
              <a:t>"DESCENDING"</a:t>
            </a:r>
            <a:endParaRPr lang="en-US" sz="900" dirty="0"/>
          </a:p>
        </p:txBody>
      </p:sp>
      <p:sp>
        <p:nvSpPr>
          <p:cNvPr id="48" name="Text 44"/>
          <p:cNvSpPr/>
          <p:nvPr/>
        </p:nvSpPr>
        <p:spPr>
          <a:xfrm>
            <a:off x="3271838" y="2886075"/>
            <a:ext cx="71438" cy="160734"/>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49" name="Shape 45"/>
          <p:cNvSpPr/>
          <p:nvPr/>
        </p:nvSpPr>
        <p:spPr>
          <a:xfrm>
            <a:off x="0" y="4814888"/>
            <a:ext cx="9144000" cy="328613"/>
          </a:xfrm>
          <a:prstGeom prst="rect">
            <a:avLst/>
          </a:prstGeom>
          <a:solidFill>
            <a:srgbClr val="0055FF"/>
          </a:solidFill>
          <a:ln/>
        </p:spPr>
      </p:sp>
      <p:sp>
        <p:nvSpPr>
          <p:cNvPr id="50" name="Shape 46"/>
          <p:cNvSpPr/>
          <p:nvPr/>
        </p:nvSpPr>
        <p:spPr>
          <a:xfrm>
            <a:off x="0" y="4814888"/>
            <a:ext cx="9144000" cy="28575"/>
          </a:xfrm>
          <a:prstGeom prst="rect">
            <a:avLst/>
          </a:prstGeom>
          <a:solidFill>
            <a:srgbClr val="111111"/>
          </a:solidFill>
          <a:ln/>
        </p:spPr>
      </p:sp>
      <p:sp>
        <p:nvSpPr>
          <p:cNvPr id="51" name="Text 47"/>
          <p:cNvSpPr/>
          <p:nvPr/>
        </p:nvSpPr>
        <p:spPr>
          <a:xfrm>
            <a:off x="271463" y="4918472"/>
            <a:ext cx="1746647"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STEP 4: THE SEMANTIC MODEL</a:t>
            </a:r>
            <a:endParaRPr lang="en-US" sz="700" dirty="0"/>
          </a:p>
        </p:txBody>
      </p:sp>
      <p:sp>
        <p:nvSpPr>
          <p:cNvPr id="52" name="Text 48"/>
          <p:cNvSpPr/>
          <p:nvPr/>
        </p:nvSpPr>
        <p:spPr>
          <a:xfrm>
            <a:off x="5811441" y="4918472"/>
            <a:ext cx="3061097"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SOURCE: ARTIFACTS/SEMANTIC_IR/LC-LOGIT-01.JSON</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685800"/>
          </a:xfrm>
          <a:prstGeom prst="rect">
            <a:avLst/>
          </a:prstGeom>
          <a:solidFill>
            <a:srgbClr val="000000">
              <a:alpha val="0"/>
            </a:srgbClr>
          </a:solidFill>
          <a:ln/>
        </p:spPr>
      </p:sp>
      <p:sp>
        <p:nvSpPr>
          <p:cNvPr id="5" name="Shape 1"/>
          <p:cNvSpPr/>
          <p:nvPr/>
        </p:nvSpPr>
        <p:spPr>
          <a:xfrm>
            <a:off x="271463" y="871538"/>
            <a:ext cx="8601075" cy="28575"/>
          </a:xfrm>
          <a:prstGeom prst="rect">
            <a:avLst/>
          </a:prstGeom>
          <a:solidFill>
            <a:srgbClr val="111111"/>
          </a:solidFill>
          <a:ln/>
        </p:spPr>
      </p:sp>
      <p:sp>
        <p:nvSpPr>
          <p:cNvPr id="6" name="Text 2"/>
          <p:cNvSpPr/>
          <p:nvPr/>
        </p:nvSpPr>
        <p:spPr>
          <a:xfrm>
            <a:off x="271463" y="214313"/>
            <a:ext cx="4954191" cy="375047"/>
          </a:xfrm>
          <a:prstGeom prst="rect">
            <a:avLst/>
          </a:prstGeom>
          <a:noFill/>
          <a:ln/>
        </p:spPr>
        <p:txBody>
          <a:bodyPr wrap="none" lIns="0" tIns="0" rIns="0" bIns="0" rtlCol="0" anchor="t">
            <a:spAutoFit/>
          </a:bodyPr>
          <a:lstStyle/>
          <a:p>
            <a:pPr algn="l" indent="0" marL="0">
              <a:lnSpc>
                <a:spcPct val="84000"/>
              </a:lnSpc>
              <a:buNone/>
            </a:pPr>
            <a:r>
              <a:rPr lang="en-US" sz="2550" b="1" dirty="0">
                <a:solidFill>
                  <a:srgbClr val="111111"/>
                </a:solidFill>
                <a:latin typeface="Oswald SemiBold" pitchFamily="34" charset="0"/>
                <a:ea typeface="Oswald SemiBold" pitchFamily="34" charset="-122"/>
                <a:cs typeface="Oswald SemiBold" pitchFamily="34" charset="-120"/>
              </a:rPr>
              <a:t>PROOF IN ACTION: PYTHON RESULT</a:t>
            </a:r>
            <a:endParaRPr lang="en-US" sz="2550" dirty="0"/>
          </a:p>
        </p:txBody>
      </p:sp>
      <p:sp>
        <p:nvSpPr>
          <p:cNvPr id="7" name="Text 3"/>
          <p:cNvSpPr/>
          <p:nvPr/>
        </p:nvSpPr>
        <p:spPr>
          <a:xfrm>
            <a:off x="271463" y="632222"/>
            <a:ext cx="4954191" cy="192881"/>
          </a:xfrm>
          <a:prstGeom prst="rect">
            <a:avLst/>
          </a:prstGeom>
          <a:noFill/>
          <a:ln/>
        </p:spPr>
        <p:txBody>
          <a:bodyPr wrap="square" lIns="0" tIns="0" rIns="0" bIns="0" rtlCol="0" anchor="t">
            <a:spAutoFit/>
          </a:bodyPr>
          <a:lstStyle/>
          <a:p>
            <a:pPr algn="l" indent="0" marL="0">
              <a:buNone/>
            </a:pPr>
            <a:r>
              <a:rPr lang="en-US" sz="1100" b="1" dirty="0">
                <a:solidFill>
                  <a:srgbClr val="0055FF"/>
                </a:solidFill>
                <a:latin typeface="Inter Bold" pitchFamily="34" charset="0"/>
                <a:ea typeface="Inter Bold" pitchFamily="34" charset="-122"/>
                <a:cs typeface="Inter Bold" pitchFamily="34" charset="-120"/>
              </a:rPr>
              <a:t>Step 3: Generate code from the semantic rules.</a:t>
            </a:r>
            <a:endParaRPr lang="en-US" sz="1100" dirty="0"/>
          </a:p>
        </p:txBody>
      </p:sp>
      <p:sp>
        <p:nvSpPr>
          <p:cNvPr id="8" name="Shape 4"/>
          <p:cNvSpPr/>
          <p:nvPr/>
        </p:nvSpPr>
        <p:spPr>
          <a:xfrm>
            <a:off x="271463" y="1071563"/>
            <a:ext cx="2571750" cy="1175761"/>
          </a:xfrm>
          <a:prstGeom prst="rect">
            <a:avLst/>
          </a:prstGeom>
          <a:solidFill>
            <a:srgbClr val="FFFFFF"/>
          </a:solidFill>
          <a:ln w="18288">
            <a:solidFill>
              <a:srgbClr val="111111"/>
            </a:solidFill>
            <a:prstDash val="solid"/>
          </a:ln>
        </p:spPr>
      </p:sp>
      <p:sp>
        <p:nvSpPr>
          <p:cNvPr id="9" name="Text 5"/>
          <p:cNvSpPr/>
          <p:nvPr/>
        </p:nvSpPr>
        <p:spPr>
          <a:xfrm>
            <a:off x="414338" y="1214438"/>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ACTION</a:t>
            </a:r>
            <a:endParaRPr lang="en-US" sz="1150" dirty="0"/>
          </a:p>
        </p:txBody>
      </p:sp>
      <p:sp>
        <p:nvSpPr>
          <p:cNvPr id="10" name="Text 6"/>
          <p:cNvSpPr/>
          <p:nvPr/>
        </p:nvSpPr>
        <p:spPr>
          <a:xfrm>
            <a:off x="414338" y="1532334"/>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Copilot translates the semantic IR into pure Python and cites the original SAS.</a:t>
            </a:r>
            <a:endParaRPr lang="en-US" sz="950" dirty="0"/>
          </a:p>
        </p:txBody>
      </p:sp>
      <p:sp>
        <p:nvSpPr>
          <p:cNvPr id="11" name="Shape 7"/>
          <p:cNvSpPr/>
          <p:nvPr/>
        </p:nvSpPr>
        <p:spPr>
          <a:xfrm>
            <a:off x="271463" y="2375911"/>
            <a:ext cx="2571750" cy="1488691"/>
          </a:xfrm>
          <a:prstGeom prst="rect">
            <a:avLst/>
          </a:prstGeom>
          <a:solidFill>
            <a:srgbClr val="FFFFFF"/>
          </a:solidFill>
          <a:ln w="18288">
            <a:solidFill>
              <a:srgbClr val="111111"/>
            </a:solidFill>
            <a:prstDash val="solid"/>
          </a:ln>
        </p:spPr>
      </p:sp>
      <p:sp>
        <p:nvSpPr>
          <p:cNvPr id="12" name="Text 8"/>
          <p:cNvSpPr/>
          <p:nvPr/>
        </p:nvSpPr>
        <p:spPr>
          <a:xfrm>
            <a:off x="414338" y="2518786"/>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ARTIFACT CREATED</a:t>
            </a:r>
            <a:endParaRPr lang="en-US" sz="1150" dirty="0"/>
          </a:p>
        </p:txBody>
      </p:sp>
      <p:sp>
        <p:nvSpPr>
          <p:cNvPr id="13" name="Text 9"/>
          <p:cNvSpPr/>
          <p:nvPr/>
        </p:nvSpPr>
        <p:spPr>
          <a:xfrm>
            <a:off x="414338" y="2836683"/>
            <a:ext cx="2286000" cy="352834"/>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A deterministic scoring function ready for local parity testing.</a:t>
            </a:r>
            <a:endParaRPr lang="en-US" sz="950" dirty="0"/>
          </a:p>
        </p:txBody>
      </p:sp>
      <p:sp>
        <p:nvSpPr>
          <p:cNvPr id="14" name="Shape 10"/>
          <p:cNvSpPr/>
          <p:nvPr/>
        </p:nvSpPr>
        <p:spPr>
          <a:xfrm>
            <a:off x="414338" y="3346679"/>
            <a:ext cx="2286000" cy="332184"/>
          </a:xfrm>
          <a:prstGeom prst="rect">
            <a:avLst/>
          </a:prstGeom>
          <a:solidFill>
            <a:srgbClr val="FFF7CC"/>
          </a:solidFill>
          <a:ln w="18288">
            <a:solidFill>
              <a:srgbClr val="111111"/>
            </a:solidFill>
            <a:prstDash val="solid"/>
          </a:ln>
        </p:spPr>
      </p:sp>
      <p:sp>
        <p:nvSpPr>
          <p:cNvPr id="15" name="Text 11"/>
          <p:cNvSpPr/>
          <p:nvPr/>
        </p:nvSpPr>
        <p:spPr>
          <a:xfrm>
            <a:off x="414338" y="3346679"/>
            <a:ext cx="2286000" cy="332184"/>
          </a:xfrm>
          <a:prstGeom prst="rect">
            <a:avLst/>
          </a:prstGeom>
          <a:noFill/>
          <a:ln/>
        </p:spPr>
        <p:txBody>
          <a:bodyPr wrap="square" lIns="102108" tIns="102108" rIns="102108" bIns="102108" rtlCol="0" anchor="t">
            <a:spAutoFit/>
          </a:bodyPr>
          <a:lstStyle/>
          <a:p>
            <a:pPr algn="l" indent="0" marL="0">
              <a:buNone/>
            </a:pPr>
            <a:r>
              <a:rPr lang="en-US" sz="700" b="1" dirty="0">
                <a:solidFill>
                  <a:srgbClr val="B42318"/>
                </a:solidFill>
                <a:latin typeface="JetBrains Mono Bold" pitchFamily="34" charset="0"/>
                <a:ea typeface="JetBrains Mono Bold" pitchFamily="34" charset="-122"/>
                <a:cs typeface="JetBrains Mono Bold" pitchFamily="34" charset="-120"/>
              </a:rPr>
              <a:t>src/sas_logit/semantic/scoring.py</a:t>
            </a:r>
            <a:endParaRPr lang="en-US" sz="700" dirty="0"/>
          </a:p>
        </p:txBody>
      </p:sp>
      <p:sp>
        <p:nvSpPr>
          <p:cNvPr id="16" name="Shape 12"/>
          <p:cNvSpPr/>
          <p:nvPr/>
        </p:nvSpPr>
        <p:spPr>
          <a:xfrm>
            <a:off x="3071813" y="1071563"/>
            <a:ext cx="5800725" cy="3571875"/>
          </a:xfrm>
          <a:prstGeom prst="rect">
            <a:avLst/>
          </a:prstGeom>
          <a:solidFill>
            <a:srgbClr val="1E1E1E"/>
          </a:solidFill>
          <a:ln w="27432">
            <a:solidFill>
              <a:srgbClr val="111111"/>
            </a:solidFill>
            <a:prstDash val="solid"/>
          </a:ln>
        </p:spPr>
      </p:sp>
      <p:sp>
        <p:nvSpPr>
          <p:cNvPr id="17" name="Shape 13"/>
          <p:cNvSpPr/>
          <p:nvPr/>
        </p:nvSpPr>
        <p:spPr>
          <a:xfrm>
            <a:off x="3071813" y="1071563"/>
            <a:ext cx="5800725" cy="328613"/>
          </a:xfrm>
          <a:prstGeom prst="rect">
            <a:avLst/>
          </a:prstGeom>
          <a:solidFill>
            <a:srgbClr val="323233"/>
          </a:solidFill>
          <a:ln/>
        </p:spPr>
      </p:sp>
      <p:sp>
        <p:nvSpPr>
          <p:cNvPr id="18" name="Shape 14"/>
          <p:cNvSpPr/>
          <p:nvPr/>
        </p:nvSpPr>
        <p:spPr>
          <a:xfrm>
            <a:off x="3071813" y="1385888"/>
            <a:ext cx="5800725" cy="14288"/>
          </a:xfrm>
          <a:prstGeom prst="rect">
            <a:avLst/>
          </a:prstGeom>
          <a:solidFill>
            <a:srgbClr val="111111"/>
          </a:solidFill>
          <a:ln/>
        </p:spPr>
      </p:sp>
      <p:sp>
        <p:nvSpPr>
          <p:cNvPr id="19" name="Shape 15"/>
          <p:cNvSpPr/>
          <p:nvPr/>
        </p:nvSpPr>
        <p:spPr>
          <a:xfrm>
            <a:off x="3729038" y="1078706"/>
            <a:ext cx="892969" cy="314325"/>
          </a:xfrm>
          <a:prstGeom prst="rect">
            <a:avLst/>
          </a:prstGeom>
          <a:solidFill>
            <a:srgbClr val="1E1E1E"/>
          </a:solidFill>
          <a:ln/>
        </p:spPr>
      </p:sp>
      <p:sp>
        <p:nvSpPr>
          <p:cNvPr id="20" name="Shape 16"/>
          <p:cNvSpPr/>
          <p:nvPr/>
        </p:nvSpPr>
        <p:spPr>
          <a:xfrm>
            <a:off x="3729038" y="1078706"/>
            <a:ext cx="892969" cy="28575"/>
          </a:xfrm>
          <a:prstGeom prst="rect">
            <a:avLst/>
          </a:prstGeom>
          <a:solidFill>
            <a:srgbClr val="0055FF"/>
          </a:solidFill>
          <a:ln/>
        </p:spPr>
      </p:sp>
      <p:sp>
        <p:nvSpPr>
          <p:cNvPr id="21" name="Text 17"/>
          <p:cNvSpPr/>
          <p:nvPr/>
        </p:nvSpPr>
        <p:spPr>
          <a:xfrm>
            <a:off x="3729038" y="1078706"/>
            <a:ext cx="892969" cy="314325"/>
          </a:xfrm>
          <a:prstGeom prst="rect">
            <a:avLst/>
          </a:prstGeom>
          <a:noFill/>
          <a:ln/>
        </p:spPr>
        <p:txBody>
          <a:bodyPr wrap="none" lIns="204089" tIns="102108" rIns="204089"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scoring.py</a:t>
            </a:r>
            <a:endParaRPr lang="en-US" sz="750" dirty="0"/>
          </a:p>
        </p:txBody>
      </p:sp>
      <p:sp>
        <p:nvSpPr>
          <p:cNvPr id="22" name="Text 18"/>
          <p:cNvSpPr/>
          <p:nvPr/>
        </p:nvSpPr>
        <p:spPr>
          <a:xfrm>
            <a:off x="7747397" y="1184077"/>
            <a:ext cx="1025128" cy="103584"/>
          </a:xfrm>
          <a:prstGeom prst="rect">
            <a:avLst/>
          </a:prstGeom>
          <a:noFill/>
          <a:ln/>
        </p:spPr>
        <p:txBody>
          <a:bodyPr wrap="none" lIns="0" tIns="0" rIns="0" bIns="0" rtlCol="0" anchor="t">
            <a:spAutoFit/>
          </a:bodyPr>
          <a:lstStyle/>
          <a:p>
            <a:pPr algn="l" indent="0" marL="0">
              <a:buNone/>
            </a:pPr>
            <a:r>
              <a:rPr lang="en-US" sz="600" b="1" spc="1" kern="0" dirty="0">
                <a:solidFill>
                  <a:srgbClr val="9CDCFE"/>
                </a:solidFill>
                <a:latin typeface="Inter Bold" pitchFamily="34" charset="0"/>
                <a:ea typeface="Inter Bold" pitchFamily="34" charset="-122"/>
                <a:cs typeface="Inter Bold" pitchFamily="34" charset="-120"/>
              </a:rPr>
              <a:t>GENERATED OUTPUT</a:t>
            </a:r>
            <a:endParaRPr lang="en-US" sz="600" dirty="0"/>
          </a:p>
        </p:txBody>
      </p:sp>
      <p:sp>
        <p:nvSpPr>
          <p:cNvPr id="23" name="Text 19"/>
          <p:cNvSpPr/>
          <p:nvPr/>
        </p:nvSpPr>
        <p:spPr>
          <a:xfrm>
            <a:off x="3200400" y="1528763"/>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1</a:t>
            </a:r>
            <a:endParaRPr lang="en-US" sz="600" dirty="0"/>
          </a:p>
        </p:txBody>
      </p:sp>
      <p:sp>
        <p:nvSpPr>
          <p:cNvPr id="24" name="Text 20"/>
          <p:cNvSpPr/>
          <p:nvPr/>
        </p:nvSpPr>
        <p:spPr>
          <a:xfrm>
            <a:off x="3443288" y="1584461"/>
            <a:ext cx="5300663" cy="124290"/>
          </a:xfrm>
          <a:prstGeom prst="rect">
            <a:avLst/>
          </a:prstGeom>
          <a:noFill/>
          <a:ln/>
        </p:spPr>
        <p:txBody>
          <a:bodyPr wrap="none" lIns="119126" tIns="0" rIns="0" bIns="0" rtlCol="0" anchor="t">
            <a:spAutoFit/>
          </a:bodyPr>
          <a:lstStyle/>
          <a:p>
            <a:pPr algn="l" indent="0" marL="0">
              <a:lnSpc>
                <a:spcPct val="96000"/>
              </a:lnSpc>
              <a:buNone/>
            </a:pPr>
            <a:r>
              <a:rPr lang="en-US" sz="700" b="1" dirty="0">
                <a:solidFill>
                  <a:srgbClr val="569CD6"/>
                </a:solidFill>
                <a:latin typeface="Consolas" pitchFamily="34" charset="0"/>
                <a:ea typeface="Consolas" pitchFamily="34" charset="-122"/>
                <a:cs typeface="Consolas" pitchFamily="34" charset="-120"/>
              </a:rPr>
              <a:t>def</a:t>
            </a:r>
            <a:r>
              <a:rPr lang="en-US" sz="750" dirty="0">
                <a:solidFill>
                  <a:srgbClr val="D4D4D4"/>
                </a:solidFill>
                <a:latin typeface="Consolas" pitchFamily="34" charset="0"/>
                <a:ea typeface="Consolas" pitchFamily="34" charset="-122"/>
                <a:cs typeface="Consolas" pitchFamily="34" charset="-120"/>
              </a:rPr>
              <a:t> </a:t>
            </a:r>
            <a:r>
              <a:rPr lang="en-US" sz="750" dirty="0">
                <a:solidFill>
                  <a:srgbClr val="DCDCAA"/>
                </a:solidFill>
                <a:latin typeface="Consolas" pitchFamily="34" charset="0"/>
                <a:ea typeface="Consolas" pitchFamily="34" charset="-122"/>
                <a:cs typeface="Consolas" pitchFamily="34" charset="-120"/>
              </a:rPr>
              <a:t>logistic</a:t>
            </a:r>
            <a:r>
              <a:rPr lang="en-US" sz="750" dirty="0">
                <a:solidFill>
                  <a:srgbClr val="D4D4D4"/>
                </a:solidFill>
                <a:latin typeface="Consolas" pitchFamily="34" charset="0"/>
                <a:ea typeface="Consolas" pitchFamily="34" charset="-122"/>
                <a:cs typeface="Consolas" pitchFamily="34" charset="-120"/>
              </a:rPr>
              <a:t>(eta: </a:t>
            </a:r>
            <a:r>
              <a:rPr lang="en-US" sz="700" b="1" dirty="0">
                <a:solidFill>
                  <a:srgbClr val="569CD6"/>
                </a:solidFill>
                <a:latin typeface="Consolas" pitchFamily="34" charset="0"/>
                <a:ea typeface="Consolas" pitchFamily="34" charset="-122"/>
                <a:cs typeface="Consolas" pitchFamily="34" charset="-120"/>
              </a:rPr>
              <a:t>float</a:t>
            </a:r>
            <a:r>
              <a:rPr lang="en-US" sz="750" dirty="0">
                <a:solidFill>
                  <a:srgbClr val="D4D4D4"/>
                </a:solidFill>
                <a:latin typeface="Consolas" pitchFamily="34" charset="0"/>
                <a:ea typeface="Consolas" pitchFamily="34" charset="-122"/>
                <a:cs typeface="Consolas" pitchFamily="34" charset="-120"/>
              </a:rPr>
              <a:t>) -&gt; </a:t>
            </a:r>
            <a:r>
              <a:rPr lang="en-US" sz="700" b="1" dirty="0">
                <a:solidFill>
                  <a:srgbClr val="569CD6"/>
                </a:solidFill>
                <a:latin typeface="Consolas" pitchFamily="34" charset="0"/>
                <a:ea typeface="Consolas" pitchFamily="34" charset="-122"/>
                <a:cs typeface="Consolas" pitchFamily="34" charset="-120"/>
              </a:rPr>
              <a:t>float</a:t>
            </a:r>
            <a:r>
              <a:rPr lang="en-US" sz="750" dirty="0">
                <a:solidFill>
                  <a:srgbClr val="D4D4D4"/>
                </a:solidFill>
                <a:latin typeface="Consolas" pitchFamily="34" charset="0"/>
                <a:ea typeface="Consolas" pitchFamily="34" charset="-122"/>
                <a:cs typeface="Consolas" pitchFamily="34" charset="-120"/>
              </a:rPr>
              <a:t>:</a:t>
            </a:r>
            <a:endParaRPr lang="en-US" sz="700" dirty="0"/>
          </a:p>
        </p:txBody>
      </p:sp>
      <p:sp>
        <p:nvSpPr>
          <p:cNvPr id="25" name="Text 21"/>
          <p:cNvSpPr/>
          <p:nvPr/>
        </p:nvSpPr>
        <p:spPr>
          <a:xfrm>
            <a:off x="3200400" y="1771650"/>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2</a:t>
            </a:r>
            <a:endParaRPr lang="en-US" sz="600" dirty="0"/>
          </a:p>
        </p:txBody>
      </p:sp>
      <p:sp>
        <p:nvSpPr>
          <p:cNvPr id="26" name="Text 22"/>
          <p:cNvSpPr/>
          <p:nvPr/>
        </p:nvSpPr>
        <p:spPr>
          <a:xfrm>
            <a:off x="3743325" y="1827349"/>
            <a:ext cx="3232379" cy="117872"/>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CE9178"/>
                </a:solidFill>
                <a:latin typeface="Consolas" pitchFamily="34" charset="0"/>
                <a:ea typeface="Consolas" pitchFamily="34" charset="-122"/>
                <a:cs typeface="Consolas" pitchFamily="34" charset="-120"/>
              </a:rPr>
              <a:t>"""Return a numerically stable logistic probability.</a:t>
            </a:r>
            <a:endParaRPr lang="en-US" sz="750" dirty="0"/>
          </a:p>
        </p:txBody>
      </p:sp>
      <p:sp>
        <p:nvSpPr>
          <p:cNvPr id="27" name="Text 23"/>
          <p:cNvSpPr/>
          <p:nvPr/>
        </p:nvSpPr>
        <p:spPr>
          <a:xfrm>
            <a:off x="3200400" y="2014538"/>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3</a:t>
            </a:r>
            <a:endParaRPr lang="en-US" sz="600" dirty="0"/>
          </a:p>
        </p:txBody>
      </p:sp>
      <p:sp>
        <p:nvSpPr>
          <p:cNvPr id="28" name="Text 24"/>
          <p:cNvSpPr/>
          <p:nvPr/>
        </p:nvSpPr>
        <p:spPr>
          <a:xfrm>
            <a:off x="3743325" y="2070236"/>
            <a:ext cx="2610762" cy="117872"/>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CE9178"/>
                </a:solidFill>
                <a:latin typeface="Consolas" pitchFamily="34" charset="0"/>
                <a:ea typeface="Consolas" pitchFamily="34" charset="-122"/>
                <a:cs typeface="Consolas" pitchFamily="34" charset="-120"/>
              </a:rPr>
              <a:t>Transforms eta to probability p in [0, 1].</a:t>
            </a:r>
            <a:endParaRPr lang="en-US" sz="750" dirty="0"/>
          </a:p>
        </p:txBody>
      </p:sp>
      <p:sp>
        <p:nvSpPr>
          <p:cNvPr id="29" name="Text 25"/>
          <p:cNvSpPr/>
          <p:nvPr/>
        </p:nvSpPr>
        <p:spPr>
          <a:xfrm>
            <a:off x="3200400" y="2257425"/>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4</a:t>
            </a:r>
            <a:endParaRPr lang="en-US" sz="600" dirty="0"/>
          </a:p>
        </p:txBody>
      </p:sp>
      <p:sp>
        <p:nvSpPr>
          <p:cNvPr id="30" name="Text 26"/>
          <p:cNvSpPr/>
          <p:nvPr/>
        </p:nvSpPr>
        <p:spPr>
          <a:xfrm>
            <a:off x="3743325" y="2313124"/>
            <a:ext cx="3108089" cy="117872"/>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CE9178"/>
                </a:solidFill>
                <a:latin typeface="Consolas" pitchFamily="34" charset="0"/>
                <a:ea typeface="Consolas" pitchFamily="34" charset="-122"/>
                <a:cs typeface="Consolas" pitchFamily="34" charset="-120"/>
              </a:rPr>
              <a:t>SAS citation: intake/sas/log_reg_model.sas:423-441</a:t>
            </a:r>
            <a:endParaRPr lang="en-US" sz="750" dirty="0"/>
          </a:p>
        </p:txBody>
      </p:sp>
      <p:sp>
        <p:nvSpPr>
          <p:cNvPr id="31" name="Text 27"/>
          <p:cNvSpPr/>
          <p:nvPr/>
        </p:nvSpPr>
        <p:spPr>
          <a:xfrm>
            <a:off x="3200400" y="2500313"/>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5</a:t>
            </a:r>
            <a:endParaRPr lang="en-US" sz="600" dirty="0"/>
          </a:p>
        </p:txBody>
      </p:sp>
      <p:sp>
        <p:nvSpPr>
          <p:cNvPr id="32" name="Text 28"/>
          <p:cNvSpPr/>
          <p:nvPr/>
        </p:nvSpPr>
        <p:spPr>
          <a:xfrm>
            <a:off x="3743325" y="2556011"/>
            <a:ext cx="186519" cy="117872"/>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CE9178"/>
                </a:solidFill>
                <a:latin typeface="Consolas" pitchFamily="34" charset="0"/>
                <a:ea typeface="Consolas" pitchFamily="34" charset="-122"/>
                <a:cs typeface="Consolas" pitchFamily="34" charset="-120"/>
              </a:rPr>
              <a:t>"""</a:t>
            </a:r>
            <a:endParaRPr lang="en-US" sz="750" dirty="0"/>
          </a:p>
        </p:txBody>
      </p:sp>
      <p:sp>
        <p:nvSpPr>
          <p:cNvPr id="33" name="Text 29"/>
          <p:cNvSpPr/>
          <p:nvPr/>
        </p:nvSpPr>
        <p:spPr>
          <a:xfrm>
            <a:off x="3200400" y="2743200"/>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6</a:t>
            </a:r>
            <a:endParaRPr lang="en-US" sz="600" dirty="0"/>
          </a:p>
        </p:txBody>
      </p:sp>
      <p:sp>
        <p:nvSpPr>
          <p:cNvPr id="34" name="Text 30"/>
          <p:cNvSpPr/>
          <p:nvPr/>
        </p:nvSpPr>
        <p:spPr>
          <a:xfrm>
            <a:off x="3443288" y="2798899"/>
            <a:ext cx="5300663" cy="124290"/>
          </a:xfrm>
          <a:prstGeom prst="rect">
            <a:avLst/>
          </a:prstGeom>
          <a:noFill/>
          <a:ln/>
        </p:spPr>
        <p:txBody>
          <a:bodyPr wrap="none" lIns="357251" tIns="0" rIns="0" bIns="0" rtlCol="0" anchor="t">
            <a:spAutoFit/>
          </a:bodyPr>
          <a:lstStyle/>
          <a:p>
            <a:pPr algn="l" indent="0" marL="0">
              <a:lnSpc>
                <a:spcPct val="96000"/>
              </a:lnSpc>
              <a:buNone/>
            </a:pPr>
            <a:r>
              <a:rPr lang="en-US" sz="700" b="1" dirty="0">
                <a:solidFill>
                  <a:srgbClr val="569CD6"/>
                </a:solidFill>
                <a:latin typeface="Consolas" pitchFamily="34" charset="0"/>
                <a:ea typeface="Consolas" pitchFamily="34" charset="-122"/>
                <a:cs typeface="Consolas" pitchFamily="34" charset="-120"/>
              </a:rPr>
              <a:t>if</a:t>
            </a:r>
            <a:r>
              <a:rPr lang="en-US" sz="750" dirty="0">
                <a:solidFill>
                  <a:srgbClr val="D4D4D4"/>
                </a:solidFill>
                <a:latin typeface="Consolas" pitchFamily="34" charset="0"/>
                <a:ea typeface="Consolas" pitchFamily="34" charset="-122"/>
                <a:cs typeface="Consolas" pitchFamily="34" charset="-120"/>
              </a:rPr>
              <a:t> eta &gt;= 0:</a:t>
            </a:r>
            <a:endParaRPr lang="en-US" sz="700" dirty="0"/>
          </a:p>
        </p:txBody>
      </p:sp>
      <p:sp>
        <p:nvSpPr>
          <p:cNvPr id="35" name="Text 31"/>
          <p:cNvSpPr/>
          <p:nvPr/>
        </p:nvSpPr>
        <p:spPr>
          <a:xfrm>
            <a:off x="3200400" y="2986088"/>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7</a:t>
            </a:r>
            <a:endParaRPr lang="en-US" sz="600" dirty="0"/>
          </a:p>
        </p:txBody>
      </p:sp>
      <p:sp>
        <p:nvSpPr>
          <p:cNvPr id="36" name="Text 32"/>
          <p:cNvSpPr/>
          <p:nvPr/>
        </p:nvSpPr>
        <p:spPr>
          <a:xfrm>
            <a:off x="3443288" y="3041786"/>
            <a:ext cx="5300663" cy="124290"/>
          </a:xfrm>
          <a:prstGeom prst="rect">
            <a:avLst/>
          </a:prstGeom>
          <a:noFill/>
          <a:ln/>
        </p:spPr>
        <p:txBody>
          <a:bodyPr wrap="none" lIns="595376" tIns="0" rIns="0" bIns="0" rtlCol="0" anchor="t">
            <a:spAutoFit/>
          </a:bodyPr>
          <a:lstStyle/>
          <a:p>
            <a:pPr algn="l" indent="0" marL="0">
              <a:lnSpc>
                <a:spcPct val="96000"/>
              </a:lnSpc>
              <a:buNone/>
            </a:pPr>
            <a:r>
              <a:rPr lang="en-US" sz="750" dirty="0">
                <a:solidFill>
                  <a:srgbClr val="D4D4D4"/>
                </a:solidFill>
                <a:latin typeface="Consolas" pitchFamily="34" charset="0"/>
                <a:ea typeface="Consolas" pitchFamily="34" charset="-122"/>
                <a:cs typeface="Consolas" pitchFamily="34" charset="-120"/>
              </a:rPr>
              <a:t>z = math.exp(-eta)</a:t>
            </a:r>
            <a:endParaRPr lang="en-US" sz="750" dirty="0"/>
          </a:p>
        </p:txBody>
      </p:sp>
      <p:sp>
        <p:nvSpPr>
          <p:cNvPr id="37" name="Shape 33"/>
          <p:cNvSpPr/>
          <p:nvPr/>
        </p:nvSpPr>
        <p:spPr>
          <a:xfrm>
            <a:off x="3200400" y="3243263"/>
            <a:ext cx="5543550" cy="271463"/>
          </a:xfrm>
          <a:prstGeom prst="rect">
            <a:avLst/>
          </a:prstGeom>
          <a:solidFill>
            <a:srgbClr val="2A2600"/>
          </a:solidFill>
          <a:ln w="18288">
            <a:solidFill>
              <a:srgbClr val="FFDF00"/>
            </a:solidFill>
            <a:prstDash val="solid"/>
          </a:ln>
        </p:spPr>
      </p:sp>
      <p:sp>
        <p:nvSpPr>
          <p:cNvPr id="38" name="Text 34"/>
          <p:cNvSpPr/>
          <p:nvPr/>
        </p:nvSpPr>
        <p:spPr>
          <a:xfrm>
            <a:off x="3200400" y="3243263"/>
            <a:ext cx="242888" cy="271463"/>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FFDF00"/>
                </a:solidFill>
                <a:latin typeface="Consolas" pitchFamily="34" charset="0"/>
                <a:ea typeface="Consolas" pitchFamily="34" charset="-122"/>
                <a:cs typeface="Consolas" pitchFamily="34" charset="-120"/>
              </a:rPr>
              <a:t>8</a:t>
            </a:r>
            <a:endParaRPr lang="en-US" sz="600" dirty="0"/>
          </a:p>
        </p:txBody>
      </p:sp>
      <p:sp>
        <p:nvSpPr>
          <p:cNvPr id="39" name="Text 35"/>
          <p:cNvSpPr/>
          <p:nvPr/>
        </p:nvSpPr>
        <p:spPr>
          <a:xfrm>
            <a:off x="3443288" y="3316821"/>
            <a:ext cx="5300663" cy="124290"/>
          </a:xfrm>
          <a:prstGeom prst="rect">
            <a:avLst/>
          </a:prstGeom>
          <a:noFill/>
          <a:ln/>
        </p:spPr>
        <p:txBody>
          <a:bodyPr wrap="none" lIns="595376" tIns="0" rIns="0" bIns="0" rtlCol="0" anchor="t">
            <a:spAutoFit/>
          </a:bodyPr>
          <a:lstStyle/>
          <a:p>
            <a:pPr algn="l" indent="0" marL="0">
              <a:lnSpc>
                <a:spcPct val="96000"/>
              </a:lnSpc>
              <a:buNone/>
            </a:pPr>
            <a:r>
              <a:rPr lang="en-US" sz="700" b="1" dirty="0">
                <a:solidFill>
                  <a:srgbClr val="569CD6"/>
                </a:solidFill>
                <a:latin typeface="Consolas" pitchFamily="34" charset="0"/>
                <a:ea typeface="Consolas" pitchFamily="34" charset="-122"/>
                <a:cs typeface="Consolas" pitchFamily="34" charset="-120"/>
              </a:rPr>
              <a:t>return</a:t>
            </a:r>
            <a:r>
              <a:rPr lang="en-US" sz="700" b="1" dirty="0">
                <a:solidFill>
                  <a:srgbClr val="FFFFFF"/>
                </a:solidFill>
                <a:latin typeface="Consolas" pitchFamily="34" charset="0"/>
                <a:ea typeface="Consolas" pitchFamily="34" charset="-122"/>
                <a:cs typeface="Consolas" pitchFamily="34" charset="-120"/>
              </a:rPr>
              <a:t> 1.0 / (1.0 + z)</a:t>
            </a:r>
            <a:endParaRPr lang="en-US" sz="700" dirty="0"/>
          </a:p>
        </p:txBody>
      </p:sp>
      <p:sp>
        <p:nvSpPr>
          <p:cNvPr id="40" name="Text 36"/>
          <p:cNvSpPr/>
          <p:nvPr/>
        </p:nvSpPr>
        <p:spPr>
          <a:xfrm>
            <a:off x="3200400" y="3529013"/>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9</a:t>
            </a:r>
            <a:endParaRPr lang="en-US" sz="600" dirty="0"/>
          </a:p>
        </p:txBody>
      </p:sp>
      <p:sp>
        <p:nvSpPr>
          <p:cNvPr id="41" name="Text 37"/>
          <p:cNvSpPr/>
          <p:nvPr/>
        </p:nvSpPr>
        <p:spPr>
          <a:xfrm>
            <a:off x="3443288" y="3584711"/>
            <a:ext cx="5300663" cy="124290"/>
          </a:xfrm>
          <a:prstGeom prst="rect">
            <a:avLst/>
          </a:prstGeom>
          <a:noFill/>
          <a:ln/>
        </p:spPr>
        <p:txBody>
          <a:bodyPr wrap="none" lIns="357251" tIns="0" rIns="0" bIns="0" rtlCol="0" anchor="t">
            <a:spAutoFit/>
          </a:bodyPr>
          <a:lstStyle/>
          <a:p>
            <a:pPr algn="l" indent="0" marL="0">
              <a:lnSpc>
                <a:spcPct val="96000"/>
              </a:lnSpc>
              <a:buNone/>
            </a:pPr>
            <a:r>
              <a:rPr lang="en-US" sz="750" dirty="0">
                <a:solidFill>
                  <a:srgbClr val="D4D4D4"/>
                </a:solidFill>
                <a:latin typeface="Consolas" pitchFamily="34" charset="0"/>
                <a:ea typeface="Consolas" pitchFamily="34" charset="-122"/>
                <a:cs typeface="Consolas" pitchFamily="34" charset="-120"/>
              </a:rPr>
              <a:t>z = math.exp(eta)</a:t>
            </a:r>
            <a:endParaRPr lang="en-US" sz="750" dirty="0"/>
          </a:p>
        </p:txBody>
      </p:sp>
      <p:sp>
        <p:nvSpPr>
          <p:cNvPr id="42" name="Text 38"/>
          <p:cNvSpPr/>
          <p:nvPr/>
        </p:nvSpPr>
        <p:spPr>
          <a:xfrm>
            <a:off x="3200400" y="3771900"/>
            <a:ext cx="242888" cy="235744"/>
          </a:xfrm>
          <a:prstGeom prst="rect">
            <a:avLst/>
          </a:prstGeom>
          <a:noFill/>
          <a:ln/>
        </p:spPr>
        <p:txBody>
          <a:bodyPr wrap="square" lIns="0" tIns="0" rIns="85090" bIns="0" rtlCol="0" anchor="t">
            <a:spAutoFit/>
          </a:bodyPr>
          <a:lstStyle/>
          <a:p>
            <a:pPr algn="l" indent="0" marL="0">
              <a:lnSpc>
                <a:spcPct val="96000"/>
              </a:lnSpc>
              <a:buNone/>
            </a:pPr>
            <a:r>
              <a:rPr lang="en-US" sz="600" dirty="0">
                <a:solidFill>
                  <a:srgbClr val="707070"/>
                </a:solidFill>
                <a:latin typeface="Consolas" pitchFamily="34" charset="0"/>
                <a:ea typeface="Consolas" pitchFamily="34" charset="-122"/>
                <a:cs typeface="Consolas" pitchFamily="34" charset="-120"/>
              </a:rPr>
              <a:t>10</a:t>
            </a:r>
            <a:endParaRPr lang="en-US" sz="600" dirty="0"/>
          </a:p>
        </p:txBody>
      </p:sp>
      <p:sp>
        <p:nvSpPr>
          <p:cNvPr id="43" name="Text 39"/>
          <p:cNvSpPr/>
          <p:nvPr/>
        </p:nvSpPr>
        <p:spPr>
          <a:xfrm>
            <a:off x="3443288" y="3827599"/>
            <a:ext cx="5300663" cy="124290"/>
          </a:xfrm>
          <a:prstGeom prst="rect">
            <a:avLst/>
          </a:prstGeom>
          <a:noFill/>
          <a:ln/>
        </p:spPr>
        <p:txBody>
          <a:bodyPr wrap="none" lIns="357251" tIns="0" rIns="0" bIns="0" rtlCol="0" anchor="t">
            <a:spAutoFit/>
          </a:bodyPr>
          <a:lstStyle/>
          <a:p>
            <a:pPr algn="l" indent="0" marL="0">
              <a:lnSpc>
                <a:spcPct val="96000"/>
              </a:lnSpc>
              <a:buNone/>
            </a:pPr>
            <a:r>
              <a:rPr lang="en-US" sz="700" b="1" dirty="0">
                <a:solidFill>
                  <a:srgbClr val="569CD6"/>
                </a:solidFill>
                <a:latin typeface="Consolas" pitchFamily="34" charset="0"/>
                <a:ea typeface="Consolas" pitchFamily="34" charset="-122"/>
                <a:cs typeface="Consolas" pitchFamily="34" charset="-120"/>
              </a:rPr>
              <a:t>return</a:t>
            </a:r>
            <a:r>
              <a:rPr lang="en-US" sz="750" dirty="0">
                <a:solidFill>
                  <a:srgbClr val="D4D4D4"/>
                </a:solidFill>
                <a:latin typeface="Consolas" pitchFamily="34" charset="0"/>
                <a:ea typeface="Consolas" pitchFamily="34" charset="-122"/>
                <a:cs typeface="Consolas" pitchFamily="34" charset="-120"/>
              </a:rPr>
              <a:t> z / (1.0 + z)</a:t>
            </a:r>
            <a:endParaRPr lang="en-US" sz="700" dirty="0"/>
          </a:p>
        </p:txBody>
      </p:sp>
      <p:sp>
        <p:nvSpPr>
          <p:cNvPr id="44" name="Shape 40"/>
          <p:cNvSpPr/>
          <p:nvPr/>
        </p:nvSpPr>
        <p:spPr>
          <a:xfrm>
            <a:off x="0" y="4814888"/>
            <a:ext cx="9144000" cy="328613"/>
          </a:xfrm>
          <a:prstGeom prst="rect">
            <a:avLst/>
          </a:prstGeom>
          <a:solidFill>
            <a:srgbClr val="0055FF"/>
          </a:solidFill>
          <a:ln/>
        </p:spPr>
      </p:sp>
      <p:sp>
        <p:nvSpPr>
          <p:cNvPr id="45" name="Shape 41"/>
          <p:cNvSpPr/>
          <p:nvPr/>
        </p:nvSpPr>
        <p:spPr>
          <a:xfrm>
            <a:off x="0" y="4814888"/>
            <a:ext cx="9144000" cy="28575"/>
          </a:xfrm>
          <a:prstGeom prst="rect">
            <a:avLst/>
          </a:prstGeom>
          <a:solidFill>
            <a:srgbClr val="111111"/>
          </a:solidFill>
          <a:ln/>
        </p:spPr>
      </p:sp>
      <p:sp>
        <p:nvSpPr>
          <p:cNvPr id="46" name="Text 42"/>
          <p:cNvSpPr/>
          <p:nvPr/>
        </p:nvSpPr>
        <p:spPr>
          <a:xfrm>
            <a:off x="271463" y="4918472"/>
            <a:ext cx="1643063"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STEP 5: THE PYTHON RESULT</a:t>
            </a:r>
            <a:endParaRPr lang="en-US" sz="700" dirty="0"/>
          </a:p>
        </p:txBody>
      </p:sp>
      <p:sp>
        <p:nvSpPr>
          <p:cNvPr id="47" name="Text 43"/>
          <p:cNvSpPr/>
          <p:nvPr/>
        </p:nvSpPr>
        <p:spPr>
          <a:xfrm>
            <a:off x="6061472" y="4918472"/>
            <a:ext cx="2811066"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SOURCE: SRC/SAS_LOGIT/SEMANTIC/SCORING.PY</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685800"/>
          </a:xfrm>
          <a:prstGeom prst="rect">
            <a:avLst/>
          </a:prstGeom>
          <a:solidFill>
            <a:srgbClr val="000000">
              <a:alpha val="0"/>
            </a:srgbClr>
          </a:solidFill>
          <a:ln/>
        </p:spPr>
      </p:sp>
      <p:sp>
        <p:nvSpPr>
          <p:cNvPr id="5" name="Shape 1"/>
          <p:cNvSpPr/>
          <p:nvPr/>
        </p:nvSpPr>
        <p:spPr>
          <a:xfrm>
            <a:off x="271463" y="871538"/>
            <a:ext cx="8601075" cy="28575"/>
          </a:xfrm>
          <a:prstGeom prst="rect">
            <a:avLst/>
          </a:prstGeom>
          <a:solidFill>
            <a:srgbClr val="111111"/>
          </a:solidFill>
          <a:ln/>
        </p:spPr>
      </p:sp>
      <p:sp>
        <p:nvSpPr>
          <p:cNvPr id="6" name="Text 2"/>
          <p:cNvSpPr/>
          <p:nvPr/>
        </p:nvSpPr>
        <p:spPr>
          <a:xfrm>
            <a:off x="271463" y="214313"/>
            <a:ext cx="4839891" cy="375047"/>
          </a:xfrm>
          <a:prstGeom prst="rect">
            <a:avLst/>
          </a:prstGeom>
          <a:noFill/>
          <a:ln/>
        </p:spPr>
        <p:txBody>
          <a:bodyPr wrap="none" lIns="0" tIns="0" rIns="0" bIns="0" rtlCol="0" anchor="t">
            <a:spAutoFit/>
          </a:bodyPr>
          <a:lstStyle/>
          <a:p>
            <a:pPr algn="l" indent="0" marL="0">
              <a:lnSpc>
                <a:spcPct val="84000"/>
              </a:lnSpc>
              <a:buNone/>
            </a:pPr>
            <a:r>
              <a:rPr lang="en-US" sz="2550" b="1" dirty="0">
                <a:solidFill>
                  <a:srgbClr val="111111"/>
                </a:solidFill>
                <a:latin typeface="Oswald SemiBold" pitchFamily="34" charset="0"/>
                <a:ea typeface="Oswald SemiBold" pitchFamily="34" charset="-122"/>
                <a:cs typeface="Oswald SemiBold" pitchFamily="34" charset="-120"/>
              </a:rPr>
              <a:t>PROOF IN ACTION: TIE-OUT PROOF</a:t>
            </a:r>
            <a:endParaRPr lang="en-US" sz="2550" dirty="0"/>
          </a:p>
        </p:txBody>
      </p:sp>
      <p:sp>
        <p:nvSpPr>
          <p:cNvPr id="7" name="Text 3"/>
          <p:cNvSpPr/>
          <p:nvPr/>
        </p:nvSpPr>
        <p:spPr>
          <a:xfrm>
            <a:off x="271463" y="632222"/>
            <a:ext cx="4839891" cy="192881"/>
          </a:xfrm>
          <a:prstGeom prst="rect">
            <a:avLst/>
          </a:prstGeom>
          <a:noFill/>
          <a:ln/>
        </p:spPr>
        <p:txBody>
          <a:bodyPr wrap="square" lIns="0" tIns="0" rIns="0" bIns="0" rtlCol="0" anchor="t">
            <a:spAutoFit/>
          </a:bodyPr>
          <a:lstStyle/>
          <a:p>
            <a:pPr algn="l" indent="0" marL="0">
              <a:buNone/>
            </a:pPr>
            <a:r>
              <a:rPr lang="en-US" sz="1100" b="1" dirty="0">
                <a:solidFill>
                  <a:srgbClr val="0055FF"/>
                </a:solidFill>
                <a:latin typeface="Inter Bold" pitchFamily="34" charset="0"/>
                <a:ea typeface="Inter Bold" pitchFamily="34" charset="-122"/>
                <a:cs typeface="Inter Bold" pitchFamily="34" charset="-120"/>
              </a:rPr>
              <a:t>Step 4: Replace "looks right" with deterministic validation.</a:t>
            </a:r>
            <a:endParaRPr lang="en-US" sz="1100" dirty="0"/>
          </a:p>
        </p:txBody>
      </p:sp>
      <p:sp>
        <p:nvSpPr>
          <p:cNvPr id="8" name="Shape 4"/>
          <p:cNvSpPr/>
          <p:nvPr/>
        </p:nvSpPr>
        <p:spPr>
          <a:xfrm>
            <a:off x="271463" y="1071563"/>
            <a:ext cx="2571750" cy="1175761"/>
          </a:xfrm>
          <a:prstGeom prst="rect">
            <a:avLst/>
          </a:prstGeom>
          <a:solidFill>
            <a:srgbClr val="FFFFFF"/>
          </a:solidFill>
          <a:ln w="18288">
            <a:solidFill>
              <a:srgbClr val="111111"/>
            </a:solidFill>
            <a:prstDash val="solid"/>
          </a:ln>
        </p:spPr>
      </p:sp>
      <p:sp>
        <p:nvSpPr>
          <p:cNvPr id="9" name="Text 5"/>
          <p:cNvSpPr/>
          <p:nvPr/>
        </p:nvSpPr>
        <p:spPr>
          <a:xfrm>
            <a:off x="414338" y="1214438"/>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ACTION</a:t>
            </a:r>
            <a:endParaRPr lang="en-US" sz="1150" dirty="0"/>
          </a:p>
        </p:txBody>
      </p:sp>
      <p:sp>
        <p:nvSpPr>
          <p:cNvPr id="10" name="Text 6"/>
          <p:cNvSpPr/>
          <p:nvPr/>
        </p:nvSpPr>
        <p:spPr>
          <a:xfrm>
            <a:off x="414338" y="1532334"/>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Copilot executes the generic tie-out runner against the SAS oracle and exact fixture.</a:t>
            </a:r>
            <a:endParaRPr lang="en-US" sz="950" dirty="0"/>
          </a:p>
        </p:txBody>
      </p:sp>
      <p:sp>
        <p:nvSpPr>
          <p:cNvPr id="11" name="Shape 7"/>
          <p:cNvSpPr/>
          <p:nvPr/>
        </p:nvSpPr>
        <p:spPr>
          <a:xfrm>
            <a:off x="271463" y="2375911"/>
            <a:ext cx="2571750" cy="1797267"/>
          </a:xfrm>
          <a:prstGeom prst="rect">
            <a:avLst/>
          </a:prstGeom>
          <a:solidFill>
            <a:srgbClr val="FFFFFF"/>
          </a:solidFill>
          <a:ln w="18288">
            <a:solidFill>
              <a:srgbClr val="111111"/>
            </a:solidFill>
            <a:prstDash val="solid"/>
          </a:ln>
        </p:spPr>
      </p:sp>
      <p:sp>
        <p:nvSpPr>
          <p:cNvPr id="12" name="Text 8"/>
          <p:cNvSpPr/>
          <p:nvPr/>
        </p:nvSpPr>
        <p:spPr>
          <a:xfrm>
            <a:off x="414338" y="2518786"/>
            <a:ext cx="2286000" cy="232172"/>
          </a:xfrm>
          <a:prstGeom prst="rect">
            <a:avLst/>
          </a:prstGeom>
          <a:noFill/>
          <a:ln/>
        </p:spPr>
        <p:txBody>
          <a:bodyPr wrap="square" lIns="0" tIns="0" rIns="0" bIns="0" rtlCol="0" anchor="t">
            <a:spAutoFit/>
          </a:bodyPr>
          <a:lstStyle/>
          <a:p>
            <a:pPr algn="l" indent="0" marL="0">
              <a:buNone/>
            </a:pPr>
            <a:r>
              <a:rPr lang="en-US" sz="1150" dirty="0">
                <a:solidFill>
                  <a:srgbClr val="0055FF"/>
                </a:solidFill>
                <a:latin typeface="Oswald SemiBold" pitchFamily="34" charset="0"/>
                <a:ea typeface="Oswald SemiBold" pitchFamily="34" charset="-122"/>
                <a:cs typeface="Oswald SemiBold" pitchFamily="34" charset="-120"/>
              </a:rPr>
              <a:t>ARTIFACT CREATED</a:t>
            </a:r>
            <a:endParaRPr lang="en-US" sz="1150" dirty="0"/>
          </a:p>
        </p:txBody>
      </p:sp>
      <p:sp>
        <p:nvSpPr>
          <p:cNvPr id="13" name="Text 9"/>
          <p:cNvSpPr/>
          <p:nvPr/>
        </p:nvSpPr>
        <p:spPr>
          <a:xfrm>
            <a:off x="414338" y="2836683"/>
            <a:ext cx="2286000" cy="529251"/>
          </a:xfrm>
          <a:prstGeom prst="rect">
            <a:avLst/>
          </a:prstGeom>
          <a:noFill/>
          <a:ln/>
        </p:spPr>
        <p:txBody>
          <a:bodyPr wrap="square" lIns="0" tIns="0" rIns="0" bIns="0" rtlCol="0" anchor="t">
            <a:spAutoFit/>
          </a:bodyPr>
          <a:lstStyle/>
          <a:p>
            <a:pPr algn="l" indent="0" marL="0">
              <a:lnSpc>
                <a:spcPct val="104000"/>
              </a:lnSpc>
              <a:buNone/>
            </a:pPr>
            <a:r>
              <a:rPr lang="en-US" sz="950" b="1" dirty="0">
                <a:solidFill>
                  <a:srgbClr val="30343B"/>
                </a:solidFill>
                <a:latin typeface="Inter Bold" pitchFamily="34" charset="0"/>
                <a:ea typeface="Inter Bold" pitchFamily="34" charset="-122"/>
                <a:cs typeface="Inter Bold" pitchFamily="34" charset="-120"/>
              </a:rPr>
              <a:t>An append-only bundle proving the exact row count and tolerance delta.</a:t>
            </a:r>
            <a:endParaRPr lang="en-US" sz="950" dirty="0"/>
          </a:p>
        </p:txBody>
      </p:sp>
      <p:sp>
        <p:nvSpPr>
          <p:cNvPr id="14" name="Shape 10"/>
          <p:cNvSpPr/>
          <p:nvPr/>
        </p:nvSpPr>
        <p:spPr>
          <a:xfrm>
            <a:off x="414338" y="3523097"/>
            <a:ext cx="2286000" cy="464344"/>
          </a:xfrm>
          <a:prstGeom prst="rect">
            <a:avLst/>
          </a:prstGeom>
          <a:solidFill>
            <a:srgbClr val="FFF7CC"/>
          </a:solidFill>
          <a:ln w="18288">
            <a:solidFill>
              <a:srgbClr val="111111"/>
            </a:solidFill>
            <a:prstDash val="solid"/>
          </a:ln>
        </p:spPr>
      </p:sp>
      <p:sp>
        <p:nvSpPr>
          <p:cNvPr id="15" name="Text 11"/>
          <p:cNvSpPr/>
          <p:nvPr/>
        </p:nvSpPr>
        <p:spPr>
          <a:xfrm>
            <a:off x="414338" y="3523097"/>
            <a:ext cx="2286000" cy="464344"/>
          </a:xfrm>
          <a:prstGeom prst="rect">
            <a:avLst/>
          </a:prstGeom>
          <a:noFill/>
          <a:ln/>
        </p:spPr>
        <p:txBody>
          <a:bodyPr wrap="square" lIns="102108" tIns="102108" rIns="102108" bIns="102108" rtlCol="0" anchor="t">
            <a:spAutoFit/>
          </a:bodyPr>
          <a:lstStyle/>
          <a:p>
            <a:pPr algn="l" indent="0" marL="0">
              <a:buNone/>
            </a:pPr>
            <a:r>
              <a:rPr lang="en-US" sz="700" b="1" dirty="0">
                <a:solidFill>
                  <a:srgbClr val="B42318"/>
                </a:solidFill>
                <a:latin typeface="JetBrains Mono Bold" pitchFamily="34" charset="0"/>
                <a:ea typeface="JetBrains Mono Bold" pitchFamily="34" charset="-122"/>
                <a:cs typeface="JetBrains Mono Bold" pitchFamily="34" charset="-120"/>
              </a:rPr>
              <a:t>artifacts/evidence/.../evidence.json</a:t>
            </a:r>
            <a:endParaRPr lang="en-US" sz="700" dirty="0"/>
          </a:p>
        </p:txBody>
      </p:sp>
      <p:sp>
        <p:nvSpPr>
          <p:cNvPr id="16" name="Shape 12"/>
          <p:cNvSpPr/>
          <p:nvPr/>
        </p:nvSpPr>
        <p:spPr>
          <a:xfrm>
            <a:off x="3071813" y="1071563"/>
            <a:ext cx="5800725" cy="3571875"/>
          </a:xfrm>
          <a:prstGeom prst="rect">
            <a:avLst/>
          </a:prstGeom>
          <a:solidFill>
            <a:srgbClr val="1E1E1E"/>
          </a:solidFill>
          <a:ln w="27432">
            <a:solidFill>
              <a:srgbClr val="111111"/>
            </a:solidFill>
            <a:prstDash val="solid"/>
          </a:ln>
        </p:spPr>
      </p:sp>
      <p:sp>
        <p:nvSpPr>
          <p:cNvPr id="17" name="Shape 13"/>
          <p:cNvSpPr/>
          <p:nvPr/>
        </p:nvSpPr>
        <p:spPr>
          <a:xfrm>
            <a:off x="3071813" y="1071563"/>
            <a:ext cx="5800725" cy="328613"/>
          </a:xfrm>
          <a:prstGeom prst="rect">
            <a:avLst/>
          </a:prstGeom>
          <a:solidFill>
            <a:srgbClr val="323233"/>
          </a:solidFill>
          <a:ln/>
        </p:spPr>
      </p:sp>
      <p:sp>
        <p:nvSpPr>
          <p:cNvPr id="18" name="Shape 14"/>
          <p:cNvSpPr/>
          <p:nvPr/>
        </p:nvSpPr>
        <p:spPr>
          <a:xfrm>
            <a:off x="3071813" y="1385888"/>
            <a:ext cx="5800725" cy="14288"/>
          </a:xfrm>
          <a:prstGeom prst="rect">
            <a:avLst/>
          </a:prstGeom>
          <a:solidFill>
            <a:srgbClr val="111111"/>
          </a:solidFill>
          <a:ln/>
        </p:spPr>
      </p:sp>
      <p:sp>
        <p:nvSpPr>
          <p:cNvPr id="19" name="Shape 15"/>
          <p:cNvSpPr/>
          <p:nvPr/>
        </p:nvSpPr>
        <p:spPr>
          <a:xfrm>
            <a:off x="3729038" y="1078706"/>
            <a:ext cx="1067991" cy="314325"/>
          </a:xfrm>
          <a:prstGeom prst="rect">
            <a:avLst/>
          </a:prstGeom>
          <a:solidFill>
            <a:srgbClr val="1E1E1E"/>
          </a:solidFill>
          <a:ln/>
        </p:spPr>
      </p:sp>
      <p:sp>
        <p:nvSpPr>
          <p:cNvPr id="20" name="Shape 16"/>
          <p:cNvSpPr/>
          <p:nvPr/>
        </p:nvSpPr>
        <p:spPr>
          <a:xfrm>
            <a:off x="3729038" y="1078706"/>
            <a:ext cx="1067991" cy="28575"/>
          </a:xfrm>
          <a:prstGeom prst="rect">
            <a:avLst/>
          </a:prstGeom>
          <a:solidFill>
            <a:srgbClr val="0055FF"/>
          </a:solidFill>
          <a:ln/>
        </p:spPr>
      </p:sp>
      <p:sp>
        <p:nvSpPr>
          <p:cNvPr id="21" name="Text 17"/>
          <p:cNvSpPr/>
          <p:nvPr/>
        </p:nvSpPr>
        <p:spPr>
          <a:xfrm>
            <a:off x="3729038" y="1078706"/>
            <a:ext cx="1067991" cy="314325"/>
          </a:xfrm>
          <a:prstGeom prst="rect">
            <a:avLst/>
          </a:prstGeom>
          <a:noFill/>
          <a:ln/>
        </p:spPr>
        <p:txBody>
          <a:bodyPr wrap="none" lIns="204089" tIns="102108" rIns="204089" bIns="0" rtlCol="0" anchor="t">
            <a:spAutoFit/>
          </a:bodyPr>
          <a:lstStyle/>
          <a:p>
            <a:pPr algn="l" indent="0" marL="0">
              <a:buNone/>
            </a:pPr>
            <a:r>
              <a:rPr lang="en-US" sz="750" b="1" dirty="0">
                <a:solidFill>
                  <a:srgbClr val="D4D4D4"/>
                </a:solidFill>
                <a:latin typeface="Inter SemiBold" pitchFamily="34" charset="0"/>
                <a:ea typeface="Inter SemiBold" pitchFamily="34" charset="-122"/>
                <a:cs typeface="Inter SemiBold" pitchFamily="34" charset="-120"/>
              </a:rPr>
              <a:t>evidence.json</a:t>
            </a:r>
            <a:endParaRPr lang="en-US" sz="750" dirty="0"/>
          </a:p>
        </p:txBody>
      </p:sp>
      <p:sp>
        <p:nvSpPr>
          <p:cNvPr id="22" name="Text 18"/>
          <p:cNvSpPr/>
          <p:nvPr/>
        </p:nvSpPr>
        <p:spPr>
          <a:xfrm>
            <a:off x="7650956" y="1184077"/>
            <a:ext cx="1121569" cy="103584"/>
          </a:xfrm>
          <a:prstGeom prst="rect">
            <a:avLst/>
          </a:prstGeom>
          <a:noFill/>
          <a:ln/>
        </p:spPr>
        <p:txBody>
          <a:bodyPr wrap="none" lIns="0" tIns="0" rIns="0" bIns="0" rtlCol="0" anchor="t">
            <a:spAutoFit/>
          </a:bodyPr>
          <a:lstStyle/>
          <a:p>
            <a:pPr algn="l" indent="0" marL="0">
              <a:buNone/>
            </a:pPr>
            <a:r>
              <a:rPr lang="en-US" sz="600" b="1" spc="1" kern="0" dirty="0">
                <a:solidFill>
                  <a:srgbClr val="9CDCFE"/>
                </a:solidFill>
                <a:latin typeface="Inter Bold" pitchFamily="34" charset="0"/>
                <a:ea typeface="Inter Bold" pitchFamily="34" charset="-122"/>
                <a:cs typeface="Inter Bold" pitchFamily="34" charset="-120"/>
              </a:rPr>
              <a:t>VALIDATION EVIDENCE</a:t>
            </a:r>
            <a:endParaRPr lang="en-US" sz="600" dirty="0"/>
          </a:p>
        </p:txBody>
      </p:sp>
      <p:sp>
        <p:nvSpPr>
          <p:cNvPr id="23" name="Text 19"/>
          <p:cNvSpPr/>
          <p:nvPr/>
        </p:nvSpPr>
        <p:spPr>
          <a:xfrm>
            <a:off x="3071813" y="1400175"/>
            <a:ext cx="5800725" cy="3243263"/>
          </a:xfrm>
          <a:prstGeom prst="rect">
            <a:avLst/>
          </a:prstGeom>
          <a:noFill/>
          <a:ln/>
        </p:spPr>
        <p:txBody>
          <a:bodyPr wrap="square" lIns="238125" tIns="204089" rIns="238125" bIns="204089" rtlCol="0" anchor="t">
            <a:spAutoFit/>
          </a:bodyPr>
          <a:lstStyle/>
          <a:p>
            <a:pPr algn="l" indent="0" marL="0">
              <a:lnSpc>
                <a:spcPct val="120000"/>
              </a:lnSpc>
              <a:buNone/>
            </a:pP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"module_id"</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CE9178"/>
                </a:solidFill>
                <a:latin typeface="JetBrains Mono" pitchFamily="34" charset="0"/>
                <a:ea typeface="JetBrains Mono" pitchFamily="34" charset="-122"/>
                <a:cs typeface="JetBrains Mono" pitchFamily="34" charset="-120"/>
              </a:rPr>
              <a:t>"LC-LOGIT-01"</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"gate"</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CE9178"/>
                </a:solidFill>
                <a:latin typeface="JetBrains Mono" pitchFamily="34" charset="0"/>
                <a:ea typeface="JetBrains Mono" pitchFamily="34" charset="-122"/>
                <a:cs typeface="JetBrains Mono" pitchFamily="34" charset="-120"/>
              </a:rPr>
              <a:t>"local_coverage_tieout"</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"status"</a:t>
            </a:r>
            <a:r>
              <a:rPr lang="en-US" sz="900" dirty="0">
                <a:solidFill>
                  <a:srgbClr val="D4D4D4"/>
                </a:solidFill>
                <a:latin typeface="JetBrains Mono" pitchFamily="34" charset="0"/>
                <a:ea typeface="JetBrains Mono" pitchFamily="34" charset="-122"/>
                <a:cs typeface="JetBrains Mono" pitchFamily="34" charset="-120"/>
              </a:rPr>
              <a:t>: </a:t>
            </a:r>
            <a:r>
              <a:rPr lang="en-US" sz="850" b="1" dirty="0">
                <a:solidFill>
                  <a:srgbClr val="27C93F"/>
                </a:solidFill>
                <a:latin typeface="JetBrains Mono Bold" pitchFamily="34" charset="0"/>
                <a:ea typeface="JetBrains Mono Bold" pitchFamily="34" charset="-122"/>
                <a:cs typeface="JetBrains Mono Bold" pitchFamily="34" charset="-120"/>
              </a:rPr>
              <a:t>"PASS"</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"delta_summary"</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"rows"</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B5CEA8"/>
                </a:solidFill>
                <a:latin typeface="JetBrains Mono" pitchFamily="34" charset="0"/>
                <a:ea typeface="JetBrains Mono" pitchFamily="34" charset="-122"/>
                <a:cs typeface="JetBrains Mono" pitchFamily="34" charset="-120"/>
              </a:rPr>
              <a:t>50</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"missing_keys"</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B5CEA8"/>
                </a:solidFill>
                <a:latin typeface="JetBrains Mono" pitchFamily="34" charset="0"/>
                <a:ea typeface="JetBrains Mono" pitchFamily="34" charset="-122"/>
                <a:cs typeface="JetBrains Mono" pitchFamily="34" charset="-120"/>
              </a:rPr>
              <a:t>0</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"max_probability_delta"</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B5CEA8"/>
                </a:solidFill>
                <a:latin typeface="JetBrains Mono" pitchFamily="34" charset="0"/>
                <a:ea typeface="JetBrains Mono" pitchFamily="34" charset="-122"/>
                <a:cs typeface="JetBrains Mono" pitchFamily="34" charset="-120"/>
              </a:rPr>
              <a:t>6.777e-12</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9CDCFE"/>
                </a:solidFill>
                <a:latin typeface="JetBrains Mono" pitchFamily="34" charset="0"/>
                <a:ea typeface="JetBrains Mono" pitchFamily="34" charset="-122"/>
                <a:cs typeface="JetBrains Mono" pitchFamily="34" charset="-120"/>
              </a:rPr>
              <a:t>"configured_tolerance"</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B5CEA8"/>
                </a:solidFill>
                <a:latin typeface="JetBrains Mono" pitchFamily="34" charset="0"/>
                <a:ea typeface="JetBrains Mono" pitchFamily="34" charset="-122"/>
                <a:cs typeface="JetBrains Mono" pitchFamily="34" charset="-120"/>
              </a:rPr>
              <a:t>1e-10</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D4D4D4"/>
                </a:solidFill>
                <a:latin typeface="JetBrains Mono" pitchFamily="34" charset="0"/>
                <a:ea typeface="JetBrains Mono" pitchFamily="34" charset="-122"/>
                <a:cs typeface="JetBrains Mono" pitchFamily="34" charset="-120"/>
              </a:rPr>
              <a:t>}</a:t>
            </a:r>
            <a:r>
              <a:rPr lang="en-US" sz="900" dirty="0">
                <a:solidFill>
                  <a:srgbClr val="D4D4D4"/>
                </a:solidFill>
                <a:latin typeface="JetBrains Mono" pitchFamily="34" charset="0"/>
                <a:ea typeface="JetBrains Mono" pitchFamily="34" charset="-122"/>
                <a:cs typeface="JetBrains Mono" pitchFamily="34" charset="-120"/>
              </a:rPr>
              <a:t>
</a:t>
            </a:r>
            <a:r>
              <a:rPr lang="en-US" sz="900" dirty="0">
                <a:solidFill>
                  <a:srgbClr val="D4D4D4"/>
                </a:solidFill>
                <a:latin typeface="JetBrains Mono" pitchFamily="34" charset="0"/>
                <a:ea typeface="JetBrains Mono" pitchFamily="34" charset="-122"/>
                <a:cs typeface="JetBrains Mono" pitchFamily="34" charset="-120"/>
              </a:rPr>
              <a:t>}</a:t>
            </a:r>
            <a:endParaRPr lang="en-US" sz="900" dirty="0"/>
          </a:p>
        </p:txBody>
      </p:sp>
      <p:sp>
        <p:nvSpPr>
          <p:cNvPr id="24" name="Shape 20"/>
          <p:cNvSpPr/>
          <p:nvPr/>
        </p:nvSpPr>
        <p:spPr>
          <a:xfrm>
            <a:off x="0" y="4814888"/>
            <a:ext cx="9144000" cy="328613"/>
          </a:xfrm>
          <a:prstGeom prst="rect">
            <a:avLst/>
          </a:prstGeom>
          <a:solidFill>
            <a:srgbClr val="0055FF"/>
          </a:solidFill>
          <a:ln/>
        </p:spPr>
      </p:sp>
      <p:sp>
        <p:nvSpPr>
          <p:cNvPr id="25" name="Shape 21"/>
          <p:cNvSpPr/>
          <p:nvPr/>
        </p:nvSpPr>
        <p:spPr>
          <a:xfrm>
            <a:off x="0" y="4814888"/>
            <a:ext cx="9144000" cy="28575"/>
          </a:xfrm>
          <a:prstGeom prst="rect">
            <a:avLst/>
          </a:prstGeom>
          <a:solidFill>
            <a:srgbClr val="111111"/>
          </a:solidFill>
          <a:ln/>
        </p:spPr>
      </p:sp>
      <p:sp>
        <p:nvSpPr>
          <p:cNvPr id="26" name="Text 22"/>
          <p:cNvSpPr/>
          <p:nvPr/>
        </p:nvSpPr>
        <p:spPr>
          <a:xfrm>
            <a:off x="271463" y="4918472"/>
            <a:ext cx="1603772"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STEP 6: THE TIE-OUT PROOF</a:t>
            </a:r>
            <a:endParaRPr lang="en-US" sz="700" dirty="0"/>
          </a:p>
        </p:txBody>
      </p:sp>
      <p:sp>
        <p:nvSpPr>
          <p:cNvPr id="27" name="Text 23"/>
          <p:cNvSpPr/>
          <p:nvPr/>
        </p:nvSpPr>
        <p:spPr>
          <a:xfrm>
            <a:off x="5636419" y="4918472"/>
            <a:ext cx="3236119" cy="121444"/>
          </a:xfrm>
          <a:prstGeom prst="rect">
            <a:avLst/>
          </a:prstGeom>
          <a:noFill/>
          <a:ln/>
        </p:spPr>
        <p:txBody>
          <a:bodyPr wrap="square" lIns="0" tIns="0" rIns="0" bIns="0" rtlCol="0" anchor="t">
            <a:spAutoFit/>
          </a:bodyPr>
          <a:lstStyle/>
          <a:p>
            <a:pPr algn="l" indent="0" marL="0">
              <a:buNone/>
            </a:pPr>
            <a:r>
              <a:rPr lang="en-US" sz="700" b="1" spc="1" kern="0" dirty="0">
                <a:solidFill>
                  <a:srgbClr val="FFFFFF"/>
                </a:solidFill>
                <a:latin typeface="Inter Bold" pitchFamily="34" charset="0"/>
                <a:ea typeface="Inter Bold" pitchFamily="34" charset="-122"/>
                <a:cs typeface="Inter Bold" pitchFamily="34" charset="-120"/>
              </a:rPr>
              <a:t>SOURCE: ARTIFACTS/EVIDENCE/RUNS/.../EVIDENCE.JSON</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1463" y="214313"/>
            <a:ext cx="8601075" cy="557213"/>
          </a:xfrm>
          <a:prstGeom prst="rect">
            <a:avLst/>
          </a:prstGeom>
          <a:solidFill>
            <a:srgbClr val="000000">
              <a:alpha val="0"/>
            </a:srgbClr>
          </a:solidFill>
          <a:ln/>
        </p:spPr>
      </p:sp>
      <p:sp>
        <p:nvSpPr>
          <p:cNvPr id="5" name="Shape 1"/>
          <p:cNvSpPr/>
          <p:nvPr/>
        </p:nvSpPr>
        <p:spPr>
          <a:xfrm>
            <a:off x="271463" y="742950"/>
            <a:ext cx="8601075" cy="28575"/>
          </a:xfrm>
          <a:prstGeom prst="rect">
            <a:avLst/>
          </a:prstGeom>
          <a:solidFill>
            <a:srgbClr val="111111"/>
          </a:solidFill>
          <a:ln/>
        </p:spPr>
      </p:sp>
      <p:sp>
        <p:nvSpPr>
          <p:cNvPr id="6" name="Text 2"/>
          <p:cNvSpPr/>
          <p:nvPr/>
        </p:nvSpPr>
        <p:spPr>
          <a:xfrm>
            <a:off x="271463" y="214313"/>
            <a:ext cx="8601075" cy="352499"/>
          </a:xfrm>
          <a:prstGeom prst="rect">
            <a:avLst/>
          </a:prstGeom>
          <a:noFill/>
          <a:ln/>
        </p:spPr>
        <p:txBody>
          <a:bodyPr wrap="none" lIns="0" tIns="0" rIns="0" bIns="0" rtlCol="0" anchor="t">
            <a:spAutoFit/>
          </a:bodyPr>
          <a:lstStyle/>
          <a:p>
            <a:pPr algn="l" indent="0" marL="0">
              <a:lnSpc>
                <a:spcPct val="84000"/>
              </a:lnSpc>
              <a:buNone/>
            </a:pPr>
            <a:r>
              <a:rPr lang="en-US" sz="2400" b="1" dirty="0">
                <a:solidFill>
                  <a:srgbClr val="111111"/>
                </a:solidFill>
                <a:latin typeface="Oswald SemiBold" pitchFamily="34" charset="0"/>
                <a:ea typeface="Oswald SemiBold" pitchFamily="34" charset="-122"/>
                <a:cs typeface="Oswald SemiBold" pitchFamily="34" charset="-120"/>
              </a:rPr>
              <a:t>TIE-OUT PASS: WHAT WE CAN CLAIM</a:t>
            </a:r>
            <a:endParaRPr lang="en-US" sz="2400" dirty="0"/>
          </a:p>
        </p:txBody>
      </p:sp>
      <p:sp>
        <p:nvSpPr>
          <p:cNvPr id="7" name="Text 3"/>
          <p:cNvSpPr/>
          <p:nvPr/>
        </p:nvSpPr>
        <p:spPr>
          <a:xfrm>
            <a:off x="271463" y="942975"/>
            <a:ext cx="4186238" cy="275034"/>
          </a:xfrm>
          <a:prstGeom prst="rect">
            <a:avLst/>
          </a:prstGeom>
          <a:noFill/>
          <a:ln/>
        </p:spPr>
        <p:txBody>
          <a:bodyPr wrap="square" lIns="0" tIns="0" rIns="0" bIns="0" rtlCol="0" anchor="t">
            <a:spAutoFit/>
          </a:bodyPr>
          <a:lstStyle/>
          <a:p>
            <a:pPr algn="l" indent="0" marL="0">
              <a:buNone/>
            </a:pPr>
            <a:r>
              <a:rPr lang="en-US" sz="1400" dirty="0">
                <a:solidFill>
                  <a:srgbClr val="0055FF"/>
                </a:solidFill>
                <a:latin typeface="Oswald SemiBold" pitchFamily="34" charset="0"/>
                <a:ea typeface="Oswald SemiBold" pitchFamily="34" charset="-122"/>
                <a:cs typeface="Oswald SemiBold" pitchFamily="34" charset="-120"/>
              </a:rPr>
              <a:t>PASS MEANS:</a:t>
            </a:r>
            <a:endParaRPr lang="en-US" sz="1400" dirty="0"/>
          </a:p>
        </p:txBody>
      </p:sp>
      <p:sp>
        <p:nvSpPr>
          <p:cNvPr id="8" name="Shape 4"/>
          <p:cNvSpPr/>
          <p:nvPr/>
        </p:nvSpPr>
        <p:spPr>
          <a:xfrm>
            <a:off x="271463" y="1332309"/>
            <a:ext cx="4186238" cy="500063"/>
          </a:xfrm>
          <a:prstGeom prst="rect">
            <a:avLst/>
          </a:prstGeom>
          <a:solidFill>
            <a:srgbClr val="FFFFFF"/>
          </a:solidFill>
          <a:ln w="18288">
            <a:solidFill>
              <a:srgbClr val="111111"/>
            </a:solidFill>
            <a:prstDash val="solid"/>
          </a:ln>
        </p:spPr>
      </p:sp>
      <p:sp>
        <p:nvSpPr>
          <p:cNvPr id="9" name="Shape 5"/>
          <p:cNvSpPr/>
          <p:nvPr/>
        </p:nvSpPr>
        <p:spPr>
          <a:xfrm>
            <a:off x="414338" y="1446609"/>
            <a:ext cx="228600" cy="228600"/>
          </a:xfrm>
          <a:prstGeom prst="rect">
            <a:avLst/>
          </a:prstGeom>
          <a:solidFill>
            <a:srgbClr val="111111"/>
          </a:solidFill>
          <a:ln/>
        </p:spPr>
      </p:sp>
      <p:sp>
        <p:nvSpPr>
          <p:cNvPr id="10" name="Text 6"/>
          <p:cNvSpPr/>
          <p:nvPr/>
        </p:nvSpPr>
        <p:spPr>
          <a:xfrm>
            <a:off x="414338" y="1446609"/>
            <a:ext cx="228600" cy="228600"/>
          </a:xfrm>
          <a:prstGeom prst="rect">
            <a:avLst/>
          </a:prstGeom>
          <a:noFill/>
          <a:ln/>
        </p:spPr>
        <p:txBody>
          <a:bodyPr wrap="none" lIns="0" tIns="0" rIns="0" bIns="0" rtlCol="0" anchor="ctr">
            <a:spAutoFit/>
          </a:bodyPr>
          <a:lstStyle/>
          <a:p>
            <a:pPr algn="ctr" indent="0" marL="0">
              <a:buNone/>
            </a:pPr>
            <a:r>
              <a:rPr lang="en-US" sz="1000" dirty="0">
                <a:solidFill>
                  <a:srgbClr val="FFFFFF"/>
                </a:solidFill>
                <a:latin typeface="Oswald SemiBold" pitchFamily="34" charset="0"/>
                <a:ea typeface="Oswald SemiBold" pitchFamily="34" charset="-122"/>
                <a:cs typeface="Oswald SemiBold" pitchFamily="34" charset="-120"/>
              </a:rPr>
              <a:t>1</a:t>
            </a:r>
            <a:endParaRPr lang="en-US" sz="1000" dirty="0"/>
          </a:p>
        </p:txBody>
      </p:sp>
      <p:sp>
        <p:nvSpPr>
          <p:cNvPr id="11" name="Text 7"/>
          <p:cNvSpPr/>
          <p:nvPr/>
        </p:nvSpPr>
        <p:spPr>
          <a:xfrm>
            <a:off x="742950" y="1467148"/>
            <a:ext cx="3571875"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Approved producer ran</a:t>
            </a:r>
            <a:endParaRPr lang="en-US" sz="1050" dirty="0"/>
          </a:p>
        </p:txBody>
      </p:sp>
      <p:sp>
        <p:nvSpPr>
          <p:cNvPr id="12" name="Shape 8"/>
          <p:cNvSpPr/>
          <p:nvPr/>
        </p:nvSpPr>
        <p:spPr>
          <a:xfrm>
            <a:off x="271463" y="1889522"/>
            <a:ext cx="4186238" cy="500063"/>
          </a:xfrm>
          <a:prstGeom prst="rect">
            <a:avLst/>
          </a:prstGeom>
          <a:solidFill>
            <a:srgbClr val="FFFFFF"/>
          </a:solidFill>
          <a:ln w="18288">
            <a:solidFill>
              <a:srgbClr val="111111"/>
            </a:solidFill>
            <a:prstDash val="solid"/>
          </a:ln>
        </p:spPr>
      </p:sp>
      <p:sp>
        <p:nvSpPr>
          <p:cNvPr id="13" name="Shape 9"/>
          <p:cNvSpPr/>
          <p:nvPr/>
        </p:nvSpPr>
        <p:spPr>
          <a:xfrm>
            <a:off x="414338" y="2003822"/>
            <a:ext cx="228600" cy="228600"/>
          </a:xfrm>
          <a:prstGeom prst="rect">
            <a:avLst/>
          </a:prstGeom>
          <a:solidFill>
            <a:srgbClr val="111111"/>
          </a:solidFill>
          <a:ln/>
        </p:spPr>
      </p:sp>
      <p:sp>
        <p:nvSpPr>
          <p:cNvPr id="14" name="Text 10"/>
          <p:cNvSpPr/>
          <p:nvPr/>
        </p:nvSpPr>
        <p:spPr>
          <a:xfrm>
            <a:off x="414338" y="2003822"/>
            <a:ext cx="228600" cy="228600"/>
          </a:xfrm>
          <a:prstGeom prst="rect">
            <a:avLst/>
          </a:prstGeom>
          <a:noFill/>
          <a:ln/>
        </p:spPr>
        <p:txBody>
          <a:bodyPr wrap="none" lIns="0" tIns="0" rIns="0" bIns="0" rtlCol="0" anchor="ctr">
            <a:spAutoFit/>
          </a:bodyPr>
          <a:lstStyle/>
          <a:p>
            <a:pPr algn="ctr" indent="0" marL="0">
              <a:buNone/>
            </a:pPr>
            <a:r>
              <a:rPr lang="en-US" sz="1000" dirty="0">
                <a:solidFill>
                  <a:srgbClr val="FFFFFF"/>
                </a:solidFill>
                <a:latin typeface="Oswald SemiBold" pitchFamily="34" charset="0"/>
                <a:ea typeface="Oswald SemiBold" pitchFamily="34" charset="-122"/>
                <a:cs typeface="Oswald SemiBold" pitchFamily="34" charset="-120"/>
              </a:rPr>
              <a:t>2</a:t>
            </a:r>
            <a:endParaRPr lang="en-US" sz="1000" dirty="0"/>
          </a:p>
        </p:txBody>
      </p:sp>
      <p:sp>
        <p:nvSpPr>
          <p:cNvPr id="15" name="Text 11"/>
          <p:cNvSpPr/>
          <p:nvPr/>
        </p:nvSpPr>
        <p:spPr>
          <a:xfrm>
            <a:off x="742950" y="2024360"/>
            <a:ext cx="3571875"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50 selected records matched</a:t>
            </a:r>
            <a:endParaRPr lang="en-US" sz="1050" dirty="0"/>
          </a:p>
        </p:txBody>
      </p:sp>
      <p:sp>
        <p:nvSpPr>
          <p:cNvPr id="16" name="Shape 12"/>
          <p:cNvSpPr/>
          <p:nvPr/>
        </p:nvSpPr>
        <p:spPr>
          <a:xfrm>
            <a:off x="271463" y="2446734"/>
            <a:ext cx="4186238" cy="500063"/>
          </a:xfrm>
          <a:prstGeom prst="rect">
            <a:avLst/>
          </a:prstGeom>
          <a:solidFill>
            <a:srgbClr val="FFFFFF"/>
          </a:solidFill>
          <a:ln w="18288">
            <a:solidFill>
              <a:srgbClr val="111111"/>
            </a:solidFill>
            <a:prstDash val="solid"/>
          </a:ln>
        </p:spPr>
      </p:sp>
      <p:sp>
        <p:nvSpPr>
          <p:cNvPr id="17" name="Shape 13"/>
          <p:cNvSpPr/>
          <p:nvPr/>
        </p:nvSpPr>
        <p:spPr>
          <a:xfrm>
            <a:off x="414338" y="2561034"/>
            <a:ext cx="228600" cy="228600"/>
          </a:xfrm>
          <a:prstGeom prst="rect">
            <a:avLst/>
          </a:prstGeom>
          <a:solidFill>
            <a:srgbClr val="111111"/>
          </a:solidFill>
          <a:ln/>
        </p:spPr>
      </p:sp>
      <p:sp>
        <p:nvSpPr>
          <p:cNvPr id="18" name="Text 14"/>
          <p:cNvSpPr/>
          <p:nvPr/>
        </p:nvSpPr>
        <p:spPr>
          <a:xfrm>
            <a:off x="414338" y="2561034"/>
            <a:ext cx="228600" cy="228600"/>
          </a:xfrm>
          <a:prstGeom prst="rect">
            <a:avLst/>
          </a:prstGeom>
          <a:noFill/>
          <a:ln/>
        </p:spPr>
        <p:txBody>
          <a:bodyPr wrap="none" lIns="0" tIns="0" rIns="0" bIns="0" rtlCol="0" anchor="ctr">
            <a:spAutoFit/>
          </a:bodyPr>
          <a:lstStyle/>
          <a:p>
            <a:pPr algn="ctr" indent="0" marL="0">
              <a:buNone/>
            </a:pPr>
            <a:r>
              <a:rPr lang="en-US" sz="1000" dirty="0">
                <a:solidFill>
                  <a:srgbClr val="FFFFFF"/>
                </a:solidFill>
                <a:latin typeface="Oswald SemiBold" pitchFamily="34" charset="0"/>
                <a:ea typeface="Oswald SemiBold" pitchFamily="34" charset="-122"/>
                <a:cs typeface="Oswald SemiBold" pitchFamily="34" charset="-120"/>
              </a:rPr>
              <a:t>3</a:t>
            </a:r>
            <a:endParaRPr lang="en-US" sz="1000" dirty="0"/>
          </a:p>
        </p:txBody>
      </p:sp>
      <p:sp>
        <p:nvSpPr>
          <p:cNvPr id="19" name="Text 15"/>
          <p:cNvSpPr/>
          <p:nvPr/>
        </p:nvSpPr>
        <p:spPr>
          <a:xfrm>
            <a:off x="742950" y="2581573"/>
            <a:ext cx="3571875"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Keys and counts passed</a:t>
            </a:r>
            <a:endParaRPr lang="en-US" sz="1050" dirty="0"/>
          </a:p>
        </p:txBody>
      </p:sp>
      <p:sp>
        <p:nvSpPr>
          <p:cNvPr id="20" name="Shape 16"/>
          <p:cNvSpPr/>
          <p:nvPr/>
        </p:nvSpPr>
        <p:spPr>
          <a:xfrm>
            <a:off x="271463" y="3003947"/>
            <a:ext cx="4186238" cy="500063"/>
          </a:xfrm>
          <a:prstGeom prst="rect">
            <a:avLst/>
          </a:prstGeom>
          <a:solidFill>
            <a:srgbClr val="FFFFFF"/>
          </a:solidFill>
          <a:ln w="18288">
            <a:solidFill>
              <a:srgbClr val="111111"/>
            </a:solidFill>
            <a:prstDash val="solid"/>
          </a:ln>
        </p:spPr>
      </p:sp>
      <p:sp>
        <p:nvSpPr>
          <p:cNvPr id="21" name="Shape 17"/>
          <p:cNvSpPr/>
          <p:nvPr/>
        </p:nvSpPr>
        <p:spPr>
          <a:xfrm>
            <a:off x="414338" y="3118247"/>
            <a:ext cx="228600" cy="228600"/>
          </a:xfrm>
          <a:prstGeom prst="rect">
            <a:avLst/>
          </a:prstGeom>
          <a:solidFill>
            <a:srgbClr val="111111"/>
          </a:solidFill>
          <a:ln/>
        </p:spPr>
      </p:sp>
      <p:sp>
        <p:nvSpPr>
          <p:cNvPr id="22" name="Text 18"/>
          <p:cNvSpPr/>
          <p:nvPr/>
        </p:nvSpPr>
        <p:spPr>
          <a:xfrm>
            <a:off x="414338" y="3118247"/>
            <a:ext cx="228600" cy="228600"/>
          </a:xfrm>
          <a:prstGeom prst="rect">
            <a:avLst/>
          </a:prstGeom>
          <a:noFill/>
          <a:ln/>
        </p:spPr>
        <p:txBody>
          <a:bodyPr wrap="none" lIns="0" tIns="0" rIns="0" bIns="0" rtlCol="0" anchor="ctr">
            <a:spAutoFit/>
          </a:bodyPr>
          <a:lstStyle/>
          <a:p>
            <a:pPr algn="ctr" indent="0" marL="0">
              <a:buNone/>
            </a:pPr>
            <a:r>
              <a:rPr lang="en-US" sz="1000" dirty="0">
                <a:solidFill>
                  <a:srgbClr val="FFFFFF"/>
                </a:solidFill>
                <a:latin typeface="Oswald SemiBold" pitchFamily="34" charset="0"/>
                <a:ea typeface="Oswald SemiBold" pitchFamily="34" charset="-122"/>
                <a:cs typeface="Oswald SemiBold" pitchFamily="34" charset="-120"/>
              </a:rPr>
              <a:t>4</a:t>
            </a:r>
            <a:endParaRPr lang="en-US" sz="1000" dirty="0"/>
          </a:p>
        </p:txBody>
      </p:sp>
      <p:sp>
        <p:nvSpPr>
          <p:cNvPr id="23" name="Text 19"/>
          <p:cNvSpPr/>
          <p:nvPr/>
        </p:nvSpPr>
        <p:spPr>
          <a:xfrm>
            <a:off x="742950" y="3138785"/>
            <a:ext cx="3571875"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Metrics met tolerance</a:t>
            </a:r>
            <a:endParaRPr lang="en-US" sz="1050" dirty="0"/>
          </a:p>
        </p:txBody>
      </p:sp>
      <p:sp>
        <p:nvSpPr>
          <p:cNvPr id="24" name="Shape 20"/>
          <p:cNvSpPr/>
          <p:nvPr/>
        </p:nvSpPr>
        <p:spPr>
          <a:xfrm>
            <a:off x="271463" y="3561159"/>
            <a:ext cx="4186238" cy="500063"/>
          </a:xfrm>
          <a:prstGeom prst="rect">
            <a:avLst/>
          </a:prstGeom>
          <a:solidFill>
            <a:srgbClr val="FFFFFF"/>
          </a:solidFill>
          <a:ln w="18288">
            <a:solidFill>
              <a:srgbClr val="111111"/>
            </a:solidFill>
            <a:prstDash val="solid"/>
          </a:ln>
        </p:spPr>
      </p:sp>
      <p:sp>
        <p:nvSpPr>
          <p:cNvPr id="25" name="Shape 21"/>
          <p:cNvSpPr/>
          <p:nvPr/>
        </p:nvSpPr>
        <p:spPr>
          <a:xfrm>
            <a:off x="414338" y="3675459"/>
            <a:ext cx="228600" cy="228600"/>
          </a:xfrm>
          <a:prstGeom prst="rect">
            <a:avLst/>
          </a:prstGeom>
          <a:solidFill>
            <a:srgbClr val="111111"/>
          </a:solidFill>
          <a:ln/>
        </p:spPr>
      </p:sp>
      <p:sp>
        <p:nvSpPr>
          <p:cNvPr id="26" name="Text 22"/>
          <p:cNvSpPr/>
          <p:nvPr/>
        </p:nvSpPr>
        <p:spPr>
          <a:xfrm>
            <a:off x="414338" y="3675459"/>
            <a:ext cx="228600" cy="228600"/>
          </a:xfrm>
          <a:prstGeom prst="rect">
            <a:avLst/>
          </a:prstGeom>
          <a:noFill/>
          <a:ln/>
        </p:spPr>
        <p:txBody>
          <a:bodyPr wrap="none" lIns="0" tIns="0" rIns="0" bIns="0" rtlCol="0" anchor="ctr">
            <a:spAutoFit/>
          </a:bodyPr>
          <a:lstStyle/>
          <a:p>
            <a:pPr algn="ctr" indent="0" marL="0">
              <a:buNone/>
            </a:pPr>
            <a:r>
              <a:rPr lang="en-US" sz="1000" dirty="0">
                <a:solidFill>
                  <a:srgbClr val="FFFFFF"/>
                </a:solidFill>
                <a:latin typeface="Oswald SemiBold" pitchFamily="34" charset="0"/>
                <a:ea typeface="Oswald SemiBold" pitchFamily="34" charset="-122"/>
                <a:cs typeface="Oswald SemiBold" pitchFamily="34" charset="-120"/>
              </a:rPr>
              <a:t>5</a:t>
            </a:r>
            <a:endParaRPr lang="en-US" sz="1000" dirty="0"/>
          </a:p>
        </p:txBody>
      </p:sp>
      <p:sp>
        <p:nvSpPr>
          <p:cNvPr id="27" name="Text 23"/>
          <p:cNvSpPr/>
          <p:nvPr/>
        </p:nvSpPr>
        <p:spPr>
          <a:xfrm>
            <a:off x="742950" y="3695998"/>
            <a:ext cx="3571875"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Evidence was written</a:t>
            </a:r>
            <a:endParaRPr lang="en-US" sz="1050" dirty="0"/>
          </a:p>
        </p:txBody>
      </p:sp>
      <p:sp>
        <p:nvSpPr>
          <p:cNvPr id="28" name="Text 24"/>
          <p:cNvSpPr/>
          <p:nvPr/>
        </p:nvSpPr>
        <p:spPr>
          <a:xfrm>
            <a:off x="4686300" y="942975"/>
            <a:ext cx="4186238" cy="275034"/>
          </a:xfrm>
          <a:prstGeom prst="rect">
            <a:avLst/>
          </a:prstGeom>
          <a:noFill/>
          <a:ln/>
        </p:spPr>
        <p:txBody>
          <a:bodyPr wrap="square" lIns="0" tIns="0" rIns="0" bIns="0" rtlCol="0" anchor="t">
            <a:spAutoFit/>
          </a:bodyPr>
          <a:lstStyle/>
          <a:p>
            <a:pPr algn="l" indent="0" marL="0">
              <a:buNone/>
            </a:pPr>
            <a:r>
              <a:rPr lang="en-US" sz="1400" dirty="0">
                <a:solidFill>
                  <a:srgbClr val="D9504F"/>
                </a:solidFill>
                <a:latin typeface="Oswald SemiBold" pitchFamily="34" charset="0"/>
                <a:ea typeface="Oswald SemiBold" pitchFamily="34" charset="-122"/>
                <a:cs typeface="Oswald SemiBold" pitchFamily="34" charset="-120"/>
              </a:rPr>
              <a:t>PASS DOES NOT MEAN:</a:t>
            </a:r>
            <a:endParaRPr lang="en-US" sz="1400" dirty="0"/>
          </a:p>
        </p:txBody>
      </p:sp>
      <p:sp>
        <p:nvSpPr>
          <p:cNvPr id="29" name="Shape 25"/>
          <p:cNvSpPr/>
          <p:nvPr/>
        </p:nvSpPr>
        <p:spPr>
          <a:xfrm>
            <a:off x="4686300" y="1332309"/>
            <a:ext cx="4186238" cy="458986"/>
          </a:xfrm>
          <a:prstGeom prst="rect">
            <a:avLst/>
          </a:prstGeom>
          <a:solidFill>
            <a:srgbClr val="FFF8F7"/>
          </a:solidFill>
          <a:ln w="18288">
            <a:solidFill>
              <a:srgbClr val="111111"/>
            </a:solidFill>
            <a:prstDash val="solid"/>
          </a:ln>
        </p:spPr>
      </p:sp>
      <p:sp>
        <p:nvSpPr>
          <p:cNvPr id="30" name="Text 26"/>
          <p:cNvSpPr/>
          <p:nvPr/>
        </p:nvSpPr>
        <p:spPr>
          <a:xfrm>
            <a:off x="4829175" y="1454646"/>
            <a:ext cx="117872"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D9504F"/>
                </a:solidFill>
                <a:latin typeface="Inter Bold" pitchFamily="34" charset="0"/>
                <a:ea typeface="Inter Bold" pitchFamily="34" charset="-122"/>
                <a:cs typeface="Inter Bold" pitchFamily="34" charset="-120"/>
              </a:rPr>
              <a:t>×</a:t>
            </a:r>
            <a:endParaRPr lang="en-US" sz="1200" dirty="0"/>
          </a:p>
        </p:txBody>
      </p:sp>
      <p:sp>
        <p:nvSpPr>
          <p:cNvPr id="31" name="Text 27"/>
          <p:cNvSpPr/>
          <p:nvPr/>
        </p:nvSpPr>
        <p:spPr>
          <a:xfrm>
            <a:off x="5047059" y="1446609"/>
            <a:ext cx="1528763"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Full population parity</a:t>
            </a:r>
            <a:endParaRPr lang="en-US" sz="1050" dirty="0"/>
          </a:p>
        </p:txBody>
      </p:sp>
      <p:sp>
        <p:nvSpPr>
          <p:cNvPr id="32" name="Shape 28"/>
          <p:cNvSpPr/>
          <p:nvPr/>
        </p:nvSpPr>
        <p:spPr>
          <a:xfrm>
            <a:off x="4686300" y="1848445"/>
            <a:ext cx="4186238" cy="458986"/>
          </a:xfrm>
          <a:prstGeom prst="rect">
            <a:avLst/>
          </a:prstGeom>
          <a:solidFill>
            <a:srgbClr val="FFF8F7"/>
          </a:solidFill>
          <a:ln w="18288">
            <a:solidFill>
              <a:srgbClr val="111111"/>
            </a:solidFill>
            <a:prstDash val="solid"/>
          </a:ln>
        </p:spPr>
      </p:sp>
      <p:sp>
        <p:nvSpPr>
          <p:cNvPr id="33" name="Text 29"/>
          <p:cNvSpPr/>
          <p:nvPr/>
        </p:nvSpPr>
        <p:spPr>
          <a:xfrm>
            <a:off x="4829175" y="1970782"/>
            <a:ext cx="117872"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D9504F"/>
                </a:solidFill>
                <a:latin typeface="Inter Bold" pitchFamily="34" charset="0"/>
                <a:ea typeface="Inter Bold" pitchFamily="34" charset="-122"/>
                <a:cs typeface="Inter Bold" pitchFamily="34" charset="-120"/>
              </a:rPr>
              <a:t>×</a:t>
            </a:r>
            <a:endParaRPr lang="en-US" sz="1200" dirty="0"/>
          </a:p>
        </p:txBody>
      </p:sp>
      <p:sp>
        <p:nvSpPr>
          <p:cNvPr id="34" name="Text 30"/>
          <p:cNvSpPr/>
          <p:nvPr/>
        </p:nvSpPr>
        <p:spPr>
          <a:xfrm>
            <a:off x="5047059" y="1962745"/>
            <a:ext cx="1596628"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Spark or cluster proof</a:t>
            </a:r>
            <a:endParaRPr lang="en-US" sz="1050" dirty="0"/>
          </a:p>
        </p:txBody>
      </p:sp>
      <p:sp>
        <p:nvSpPr>
          <p:cNvPr id="35" name="Shape 31"/>
          <p:cNvSpPr/>
          <p:nvPr/>
        </p:nvSpPr>
        <p:spPr>
          <a:xfrm>
            <a:off x="4686300" y="2364581"/>
            <a:ext cx="4186238" cy="458986"/>
          </a:xfrm>
          <a:prstGeom prst="rect">
            <a:avLst/>
          </a:prstGeom>
          <a:solidFill>
            <a:srgbClr val="FFF8F7"/>
          </a:solidFill>
          <a:ln w="18288">
            <a:solidFill>
              <a:srgbClr val="111111"/>
            </a:solidFill>
            <a:prstDash val="solid"/>
          </a:ln>
        </p:spPr>
      </p:sp>
      <p:sp>
        <p:nvSpPr>
          <p:cNvPr id="36" name="Text 32"/>
          <p:cNvSpPr/>
          <p:nvPr/>
        </p:nvSpPr>
        <p:spPr>
          <a:xfrm>
            <a:off x="4829175" y="2486918"/>
            <a:ext cx="117872"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D9504F"/>
                </a:solidFill>
                <a:latin typeface="Inter Bold" pitchFamily="34" charset="0"/>
                <a:ea typeface="Inter Bold" pitchFamily="34" charset="-122"/>
                <a:cs typeface="Inter Bold" pitchFamily="34" charset="-120"/>
              </a:rPr>
              <a:t>×</a:t>
            </a:r>
            <a:endParaRPr lang="en-US" sz="1200" dirty="0"/>
          </a:p>
        </p:txBody>
      </p:sp>
      <p:sp>
        <p:nvSpPr>
          <p:cNvPr id="37" name="Text 33"/>
          <p:cNvSpPr/>
          <p:nvPr/>
        </p:nvSpPr>
        <p:spPr>
          <a:xfrm>
            <a:off x="5047059" y="2478881"/>
            <a:ext cx="1385888"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Performance proof</a:t>
            </a:r>
            <a:endParaRPr lang="en-US" sz="1050" dirty="0"/>
          </a:p>
        </p:txBody>
      </p:sp>
      <p:sp>
        <p:nvSpPr>
          <p:cNvPr id="38" name="Shape 34"/>
          <p:cNvSpPr/>
          <p:nvPr/>
        </p:nvSpPr>
        <p:spPr>
          <a:xfrm>
            <a:off x="4686300" y="2880717"/>
            <a:ext cx="4186238" cy="458986"/>
          </a:xfrm>
          <a:prstGeom prst="rect">
            <a:avLst/>
          </a:prstGeom>
          <a:solidFill>
            <a:srgbClr val="FFF8F7"/>
          </a:solidFill>
          <a:ln w="18288">
            <a:solidFill>
              <a:srgbClr val="111111"/>
            </a:solidFill>
            <a:prstDash val="solid"/>
          </a:ln>
        </p:spPr>
      </p:sp>
      <p:sp>
        <p:nvSpPr>
          <p:cNvPr id="39" name="Text 35"/>
          <p:cNvSpPr/>
          <p:nvPr/>
        </p:nvSpPr>
        <p:spPr>
          <a:xfrm>
            <a:off x="4829175" y="3003054"/>
            <a:ext cx="117872"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D9504F"/>
                </a:solidFill>
                <a:latin typeface="Inter Bold" pitchFamily="34" charset="0"/>
                <a:ea typeface="Inter Bold" pitchFamily="34" charset="-122"/>
                <a:cs typeface="Inter Bold" pitchFamily="34" charset="-120"/>
              </a:rPr>
              <a:t>×</a:t>
            </a:r>
            <a:endParaRPr lang="en-US" sz="1200" dirty="0"/>
          </a:p>
        </p:txBody>
      </p:sp>
      <p:sp>
        <p:nvSpPr>
          <p:cNvPr id="40" name="Text 36"/>
          <p:cNvSpPr/>
          <p:nvPr/>
        </p:nvSpPr>
        <p:spPr>
          <a:xfrm>
            <a:off x="5047059" y="2995017"/>
            <a:ext cx="1553766"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Production readiness</a:t>
            </a:r>
            <a:endParaRPr lang="en-US" sz="1050" dirty="0"/>
          </a:p>
        </p:txBody>
      </p:sp>
      <p:sp>
        <p:nvSpPr>
          <p:cNvPr id="41" name="Shape 37"/>
          <p:cNvSpPr/>
          <p:nvPr/>
        </p:nvSpPr>
        <p:spPr>
          <a:xfrm>
            <a:off x="4686300" y="3396853"/>
            <a:ext cx="4186238" cy="458986"/>
          </a:xfrm>
          <a:prstGeom prst="rect">
            <a:avLst/>
          </a:prstGeom>
          <a:solidFill>
            <a:srgbClr val="FFF8F7"/>
          </a:solidFill>
          <a:ln w="18288">
            <a:solidFill>
              <a:srgbClr val="111111"/>
            </a:solidFill>
            <a:prstDash val="solid"/>
          </a:ln>
        </p:spPr>
      </p:sp>
      <p:sp>
        <p:nvSpPr>
          <p:cNvPr id="42" name="Text 38"/>
          <p:cNvSpPr/>
          <p:nvPr/>
        </p:nvSpPr>
        <p:spPr>
          <a:xfrm>
            <a:off x="4829175" y="3519190"/>
            <a:ext cx="117872"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D9504F"/>
                </a:solidFill>
                <a:latin typeface="Inter Bold" pitchFamily="34" charset="0"/>
                <a:ea typeface="Inter Bold" pitchFamily="34" charset="-122"/>
                <a:cs typeface="Inter Bold" pitchFamily="34" charset="-120"/>
              </a:rPr>
              <a:t>×</a:t>
            </a:r>
            <a:endParaRPr lang="en-US" sz="1200" dirty="0"/>
          </a:p>
        </p:txBody>
      </p:sp>
      <p:sp>
        <p:nvSpPr>
          <p:cNvPr id="43" name="Text 39"/>
          <p:cNvSpPr/>
          <p:nvPr/>
        </p:nvSpPr>
        <p:spPr>
          <a:xfrm>
            <a:off x="5047059" y="3511153"/>
            <a:ext cx="1243013" cy="187523"/>
          </a:xfrm>
          <a:prstGeom prst="rect">
            <a:avLst/>
          </a:prstGeom>
          <a:noFill/>
          <a:ln/>
        </p:spPr>
        <p:txBody>
          <a:bodyPr wrap="none" lIns="0" tIns="0" rIns="0" bIns="0" rtlCol="0" anchor="t">
            <a:spAutoFit/>
          </a:bodyPr>
          <a:lstStyle/>
          <a:p>
            <a:pPr algn="l" indent="0" marL="0">
              <a:lnSpc>
                <a:spcPct val="100000"/>
              </a:lnSpc>
              <a:buNone/>
            </a:pPr>
            <a:r>
              <a:rPr lang="en-US" sz="1050" b="1" dirty="0">
                <a:solidFill>
                  <a:srgbClr val="30343B"/>
                </a:solidFill>
                <a:latin typeface="Inter Bold" pitchFamily="34" charset="0"/>
                <a:ea typeface="Inter Bold" pitchFamily="34" charset="-122"/>
                <a:cs typeface="Inter Bold" pitchFamily="34" charset="-120"/>
              </a:rPr>
              <a:t>Release approval</a:t>
            </a:r>
            <a:endParaRPr lang="en-US" sz="1050" dirty="0"/>
          </a:p>
        </p:txBody>
      </p:sp>
      <p:sp>
        <p:nvSpPr>
          <p:cNvPr id="44" name="Shape 40"/>
          <p:cNvSpPr/>
          <p:nvPr/>
        </p:nvSpPr>
        <p:spPr>
          <a:xfrm rot="-60000">
            <a:off x="542925" y="4632052"/>
            <a:ext cx="8601075" cy="454298"/>
          </a:xfrm>
          <a:prstGeom prst="rect">
            <a:avLst/>
          </a:prstGeom>
          <a:solidFill>
            <a:srgbClr val="FFDF00"/>
          </a:solidFill>
          <a:ln w="27432">
            <a:solidFill>
              <a:srgbClr val="111111"/>
            </a:solidFill>
            <a:prstDash val="solid"/>
          </a:ln>
        </p:spPr>
      </p:sp>
      <p:sp>
        <p:nvSpPr>
          <p:cNvPr id="45" name="Text 41"/>
          <p:cNvSpPr/>
          <p:nvPr/>
        </p:nvSpPr>
        <p:spPr>
          <a:xfrm rot="-60000">
            <a:off x="543762" y="4669543"/>
            <a:ext cx="8599401" cy="379315"/>
          </a:xfrm>
          <a:prstGeom prst="rect">
            <a:avLst/>
          </a:prstGeom>
          <a:noFill/>
          <a:ln/>
        </p:spPr>
        <p:txBody>
          <a:bodyPr wrap="square" lIns="204089" tIns="119126" rIns="204089" bIns="119126" rtlCol="0" anchor="t">
            <a:spAutoFit/>
          </a:bodyPr>
          <a:lstStyle/>
          <a:p>
            <a:pPr algn="ctr" indent="0" marL="0">
              <a:lnSpc>
                <a:spcPct val="92000"/>
              </a:lnSpc>
              <a:buNone/>
            </a:pPr>
            <a:r>
              <a:rPr lang="en-US" sz="1200" b="1" dirty="0">
                <a:solidFill>
                  <a:srgbClr val="111111"/>
                </a:solidFill>
                <a:latin typeface="Kalam Bold" pitchFamily="34" charset="0"/>
                <a:ea typeface="Kalam Bold" pitchFamily="34" charset="-122"/>
                <a:cs typeface="Kalam Bold" pitchFamily="34" charset="-120"/>
              </a:rPr>
              <a:t>Business meaning:</a:t>
            </a:r>
            <a:r>
              <a:rPr lang="en-US" sz="1250" dirty="0">
                <a:solidFill>
                  <a:srgbClr val="111111"/>
                </a:solidFill>
                <a:latin typeface="Kalam Bold" pitchFamily="34" charset="0"/>
                <a:ea typeface="Kalam Bold" pitchFamily="34" charset="-122"/>
                <a:cs typeface="Kalam Bold" pitchFamily="34" charset="-120"/>
              </a:rPr>
              <a:t> The </a:t>
            </a:r>
            <a:r>
              <a:rPr lang="en-US" sz="1250" dirty="0">
                <a:solidFill>
                  <a:srgbClr val="111111"/>
                </a:solidFill>
                <a:latin typeface="Kalam Bold" pitchFamily="34" charset="0"/>
                <a:ea typeface="Kalam Bold" pitchFamily="34" charset="-122"/>
                <a:cs typeface="Kalam Bold" pitchFamily="34" charset="-120"/>
              </a:rPr>
              <a:t>claim is st</a:t>
            </a:r>
            <a:r>
              <a:rPr lang="en-US" sz="1250" dirty="0">
                <a:solidFill>
                  <a:srgbClr val="111111"/>
                </a:solidFill>
                <a:latin typeface="Kalam Bold" pitchFamily="34" charset="0"/>
                <a:ea typeface="Kalam Bold" pitchFamily="34" charset="-122"/>
                <a:cs typeface="Kalam Bold" pitchFamily="34" charset="-120"/>
              </a:rPr>
              <a:t>rong becau</a:t>
            </a:r>
            <a:r>
              <a:rPr lang="en-US" sz="1250" dirty="0">
                <a:solidFill>
                  <a:srgbClr val="111111"/>
                </a:solidFill>
                <a:latin typeface="Kalam Bold" pitchFamily="34" charset="0"/>
                <a:ea typeface="Kalam Bold" pitchFamily="34" charset="-122"/>
                <a:cs typeface="Kalam Bold" pitchFamily="34" charset="-120"/>
              </a:rPr>
              <a:t>se it is nar</a:t>
            </a:r>
            <a:r>
              <a:rPr lang="en-US" sz="1250" dirty="0">
                <a:solidFill>
                  <a:srgbClr val="111111"/>
                </a:solidFill>
                <a:latin typeface="Kalam Bold" pitchFamily="34" charset="0"/>
                <a:ea typeface="Kalam Bold" pitchFamily="34" charset="-122"/>
                <a:cs typeface="Kalam Bold" pitchFamily="34" charset="-120"/>
              </a:rPr>
              <a:t>row.</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71463" y="214313"/>
            <a:ext cx="8601075" cy="742950"/>
          </a:xfrm>
          <a:prstGeom prst="rect">
            <a:avLst/>
          </a:prstGeom>
          <a:solidFill>
            <a:srgbClr val="000000">
              <a:alpha val="0"/>
            </a:srgbClr>
          </a:solidFill>
          <a:ln/>
        </p:spPr>
      </p:sp>
      <p:sp>
        <p:nvSpPr>
          <p:cNvPr id="4" name="Shape 1"/>
          <p:cNvSpPr/>
          <p:nvPr/>
        </p:nvSpPr>
        <p:spPr>
          <a:xfrm>
            <a:off x="271463" y="928688"/>
            <a:ext cx="8601075" cy="28575"/>
          </a:xfrm>
          <a:prstGeom prst="rect">
            <a:avLst/>
          </a:prstGeom>
          <a:solidFill>
            <a:srgbClr val="111111"/>
          </a:solidFill>
          <a:ln/>
        </p:spPr>
      </p:sp>
      <p:sp>
        <p:nvSpPr>
          <p:cNvPr id="5" name="Text 2"/>
          <p:cNvSpPr/>
          <p:nvPr/>
        </p:nvSpPr>
        <p:spPr>
          <a:xfrm>
            <a:off x="271463" y="311479"/>
            <a:ext cx="8601075" cy="345021"/>
          </a:xfrm>
          <a:prstGeom prst="rect">
            <a:avLst/>
          </a:prstGeom>
          <a:noFill/>
          <a:ln/>
        </p:spPr>
        <p:txBody>
          <a:bodyPr wrap="none" lIns="0" tIns="0" rIns="0" bIns="0" rtlCol="0" anchor="t">
            <a:spAutoFit/>
          </a:bodyPr>
          <a:lstStyle/>
          <a:p>
            <a:pPr algn="l" indent="0" marL="0">
              <a:lnSpc>
                <a:spcPct val="84000"/>
              </a:lnSpc>
              <a:buNone/>
            </a:pPr>
            <a:r>
              <a:rPr lang="en-US" sz="2350" b="1" dirty="0">
                <a:solidFill>
                  <a:srgbClr val="111111"/>
                </a:solidFill>
                <a:latin typeface="Oswald SemiBold" pitchFamily="34" charset="0"/>
                <a:ea typeface="Oswald SemiBold" pitchFamily="34" charset="-122"/>
                <a:cs typeface="Oswald SemiBold" pitchFamily="34" charset="-120"/>
              </a:rPr>
              <a:t>DEFINITION OF DONE: THE CONTROL FLOW</a:t>
            </a:r>
            <a:endParaRPr lang="en-US" sz="2350" dirty="0"/>
          </a:p>
        </p:txBody>
      </p:sp>
      <p:sp>
        <p:nvSpPr>
          <p:cNvPr id="6" name="Text 3"/>
          <p:cNvSpPr/>
          <p:nvPr/>
        </p:nvSpPr>
        <p:spPr>
          <a:xfrm>
            <a:off x="271463" y="685074"/>
            <a:ext cx="8601075" cy="175022"/>
          </a:xfrm>
          <a:prstGeom prst="rect">
            <a:avLst/>
          </a:prstGeom>
          <a:noFill/>
          <a:ln/>
        </p:spPr>
        <p:txBody>
          <a:bodyPr wrap="square" lIns="0" tIns="0" rIns="0" bIns="0" rtlCol="0" anchor="t">
            <a:spAutoFit/>
          </a:bodyPr>
          <a:lstStyle/>
          <a:p>
            <a:pPr algn="l" indent="0" marL="0">
              <a:buNone/>
            </a:pPr>
            <a:r>
              <a:rPr lang="en-US" sz="1000" b="1" dirty="0">
                <a:solidFill>
                  <a:srgbClr val="444444"/>
                </a:solidFill>
                <a:latin typeface="Inter SemiBold" pitchFamily="34" charset="0"/>
                <a:ea typeface="Inter SemiBold" pitchFamily="34" charset="-122"/>
                <a:cs typeface="Inter SemiBold" pitchFamily="34" charset="-120"/>
              </a:rPr>
              <a:t>Exact Mermaid flow: every required gate leads to a release-ready, rollback-ready result.</a:t>
            </a:r>
            <a:endParaRPr lang="en-US" sz="1000" dirty="0"/>
          </a:p>
        </p:txBody>
      </p:sp>
      <p:pic>
        <p:nvPicPr>
          <p:cNvPr id="7" name="Image 1" descr="preencoded.png">    </p:cNvPr>
          <p:cNvPicPr>
            <a:picLocks noChangeAspect="1"/>
          </p:cNvPicPr>
          <p:nvPr/>
        </p:nvPicPr>
        <p:blipFill>
          <a:blip r:embed="rId2"/>
          <a:stretch>
            <a:fillRect/>
          </a:stretch>
        </p:blipFill>
        <p:spPr>
          <a:xfrm>
            <a:off x="357188" y="1114425"/>
            <a:ext cx="8429625" cy="39433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2026-09-25T11:54:36Z</dcterms:created>
  <dcterms:modified xsi:type="dcterms:W3CDTF">2026-09-25T11:54:36Z</dcterms:modified>
</cp:coreProperties>
</file>
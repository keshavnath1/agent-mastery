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Copilot execution, this is the most important framing. The model is not the system. The system is the harness around the model: instructions, workflow, skills, contracts, validators, gates, and reviews. That harness is what prevents a free-form code generator from becoming an uncontrolled migration process. In our SAS migration, humans still own meaning, evidence, and verdict.
So when I show Copilot chat in the next slides, remember: chat is only the interface. The repo is the control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exactly what the repo forces Copilot to do. This is the top-level instruction file. It does not say 'migrate code'. It says: follow the contract, check the run state, invoke exactly one authorized skill, produce evidence,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that the instructions refer to. It names what Copilot must read and the exact skill sequence it must follow. It also separates six roles: the analyst defines behavior, the maker builds, the explorer diagnoses, the checker verifies, the orchestrator routes, and the human approves. The next slide shows how those role boundaries become handoffs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connection from the previous slide. Orchestrate is not the worker. It is the traffic controller. It decides which role may act, which skill may run, what artifact must come back, which gate must pass, and what state gets recorded before stopping.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workflow is repeatable. Interview, specify, trace, map, model, generate, validate - each skill follows the same contract. Before it runs, it checks inputs. During execution, it stays inside its boundary. Afterward, it writes evidence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full migration flow becomes easier to understand. Act 1 aligns intent. Act 2 reconstructs SAS meaning. Act 3 builds and proves Python locally. Act 4 handles selected runtime proof and release. Act 5 learns only from repeated accepted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right is the actual prompt I type into Copilot. On the left is what the repo forces Copilot to do. It does not start coding. It opens a governed run, reads the intake evidence, routes to interview, and stops before making decisions that belong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important because the sample size is not a technical detail. It defines the proof boundary. If I choose 50 records, I cannot later claim full-population 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intent becomes a contract. The PRD says what problem we are solving. The spec defines behavior. The tie-out file defines evidence. The ADR records the architecture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turns the trace into implementation policy. It says which behavior belongs to the semantic core, which behavior is deferred to adapters, and which patterns must be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right to expect one more execution step here. After Act 2 maps SAS behavior into policy, the repo still has to create the implementation path before validation can run.
This is where the model and generate skills come in. The model skill turns trace and policy into a semantic IR: an explicit, reviewable contract for the math, transformations, target event, and scoring behavior. Then the generate skill turns that semantic IR into Python code.
This bridge matters because we do not want Copilot to generate Python directly from a vague business request or from raw SAS alone. The repo forces an intermediate semantic layer first, so code generation is grounded in approved behavior.
Act 2 preserves meaning as policy. Act 3 turns that policy into a semantic model, generates Python from the model, and only then validates the result against SAS.
Now the validate stage can run because we have an approved behavior contract and generated Python output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tie-out is the proof step. Python produces actual scores. The runner compares them to the SAS oracle under the approved contract. The result is not a feeling from chat. It is a structured evidence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tie-out fails, we do not patch the easiest visible symptom. The workflow routes the failure to the earliest failed gate. Maybe the issue is SAS behavior mapping. Maybe it is generated Python. Maybe it is fixture selection. Maybe it is the contract. The repair must name one hypothesis and one owning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how that governance looks on a real SAS file. We start by extracting the behavior. Copilot reads the SAS program and log, and creates this trace. The trace records exactly which mathematical model ran—in this case, PROC LOGISTIC—and verifies that the model successfully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jump from a trace to Python. We build an intermediate semantic model. Here, the behavior becomes an explicit math formula: the logistic link transformation. This preserves ownership of the logic and prevents the AI code generator from improvising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semantic model becomes Python. Copilot generates the Python code, but notice the citation: it explicitly references the exact lines of the original SAS source. We are not just translating; we are building a deterministic producer that we can test against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proof. We run the tie-out comparison between the generated Python and the SAS oracle. Look at the result on the right: it passes. But notice the delta summary. It proves that the probability difference across our 50 records is bounded to 10 to the negative 10. That is how we replace 'looks right' with deterministic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tie-out passes, we can say local Python semantic behavior matched SAS for the governed 50-record sample within tolerance. We cannot say full population, cluster behavior, performance, or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preencoded.png">    </p:cNvPr>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HOW THE HARNESS GOVERNS THE MODEL</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model → harness → controls → human boundary → verdict.</a:t>
            </a:r>
            <a:endParaRPr lang="en-US" sz="1000" dirty="0"/>
          </a:p>
        </p:txBody>
      </p:sp>
      <p:pic>
        <p:nvPicPr>
          <p:cNvPr id="7" name="Image 1" descr="preencoded.png">    </p:cNvPr>
          <p:cNvPicPr>
            <a:picLocks noChangeAspect="1"/>
          </p:cNvPicPr>
          <p:nvPr/>
        </p:nvPicPr>
        <p:blipFill>
          <a:blip r:embed="rId2"/>
          <a:stretch>
            <a:fillRect/>
          </a:stretch>
        </p:blipFill>
        <p:spPr>
          <a:xfrm>
            <a:off x="357188" y="1128713"/>
            <a:ext cx="8429625" cy="392906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671513"/>
          </a:xfrm>
          <a:prstGeom prst="rect">
            <a:avLst/>
          </a:prstGeom>
          <a:solidFill>
            <a:srgbClr val="000000">
              <a:alpha val="0"/>
            </a:srgbClr>
          </a:solidFill>
          <a:ln/>
        </p:spPr>
      </p:sp>
      <p:sp>
        <p:nvSpPr>
          <p:cNvPr id="5" name="Shape 1"/>
          <p:cNvSpPr/>
          <p:nvPr/>
        </p:nvSpPr>
        <p:spPr>
          <a:xfrm>
            <a:off x="300038" y="857250"/>
            <a:ext cx="8543925" cy="28575"/>
          </a:xfrm>
          <a:prstGeom prst="rect">
            <a:avLst/>
          </a:prstGeom>
          <a:solidFill>
            <a:srgbClr val="111111"/>
          </a:solidFill>
          <a:ln/>
        </p:spPr>
      </p:sp>
      <p:sp>
        <p:nvSpPr>
          <p:cNvPr id="6" name="Text 2"/>
          <p:cNvSpPr/>
          <p:nvPr/>
        </p:nvSpPr>
        <p:spPr>
          <a:xfrm>
            <a:off x="300038" y="214313"/>
            <a:ext cx="4029075"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WHAT COPILOT READS FIRST</a:t>
            </a:r>
            <a:endParaRPr lang="en-US" sz="2550" dirty="0"/>
          </a:p>
        </p:txBody>
      </p:sp>
      <p:sp>
        <p:nvSpPr>
          <p:cNvPr id="7" name="Text 3"/>
          <p:cNvSpPr/>
          <p:nvPr/>
        </p:nvSpPr>
        <p:spPr>
          <a:xfrm>
            <a:off x="300038" y="639366"/>
            <a:ext cx="4029075" cy="271463"/>
          </a:xfrm>
          <a:prstGeom prst="rect">
            <a:avLst/>
          </a:prstGeom>
          <a:noFill/>
          <a:ln/>
        </p:spPr>
        <p:txBody>
          <a:bodyPr wrap="square" lIns="0" tIns="0" rIns="0" bIns="0" rtlCol="0" anchor="t">
            <a:spAutoFit/>
          </a:bodyPr>
          <a:lstStyle/>
          <a:p>
            <a:pPr algn="l" indent="0" marL="0">
              <a:buNone/>
            </a:pPr>
            <a:r>
              <a:rPr lang="en-US" sz="1250" dirty="0">
                <a:solidFill>
                  <a:srgbClr val="0055FF"/>
                </a:solidFill>
                <a:latin typeface="Kalam Bold" pitchFamily="34" charset="0"/>
                <a:ea typeface="Kalam Bold" pitchFamily="34" charset="-122"/>
                <a:cs typeface="Kalam Bold" pitchFamily="34" charset="-120"/>
              </a:rPr>
              <a:t>The instruction file forces AI into a governed loop.</a:t>
            </a:r>
            <a:endParaRPr lang="en-US" sz="1250" dirty="0"/>
          </a:p>
        </p:txBody>
      </p:sp>
      <p:sp>
        <p:nvSpPr>
          <p:cNvPr id="8" name="Shape 4"/>
          <p:cNvSpPr/>
          <p:nvPr/>
        </p:nvSpPr>
        <p:spPr>
          <a:xfrm>
            <a:off x="300038" y="1157288"/>
            <a:ext cx="2928938" cy="910047"/>
          </a:xfrm>
          <a:prstGeom prst="rect">
            <a:avLst/>
          </a:prstGeom>
          <a:solidFill>
            <a:srgbClr val="FFFFFF"/>
          </a:solidFill>
          <a:ln w="18288">
            <a:solidFill>
              <a:srgbClr val="111111"/>
            </a:solidFill>
            <a:prstDash val="solid"/>
          </a:ln>
        </p:spPr>
      </p:sp>
      <p:sp>
        <p:nvSpPr>
          <p:cNvPr id="9" name="Shape 5"/>
          <p:cNvSpPr/>
          <p:nvPr/>
        </p:nvSpPr>
        <p:spPr>
          <a:xfrm>
            <a:off x="414338" y="1285875"/>
            <a:ext cx="300038" cy="300038"/>
          </a:xfrm>
          <a:prstGeom prst="rect">
            <a:avLst/>
          </a:prstGeom>
          <a:solidFill>
            <a:srgbClr val="FF443A"/>
          </a:solidFill>
          <a:ln w="18288">
            <a:solidFill>
              <a:srgbClr val="111111"/>
            </a:solidFill>
            <a:prstDash val="solid"/>
          </a:ln>
        </p:spPr>
      </p:sp>
      <p:sp>
        <p:nvSpPr>
          <p:cNvPr id="10" name="Text 6"/>
          <p:cNvSpPr/>
          <p:nvPr/>
        </p:nvSpPr>
        <p:spPr>
          <a:xfrm>
            <a:off x="414338" y="1285875"/>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1</a:t>
            </a:r>
            <a:endParaRPr lang="en-US" sz="1400" dirty="0"/>
          </a:p>
        </p:txBody>
      </p:sp>
      <p:sp>
        <p:nvSpPr>
          <p:cNvPr id="11" name="Text 7"/>
          <p:cNvSpPr/>
          <p:nvPr/>
        </p:nvSpPr>
        <p:spPr>
          <a:xfrm>
            <a:off x="828675" y="1285875"/>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LOAD THE CONTRACTS</a:t>
            </a:r>
            <a:endParaRPr lang="en-US" sz="1300" dirty="0"/>
          </a:p>
        </p:txBody>
      </p:sp>
      <p:sp>
        <p:nvSpPr>
          <p:cNvPr id="12" name="Text 8"/>
          <p:cNvSpPr/>
          <p:nvPr/>
        </p:nvSpPr>
        <p:spPr>
          <a:xfrm>
            <a:off x="828675" y="1543050"/>
            <a:ext cx="2257425"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Copilot follows </a:t>
            </a:r>
            <a:r>
              <a:rPr lang="en-US" sz="800" b="1" dirty="0">
                <a:solidFill>
                  <a:srgbClr val="FF443A"/>
                </a:solidFill>
                <a:latin typeface="JetBrains Mono Bold" pitchFamily="34" charset="0"/>
                <a:ea typeface="JetBrains Mono Bold" pitchFamily="34" charset="-122"/>
                <a:cs typeface="JetBrains Mono Bold" pitchFamily="34" charset="-120"/>
              </a:rPr>
              <a:t>AGENTS.md</a:t>
            </a:r>
            <a:r>
              <a:rPr lang="en-US" sz="950" b="1" dirty="0">
                <a:solidFill>
                  <a:srgbClr val="30343B"/>
                </a:solidFill>
                <a:latin typeface="Inter SemiBold" pitchFamily="34" charset="0"/>
                <a:ea typeface="Inter SemiBold" pitchFamily="34" charset="-122"/>
                <a:cs typeface="Inter SemiBold" pitchFamily="34" charset="-120"/>
              </a:rPr>
              <a:t> and </a:t>
            </a:r>
            <a:r>
              <a:rPr lang="en-US" sz="800" b="1" dirty="0">
                <a:solidFill>
                  <a:srgbClr val="FF443A"/>
                </a:solidFill>
                <a:latin typeface="JetBrains Mono Bold" pitchFamily="34" charset="0"/>
                <a:ea typeface="JetBrains Mono Bold" pitchFamily="34" charset="-122"/>
                <a:cs typeface="JetBrains Mono Bold" pitchFamily="34" charset="-120"/>
              </a:rPr>
              <a:t>workflow.yaml</a:t>
            </a:r>
            <a:r>
              <a:rPr lang="en-US" sz="950" b="1" dirty="0">
                <a:solidFill>
                  <a:srgbClr val="30343B"/>
                </a:solidFill>
                <a:latin typeface="Inter SemiBold" pitchFamily="34" charset="0"/>
                <a:ea typeface="Inter SemiBold" pitchFamily="34" charset="-122"/>
                <a:cs typeface="Inter SemiBold" pitchFamily="34" charset="-120"/>
              </a:rPr>
              <a:t> as authority.</a:t>
            </a:r>
            <a:endParaRPr lang="en-US" sz="950" dirty="0"/>
          </a:p>
        </p:txBody>
      </p:sp>
      <p:sp>
        <p:nvSpPr>
          <p:cNvPr id="13" name="Shape 9"/>
          <p:cNvSpPr/>
          <p:nvPr/>
        </p:nvSpPr>
        <p:spPr>
          <a:xfrm>
            <a:off x="300038" y="2253072"/>
            <a:ext cx="2928938" cy="1086464"/>
          </a:xfrm>
          <a:prstGeom prst="rect">
            <a:avLst/>
          </a:prstGeom>
          <a:solidFill>
            <a:srgbClr val="FFFFFF"/>
          </a:solidFill>
          <a:ln w="18288">
            <a:solidFill>
              <a:srgbClr val="111111"/>
            </a:solidFill>
            <a:prstDash val="solid"/>
          </a:ln>
        </p:spPr>
      </p:sp>
      <p:sp>
        <p:nvSpPr>
          <p:cNvPr id="14" name="Shape 10"/>
          <p:cNvSpPr/>
          <p:nvPr/>
        </p:nvSpPr>
        <p:spPr>
          <a:xfrm>
            <a:off x="414338" y="2381659"/>
            <a:ext cx="300038" cy="300038"/>
          </a:xfrm>
          <a:prstGeom prst="rect">
            <a:avLst/>
          </a:prstGeom>
          <a:solidFill>
            <a:srgbClr val="FF443A"/>
          </a:solidFill>
          <a:ln w="18288">
            <a:solidFill>
              <a:srgbClr val="111111"/>
            </a:solidFill>
            <a:prstDash val="solid"/>
          </a:ln>
        </p:spPr>
      </p:sp>
      <p:sp>
        <p:nvSpPr>
          <p:cNvPr id="15" name="Text 11"/>
          <p:cNvSpPr/>
          <p:nvPr/>
        </p:nvSpPr>
        <p:spPr>
          <a:xfrm>
            <a:off x="414338" y="2381659"/>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2</a:t>
            </a:r>
            <a:endParaRPr lang="en-US" sz="1400" dirty="0"/>
          </a:p>
        </p:txBody>
      </p:sp>
      <p:sp>
        <p:nvSpPr>
          <p:cNvPr id="16" name="Text 12"/>
          <p:cNvSpPr/>
          <p:nvPr/>
        </p:nvSpPr>
        <p:spPr>
          <a:xfrm>
            <a:off x="828675" y="2381659"/>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PROVE, RECORD, STOP</a:t>
            </a:r>
            <a:endParaRPr lang="en-US" sz="1300" dirty="0"/>
          </a:p>
        </p:txBody>
      </p:sp>
      <p:sp>
        <p:nvSpPr>
          <p:cNvPr id="17" name="Text 13"/>
          <p:cNvSpPr/>
          <p:nvPr/>
        </p:nvSpPr>
        <p:spPr>
          <a:xfrm>
            <a:off x="828675" y="2638834"/>
            <a:ext cx="2257425"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Each run invokes one authorized skill, produces evidence, and stops.</a:t>
            </a:r>
            <a:endParaRPr lang="en-US" sz="950" dirty="0"/>
          </a:p>
        </p:txBody>
      </p:sp>
      <p:sp>
        <p:nvSpPr>
          <p:cNvPr id="18" name="Shape 14"/>
          <p:cNvSpPr/>
          <p:nvPr/>
        </p:nvSpPr>
        <p:spPr>
          <a:xfrm>
            <a:off x="3514725" y="1085850"/>
            <a:ext cx="5329238" cy="3500438"/>
          </a:xfrm>
          <a:prstGeom prst="rect">
            <a:avLst/>
          </a:prstGeom>
          <a:solidFill>
            <a:srgbClr val="1E1E1E"/>
          </a:solidFill>
          <a:ln w="27432">
            <a:solidFill>
              <a:srgbClr val="111111"/>
            </a:solidFill>
            <a:prstDash val="solid"/>
          </a:ln>
        </p:spPr>
      </p:sp>
      <p:sp>
        <p:nvSpPr>
          <p:cNvPr id="19" name="Shape 15"/>
          <p:cNvSpPr/>
          <p:nvPr/>
        </p:nvSpPr>
        <p:spPr>
          <a:xfrm>
            <a:off x="3514725" y="1085850"/>
            <a:ext cx="5329238" cy="328613"/>
          </a:xfrm>
          <a:prstGeom prst="rect">
            <a:avLst/>
          </a:prstGeom>
          <a:solidFill>
            <a:srgbClr val="323233"/>
          </a:solidFill>
          <a:ln/>
        </p:spPr>
      </p:sp>
      <p:sp>
        <p:nvSpPr>
          <p:cNvPr id="20" name="Shape 16"/>
          <p:cNvSpPr/>
          <p:nvPr/>
        </p:nvSpPr>
        <p:spPr>
          <a:xfrm>
            <a:off x="3514725" y="1400175"/>
            <a:ext cx="5329238" cy="14288"/>
          </a:xfrm>
          <a:prstGeom prst="rect">
            <a:avLst/>
          </a:prstGeom>
          <a:solidFill>
            <a:srgbClr val="111111"/>
          </a:solidFill>
          <a:ln/>
        </p:spPr>
      </p:sp>
      <p:sp>
        <p:nvSpPr>
          <p:cNvPr id="21" name="Shape 17"/>
          <p:cNvSpPr/>
          <p:nvPr/>
        </p:nvSpPr>
        <p:spPr>
          <a:xfrm>
            <a:off x="4171950" y="1085850"/>
            <a:ext cx="1932384" cy="314325"/>
          </a:xfrm>
          <a:prstGeom prst="rect">
            <a:avLst/>
          </a:prstGeom>
          <a:solidFill>
            <a:srgbClr val="1E1E1E"/>
          </a:solidFill>
          <a:ln/>
        </p:spPr>
      </p:sp>
      <p:sp>
        <p:nvSpPr>
          <p:cNvPr id="22" name="Shape 18"/>
          <p:cNvSpPr/>
          <p:nvPr/>
        </p:nvSpPr>
        <p:spPr>
          <a:xfrm>
            <a:off x="4171950" y="1085850"/>
            <a:ext cx="1932384" cy="28575"/>
          </a:xfrm>
          <a:prstGeom prst="rect">
            <a:avLst/>
          </a:prstGeom>
          <a:solidFill>
            <a:srgbClr val="0055FF"/>
          </a:solidFill>
          <a:ln/>
        </p:spPr>
      </p:sp>
      <p:sp>
        <p:nvSpPr>
          <p:cNvPr id="23" name="Text 19"/>
          <p:cNvSpPr/>
          <p:nvPr/>
        </p:nvSpPr>
        <p:spPr>
          <a:xfrm>
            <a:off x="4171950" y="1085850"/>
            <a:ext cx="1932384" cy="314325"/>
          </a:xfrm>
          <a:prstGeom prst="rect">
            <a:avLst/>
          </a:prstGeom>
          <a:noFill/>
          <a:ln/>
        </p:spPr>
        <p:txBody>
          <a:bodyPr wrap="square" lIns="187071" tIns="102108" rIns="187071"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.github/copilot-instructions.md</a:t>
            </a:r>
            <a:endParaRPr lang="en-US" sz="750" dirty="0"/>
          </a:p>
        </p:txBody>
      </p:sp>
      <p:sp>
        <p:nvSpPr>
          <p:cNvPr id="24" name="Text 20"/>
          <p:cNvSpPr/>
          <p:nvPr/>
        </p:nvSpPr>
        <p:spPr>
          <a:xfrm>
            <a:off x="3729038" y="16144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a:t>
            </a:r>
            <a:endParaRPr lang="en-US" sz="900" dirty="0"/>
          </a:p>
        </p:txBody>
      </p:sp>
      <p:sp>
        <p:nvSpPr>
          <p:cNvPr id="25" name="Text 21"/>
          <p:cNvSpPr/>
          <p:nvPr/>
        </p:nvSpPr>
        <p:spPr>
          <a:xfrm>
            <a:off x="3986213" y="161448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 Copilot Instructions</a:t>
            </a:r>
            <a:endParaRPr lang="en-US" sz="850" dirty="0"/>
          </a:p>
        </p:txBody>
      </p:sp>
      <p:sp>
        <p:nvSpPr>
          <p:cNvPr id="26" name="Text 22"/>
          <p:cNvSpPr/>
          <p:nvPr/>
        </p:nvSpPr>
        <p:spPr>
          <a:xfrm>
            <a:off x="3729038" y="18002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2</a:t>
            </a:r>
            <a:endParaRPr lang="en-US" sz="900" dirty="0"/>
          </a:p>
        </p:txBody>
      </p:sp>
      <p:sp>
        <p:nvSpPr>
          <p:cNvPr id="27" name="Shape 23"/>
          <p:cNvSpPr/>
          <p:nvPr/>
        </p:nvSpPr>
        <p:spPr>
          <a:xfrm>
            <a:off x="3729038" y="2057400"/>
            <a:ext cx="4900613" cy="785813"/>
          </a:xfrm>
          <a:prstGeom prst="rect">
            <a:avLst/>
          </a:prstGeom>
          <a:solidFill>
            <a:srgbClr val="FF443A">
              <a:alpha val="10000"/>
            </a:srgbClr>
          </a:solidFill>
          <a:ln w="27432">
            <a:solidFill>
              <a:srgbClr val="FF443A"/>
            </a:solidFill>
            <a:prstDash val="solid"/>
          </a:ln>
        </p:spPr>
      </p:sp>
      <p:sp>
        <p:nvSpPr>
          <p:cNvPr id="28" name="Shape 24"/>
          <p:cNvSpPr/>
          <p:nvPr/>
        </p:nvSpPr>
        <p:spPr>
          <a:xfrm>
            <a:off x="8515350" y="1943100"/>
            <a:ext cx="228600" cy="228600"/>
          </a:xfrm>
          <a:prstGeom prst="rect">
            <a:avLst/>
          </a:prstGeom>
          <a:solidFill>
            <a:srgbClr val="FF443A"/>
          </a:solidFill>
          <a:ln w="18288">
            <a:solidFill>
              <a:srgbClr val="111111"/>
            </a:solidFill>
            <a:prstDash val="solid"/>
          </a:ln>
        </p:spPr>
      </p:sp>
      <p:sp>
        <p:nvSpPr>
          <p:cNvPr id="29" name="Text 25"/>
          <p:cNvSpPr/>
          <p:nvPr/>
        </p:nvSpPr>
        <p:spPr>
          <a:xfrm>
            <a:off x="8515350" y="1943100"/>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30" name="Text 26"/>
          <p:cNvSpPr/>
          <p:nvPr/>
        </p:nvSpPr>
        <p:spPr>
          <a:xfrm>
            <a:off x="3814763" y="21431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3</a:t>
            </a:r>
            <a:endParaRPr lang="en-US" sz="900" dirty="0"/>
          </a:p>
        </p:txBody>
      </p:sp>
      <p:sp>
        <p:nvSpPr>
          <p:cNvPr id="31" name="Text 27"/>
          <p:cNvSpPr/>
          <p:nvPr/>
        </p:nvSpPr>
        <p:spPr>
          <a:xfrm>
            <a:off x="4071938" y="2143125"/>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Follow root </a:t>
            </a:r>
            <a:r>
              <a:rPr lang="en-US" sz="900" dirty="0">
                <a:solidFill>
                  <a:srgbClr val="CE9178"/>
                </a:solidFill>
                <a:latin typeface="JetBrains Mono" pitchFamily="34" charset="0"/>
                <a:ea typeface="JetBrains Mono" pitchFamily="34" charset="-122"/>
                <a:cs typeface="JetBrains Mono" pitchFamily="34" charset="-120"/>
              </a:rPr>
              <a:t>`AGENTS.md`</a:t>
            </a:r>
            <a:r>
              <a:rPr lang="en-US" sz="900" dirty="0">
                <a:solidFill>
                  <a:srgbClr val="D4D4D4"/>
                </a:solidFill>
                <a:latin typeface="JetBrains Mono" pitchFamily="34" charset="0"/>
                <a:ea typeface="JetBrains Mono" pitchFamily="34" charset="-122"/>
                <a:cs typeface="JetBrains Mono" pitchFamily="34" charset="-120"/>
              </a:rPr>
              <a:t> and</a:t>
            </a:r>
            <a:endParaRPr lang="en-US" sz="900" dirty="0"/>
          </a:p>
        </p:txBody>
      </p:sp>
      <p:sp>
        <p:nvSpPr>
          <p:cNvPr id="32" name="Text 28"/>
          <p:cNvSpPr/>
          <p:nvPr/>
        </p:nvSpPr>
        <p:spPr>
          <a:xfrm>
            <a:off x="3814763" y="23288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4</a:t>
            </a:r>
            <a:endParaRPr lang="en-US" sz="900" dirty="0"/>
          </a:p>
        </p:txBody>
      </p:sp>
      <p:sp>
        <p:nvSpPr>
          <p:cNvPr id="33" name="Text 29"/>
          <p:cNvSpPr/>
          <p:nvPr/>
        </p:nvSpPr>
        <p:spPr>
          <a:xfrm>
            <a:off x="4071938" y="232886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`config/workflow.yaml`</a:t>
            </a:r>
            <a:r>
              <a:rPr lang="en-US" sz="900" dirty="0">
                <a:solidFill>
                  <a:srgbClr val="D4D4D4"/>
                </a:solidFill>
                <a:latin typeface="JetBrains Mono" pitchFamily="34" charset="0"/>
                <a:ea typeface="JetBrains Mono" pitchFamily="34" charset="-122"/>
                <a:cs typeface="JetBrains Mono" pitchFamily="34" charset="-120"/>
              </a:rPr>
              <a:t> as the</a:t>
            </a:r>
            <a:endParaRPr lang="en-US" sz="900" dirty="0"/>
          </a:p>
        </p:txBody>
      </p:sp>
      <p:sp>
        <p:nvSpPr>
          <p:cNvPr id="34" name="Text 30"/>
          <p:cNvSpPr/>
          <p:nvPr/>
        </p:nvSpPr>
        <p:spPr>
          <a:xfrm>
            <a:off x="3814763" y="251460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5</a:t>
            </a:r>
            <a:endParaRPr lang="en-US" sz="900" dirty="0"/>
          </a:p>
        </p:txBody>
      </p:sp>
      <p:sp>
        <p:nvSpPr>
          <p:cNvPr id="35" name="Text 31"/>
          <p:cNvSpPr/>
          <p:nvPr/>
        </p:nvSpPr>
        <p:spPr>
          <a:xfrm>
            <a:off x="4071938" y="2514600"/>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authoritative contracts.</a:t>
            </a:r>
            <a:endParaRPr lang="en-US" sz="900" dirty="0"/>
          </a:p>
        </p:txBody>
      </p:sp>
      <p:sp>
        <p:nvSpPr>
          <p:cNvPr id="36" name="Text 32"/>
          <p:cNvSpPr/>
          <p:nvPr/>
        </p:nvSpPr>
        <p:spPr>
          <a:xfrm>
            <a:off x="3729038" y="29003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6</a:t>
            </a:r>
            <a:endParaRPr lang="en-US" sz="900" dirty="0"/>
          </a:p>
        </p:txBody>
      </p:sp>
      <p:sp>
        <p:nvSpPr>
          <p:cNvPr id="37" name="Text 33"/>
          <p:cNvSpPr/>
          <p:nvPr/>
        </p:nvSpPr>
        <p:spPr>
          <a:xfrm>
            <a:off x="3986213" y="290036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8" name="Text 34"/>
          <p:cNvSpPr/>
          <p:nvPr/>
        </p:nvSpPr>
        <p:spPr>
          <a:xfrm>
            <a:off x="3729038" y="315753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11</a:t>
            </a:r>
            <a:endParaRPr lang="en-US" sz="900" dirty="0"/>
          </a:p>
        </p:txBody>
      </p:sp>
      <p:sp>
        <p:nvSpPr>
          <p:cNvPr id="39" name="Text 35"/>
          <p:cNvSpPr/>
          <p:nvPr/>
        </p:nvSpPr>
        <p:spPr>
          <a:xfrm>
            <a:off x="3986213" y="315753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For every user-facing prompt:</a:t>
            </a:r>
            <a:endParaRPr lang="en-US" sz="850" dirty="0"/>
          </a:p>
        </p:txBody>
      </p:sp>
      <p:sp>
        <p:nvSpPr>
          <p:cNvPr id="40" name="Text 36"/>
          <p:cNvSpPr/>
          <p:nvPr/>
        </p:nvSpPr>
        <p:spPr>
          <a:xfrm>
            <a:off x="3729038" y="334327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12</a:t>
            </a:r>
            <a:endParaRPr lang="en-US" sz="900" dirty="0"/>
          </a:p>
        </p:txBody>
      </p:sp>
      <p:sp>
        <p:nvSpPr>
          <p:cNvPr id="41" name="Text 37"/>
          <p:cNvSpPr/>
          <p:nvPr/>
        </p:nvSpPr>
        <p:spPr>
          <a:xfrm>
            <a:off x="3986213" y="3343275"/>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2. Invoke </a:t>
            </a:r>
            <a:r>
              <a:rPr lang="en-US" sz="900" dirty="0">
                <a:solidFill>
                  <a:srgbClr val="CE9178"/>
                </a:solidFill>
                <a:latin typeface="JetBrains Mono" pitchFamily="34" charset="0"/>
                <a:ea typeface="JetBrains Mono" pitchFamily="34" charset="-122"/>
                <a:cs typeface="JetBrains Mono" pitchFamily="34" charset="-120"/>
              </a:rPr>
              <a:t>`orchestrate`</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2" name="Text 38"/>
          <p:cNvSpPr/>
          <p:nvPr/>
        </p:nvSpPr>
        <p:spPr>
          <a:xfrm>
            <a:off x="3729038" y="35290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13</a:t>
            </a:r>
            <a:endParaRPr lang="en-US" sz="900" dirty="0"/>
          </a:p>
        </p:txBody>
      </p:sp>
      <p:sp>
        <p:nvSpPr>
          <p:cNvPr id="43" name="Text 39"/>
          <p:cNvSpPr/>
          <p:nvPr/>
        </p:nvSpPr>
        <p:spPr>
          <a:xfrm>
            <a:off x="3986213" y="352901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3. Select exactly one authorized skill.</a:t>
            </a:r>
            <a:endParaRPr lang="en-US" sz="900" dirty="0"/>
          </a:p>
        </p:txBody>
      </p:sp>
      <p:sp>
        <p:nvSpPr>
          <p:cNvPr id="44" name="Shape 40"/>
          <p:cNvSpPr/>
          <p:nvPr/>
        </p:nvSpPr>
        <p:spPr>
          <a:xfrm>
            <a:off x="3729038" y="3786188"/>
            <a:ext cx="4900613" cy="785813"/>
          </a:xfrm>
          <a:prstGeom prst="rect">
            <a:avLst/>
          </a:prstGeom>
          <a:solidFill>
            <a:srgbClr val="FF443A">
              <a:alpha val="10000"/>
            </a:srgbClr>
          </a:solidFill>
          <a:ln w="27432">
            <a:solidFill>
              <a:srgbClr val="FF443A"/>
            </a:solidFill>
            <a:prstDash val="solid"/>
          </a:ln>
        </p:spPr>
      </p:sp>
      <p:sp>
        <p:nvSpPr>
          <p:cNvPr id="45" name="Shape 41"/>
          <p:cNvSpPr/>
          <p:nvPr/>
        </p:nvSpPr>
        <p:spPr>
          <a:xfrm>
            <a:off x="8515350" y="3671888"/>
            <a:ext cx="228600" cy="228600"/>
          </a:xfrm>
          <a:prstGeom prst="rect">
            <a:avLst/>
          </a:prstGeom>
          <a:solidFill>
            <a:srgbClr val="FF443A"/>
          </a:solidFill>
          <a:ln w="18288">
            <a:solidFill>
              <a:srgbClr val="111111"/>
            </a:solidFill>
            <a:prstDash val="solid"/>
          </a:ln>
        </p:spPr>
      </p:sp>
      <p:sp>
        <p:nvSpPr>
          <p:cNvPr id="46" name="Text 42"/>
          <p:cNvSpPr/>
          <p:nvPr/>
        </p:nvSpPr>
        <p:spPr>
          <a:xfrm>
            <a:off x="8515350" y="3671888"/>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47" name="Text 43"/>
          <p:cNvSpPr/>
          <p:nvPr/>
        </p:nvSpPr>
        <p:spPr>
          <a:xfrm>
            <a:off x="3814763" y="38719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14</a:t>
            </a:r>
            <a:endParaRPr lang="en-US" sz="900" dirty="0"/>
          </a:p>
        </p:txBody>
      </p:sp>
      <p:sp>
        <p:nvSpPr>
          <p:cNvPr id="48" name="Text 44"/>
          <p:cNvSpPr/>
          <p:nvPr/>
        </p:nvSpPr>
        <p:spPr>
          <a:xfrm>
            <a:off x="4071938" y="387191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5. Require canonical output and</a:t>
            </a:r>
            <a:endParaRPr lang="en-US" sz="900" dirty="0"/>
          </a:p>
        </p:txBody>
      </p:sp>
      <p:sp>
        <p:nvSpPr>
          <p:cNvPr id="49" name="Text 45"/>
          <p:cNvSpPr/>
          <p:nvPr/>
        </p:nvSpPr>
        <p:spPr>
          <a:xfrm>
            <a:off x="3814763" y="405765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15</a:t>
            </a:r>
            <a:endParaRPr lang="en-US" sz="900" dirty="0"/>
          </a:p>
        </p:txBody>
      </p:sp>
      <p:sp>
        <p:nvSpPr>
          <p:cNvPr id="50" name="Text 46"/>
          <p:cNvSpPr/>
          <p:nvPr/>
        </p:nvSpPr>
        <p:spPr>
          <a:xfrm>
            <a:off x="4071938" y="4057650"/>
            <a:ext cx="447198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C586C0"/>
                </a:solidFill>
                <a:latin typeface="JetBrains Mono Bold" pitchFamily="34" charset="0"/>
                <a:ea typeface="JetBrains Mono Bold" pitchFamily="34" charset="-122"/>
                <a:cs typeface="JetBrains Mono Bold" pitchFamily="34" charset="-120"/>
              </a:rPr>
              <a:t>`PASS/FAIL/BLOCKED`</a:t>
            </a:r>
            <a:r>
              <a:rPr lang="en-US" sz="900" dirty="0">
                <a:solidFill>
                  <a:srgbClr val="D4D4D4"/>
                </a:solidFill>
                <a:latin typeface="JetBrains Mono" pitchFamily="34" charset="0"/>
                <a:ea typeface="JetBrains Mono" pitchFamily="34" charset="-122"/>
                <a:cs typeface="JetBrains Mono" pitchFamily="34" charset="-120"/>
              </a:rPr>
              <a:t> evidence.</a:t>
            </a:r>
            <a:endParaRPr lang="en-US" sz="900" dirty="0"/>
          </a:p>
        </p:txBody>
      </p:sp>
      <p:sp>
        <p:nvSpPr>
          <p:cNvPr id="51" name="Text 47"/>
          <p:cNvSpPr/>
          <p:nvPr/>
        </p:nvSpPr>
        <p:spPr>
          <a:xfrm>
            <a:off x="3814763" y="42433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16</a:t>
            </a:r>
            <a:endParaRPr lang="en-US" sz="900" dirty="0"/>
          </a:p>
        </p:txBody>
      </p:sp>
      <p:sp>
        <p:nvSpPr>
          <p:cNvPr id="52" name="Text 48"/>
          <p:cNvSpPr/>
          <p:nvPr/>
        </p:nvSpPr>
        <p:spPr>
          <a:xfrm>
            <a:off x="4071938" y="4243388"/>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7. Stop after one skill.</a:t>
            </a:r>
            <a:endParaRPr lang="en-US" sz="900" dirty="0"/>
          </a:p>
        </p:txBody>
      </p:sp>
      <p:sp>
        <p:nvSpPr>
          <p:cNvPr id="53" name="Shape 49"/>
          <p:cNvSpPr/>
          <p:nvPr/>
        </p:nvSpPr>
        <p:spPr>
          <a:xfrm>
            <a:off x="0" y="4814888"/>
            <a:ext cx="9144000" cy="328613"/>
          </a:xfrm>
          <a:prstGeom prst="rect">
            <a:avLst/>
          </a:prstGeom>
          <a:solidFill>
            <a:srgbClr val="0055FF"/>
          </a:solidFill>
          <a:ln/>
        </p:spPr>
      </p:sp>
      <p:sp>
        <p:nvSpPr>
          <p:cNvPr id="54" name="Shape 50"/>
          <p:cNvSpPr/>
          <p:nvPr/>
        </p:nvSpPr>
        <p:spPr>
          <a:xfrm>
            <a:off x="0" y="4814888"/>
            <a:ext cx="9144000" cy="28575"/>
          </a:xfrm>
          <a:prstGeom prst="rect">
            <a:avLst/>
          </a:prstGeom>
          <a:solidFill>
            <a:srgbClr val="111111"/>
          </a:solidFill>
          <a:ln/>
        </p:spPr>
      </p:sp>
      <p:sp>
        <p:nvSpPr>
          <p:cNvPr id="55" name="Text 51"/>
          <p:cNvSpPr/>
          <p:nvPr/>
        </p:nvSpPr>
        <p:spPr>
          <a:xfrm>
            <a:off x="300038" y="4918472"/>
            <a:ext cx="1218009"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1: THE REQUEST</a:t>
            </a:r>
            <a:endParaRPr lang="en-US" sz="700" dirty="0"/>
          </a:p>
        </p:txBody>
      </p:sp>
      <p:sp>
        <p:nvSpPr>
          <p:cNvPr id="56" name="Text 52"/>
          <p:cNvSpPr/>
          <p:nvPr/>
        </p:nvSpPr>
        <p:spPr>
          <a:xfrm>
            <a:off x="6186488" y="4918472"/>
            <a:ext cx="2657475"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.GITHUB/COPILOT-INSTRUCTIONS.MD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114300" y="57150"/>
            <a:ext cx="8915400" cy="400050"/>
          </a:xfrm>
          <a:prstGeom prst="rect">
            <a:avLst/>
          </a:prstGeom>
          <a:solidFill>
            <a:srgbClr val="000000">
              <a:alpha val="0"/>
            </a:srgbClr>
          </a:solidFill>
          <a:ln/>
        </p:spPr>
      </p:sp>
      <p:sp>
        <p:nvSpPr>
          <p:cNvPr id="5" name="Shape 1"/>
          <p:cNvSpPr/>
          <p:nvPr/>
        </p:nvSpPr>
        <p:spPr>
          <a:xfrm>
            <a:off x="114300" y="428625"/>
            <a:ext cx="8915400" cy="28575"/>
          </a:xfrm>
          <a:prstGeom prst="rect">
            <a:avLst/>
          </a:prstGeom>
          <a:solidFill>
            <a:srgbClr val="111111"/>
          </a:solidFill>
          <a:ln/>
        </p:spPr>
      </p:sp>
      <p:sp>
        <p:nvSpPr>
          <p:cNvPr id="6" name="Text 2"/>
          <p:cNvSpPr/>
          <p:nvPr/>
        </p:nvSpPr>
        <p:spPr>
          <a:xfrm>
            <a:off x="114300" y="57150"/>
            <a:ext cx="3353991" cy="225028"/>
          </a:xfrm>
          <a:prstGeom prst="rect">
            <a:avLst/>
          </a:prstGeom>
          <a:noFill/>
          <a:ln/>
        </p:spPr>
        <p:txBody>
          <a:bodyPr wrap="none" lIns="0" tIns="0" rIns="0" bIns="0" rtlCol="0" anchor="t">
            <a:spAutoFit/>
          </a:bodyPr>
          <a:lstStyle/>
          <a:p>
            <a:pPr algn="l" indent="0" marL="0">
              <a:lnSpc>
                <a:spcPct val="84000"/>
              </a:lnSpc>
              <a:buNone/>
            </a:pPr>
            <a:r>
              <a:rPr lang="en-US" sz="1500" b="1" dirty="0">
                <a:solidFill>
                  <a:srgbClr val="111111"/>
                </a:solidFill>
                <a:latin typeface="Oswald SemiBold" pitchFamily="34" charset="0"/>
                <a:ea typeface="Oswald SemiBold" pitchFamily="34" charset="-122"/>
                <a:cs typeface="Oswald SemiBold" pitchFamily="34" charset="-120"/>
              </a:rPr>
              <a:t>AGENTS.MD: THE OPERATING CONTRACT</a:t>
            </a:r>
            <a:endParaRPr lang="en-US" sz="1500" dirty="0"/>
          </a:p>
        </p:txBody>
      </p:sp>
      <p:sp>
        <p:nvSpPr>
          <p:cNvPr id="7" name="Text 3"/>
          <p:cNvSpPr/>
          <p:nvPr/>
        </p:nvSpPr>
        <p:spPr>
          <a:xfrm>
            <a:off x="114300" y="296466"/>
            <a:ext cx="3353991" cy="160734"/>
          </a:xfrm>
          <a:prstGeom prst="rect">
            <a:avLst/>
          </a:prstGeom>
          <a:noFill/>
          <a:ln/>
        </p:spPr>
        <p:txBody>
          <a:bodyPr wrap="square" lIns="0" tIns="0" rIns="0" bIns="0" rtlCol="0" anchor="t">
            <a:spAutoFit/>
          </a:bodyPr>
          <a:lstStyle/>
          <a:p>
            <a:pPr algn="l" indent="0" marL="0">
              <a:buNone/>
            </a:pPr>
            <a:r>
              <a:rPr lang="en-US" sz="750" dirty="0">
                <a:solidFill>
                  <a:srgbClr val="0055FF"/>
                </a:solidFill>
                <a:latin typeface="Kalam Bold" pitchFamily="34" charset="0"/>
                <a:ea typeface="Kalam Bold" pitchFamily="34" charset="-122"/>
                <a:cs typeface="Kalam Bold" pitchFamily="34" charset="-120"/>
              </a:rPr>
              <a:t>What to read, what may run, and who owns each decision.</a:t>
            </a:r>
            <a:endParaRPr lang="en-US" sz="750" dirty="0"/>
          </a:p>
        </p:txBody>
      </p:sp>
      <p:sp>
        <p:nvSpPr>
          <p:cNvPr id="8" name="Shape 4"/>
          <p:cNvSpPr/>
          <p:nvPr/>
        </p:nvSpPr>
        <p:spPr>
          <a:xfrm>
            <a:off x="114300" y="528638"/>
            <a:ext cx="2286000" cy="644947"/>
          </a:xfrm>
          <a:prstGeom prst="rect">
            <a:avLst/>
          </a:prstGeom>
          <a:solidFill>
            <a:srgbClr val="FFFFFF"/>
          </a:solidFill>
          <a:ln w="18288">
            <a:solidFill>
              <a:srgbClr val="111111"/>
            </a:solidFill>
            <a:prstDash val="solid"/>
          </a:ln>
        </p:spPr>
      </p:sp>
      <p:sp>
        <p:nvSpPr>
          <p:cNvPr id="9" name="Shape 5"/>
          <p:cNvSpPr/>
          <p:nvPr/>
        </p:nvSpPr>
        <p:spPr>
          <a:xfrm>
            <a:off x="157163" y="571500"/>
            <a:ext cx="185738" cy="185738"/>
          </a:xfrm>
          <a:prstGeom prst="rect">
            <a:avLst/>
          </a:prstGeom>
          <a:solidFill>
            <a:srgbClr val="FF443A"/>
          </a:solidFill>
          <a:ln w="18288">
            <a:solidFill>
              <a:srgbClr val="111111"/>
            </a:solidFill>
            <a:prstDash val="solid"/>
          </a:ln>
        </p:spPr>
      </p:sp>
      <p:sp>
        <p:nvSpPr>
          <p:cNvPr id="10" name="Text 6"/>
          <p:cNvSpPr/>
          <p:nvPr/>
        </p:nvSpPr>
        <p:spPr>
          <a:xfrm>
            <a:off x="157163" y="571500"/>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428625" y="585788"/>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READ ORDER</a:t>
            </a:r>
            <a:endParaRPr lang="en-US" sz="800" dirty="0"/>
          </a:p>
        </p:txBody>
      </p:sp>
      <p:sp>
        <p:nvSpPr>
          <p:cNvPr id="12" name="Text 8"/>
          <p:cNvSpPr/>
          <p:nvPr/>
        </p:nvSpPr>
        <p:spPr>
          <a:xfrm>
            <a:off x="428625" y="728663"/>
            <a:ext cx="1900238" cy="34490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Forces the AI to load the business constraints, run state, and exact stage rules.</a:t>
            </a:r>
            <a:endParaRPr lang="en-US" sz="700" dirty="0"/>
          </a:p>
        </p:txBody>
      </p:sp>
      <p:sp>
        <p:nvSpPr>
          <p:cNvPr id="13" name="Shape 9"/>
          <p:cNvSpPr/>
          <p:nvPr/>
        </p:nvSpPr>
        <p:spPr>
          <a:xfrm>
            <a:off x="114300" y="1202159"/>
            <a:ext cx="2286000" cy="529977"/>
          </a:xfrm>
          <a:prstGeom prst="rect">
            <a:avLst/>
          </a:prstGeom>
          <a:solidFill>
            <a:srgbClr val="FFFFFF"/>
          </a:solidFill>
          <a:ln w="18288">
            <a:solidFill>
              <a:srgbClr val="111111"/>
            </a:solidFill>
            <a:prstDash val="solid"/>
          </a:ln>
        </p:spPr>
      </p:sp>
      <p:sp>
        <p:nvSpPr>
          <p:cNvPr id="14" name="Shape 10"/>
          <p:cNvSpPr/>
          <p:nvPr/>
        </p:nvSpPr>
        <p:spPr>
          <a:xfrm>
            <a:off x="157163" y="1245022"/>
            <a:ext cx="185738" cy="185738"/>
          </a:xfrm>
          <a:prstGeom prst="rect">
            <a:avLst/>
          </a:prstGeom>
          <a:solidFill>
            <a:srgbClr val="FF443A"/>
          </a:solidFill>
          <a:ln w="18288">
            <a:solidFill>
              <a:srgbClr val="111111"/>
            </a:solidFill>
            <a:prstDash val="solid"/>
          </a:ln>
        </p:spPr>
      </p:sp>
      <p:sp>
        <p:nvSpPr>
          <p:cNvPr id="15" name="Text 11"/>
          <p:cNvSpPr/>
          <p:nvPr/>
        </p:nvSpPr>
        <p:spPr>
          <a:xfrm>
            <a:off x="157163" y="12450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6" name="Text 12"/>
          <p:cNvSpPr/>
          <p:nvPr/>
        </p:nvSpPr>
        <p:spPr>
          <a:xfrm>
            <a:off x="428625" y="1259309"/>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SKILL SEQUENCE</a:t>
            </a:r>
            <a:endParaRPr lang="en-US" sz="800" dirty="0"/>
          </a:p>
        </p:txBody>
      </p:sp>
      <p:sp>
        <p:nvSpPr>
          <p:cNvPr id="17" name="Text 13"/>
          <p:cNvSpPr/>
          <p:nvPr/>
        </p:nvSpPr>
        <p:spPr>
          <a:xfrm>
            <a:off x="428625" y="1402184"/>
            <a:ext cx="1900238" cy="22993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Defines the only permitted order of execution.</a:t>
            </a:r>
            <a:endParaRPr lang="en-US" sz="700" dirty="0"/>
          </a:p>
        </p:txBody>
      </p:sp>
      <p:sp>
        <p:nvSpPr>
          <p:cNvPr id="18" name="Shape 14"/>
          <p:cNvSpPr/>
          <p:nvPr/>
        </p:nvSpPr>
        <p:spPr>
          <a:xfrm>
            <a:off x="114300" y="1760711"/>
            <a:ext cx="2286000" cy="644947"/>
          </a:xfrm>
          <a:prstGeom prst="rect">
            <a:avLst/>
          </a:prstGeom>
          <a:solidFill>
            <a:srgbClr val="FFFFFF"/>
          </a:solidFill>
          <a:ln w="18288">
            <a:solidFill>
              <a:srgbClr val="111111"/>
            </a:solidFill>
            <a:prstDash val="solid"/>
          </a:ln>
        </p:spPr>
      </p:sp>
      <p:sp>
        <p:nvSpPr>
          <p:cNvPr id="19" name="Shape 15"/>
          <p:cNvSpPr/>
          <p:nvPr/>
        </p:nvSpPr>
        <p:spPr>
          <a:xfrm>
            <a:off x="157163" y="1803574"/>
            <a:ext cx="185738" cy="185738"/>
          </a:xfrm>
          <a:prstGeom prst="rect">
            <a:avLst/>
          </a:prstGeom>
          <a:solidFill>
            <a:srgbClr val="FF443A"/>
          </a:solidFill>
          <a:ln w="18288">
            <a:solidFill>
              <a:srgbClr val="111111"/>
            </a:solidFill>
            <a:prstDash val="solid"/>
          </a:ln>
        </p:spPr>
      </p:sp>
      <p:sp>
        <p:nvSpPr>
          <p:cNvPr id="20" name="Text 16"/>
          <p:cNvSpPr/>
          <p:nvPr/>
        </p:nvSpPr>
        <p:spPr>
          <a:xfrm>
            <a:off x="157163" y="1803574"/>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1" name="Text 17"/>
          <p:cNvSpPr/>
          <p:nvPr/>
        </p:nvSpPr>
        <p:spPr>
          <a:xfrm>
            <a:off x="428625" y="1817861"/>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ROLES &amp; AUTHORITY</a:t>
            </a:r>
            <a:endParaRPr lang="en-US" sz="800" dirty="0"/>
          </a:p>
        </p:txBody>
      </p:sp>
      <p:sp>
        <p:nvSpPr>
          <p:cNvPr id="22" name="Text 18"/>
          <p:cNvSpPr/>
          <p:nvPr/>
        </p:nvSpPr>
        <p:spPr>
          <a:xfrm>
            <a:off x="428625" y="1960736"/>
            <a:ext cx="1900238" cy="22993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Separates analysis, building, diagnosis, checking, routing, and human approval.</a:t>
            </a:r>
            <a:endParaRPr lang="en-US" sz="700" dirty="0"/>
          </a:p>
        </p:txBody>
      </p:sp>
      <p:sp>
        <p:nvSpPr>
          <p:cNvPr id="23" name="Shape 19"/>
          <p:cNvSpPr/>
          <p:nvPr/>
        </p:nvSpPr>
        <p:spPr>
          <a:xfrm>
            <a:off x="2486025" y="514350"/>
            <a:ext cx="6543675" cy="4357688"/>
          </a:xfrm>
          <a:prstGeom prst="rect">
            <a:avLst/>
          </a:prstGeom>
          <a:solidFill>
            <a:srgbClr val="1E1E1E"/>
          </a:solidFill>
          <a:ln w="18288">
            <a:solidFill>
              <a:srgbClr val="111111"/>
            </a:solidFill>
            <a:prstDash val="solid"/>
          </a:ln>
        </p:spPr>
      </p:sp>
      <p:sp>
        <p:nvSpPr>
          <p:cNvPr id="24" name="Shape 20"/>
          <p:cNvSpPr/>
          <p:nvPr/>
        </p:nvSpPr>
        <p:spPr>
          <a:xfrm>
            <a:off x="2486025" y="514350"/>
            <a:ext cx="6543675" cy="214313"/>
          </a:xfrm>
          <a:prstGeom prst="rect">
            <a:avLst/>
          </a:prstGeom>
          <a:solidFill>
            <a:srgbClr val="323233"/>
          </a:solidFill>
          <a:ln/>
        </p:spPr>
      </p:sp>
      <p:sp>
        <p:nvSpPr>
          <p:cNvPr id="25" name="Shape 21"/>
          <p:cNvSpPr/>
          <p:nvPr/>
        </p:nvSpPr>
        <p:spPr>
          <a:xfrm>
            <a:off x="2486025" y="714375"/>
            <a:ext cx="6543675" cy="14288"/>
          </a:xfrm>
          <a:prstGeom prst="rect">
            <a:avLst/>
          </a:prstGeom>
          <a:solidFill>
            <a:srgbClr val="111111"/>
          </a:solidFill>
          <a:ln/>
        </p:spPr>
      </p:sp>
      <p:sp>
        <p:nvSpPr>
          <p:cNvPr id="26" name="Shape 22"/>
          <p:cNvSpPr/>
          <p:nvPr/>
        </p:nvSpPr>
        <p:spPr>
          <a:xfrm>
            <a:off x="2914650" y="521494"/>
            <a:ext cx="660797" cy="200025"/>
          </a:xfrm>
          <a:prstGeom prst="rect">
            <a:avLst/>
          </a:prstGeom>
          <a:solidFill>
            <a:srgbClr val="1E1E1E"/>
          </a:solidFill>
          <a:ln/>
        </p:spPr>
      </p:sp>
      <p:sp>
        <p:nvSpPr>
          <p:cNvPr id="27" name="Shape 23"/>
          <p:cNvSpPr/>
          <p:nvPr/>
        </p:nvSpPr>
        <p:spPr>
          <a:xfrm>
            <a:off x="2914650" y="521494"/>
            <a:ext cx="660797" cy="28575"/>
          </a:xfrm>
          <a:prstGeom prst="rect">
            <a:avLst/>
          </a:prstGeom>
          <a:solidFill>
            <a:srgbClr val="0055FF"/>
          </a:solidFill>
          <a:ln/>
        </p:spPr>
      </p:sp>
      <p:sp>
        <p:nvSpPr>
          <p:cNvPr id="28" name="Text 24"/>
          <p:cNvSpPr/>
          <p:nvPr/>
        </p:nvSpPr>
        <p:spPr>
          <a:xfrm>
            <a:off x="2914650" y="521494"/>
            <a:ext cx="660797" cy="200025"/>
          </a:xfrm>
          <a:prstGeom prst="rect">
            <a:avLst/>
          </a:prstGeom>
          <a:noFill/>
          <a:ln/>
        </p:spPr>
        <p:txBody>
          <a:bodyPr wrap="none" lIns="85090" tIns="34036" rIns="85090" bIns="0" rtlCol="0" anchor="t">
            <a:spAutoFit/>
          </a:bodyPr>
          <a:lstStyle/>
          <a:p>
            <a:pPr algn="l" indent="0" marL="0">
              <a:buNone/>
            </a:pPr>
            <a:r>
              <a:rPr lang="en-US" sz="600" b="1" dirty="0">
                <a:solidFill>
                  <a:srgbClr val="D4D4D4"/>
                </a:solidFill>
                <a:latin typeface="Inter Bold" pitchFamily="34" charset="0"/>
                <a:ea typeface="Inter Bold" pitchFamily="34" charset="-122"/>
                <a:cs typeface="Inter Bold" pitchFamily="34" charset="-120"/>
              </a:rPr>
              <a:t>AGENTS.md</a:t>
            </a:r>
            <a:endParaRPr lang="en-US" sz="600" dirty="0"/>
          </a:p>
        </p:txBody>
      </p:sp>
      <p:sp>
        <p:nvSpPr>
          <p:cNvPr id="29" name="Text 25"/>
          <p:cNvSpPr/>
          <p:nvPr/>
        </p:nvSpPr>
        <p:spPr>
          <a:xfrm>
            <a:off x="8072438" y="578644"/>
            <a:ext cx="900113" cy="85725"/>
          </a:xfrm>
          <a:prstGeom prst="rect">
            <a:avLst/>
          </a:prstGeom>
          <a:noFill/>
          <a:ln/>
        </p:spPr>
        <p:txBody>
          <a:bodyPr wrap="none" lIns="0" tIns="0" rIns="0" bIns="0" rtlCol="0" anchor="t">
            <a:spAutoFit/>
          </a:bodyPr>
          <a:lstStyle/>
          <a:p>
            <a:pPr algn="l" indent="0" marL="0">
              <a:buNone/>
            </a:pPr>
            <a:r>
              <a:rPr lang="en-US" sz="500" b="1" spc="1" kern="0" dirty="0">
                <a:solidFill>
                  <a:srgbClr val="9CDCFE"/>
                </a:solidFill>
                <a:latin typeface="Inter SemiBold" pitchFamily="34" charset="0"/>
                <a:ea typeface="Inter SemiBold" pitchFamily="34" charset="-122"/>
                <a:cs typeface="Inter SemiBold" pitchFamily="34" charset="-120"/>
              </a:rPr>
              <a:t>MARKDOWN PREVIEW</a:t>
            </a:r>
            <a:endParaRPr lang="en-US" sz="500" dirty="0"/>
          </a:p>
        </p:txBody>
      </p:sp>
      <p:sp>
        <p:nvSpPr>
          <p:cNvPr id="30" name="Shape 26"/>
          <p:cNvSpPr/>
          <p:nvPr/>
        </p:nvSpPr>
        <p:spPr>
          <a:xfrm>
            <a:off x="2486025" y="728663"/>
            <a:ext cx="6543675" cy="4143375"/>
          </a:xfrm>
          <a:prstGeom prst="rect">
            <a:avLst/>
          </a:prstGeom>
          <a:solidFill>
            <a:srgbClr val="FFFFFF"/>
          </a:solidFill>
          <a:ln/>
        </p:spPr>
      </p:sp>
      <p:sp>
        <p:nvSpPr>
          <p:cNvPr id="31" name="Text 27"/>
          <p:cNvSpPr/>
          <p:nvPr/>
        </p:nvSpPr>
        <p:spPr>
          <a:xfrm>
            <a:off x="2571750" y="800100"/>
            <a:ext cx="6372225" cy="203597"/>
          </a:xfrm>
          <a:prstGeom prst="rect">
            <a:avLst/>
          </a:prstGeom>
          <a:noFill/>
          <a:ln/>
        </p:spPr>
        <p:txBody>
          <a:bodyPr wrap="none" lIns="0" tIns="0" rIns="0" bIns="34036" rtlCol="0" anchor="t">
            <a:spAutoFit/>
          </a:bodyPr>
          <a:lstStyle/>
          <a:p>
            <a:pPr algn="l" indent="0" marL="0">
              <a:lnSpc>
                <a:spcPct val="100000"/>
              </a:lnSpc>
              <a:buNone/>
            </a:pPr>
            <a:r>
              <a:rPr lang="en-US" sz="900" b="1" dirty="0">
                <a:solidFill>
                  <a:srgbClr val="222222"/>
                </a:solidFill>
                <a:latin typeface="Inter Bold" pitchFamily="34" charset="0"/>
                <a:ea typeface="Inter Bold" pitchFamily="34" charset="-122"/>
                <a:cs typeface="Inter Bold" pitchFamily="34" charset="-120"/>
              </a:rPr>
              <a:t>Agent Operating Contract</a:t>
            </a:r>
            <a:endParaRPr lang="en-US" sz="900" dirty="0"/>
          </a:p>
        </p:txBody>
      </p:sp>
      <p:sp>
        <p:nvSpPr>
          <p:cNvPr id="32" name="Shape 28"/>
          <p:cNvSpPr/>
          <p:nvPr/>
        </p:nvSpPr>
        <p:spPr>
          <a:xfrm>
            <a:off x="2571750" y="1060847"/>
            <a:ext cx="6372225" cy="1271588"/>
          </a:xfrm>
          <a:prstGeom prst="rect">
            <a:avLst/>
          </a:prstGeom>
          <a:solidFill>
            <a:srgbClr val="FFF8F7"/>
          </a:solidFill>
          <a:ln w="18288">
            <a:solidFill>
              <a:srgbClr val="FF443A"/>
            </a:solidFill>
            <a:prstDash val="solid"/>
          </a:ln>
        </p:spPr>
      </p:sp>
      <p:sp>
        <p:nvSpPr>
          <p:cNvPr id="33" name="Shape 29"/>
          <p:cNvSpPr/>
          <p:nvPr/>
        </p:nvSpPr>
        <p:spPr>
          <a:xfrm>
            <a:off x="8829675" y="1003697"/>
            <a:ext cx="171450" cy="171450"/>
          </a:xfrm>
          <a:prstGeom prst="rect">
            <a:avLst/>
          </a:prstGeom>
          <a:solidFill>
            <a:srgbClr val="FF443A"/>
          </a:solidFill>
          <a:ln w="18288">
            <a:solidFill>
              <a:srgbClr val="111111"/>
            </a:solidFill>
            <a:prstDash val="solid"/>
          </a:ln>
        </p:spPr>
      </p:sp>
      <p:sp>
        <p:nvSpPr>
          <p:cNvPr id="34" name="Text 30"/>
          <p:cNvSpPr/>
          <p:nvPr/>
        </p:nvSpPr>
        <p:spPr>
          <a:xfrm>
            <a:off x="8829675" y="1003697"/>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1</a:t>
            </a:r>
            <a:endParaRPr lang="en-US" sz="750" dirty="0"/>
          </a:p>
        </p:txBody>
      </p:sp>
      <p:sp>
        <p:nvSpPr>
          <p:cNvPr id="35" name="Text 31"/>
          <p:cNvSpPr/>
          <p:nvPr/>
        </p:nvSpPr>
        <p:spPr>
          <a:xfrm>
            <a:off x="2643188" y="1117997"/>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Mandatory read order</a:t>
            </a:r>
            <a:endParaRPr lang="en-US" sz="800" dirty="0"/>
          </a:p>
        </p:txBody>
      </p:sp>
      <p:sp>
        <p:nvSpPr>
          <p:cNvPr id="36" name="Shape 32"/>
          <p:cNvSpPr/>
          <p:nvPr/>
        </p:nvSpPr>
        <p:spPr>
          <a:xfrm>
            <a:off x="2643188" y="1303734"/>
            <a:ext cx="6229350" cy="157163"/>
          </a:xfrm>
          <a:prstGeom prst="rect">
            <a:avLst/>
          </a:prstGeom>
          <a:solidFill>
            <a:srgbClr val="FFFFFF"/>
          </a:solidFill>
          <a:ln w="9144">
            <a:solidFill>
              <a:srgbClr val="D0D7DE"/>
            </a:solidFill>
            <a:prstDash val="solid"/>
          </a:ln>
        </p:spPr>
      </p:sp>
      <p:sp>
        <p:nvSpPr>
          <p:cNvPr id="37" name="Shape 33"/>
          <p:cNvSpPr/>
          <p:nvPr/>
        </p:nvSpPr>
        <p:spPr>
          <a:xfrm>
            <a:off x="2643188" y="1303734"/>
            <a:ext cx="171450" cy="157163"/>
          </a:xfrm>
          <a:prstGeom prst="rect">
            <a:avLst/>
          </a:prstGeom>
          <a:solidFill>
            <a:srgbClr val="EAF1FF"/>
          </a:solidFill>
          <a:ln/>
        </p:spPr>
      </p:sp>
      <p:sp>
        <p:nvSpPr>
          <p:cNvPr id="38" name="Text 34"/>
          <p:cNvSpPr/>
          <p:nvPr/>
        </p:nvSpPr>
        <p:spPr>
          <a:xfrm>
            <a:off x="2643188" y="1303734"/>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1</a:t>
            </a:r>
            <a:endParaRPr lang="en-US" sz="650" dirty="0"/>
          </a:p>
        </p:txBody>
      </p:sp>
      <p:sp>
        <p:nvSpPr>
          <p:cNvPr id="39" name="Text 35"/>
          <p:cNvSpPr/>
          <p:nvPr/>
        </p:nvSpPr>
        <p:spPr>
          <a:xfrm>
            <a:off x="2814638" y="1313724"/>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config/project.yaml</a:t>
            </a:r>
            <a:endParaRPr lang="en-US" sz="600" dirty="0"/>
          </a:p>
        </p:txBody>
      </p:sp>
      <p:sp>
        <p:nvSpPr>
          <p:cNvPr id="40" name="Shape 36"/>
          <p:cNvSpPr/>
          <p:nvPr/>
        </p:nvSpPr>
        <p:spPr>
          <a:xfrm>
            <a:off x="2643188" y="1496616"/>
            <a:ext cx="6229350" cy="157163"/>
          </a:xfrm>
          <a:prstGeom prst="rect">
            <a:avLst/>
          </a:prstGeom>
          <a:solidFill>
            <a:srgbClr val="FFFFFF"/>
          </a:solidFill>
          <a:ln w="9144">
            <a:solidFill>
              <a:srgbClr val="D0D7DE"/>
            </a:solidFill>
            <a:prstDash val="solid"/>
          </a:ln>
        </p:spPr>
      </p:sp>
      <p:sp>
        <p:nvSpPr>
          <p:cNvPr id="41" name="Shape 37"/>
          <p:cNvSpPr/>
          <p:nvPr/>
        </p:nvSpPr>
        <p:spPr>
          <a:xfrm>
            <a:off x="2643188" y="1496616"/>
            <a:ext cx="171450" cy="157163"/>
          </a:xfrm>
          <a:prstGeom prst="rect">
            <a:avLst/>
          </a:prstGeom>
          <a:solidFill>
            <a:srgbClr val="EAF1FF"/>
          </a:solidFill>
          <a:ln/>
        </p:spPr>
      </p:sp>
      <p:sp>
        <p:nvSpPr>
          <p:cNvPr id="42" name="Text 38"/>
          <p:cNvSpPr/>
          <p:nvPr/>
        </p:nvSpPr>
        <p:spPr>
          <a:xfrm>
            <a:off x="2643188" y="1496616"/>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2</a:t>
            </a:r>
            <a:endParaRPr lang="en-US" sz="650" dirty="0"/>
          </a:p>
        </p:txBody>
      </p:sp>
      <p:sp>
        <p:nvSpPr>
          <p:cNvPr id="43" name="Text 39"/>
          <p:cNvSpPr/>
          <p:nvPr/>
        </p:nvSpPr>
        <p:spPr>
          <a:xfrm>
            <a:off x="2814638" y="1506606"/>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00" dirty="0"/>
          </a:p>
        </p:txBody>
      </p:sp>
      <p:sp>
        <p:nvSpPr>
          <p:cNvPr id="44" name="Shape 40"/>
          <p:cNvSpPr/>
          <p:nvPr/>
        </p:nvSpPr>
        <p:spPr>
          <a:xfrm>
            <a:off x="2643188" y="1689497"/>
            <a:ext cx="6229350" cy="157163"/>
          </a:xfrm>
          <a:prstGeom prst="rect">
            <a:avLst/>
          </a:prstGeom>
          <a:solidFill>
            <a:srgbClr val="FFFFFF"/>
          </a:solidFill>
          <a:ln w="9144">
            <a:solidFill>
              <a:srgbClr val="D0D7DE"/>
            </a:solidFill>
            <a:prstDash val="solid"/>
          </a:ln>
        </p:spPr>
      </p:sp>
      <p:sp>
        <p:nvSpPr>
          <p:cNvPr id="45" name="Shape 41"/>
          <p:cNvSpPr/>
          <p:nvPr/>
        </p:nvSpPr>
        <p:spPr>
          <a:xfrm>
            <a:off x="2643188" y="1689497"/>
            <a:ext cx="171450" cy="157163"/>
          </a:xfrm>
          <a:prstGeom prst="rect">
            <a:avLst/>
          </a:prstGeom>
          <a:solidFill>
            <a:srgbClr val="EAF1FF"/>
          </a:solidFill>
          <a:ln/>
        </p:spPr>
      </p:sp>
      <p:sp>
        <p:nvSpPr>
          <p:cNvPr id="46" name="Text 42"/>
          <p:cNvSpPr/>
          <p:nvPr/>
        </p:nvSpPr>
        <p:spPr>
          <a:xfrm>
            <a:off x="2643188" y="1689497"/>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3</a:t>
            </a:r>
            <a:endParaRPr lang="en-US" sz="650" dirty="0"/>
          </a:p>
        </p:txBody>
      </p:sp>
      <p:sp>
        <p:nvSpPr>
          <p:cNvPr id="47" name="Text 43"/>
          <p:cNvSpPr/>
          <p:nvPr/>
        </p:nvSpPr>
        <p:spPr>
          <a:xfrm>
            <a:off x="2814638" y="1699487"/>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active module SPEC + ADR</a:t>
            </a:r>
            <a:endParaRPr lang="en-US" sz="600" dirty="0"/>
          </a:p>
        </p:txBody>
      </p:sp>
      <p:sp>
        <p:nvSpPr>
          <p:cNvPr id="48" name="Shape 44"/>
          <p:cNvSpPr/>
          <p:nvPr/>
        </p:nvSpPr>
        <p:spPr>
          <a:xfrm>
            <a:off x="2643188" y="1882378"/>
            <a:ext cx="6229350" cy="157163"/>
          </a:xfrm>
          <a:prstGeom prst="rect">
            <a:avLst/>
          </a:prstGeom>
          <a:solidFill>
            <a:srgbClr val="FFFFFF"/>
          </a:solidFill>
          <a:ln w="9144">
            <a:solidFill>
              <a:srgbClr val="D0D7DE"/>
            </a:solidFill>
            <a:prstDash val="solid"/>
          </a:ln>
        </p:spPr>
      </p:sp>
      <p:sp>
        <p:nvSpPr>
          <p:cNvPr id="49" name="Shape 45"/>
          <p:cNvSpPr/>
          <p:nvPr/>
        </p:nvSpPr>
        <p:spPr>
          <a:xfrm>
            <a:off x="2643188" y="1882378"/>
            <a:ext cx="171450" cy="157163"/>
          </a:xfrm>
          <a:prstGeom prst="rect">
            <a:avLst/>
          </a:prstGeom>
          <a:solidFill>
            <a:srgbClr val="EAF1FF"/>
          </a:solidFill>
          <a:ln/>
        </p:spPr>
      </p:sp>
      <p:sp>
        <p:nvSpPr>
          <p:cNvPr id="50" name="Text 46"/>
          <p:cNvSpPr/>
          <p:nvPr/>
        </p:nvSpPr>
        <p:spPr>
          <a:xfrm>
            <a:off x="2643188" y="1882378"/>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4</a:t>
            </a:r>
            <a:endParaRPr lang="en-US" sz="650" dirty="0"/>
          </a:p>
        </p:txBody>
      </p:sp>
      <p:sp>
        <p:nvSpPr>
          <p:cNvPr id="51" name="Text 47"/>
          <p:cNvSpPr/>
          <p:nvPr/>
        </p:nvSpPr>
        <p:spPr>
          <a:xfrm>
            <a:off x="2814638" y="1892368"/>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artifacts/run_state/&lt;run-id&gt;.json</a:t>
            </a:r>
            <a:endParaRPr lang="en-US" sz="600" dirty="0"/>
          </a:p>
        </p:txBody>
      </p:sp>
      <p:sp>
        <p:nvSpPr>
          <p:cNvPr id="52" name="Shape 48"/>
          <p:cNvSpPr/>
          <p:nvPr/>
        </p:nvSpPr>
        <p:spPr>
          <a:xfrm>
            <a:off x="2643188" y="2075259"/>
            <a:ext cx="6229350" cy="157163"/>
          </a:xfrm>
          <a:prstGeom prst="rect">
            <a:avLst/>
          </a:prstGeom>
          <a:solidFill>
            <a:srgbClr val="FFFFFF"/>
          </a:solidFill>
          <a:ln w="9144">
            <a:solidFill>
              <a:srgbClr val="D0D7DE"/>
            </a:solidFill>
            <a:prstDash val="solid"/>
          </a:ln>
        </p:spPr>
      </p:sp>
      <p:sp>
        <p:nvSpPr>
          <p:cNvPr id="53" name="Shape 49"/>
          <p:cNvSpPr/>
          <p:nvPr/>
        </p:nvSpPr>
        <p:spPr>
          <a:xfrm>
            <a:off x="2643188" y="2075259"/>
            <a:ext cx="171450" cy="157163"/>
          </a:xfrm>
          <a:prstGeom prst="rect">
            <a:avLst/>
          </a:prstGeom>
          <a:solidFill>
            <a:srgbClr val="EAF1FF"/>
          </a:solidFill>
          <a:ln/>
        </p:spPr>
      </p:sp>
      <p:sp>
        <p:nvSpPr>
          <p:cNvPr id="54" name="Text 50"/>
          <p:cNvSpPr/>
          <p:nvPr/>
        </p:nvSpPr>
        <p:spPr>
          <a:xfrm>
            <a:off x="2643188" y="2075259"/>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5</a:t>
            </a:r>
            <a:endParaRPr lang="en-US" sz="650" dirty="0"/>
          </a:p>
        </p:txBody>
      </p:sp>
      <p:sp>
        <p:nvSpPr>
          <p:cNvPr id="55" name="Text 51"/>
          <p:cNvSpPr/>
          <p:nvPr/>
        </p:nvSpPr>
        <p:spPr>
          <a:xfrm>
            <a:off x="2814638" y="2085249"/>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.github/skills/&lt;verb&gt;/SKILL.md</a:t>
            </a:r>
            <a:endParaRPr lang="en-US" sz="600" dirty="0"/>
          </a:p>
        </p:txBody>
      </p:sp>
      <p:sp>
        <p:nvSpPr>
          <p:cNvPr id="56" name="Shape 52"/>
          <p:cNvSpPr/>
          <p:nvPr/>
        </p:nvSpPr>
        <p:spPr>
          <a:xfrm>
            <a:off x="2571750" y="2346722"/>
            <a:ext cx="6372225" cy="825103"/>
          </a:xfrm>
          <a:prstGeom prst="rect">
            <a:avLst/>
          </a:prstGeom>
          <a:solidFill>
            <a:srgbClr val="FFF8F7"/>
          </a:solidFill>
          <a:ln w="18288">
            <a:solidFill>
              <a:srgbClr val="FF443A"/>
            </a:solidFill>
            <a:prstDash val="solid"/>
          </a:ln>
        </p:spPr>
      </p:sp>
      <p:sp>
        <p:nvSpPr>
          <p:cNvPr id="57" name="Shape 53"/>
          <p:cNvSpPr/>
          <p:nvPr/>
        </p:nvSpPr>
        <p:spPr>
          <a:xfrm>
            <a:off x="8829675" y="2289572"/>
            <a:ext cx="171450" cy="171450"/>
          </a:xfrm>
          <a:prstGeom prst="rect">
            <a:avLst/>
          </a:prstGeom>
          <a:solidFill>
            <a:srgbClr val="FF443A"/>
          </a:solidFill>
          <a:ln w="18288">
            <a:solidFill>
              <a:srgbClr val="111111"/>
            </a:solidFill>
            <a:prstDash val="solid"/>
          </a:ln>
        </p:spPr>
      </p:sp>
      <p:sp>
        <p:nvSpPr>
          <p:cNvPr id="58" name="Text 54"/>
          <p:cNvSpPr/>
          <p:nvPr/>
        </p:nvSpPr>
        <p:spPr>
          <a:xfrm>
            <a:off x="8829675" y="2289572"/>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2</a:t>
            </a:r>
            <a:endParaRPr lang="en-US" sz="750" dirty="0"/>
          </a:p>
        </p:txBody>
      </p:sp>
      <p:sp>
        <p:nvSpPr>
          <p:cNvPr id="59" name="Text 55"/>
          <p:cNvSpPr/>
          <p:nvPr/>
        </p:nvSpPr>
        <p:spPr>
          <a:xfrm>
            <a:off x="2643188" y="2403872"/>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Canonical skill sequence</a:t>
            </a:r>
            <a:endParaRPr lang="en-US" sz="800" dirty="0"/>
          </a:p>
        </p:txBody>
      </p:sp>
      <p:sp>
        <p:nvSpPr>
          <p:cNvPr id="60" name="Text 56"/>
          <p:cNvSpPr/>
          <p:nvPr/>
        </p:nvSpPr>
        <p:spPr>
          <a:xfrm>
            <a:off x="2643188" y="2589609"/>
            <a:ext cx="6229350" cy="482203"/>
          </a:xfrm>
          <a:prstGeom prst="rect">
            <a:avLst/>
          </a:prstGeom>
          <a:noFill/>
          <a:ln/>
        </p:spPr>
        <p:txBody>
          <a:bodyPr wrap="square" lIns="0" tIns="0" rIns="0" bIns="0" rtlCol="0" anchor="t">
            <a:spAutoFit/>
          </a:bodyPr>
          <a:lstStyle/>
          <a:p>
            <a:pPr algn="l" indent="0" marL="0">
              <a:lnSpc>
                <a:spcPct val="100000"/>
              </a:lnSpc>
              <a:buNone/>
            </a:pPr>
            <a:r>
              <a:rPr lang="en-US" sz="650" b="1" dirty="0">
                <a:solidFill>
                  <a:srgbClr val="0055FF"/>
                </a:solidFill>
                <a:latin typeface="JetBrains Mono Bold" pitchFamily="34" charset="0"/>
                <a:ea typeface="JetBrains Mono Bold" pitchFamily="34" charset="-122"/>
                <a:cs typeface="JetBrains Mono Bold" pitchFamily="34" charset="-120"/>
              </a:rPr>
              <a:t>interview → specify → decide</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trace → map → model</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generate → test → validate</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review → release</a:t>
            </a:r>
            <a:endParaRPr lang="en-US" sz="650" dirty="0"/>
          </a:p>
        </p:txBody>
      </p:sp>
      <p:sp>
        <p:nvSpPr>
          <p:cNvPr id="61" name="Shape 57"/>
          <p:cNvSpPr/>
          <p:nvPr/>
        </p:nvSpPr>
        <p:spPr>
          <a:xfrm>
            <a:off x="2571750" y="3186113"/>
            <a:ext cx="6372225" cy="1111746"/>
          </a:xfrm>
          <a:prstGeom prst="rect">
            <a:avLst/>
          </a:prstGeom>
          <a:solidFill>
            <a:srgbClr val="FFF8F7"/>
          </a:solidFill>
          <a:ln w="18288">
            <a:solidFill>
              <a:srgbClr val="FF443A"/>
            </a:solidFill>
            <a:prstDash val="solid"/>
          </a:ln>
        </p:spPr>
      </p:sp>
      <p:sp>
        <p:nvSpPr>
          <p:cNvPr id="62" name="Shape 58"/>
          <p:cNvSpPr/>
          <p:nvPr/>
        </p:nvSpPr>
        <p:spPr>
          <a:xfrm>
            <a:off x="8829675" y="3128963"/>
            <a:ext cx="171450" cy="171450"/>
          </a:xfrm>
          <a:prstGeom prst="rect">
            <a:avLst/>
          </a:prstGeom>
          <a:solidFill>
            <a:srgbClr val="FF443A"/>
          </a:solidFill>
          <a:ln w="18288">
            <a:solidFill>
              <a:srgbClr val="111111"/>
            </a:solidFill>
            <a:prstDash val="solid"/>
          </a:ln>
        </p:spPr>
      </p:sp>
      <p:sp>
        <p:nvSpPr>
          <p:cNvPr id="63" name="Text 59"/>
          <p:cNvSpPr/>
          <p:nvPr/>
        </p:nvSpPr>
        <p:spPr>
          <a:xfrm>
            <a:off x="8829675" y="3128963"/>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3</a:t>
            </a:r>
            <a:endParaRPr lang="en-US" sz="750" dirty="0"/>
          </a:p>
        </p:txBody>
      </p:sp>
      <p:sp>
        <p:nvSpPr>
          <p:cNvPr id="64" name="Text 60"/>
          <p:cNvSpPr/>
          <p:nvPr/>
        </p:nvSpPr>
        <p:spPr>
          <a:xfrm>
            <a:off x="2643188" y="3243263"/>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Authority boundaries</a:t>
            </a:r>
            <a:endParaRPr lang="en-US" sz="800" dirty="0"/>
          </a:p>
        </p:txBody>
      </p:sp>
      <p:sp>
        <p:nvSpPr>
          <p:cNvPr id="65" name="Shape 61"/>
          <p:cNvSpPr/>
          <p:nvPr/>
        </p:nvSpPr>
        <p:spPr>
          <a:xfrm>
            <a:off x="2643188" y="3429000"/>
            <a:ext cx="3093244" cy="227707"/>
          </a:xfrm>
          <a:prstGeom prst="rect">
            <a:avLst/>
          </a:prstGeom>
          <a:solidFill>
            <a:srgbClr val="FFFFFF"/>
          </a:solidFill>
          <a:ln w="18288">
            <a:solidFill>
              <a:srgbClr val="111111"/>
            </a:solidFill>
            <a:prstDash val="solid"/>
          </a:ln>
        </p:spPr>
      </p:sp>
      <p:sp>
        <p:nvSpPr>
          <p:cNvPr id="66" name="Text 62"/>
          <p:cNvSpPr/>
          <p:nvPr/>
        </p:nvSpPr>
        <p:spPr>
          <a:xfrm>
            <a:off x="2643188" y="3429000"/>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ANALYST</a:t>
            </a:r>
            <a:r>
              <a:rPr lang="en-US" sz="600" b="1" dirty="0">
                <a:solidFill>
                  <a:srgbClr val="222222"/>
                </a:solidFill>
                <a:latin typeface="Inter Bold" pitchFamily="34" charset="0"/>
                <a:ea typeface="Inter Bold" pitchFamily="34" charset="-122"/>
                <a:cs typeface="Inter Bold" pitchFamily="34" charset="-120"/>
              </a:rPr>
              <a:t> — define behavior</a:t>
            </a:r>
            <a:endParaRPr lang="en-US" sz="650" dirty="0"/>
          </a:p>
        </p:txBody>
      </p:sp>
      <p:sp>
        <p:nvSpPr>
          <p:cNvPr id="67" name="Shape 63"/>
          <p:cNvSpPr/>
          <p:nvPr/>
        </p:nvSpPr>
        <p:spPr>
          <a:xfrm>
            <a:off x="5779294" y="3429000"/>
            <a:ext cx="3093244" cy="227707"/>
          </a:xfrm>
          <a:prstGeom prst="rect">
            <a:avLst/>
          </a:prstGeom>
          <a:solidFill>
            <a:srgbClr val="FFFFFF"/>
          </a:solidFill>
          <a:ln w="18288">
            <a:solidFill>
              <a:srgbClr val="111111"/>
            </a:solidFill>
            <a:prstDash val="solid"/>
          </a:ln>
        </p:spPr>
      </p:sp>
      <p:sp>
        <p:nvSpPr>
          <p:cNvPr id="68" name="Text 64"/>
          <p:cNvSpPr/>
          <p:nvPr/>
        </p:nvSpPr>
        <p:spPr>
          <a:xfrm>
            <a:off x="5779294" y="3429000"/>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MAKER</a:t>
            </a:r>
            <a:r>
              <a:rPr lang="en-US" sz="600" b="1" dirty="0">
                <a:solidFill>
                  <a:srgbClr val="222222"/>
                </a:solidFill>
                <a:latin typeface="Inter Bold" pitchFamily="34" charset="0"/>
                <a:ea typeface="Inter Bold" pitchFamily="34" charset="-122"/>
                <a:cs typeface="Inter Bold" pitchFamily="34" charset="-120"/>
              </a:rPr>
              <a:t> — build or repair</a:t>
            </a:r>
            <a:endParaRPr lang="en-US" sz="650" dirty="0"/>
          </a:p>
        </p:txBody>
      </p:sp>
      <p:sp>
        <p:nvSpPr>
          <p:cNvPr id="69" name="Shape 65"/>
          <p:cNvSpPr/>
          <p:nvPr/>
        </p:nvSpPr>
        <p:spPr>
          <a:xfrm>
            <a:off x="2643188" y="3670995"/>
            <a:ext cx="3093244" cy="227707"/>
          </a:xfrm>
          <a:prstGeom prst="rect">
            <a:avLst/>
          </a:prstGeom>
          <a:solidFill>
            <a:srgbClr val="FFFFFF"/>
          </a:solidFill>
          <a:ln w="18288">
            <a:solidFill>
              <a:srgbClr val="111111"/>
            </a:solidFill>
            <a:prstDash val="solid"/>
          </a:ln>
        </p:spPr>
      </p:sp>
      <p:sp>
        <p:nvSpPr>
          <p:cNvPr id="70" name="Text 66"/>
          <p:cNvSpPr/>
          <p:nvPr/>
        </p:nvSpPr>
        <p:spPr>
          <a:xfrm>
            <a:off x="2643188" y="3670995"/>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EXPLORER</a:t>
            </a:r>
            <a:r>
              <a:rPr lang="en-US" sz="600" b="1" dirty="0">
                <a:solidFill>
                  <a:srgbClr val="222222"/>
                </a:solidFill>
                <a:latin typeface="Inter Bold" pitchFamily="34" charset="0"/>
                <a:ea typeface="Inter Bold" pitchFamily="34" charset="-122"/>
                <a:cs typeface="Inter Bold" pitchFamily="34" charset="-120"/>
              </a:rPr>
              <a:t> — diagnose only</a:t>
            </a:r>
            <a:endParaRPr lang="en-US" sz="650" dirty="0"/>
          </a:p>
        </p:txBody>
      </p:sp>
      <p:sp>
        <p:nvSpPr>
          <p:cNvPr id="71" name="Shape 67"/>
          <p:cNvSpPr/>
          <p:nvPr/>
        </p:nvSpPr>
        <p:spPr>
          <a:xfrm>
            <a:off x="5779294" y="3670995"/>
            <a:ext cx="3093244" cy="227707"/>
          </a:xfrm>
          <a:prstGeom prst="rect">
            <a:avLst/>
          </a:prstGeom>
          <a:solidFill>
            <a:srgbClr val="FFFFFF"/>
          </a:solidFill>
          <a:ln w="18288">
            <a:solidFill>
              <a:srgbClr val="111111"/>
            </a:solidFill>
            <a:prstDash val="solid"/>
          </a:ln>
        </p:spPr>
      </p:sp>
      <p:sp>
        <p:nvSpPr>
          <p:cNvPr id="72" name="Text 68"/>
          <p:cNvSpPr/>
          <p:nvPr/>
        </p:nvSpPr>
        <p:spPr>
          <a:xfrm>
            <a:off x="5779294" y="3670995"/>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CHECKER</a:t>
            </a:r>
            <a:r>
              <a:rPr lang="en-US" sz="600" b="1" dirty="0">
                <a:solidFill>
                  <a:srgbClr val="222222"/>
                </a:solidFill>
                <a:latin typeface="Inter Bold" pitchFamily="34" charset="0"/>
                <a:ea typeface="Inter Bold" pitchFamily="34" charset="-122"/>
                <a:cs typeface="Inter Bold" pitchFamily="34" charset="-120"/>
              </a:rPr>
              <a:t> — verify only</a:t>
            </a:r>
            <a:endParaRPr lang="en-US" sz="650" dirty="0"/>
          </a:p>
        </p:txBody>
      </p:sp>
      <p:sp>
        <p:nvSpPr>
          <p:cNvPr id="73" name="Shape 69"/>
          <p:cNvSpPr/>
          <p:nvPr/>
        </p:nvSpPr>
        <p:spPr>
          <a:xfrm>
            <a:off x="2643188" y="3912989"/>
            <a:ext cx="3093244" cy="227707"/>
          </a:xfrm>
          <a:prstGeom prst="rect">
            <a:avLst/>
          </a:prstGeom>
          <a:solidFill>
            <a:srgbClr val="FFFFFF"/>
          </a:solidFill>
          <a:ln w="18288">
            <a:solidFill>
              <a:srgbClr val="111111"/>
            </a:solidFill>
            <a:prstDash val="solid"/>
          </a:ln>
        </p:spPr>
      </p:sp>
      <p:sp>
        <p:nvSpPr>
          <p:cNvPr id="74" name="Text 70"/>
          <p:cNvSpPr/>
          <p:nvPr/>
        </p:nvSpPr>
        <p:spPr>
          <a:xfrm>
            <a:off x="2643188" y="3912989"/>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ORCHESTRATOR</a:t>
            </a:r>
            <a:r>
              <a:rPr lang="en-US" sz="600" b="1" dirty="0">
                <a:solidFill>
                  <a:srgbClr val="222222"/>
                </a:solidFill>
                <a:latin typeface="Inter Bold" pitchFamily="34" charset="0"/>
                <a:ea typeface="Inter Bold" pitchFamily="34" charset="-122"/>
                <a:cs typeface="Inter Bold" pitchFamily="34" charset="-120"/>
              </a:rPr>
              <a:t> — route and stop</a:t>
            </a:r>
            <a:endParaRPr lang="en-US" sz="650" dirty="0"/>
          </a:p>
        </p:txBody>
      </p:sp>
      <p:sp>
        <p:nvSpPr>
          <p:cNvPr id="75" name="Shape 71"/>
          <p:cNvSpPr/>
          <p:nvPr/>
        </p:nvSpPr>
        <p:spPr>
          <a:xfrm>
            <a:off x="5779294" y="3912989"/>
            <a:ext cx="3093244" cy="227707"/>
          </a:xfrm>
          <a:prstGeom prst="rect">
            <a:avLst/>
          </a:prstGeom>
          <a:solidFill>
            <a:srgbClr val="FFFFFF"/>
          </a:solidFill>
          <a:ln w="18288">
            <a:solidFill>
              <a:srgbClr val="111111"/>
            </a:solidFill>
            <a:prstDash val="solid"/>
          </a:ln>
        </p:spPr>
      </p:sp>
      <p:sp>
        <p:nvSpPr>
          <p:cNvPr id="76" name="Text 72"/>
          <p:cNvSpPr/>
          <p:nvPr/>
        </p:nvSpPr>
        <p:spPr>
          <a:xfrm>
            <a:off x="5779294" y="3912989"/>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HUMAN</a:t>
            </a:r>
            <a:r>
              <a:rPr lang="en-US" sz="600" b="1" dirty="0">
                <a:solidFill>
                  <a:srgbClr val="222222"/>
                </a:solidFill>
                <a:latin typeface="Inter Bold" pitchFamily="34" charset="0"/>
                <a:ea typeface="Inter Bold" pitchFamily="34" charset="-122"/>
                <a:cs typeface="Inter Bold" pitchFamily="34" charset="-120"/>
              </a:rPr>
              <a:t> — approve and release</a:t>
            </a:r>
            <a:endParaRPr lang="en-US" sz="650" dirty="0"/>
          </a:p>
        </p:txBody>
      </p:sp>
      <p:sp>
        <p:nvSpPr>
          <p:cNvPr id="77" name="Shape 73"/>
          <p:cNvSpPr/>
          <p:nvPr/>
        </p:nvSpPr>
        <p:spPr>
          <a:xfrm>
            <a:off x="0" y="4872038"/>
            <a:ext cx="9144000" cy="214313"/>
          </a:xfrm>
          <a:prstGeom prst="rect">
            <a:avLst/>
          </a:prstGeom>
          <a:solidFill>
            <a:srgbClr val="0055FF"/>
          </a:solidFill>
          <a:ln/>
        </p:spPr>
      </p:sp>
      <p:sp>
        <p:nvSpPr>
          <p:cNvPr id="78" name="Shape 74"/>
          <p:cNvSpPr/>
          <p:nvPr/>
        </p:nvSpPr>
        <p:spPr>
          <a:xfrm>
            <a:off x="0" y="4872038"/>
            <a:ext cx="9144000" cy="28575"/>
          </a:xfrm>
          <a:prstGeom prst="rect">
            <a:avLst/>
          </a:prstGeom>
          <a:solidFill>
            <a:srgbClr val="111111"/>
          </a:solidFill>
          <a:ln/>
        </p:spPr>
      </p:sp>
      <p:sp>
        <p:nvSpPr>
          <p:cNvPr id="79" name="Text 75"/>
          <p:cNvSpPr/>
          <p:nvPr/>
        </p:nvSpPr>
        <p:spPr>
          <a:xfrm>
            <a:off x="114300" y="4932759"/>
            <a:ext cx="1075134"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STEP 2: THE CONTRACT</a:t>
            </a:r>
            <a:endParaRPr lang="en-US" sz="550" dirty="0"/>
          </a:p>
        </p:txBody>
      </p:sp>
      <p:sp>
        <p:nvSpPr>
          <p:cNvPr id="80" name="Text 76"/>
          <p:cNvSpPr/>
          <p:nvPr/>
        </p:nvSpPr>
        <p:spPr>
          <a:xfrm>
            <a:off x="8061722" y="4932759"/>
            <a:ext cx="967978"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SOURCE: AGENTS.MD</a:t>
            </a:r>
            <a:endParaRPr lang="en-US" sz="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WHAT CHANGED: FROM ONE AI TO GOVERNED HANDOFFS</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The previous slide defined the roles. This slide shows how those roles become real during execution.</a:t>
            </a:r>
            <a:endParaRPr lang="en-US" sz="1050" dirty="0"/>
          </a:p>
        </p:txBody>
      </p:sp>
      <p:sp>
        <p:nvSpPr>
          <p:cNvPr id="7" name="Shape 4"/>
          <p:cNvSpPr/>
          <p:nvPr/>
        </p:nvSpPr>
        <p:spPr>
          <a:xfrm>
            <a:off x="271463" y="971550"/>
            <a:ext cx="3160719" cy="1308646"/>
          </a:xfrm>
          <a:prstGeom prst="rect">
            <a:avLst/>
          </a:prstGeom>
          <a:solidFill>
            <a:srgbClr val="FFFFFF"/>
          </a:solidFill>
          <a:ln w="27432">
            <a:solidFill>
              <a:srgbClr val="111111"/>
            </a:solidFill>
            <a:prstDash val="solid"/>
          </a:ln>
        </p:spPr>
      </p:sp>
      <p:sp>
        <p:nvSpPr>
          <p:cNvPr id="8" name="Text 5"/>
          <p:cNvSpPr/>
          <p:nvPr/>
        </p:nvSpPr>
        <p:spPr>
          <a:xfrm>
            <a:off x="428625" y="1100138"/>
            <a:ext cx="2846394" cy="232172"/>
          </a:xfrm>
          <a:prstGeom prst="rect">
            <a:avLst/>
          </a:prstGeom>
          <a:noFill/>
          <a:ln/>
        </p:spPr>
        <p:txBody>
          <a:bodyPr wrap="square" lIns="0" tIns="0" rIns="0" bIns="0" rtlCol="0" anchor="t">
            <a:spAutoFit/>
          </a:bodyPr>
          <a:lstStyle/>
          <a:p>
            <a:pPr algn="l" indent="0" marL="0">
              <a:buNone/>
            </a:pPr>
            <a:r>
              <a:rPr lang="en-US" sz="1150" dirty="0">
                <a:solidFill>
                  <a:srgbClr val="D9504F"/>
                </a:solidFill>
                <a:latin typeface="Oswald SemiBold" pitchFamily="34" charset="0"/>
                <a:ea typeface="Oswald SemiBold" pitchFamily="34" charset="-122"/>
                <a:cs typeface="Oswald SemiBold" pitchFamily="34" charset="-120"/>
              </a:rPr>
              <a:t>BEFORE: ONE OPAQUE ACTION</a:t>
            </a:r>
            <a:endParaRPr lang="en-US" sz="1150" dirty="0"/>
          </a:p>
        </p:txBody>
      </p:sp>
      <p:sp>
        <p:nvSpPr>
          <p:cNvPr id="9" name="Text 6"/>
          <p:cNvSpPr/>
          <p:nvPr/>
        </p:nvSpPr>
        <p:spPr>
          <a:xfrm>
            <a:off x="428625" y="1403747"/>
            <a:ext cx="2846394" cy="376386"/>
          </a:xfrm>
          <a:prstGeom prst="rect">
            <a:avLst/>
          </a:prstGeom>
          <a:noFill/>
          <a:ln/>
        </p:spPr>
        <p:txBody>
          <a:bodyPr wrap="square" lIns="0" tIns="0" rIns="0" bIns="0" rtlCol="0" anchor="t">
            <a:spAutoFit/>
          </a:bodyPr>
          <a:lstStyle/>
          <a:p>
            <a:pPr algn="l" indent="0" marL="0">
              <a:lnSpc>
                <a:spcPct val="124000"/>
              </a:lnSpc>
              <a:buNone/>
            </a:pPr>
            <a:r>
              <a:rPr lang="en-US" sz="900" dirty="0">
                <a:solidFill>
                  <a:srgbClr val="333333"/>
                </a:solidFill>
                <a:latin typeface="JetBrains Mono" pitchFamily="34" charset="0"/>
                <a:ea typeface="JetBrains Mono" pitchFamily="34" charset="-122"/>
                <a:cs typeface="JetBrains Mono" pitchFamily="34" charset="-120"/>
              </a:rPr>
              <a:t>Prompt → AI performs </a:t>
            </a:r>
            <a:r>
              <a:rPr lang="en-US" sz="850" b="1" dirty="0">
                <a:solidFill>
                  <a:srgbClr val="D9504F"/>
                </a:solidFill>
                <a:latin typeface="JetBrains Mono Bold" pitchFamily="34" charset="0"/>
                <a:ea typeface="JetBrains Mono Bold" pitchFamily="34" charset="-122"/>
                <a:cs typeface="JetBrains Mono Bold" pitchFamily="34" charset="-120"/>
              </a:rPr>
              <a:t>requirements + code + test + approval</a:t>
            </a:r>
            <a:endParaRPr lang="en-US" sz="900" dirty="0"/>
          </a:p>
        </p:txBody>
      </p:sp>
      <p:sp>
        <p:nvSpPr>
          <p:cNvPr id="10" name="Text 7"/>
          <p:cNvSpPr/>
          <p:nvPr/>
        </p:nvSpPr>
        <p:spPr>
          <a:xfrm>
            <a:off x="428625" y="1851571"/>
            <a:ext cx="2846394" cy="242888"/>
          </a:xfrm>
          <a:prstGeom prst="rect">
            <a:avLst/>
          </a:prstGeom>
          <a:noFill/>
          <a:ln/>
        </p:spPr>
        <p:txBody>
          <a:bodyPr wrap="square" lIns="0" tIns="0" rIns="0" bIns="0" rtlCol="0" anchor="t">
            <a:spAutoFit/>
          </a:bodyPr>
          <a:lstStyle/>
          <a:p>
            <a:pPr algn="l" indent="0" marL="0">
              <a:buNone/>
            </a:pPr>
            <a:r>
              <a:rPr lang="en-US" sz="700" b="1" dirty="0">
                <a:solidFill>
                  <a:srgbClr val="7B2D32"/>
                </a:solidFill>
                <a:latin typeface="Inter Bold" pitchFamily="34" charset="0"/>
                <a:ea typeface="Inter Bold" pitchFamily="34" charset="-122"/>
                <a:cs typeface="Inter Bold" pitchFamily="34" charset="-120"/>
              </a:rPr>
              <a:t>No clear separation of responsibility or evidence ownership.</a:t>
            </a:r>
            <a:endParaRPr lang="en-US" sz="700" dirty="0"/>
          </a:p>
        </p:txBody>
      </p:sp>
      <p:sp>
        <p:nvSpPr>
          <p:cNvPr id="11" name="Shape 8"/>
          <p:cNvSpPr/>
          <p:nvPr/>
        </p:nvSpPr>
        <p:spPr>
          <a:xfrm>
            <a:off x="3560769" y="1332979"/>
            <a:ext cx="528638" cy="528638"/>
          </a:xfrm>
          <a:prstGeom prst="rect">
            <a:avLst/>
          </a:prstGeom>
          <a:solidFill>
            <a:srgbClr val="FFDF00"/>
          </a:solidFill>
          <a:ln w="27432">
            <a:solidFill>
              <a:srgbClr val="111111"/>
            </a:solidFill>
            <a:prstDash val="solid"/>
          </a:ln>
        </p:spPr>
      </p:sp>
      <p:sp>
        <p:nvSpPr>
          <p:cNvPr id="12" name="Text 9"/>
          <p:cNvSpPr/>
          <p:nvPr/>
        </p:nvSpPr>
        <p:spPr>
          <a:xfrm>
            <a:off x="3560769" y="1332979"/>
            <a:ext cx="528638" cy="528638"/>
          </a:xfrm>
          <a:prstGeom prst="rect">
            <a:avLst/>
          </a:prstGeom>
          <a:noFill/>
          <a:ln/>
        </p:spPr>
        <p:txBody>
          <a:bodyPr wrap="none" lIns="0" tIns="0" rIns="0" bIns="0" rtlCol="0" anchor="ctr">
            <a:spAutoFit/>
          </a:bodyPr>
          <a:lstStyle/>
          <a:p>
            <a:pPr algn="ctr" indent="0" marL="0">
              <a:buNone/>
            </a:pPr>
            <a:r>
              <a:rPr lang="en-US" sz="1850" dirty="0">
                <a:solidFill>
                  <a:srgbClr val="111111"/>
                </a:solidFill>
                <a:latin typeface="Oswald SemiBold" pitchFamily="34" charset="0"/>
                <a:ea typeface="Oswald SemiBold" pitchFamily="34" charset="-122"/>
                <a:cs typeface="Oswald SemiBold" pitchFamily="34" charset="-120"/>
              </a:rPr>
              <a:t>→</a:t>
            </a:r>
            <a:endParaRPr lang="en-US" sz="1850" dirty="0"/>
          </a:p>
        </p:txBody>
      </p:sp>
      <p:sp>
        <p:nvSpPr>
          <p:cNvPr id="13" name="Shape 10"/>
          <p:cNvSpPr/>
          <p:nvPr/>
        </p:nvSpPr>
        <p:spPr>
          <a:xfrm>
            <a:off x="4289431" y="973113"/>
            <a:ext cx="4583106" cy="1248370"/>
          </a:xfrm>
          <a:prstGeom prst="rect">
            <a:avLst/>
          </a:prstGeom>
          <a:solidFill>
            <a:srgbClr val="EAF1FF"/>
          </a:solidFill>
          <a:ln w="27432">
            <a:solidFill>
              <a:srgbClr val="111111"/>
            </a:solidFill>
            <a:prstDash val="solid"/>
          </a:ln>
        </p:spPr>
      </p:sp>
      <p:sp>
        <p:nvSpPr>
          <p:cNvPr id="14" name="Text 11"/>
          <p:cNvSpPr/>
          <p:nvPr/>
        </p:nvSpPr>
        <p:spPr>
          <a:xfrm>
            <a:off x="4446594" y="1130275"/>
            <a:ext cx="4268781"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NOW: EXPLICIT ROLE HANDOFFS</a:t>
            </a:r>
            <a:endParaRPr lang="en-US" sz="1150" dirty="0"/>
          </a:p>
        </p:txBody>
      </p:sp>
      <p:sp>
        <p:nvSpPr>
          <p:cNvPr id="15" name="Shape 12"/>
          <p:cNvSpPr/>
          <p:nvPr/>
        </p:nvSpPr>
        <p:spPr>
          <a:xfrm>
            <a:off x="4446594" y="1433885"/>
            <a:ext cx="938622" cy="437555"/>
          </a:xfrm>
          <a:prstGeom prst="rect">
            <a:avLst/>
          </a:prstGeom>
          <a:solidFill>
            <a:srgbClr val="FFFFFF"/>
          </a:solidFill>
          <a:ln w="18288">
            <a:solidFill>
              <a:srgbClr val="111111"/>
            </a:solidFill>
            <a:prstDash val="solid"/>
          </a:ln>
        </p:spPr>
      </p:sp>
      <p:sp>
        <p:nvSpPr>
          <p:cNvPr id="16" name="Text 13"/>
          <p:cNvSpPr/>
          <p:nvPr/>
        </p:nvSpPr>
        <p:spPr>
          <a:xfrm>
            <a:off x="4496600" y="1498178"/>
            <a:ext cx="817178"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ANALYST</a:t>
            </a:r>
            <a:endParaRPr lang="en-US" sz="850" dirty="0"/>
          </a:p>
        </p:txBody>
      </p:sp>
      <p:sp>
        <p:nvSpPr>
          <p:cNvPr id="17" name="Text 14"/>
          <p:cNvSpPr/>
          <p:nvPr/>
        </p:nvSpPr>
        <p:spPr>
          <a:xfrm>
            <a:off x="4610509" y="1671414"/>
            <a:ext cx="589359"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Defines intent</a:t>
            </a:r>
            <a:endParaRPr lang="en-US" sz="600" dirty="0"/>
          </a:p>
        </p:txBody>
      </p:sp>
      <p:sp>
        <p:nvSpPr>
          <p:cNvPr id="18" name="Text 15"/>
          <p:cNvSpPr/>
          <p:nvPr/>
        </p:nvSpPr>
        <p:spPr>
          <a:xfrm>
            <a:off x="5413790"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19" name="Shape 16"/>
          <p:cNvSpPr/>
          <p:nvPr/>
        </p:nvSpPr>
        <p:spPr>
          <a:xfrm>
            <a:off x="5535234" y="1433885"/>
            <a:ext cx="945766" cy="437555"/>
          </a:xfrm>
          <a:prstGeom prst="rect">
            <a:avLst/>
          </a:prstGeom>
          <a:solidFill>
            <a:srgbClr val="FFFFFF"/>
          </a:solidFill>
          <a:ln w="18288">
            <a:solidFill>
              <a:srgbClr val="111111"/>
            </a:solidFill>
            <a:prstDash val="solid"/>
          </a:ln>
        </p:spPr>
      </p:sp>
      <p:sp>
        <p:nvSpPr>
          <p:cNvPr id="20" name="Text 17"/>
          <p:cNvSpPr/>
          <p:nvPr/>
        </p:nvSpPr>
        <p:spPr>
          <a:xfrm>
            <a:off x="5592384" y="1498178"/>
            <a:ext cx="824322"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MAKER</a:t>
            </a:r>
            <a:endParaRPr lang="en-US" sz="850" dirty="0"/>
          </a:p>
        </p:txBody>
      </p:sp>
      <p:sp>
        <p:nvSpPr>
          <p:cNvPr id="21" name="Text 18"/>
          <p:cNvSpPr/>
          <p:nvPr/>
        </p:nvSpPr>
        <p:spPr>
          <a:xfrm>
            <a:off x="5874172" y="1671414"/>
            <a:ext cx="260747"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Builds</a:t>
            </a:r>
            <a:endParaRPr lang="en-US" sz="600" dirty="0"/>
          </a:p>
        </p:txBody>
      </p:sp>
      <p:sp>
        <p:nvSpPr>
          <p:cNvPr id="22" name="Text 19"/>
          <p:cNvSpPr/>
          <p:nvPr/>
        </p:nvSpPr>
        <p:spPr>
          <a:xfrm>
            <a:off x="6516719"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3" name="Shape 20"/>
          <p:cNvSpPr/>
          <p:nvPr/>
        </p:nvSpPr>
        <p:spPr>
          <a:xfrm>
            <a:off x="6638162" y="1433885"/>
            <a:ext cx="952909" cy="437555"/>
          </a:xfrm>
          <a:prstGeom prst="rect">
            <a:avLst/>
          </a:prstGeom>
          <a:solidFill>
            <a:srgbClr val="FFFFFF"/>
          </a:solidFill>
          <a:ln w="18288">
            <a:solidFill>
              <a:srgbClr val="111111"/>
            </a:solidFill>
            <a:prstDash val="solid"/>
          </a:ln>
        </p:spPr>
      </p:sp>
      <p:sp>
        <p:nvSpPr>
          <p:cNvPr id="24" name="Text 21"/>
          <p:cNvSpPr/>
          <p:nvPr/>
        </p:nvSpPr>
        <p:spPr>
          <a:xfrm>
            <a:off x="6702456" y="1498178"/>
            <a:ext cx="831466"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CHECKER</a:t>
            </a:r>
            <a:endParaRPr lang="en-US" sz="850" dirty="0"/>
          </a:p>
        </p:txBody>
      </p:sp>
      <p:sp>
        <p:nvSpPr>
          <p:cNvPr id="25" name="Text 22"/>
          <p:cNvSpPr/>
          <p:nvPr/>
        </p:nvSpPr>
        <p:spPr>
          <a:xfrm>
            <a:off x="6953883" y="1671414"/>
            <a:ext cx="328613"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Verifies</a:t>
            </a:r>
            <a:endParaRPr lang="en-US" sz="600" dirty="0"/>
          </a:p>
        </p:txBody>
      </p:sp>
      <p:sp>
        <p:nvSpPr>
          <p:cNvPr id="26" name="Text 23"/>
          <p:cNvSpPr/>
          <p:nvPr/>
        </p:nvSpPr>
        <p:spPr>
          <a:xfrm>
            <a:off x="7633934"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7" name="Shape 24"/>
          <p:cNvSpPr/>
          <p:nvPr/>
        </p:nvSpPr>
        <p:spPr>
          <a:xfrm>
            <a:off x="7755378" y="1433885"/>
            <a:ext cx="960053" cy="437555"/>
          </a:xfrm>
          <a:prstGeom prst="rect">
            <a:avLst/>
          </a:prstGeom>
          <a:solidFill>
            <a:srgbClr val="FFFFFF"/>
          </a:solidFill>
          <a:ln w="18288">
            <a:solidFill>
              <a:srgbClr val="111111"/>
            </a:solidFill>
            <a:prstDash val="solid"/>
          </a:ln>
        </p:spPr>
      </p:sp>
      <p:sp>
        <p:nvSpPr>
          <p:cNvPr id="28" name="Text 25"/>
          <p:cNvSpPr/>
          <p:nvPr/>
        </p:nvSpPr>
        <p:spPr>
          <a:xfrm>
            <a:off x="7826815" y="1512466"/>
            <a:ext cx="838609"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HUMAN</a:t>
            </a:r>
            <a:endParaRPr lang="en-US" sz="850" dirty="0"/>
          </a:p>
        </p:txBody>
      </p:sp>
      <p:sp>
        <p:nvSpPr>
          <p:cNvPr id="29" name="Text 26"/>
          <p:cNvSpPr/>
          <p:nvPr/>
        </p:nvSpPr>
        <p:spPr>
          <a:xfrm>
            <a:off x="8044309" y="1685702"/>
            <a:ext cx="403622"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Approves</a:t>
            </a:r>
            <a:endParaRPr lang="en-US" sz="600" dirty="0"/>
          </a:p>
        </p:txBody>
      </p:sp>
      <p:sp>
        <p:nvSpPr>
          <p:cNvPr id="30" name="Text 27"/>
          <p:cNvSpPr/>
          <p:nvPr/>
        </p:nvSpPr>
        <p:spPr>
          <a:xfrm>
            <a:off x="4446594" y="1928589"/>
            <a:ext cx="4268781" cy="121444"/>
          </a:xfrm>
          <a:prstGeom prst="rect">
            <a:avLst/>
          </a:prstGeom>
          <a:noFill/>
          <a:ln/>
        </p:spPr>
        <p:txBody>
          <a:bodyPr wrap="square" lIns="0" tIns="0" rIns="0" bIns="0" rtlCol="0" anchor="t">
            <a:spAutoFit/>
          </a:bodyPr>
          <a:lstStyle/>
          <a:p>
            <a:pPr algn="l" indent="0" marL="0">
              <a:buNone/>
            </a:pPr>
            <a:r>
              <a:rPr lang="en-US" sz="700" b="1" dirty="0">
                <a:solidFill>
                  <a:srgbClr val="0A3069"/>
                </a:solidFill>
                <a:latin typeface="Inter Bold" pitchFamily="34" charset="0"/>
                <a:ea typeface="Inter Bold" pitchFamily="34" charset="-122"/>
                <a:cs typeface="Inter Bold" pitchFamily="34" charset="-120"/>
              </a:rPr>
              <a:t>Every handoff produces an artifact, gate result, and durable state update.</a:t>
            </a:r>
            <a:endParaRPr lang="en-US" sz="700" dirty="0"/>
          </a:p>
        </p:txBody>
      </p:sp>
      <p:sp>
        <p:nvSpPr>
          <p:cNvPr id="31" name="Text 28"/>
          <p:cNvSpPr/>
          <p:nvPr/>
        </p:nvSpPr>
        <p:spPr>
          <a:xfrm>
            <a:off x="271463" y="2679353"/>
            <a:ext cx="8601075" cy="264319"/>
          </a:xfrm>
          <a:prstGeom prst="rect">
            <a:avLst/>
          </a:prstGeom>
          <a:noFill/>
          <a:ln/>
        </p:spPr>
        <p:txBody>
          <a:bodyPr wrap="square" lIns="0" tIns="0" rIns="0" bIns="0" rtlCol="0" anchor="t">
            <a:spAutoFit/>
          </a:bodyPr>
          <a:lstStyle/>
          <a:p>
            <a:pPr algn="l" indent="0" marL="0">
              <a:buNone/>
            </a:pPr>
            <a:r>
              <a:rPr lang="en-US" sz="1300" dirty="0">
                <a:solidFill>
                  <a:srgbClr val="111111"/>
                </a:solidFill>
                <a:latin typeface="Oswald SemiBold" pitchFamily="34" charset="0"/>
                <a:ea typeface="Oswald SemiBold" pitchFamily="34" charset="-122"/>
                <a:cs typeface="Oswald SemiBold" pitchFamily="34" charset="-120"/>
              </a:rPr>
              <a:t>HOW THE REPOSITORY MAKES THE CHANGE ENFORCEABLE</a:t>
            </a:r>
            <a:endParaRPr lang="en-US" sz="1300" dirty="0"/>
          </a:p>
        </p:txBody>
      </p:sp>
      <p:sp>
        <p:nvSpPr>
          <p:cNvPr id="32" name="Shape 29"/>
          <p:cNvSpPr/>
          <p:nvPr/>
        </p:nvSpPr>
        <p:spPr>
          <a:xfrm>
            <a:off x="271463" y="3015109"/>
            <a:ext cx="2075259" cy="1456879"/>
          </a:xfrm>
          <a:prstGeom prst="rect">
            <a:avLst/>
          </a:prstGeom>
          <a:solidFill>
            <a:srgbClr val="FFFFFF"/>
          </a:solidFill>
          <a:ln w="18288">
            <a:solidFill>
              <a:srgbClr val="111111"/>
            </a:solidFill>
            <a:prstDash val="solid"/>
          </a:ln>
        </p:spPr>
      </p:sp>
      <p:sp>
        <p:nvSpPr>
          <p:cNvPr id="33" name="Shape 30"/>
          <p:cNvSpPr/>
          <p:nvPr/>
        </p:nvSpPr>
        <p:spPr>
          <a:xfrm>
            <a:off x="2218134" y="2986534"/>
            <a:ext cx="192881" cy="192881"/>
          </a:xfrm>
          <a:prstGeom prst="rect">
            <a:avLst/>
          </a:prstGeom>
          <a:solidFill>
            <a:srgbClr val="FF443A"/>
          </a:solidFill>
          <a:ln w="18288">
            <a:solidFill>
              <a:srgbClr val="111111"/>
            </a:solidFill>
            <a:prstDash val="solid"/>
          </a:ln>
        </p:spPr>
      </p:sp>
      <p:sp>
        <p:nvSpPr>
          <p:cNvPr id="34" name="Text 31"/>
          <p:cNvSpPr/>
          <p:nvPr/>
        </p:nvSpPr>
        <p:spPr>
          <a:xfrm>
            <a:off x="2218134"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35" name="Text 32"/>
          <p:cNvSpPr/>
          <p:nvPr/>
        </p:nvSpPr>
        <p:spPr>
          <a:xfrm>
            <a:off x="364331"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AGENTS.md</a:t>
            </a:r>
            <a:endParaRPr lang="en-US" sz="650" dirty="0"/>
          </a:p>
        </p:txBody>
      </p:sp>
      <p:sp>
        <p:nvSpPr>
          <p:cNvPr id="36" name="Text 33"/>
          <p:cNvSpPr/>
          <p:nvPr/>
        </p:nvSpPr>
        <p:spPr>
          <a:xfrm>
            <a:off x="364331"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DEFINES</a:t>
            </a:r>
            <a:endParaRPr lang="en-US" sz="1000" dirty="0"/>
          </a:p>
        </p:txBody>
      </p:sp>
      <p:sp>
        <p:nvSpPr>
          <p:cNvPr id="37" name="Text 34"/>
          <p:cNvSpPr/>
          <p:nvPr/>
        </p:nvSpPr>
        <p:spPr>
          <a:xfrm>
            <a:off x="364331"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Names the roles and separates what each one may and may not do.</a:t>
            </a:r>
            <a:endParaRPr lang="en-US" sz="750" dirty="0"/>
          </a:p>
        </p:txBody>
      </p:sp>
      <p:sp>
        <p:nvSpPr>
          <p:cNvPr id="38" name="Shape 35"/>
          <p:cNvSpPr/>
          <p:nvPr/>
        </p:nvSpPr>
        <p:spPr>
          <a:xfrm>
            <a:off x="364331" y="4018025"/>
            <a:ext cx="1889522" cy="375382"/>
          </a:xfrm>
          <a:prstGeom prst="rect">
            <a:avLst/>
          </a:prstGeom>
          <a:solidFill>
            <a:srgbClr val="1E1E1E"/>
          </a:solidFill>
          <a:ln/>
        </p:spPr>
      </p:sp>
      <p:sp>
        <p:nvSpPr>
          <p:cNvPr id="39" name="Shape 36"/>
          <p:cNvSpPr/>
          <p:nvPr/>
        </p:nvSpPr>
        <p:spPr>
          <a:xfrm>
            <a:off x="364331" y="4018025"/>
            <a:ext cx="28575" cy="375382"/>
          </a:xfrm>
          <a:prstGeom prst="rect">
            <a:avLst/>
          </a:prstGeom>
          <a:solidFill>
            <a:srgbClr val="FF443A"/>
          </a:solidFill>
          <a:ln/>
        </p:spPr>
      </p:sp>
      <p:sp>
        <p:nvSpPr>
          <p:cNvPr id="40" name="Text 37"/>
          <p:cNvSpPr/>
          <p:nvPr/>
        </p:nvSpPr>
        <p:spPr>
          <a:xfrm>
            <a:off x="364331" y="4018025"/>
            <a:ext cx="1889522" cy="375382"/>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Maker builds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Checker validates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Human approves</a:t>
            </a:r>
            <a:endParaRPr lang="en-US" sz="550" dirty="0"/>
          </a:p>
        </p:txBody>
      </p:sp>
      <p:sp>
        <p:nvSpPr>
          <p:cNvPr id="41" name="Shape 38"/>
          <p:cNvSpPr/>
          <p:nvPr/>
        </p:nvSpPr>
        <p:spPr>
          <a:xfrm>
            <a:off x="2446734" y="3057971"/>
            <a:ext cx="2075259" cy="1414016"/>
          </a:xfrm>
          <a:prstGeom prst="rect">
            <a:avLst/>
          </a:prstGeom>
          <a:solidFill>
            <a:srgbClr val="FFFFFF"/>
          </a:solidFill>
          <a:ln w="18288">
            <a:solidFill>
              <a:srgbClr val="111111"/>
            </a:solidFill>
            <a:prstDash val="solid"/>
          </a:ln>
        </p:spPr>
      </p:sp>
      <p:sp>
        <p:nvSpPr>
          <p:cNvPr id="42" name="Shape 39"/>
          <p:cNvSpPr/>
          <p:nvPr/>
        </p:nvSpPr>
        <p:spPr>
          <a:xfrm>
            <a:off x="4393406" y="2986534"/>
            <a:ext cx="192881" cy="192881"/>
          </a:xfrm>
          <a:prstGeom prst="rect">
            <a:avLst/>
          </a:prstGeom>
          <a:solidFill>
            <a:srgbClr val="FF443A"/>
          </a:solidFill>
          <a:ln w="18288">
            <a:solidFill>
              <a:srgbClr val="111111"/>
            </a:solidFill>
            <a:prstDash val="solid"/>
          </a:ln>
        </p:spPr>
      </p:sp>
      <p:sp>
        <p:nvSpPr>
          <p:cNvPr id="43" name="Text 40"/>
          <p:cNvSpPr/>
          <p:nvPr/>
        </p:nvSpPr>
        <p:spPr>
          <a:xfrm>
            <a:off x="4393406"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44" name="Text 41"/>
          <p:cNvSpPr/>
          <p:nvPr/>
        </p:nvSpPr>
        <p:spPr>
          <a:xfrm>
            <a:off x="2539603"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50" dirty="0"/>
          </a:p>
        </p:txBody>
      </p:sp>
      <p:sp>
        <p:nvSpPr>
          <p:cNvPr id="45" name="Text 42"/>
          <p:cNvSpPr/>
          <p:nvPr/>
        </p:nvSpPr>
        <p:spPr>
          <a:xfrm>
            <a:off x="2539603"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ENFORCES</a:t>
            </a:r>
            <a:endParaRPr lang="en-US" sz="1000" dirty="0"/>
          </a:p>
        </p:txBody>
      </p:sp>
      <p:sp>
        <p:nvSpPr>
          <p:cNvPr id="46" name="Text 43"/>
          <p:cNvSpPr/>
          <p:nvPr/>
        </p:nvSpPr>
        <p:spPr>
          <a:xfrm>
            <a:off x="2539603"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Controls order, gates, retries, and the one-skill-per-prompt rule.</a:t>
            </a:r>
            <a:endParaRPr lang="en-US" sz="750" dirty="0"/>
          </a:p>
        </p:txBody>
      </p:sp>
      <p:sp>
        <p:nvSpPr>
          <p:cNvPr id="47" name="Shape 44"/>
          <p:cNvSpPr/>
          <p:nvPr/>
        </p:nvSpPr>
        <p:spPr>
          <a:xfrm>
            <a:off x="2539603" y="4018025"/>
            <a:ext cx="1889522" cy="278829"/>
          </a:xfrm>
          <a:prstGeom prst="rect">
            <a:avLst/>
          </a:prstGeom>
          <a:solidFill>
            <a:srgbClr val="1E1E1E"/>
          </a:solidFill>
          <a:ln/>
        </p:spPr>
      </p:sp>
      <p:sp>
        <p:nvSpPr>
          <p:cNvPr id="48" name="Shape 45"/>
          <p:cNvSpPr/>
          <p:nvPr/>
        </p:nvSpPr>
        <p:spPr>
          <a:xfrm>
            <a:off x="2539603" y="4018025"/>
            <a:ext cx="28575" cy="278829"/>
          </a:xfrm>
          <a:prstGeom prst="rect">
            <a:avLst/>
          </a:prstGeom>
          <a:solidFill>
            <a:srgbClr val="FF443A"/>
          </a:solidFill>
          <a:ln/>
        </p:spPr>
      </p:sp>
      <p:sp>
        <p:nvSpPr>
          <p:cNvPr id="49" name="Text 46"/>
          <p:cNvSpPr/>
          <p:nvPr/>
        </p:nvSpPr>
        <p:spPr>
          <a:xfrm>
            <a:off x="2539603"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one_skill_per_prompt</a:t>
            </a:r>
            <a:r>
              <a:rPr lang="en-US" sz="550" dirty="0">
                <a:solidFill>
                  <a:srgbClr val="D4D4D4"/>
                </a:solidFill>
                <a:latin typeface="JetBrains Mono" pitchFamily="34" charset="0"/>
                <a:ea typeface="JetBrains Mono" pitchFamily="34" charset="-122"/>
                <a:cs typeface="JetBrains Mono" pitchFamily="34" charset="-120"/>
              </a:rPr>
              <a:t>: true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self_approval_forbidden</a:t>
            </a:r>
            <a:r>
              <a:rPr lang="en-US" sz="550" dirty="0">
                <a:solidFill>
                  <a:srgbClr val="D4D4D4"/>
                </a:solidFill>
                <a:latin typeface="JetBrains Mono" pitchFamily="34" charset="0"/>
                <a:ea typeface="JetBrains Mono" pitchFamily="34" charset="-122"/>
                <a:cs typeface="JetBrains Mono" pitchFamily="34" charset="-120"/>
              </a:rPr>
              <a:t>: true</a:t>
            </a:r>
            <a:endParaRPr lang="en-US" sz="550" dirty="0"/>
          </a:p>
        </p:txBody>
      </p:sp>
      <p:sp>
        <p:nvSpPr>
          <p:cNvPr id="50" name="Shape 47"/>
          <p:cNvSpPr/>
          <p:nvPr/>
        </p:nvSpPr>
        <p:spPr>
          <a:xfrm>
            <a:off x="4622006" y="3057971"/>
            <a:ext cx="2075259" cy="1414016"/>
          </a:xfrm>
          <a:prstGeom prst="rect">
            <a:avLst/>
          </a:prstGeom>
          <a:solidFill>
            <a:srgbClr val="FFFFFF"/>
          </a:solidFill>
          <a:ln w="18288">
            <a:solidFill>
              <a:srgbClr val="111111"/>
            </a:solidFill>
            <a:prstDash val="solid"/>
          </a:ln>
        </p:spPr>
      </p:sp>
      <p:sp>
        <p:nvSpPr>
          <p:cNvPr id="51" name="Shape 48"/>
          <p:cNvSpPr/>
          <p:nvPr/>
        </p:nvSpPr>
        <p:spPr>
          <a:xfrm>
            <a:off x="6568678" y="2986534"/>
            <a:ext cx="192881" cy="192881"/>
          </a:xfrm>
          <a:prstGeom prst="rect">
            <a:avLst/>
          </a:prstGeom>
          <a:solidFill>
            <a:srgbClr val="FF443A"/>
          </a:solidFill>
          <a:ln w="18288">
            <a:solidFill>
              <a:srgbClr val="111111"/>
            </a:solidFill>
            <a:prstDash val="solid"/>
          </a:ln>
        </p:spPr>
      </p:sp>
      <p:sp>
        <p:nvSpPr>
          <p:cNvPr id="52" name="Text 49"/>
          <p:cNvSpPr/>
          <p:nvPr/>
        </p:nvSpPr>
        <p:spPr>
          <a:xfrm>
            <a:off x="6568678"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53" name="Text 50"/>
          <p:cNvSpPr/>
          <p:nvPr/>
        </p:nvSpPr>
        <p:spPr>
          <a:xfrm>
            <a:off x="4714875"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.github/skills/*/SKILL.md</a:t>
            </a:r>
            <a:endParaRPr lang="en-US" sz="650" dirty="0"/>
          </a:p>
        </p:txBody>
      </p:sp>
      <p:sp>
        <p:nvSpPr>
          <p:cNvPr id="54" name="Text 51"/>
          <p:cNvSpPr/>
          <p:nvPr/>
        </p:nvSpPr>
        <p:spPr>
          <a:xfrm>
            <a:off x="4714875"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EXECUTES</a:t>
            </a:r>
            <a:endParaRPr lang="en-US" sz="1000" dirty="0"/>
          </a:p>
        </p:txBody>
      </p:sp>
      <p:sp>
        <p:nvSpPr>
          <p:cNvPr id="55" name="Text 52"/>
          <p:cNvSpPr/>
          <p:nvPr/>
        </p:nvSpPr>
        <p:spPr>
          <a:xfrm>
            <a:off x="4714875"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Gives the active role one bounded procedure, output, and stop condition.</a:t>
            </a:r>
            <a:endParaRPr lang="en-US" sz="750" dirty="0"/>
          </a:p>
        </p:txBody>
      </p:sp>
      <p:sp>
        <p:nvSpPr>
          <p:cNvPr id="56" name="Shape 53"/>
          <p:cNvSpPr/>
          <p:nvPr/>
        </p:nvSpPr>
        <p:spPr>
          <a:xfrm>
            <a:off x="4714875" y="4018025"/>
            <a:ext cx="1889522" cy="278829"/>
          </a:xfrm>
          <a:prstGeom prst="rect">
            <a:avLst/>
          </a:prstGeom>
          <a:solidFill>
            <a:srgbClr val="1E1E1E"/>
          </a:solidFill>
          <a:ln/>
        </p:spPr>
      </p:sp>
      <p:sp>
        <p:nvSpPr>
          <p:cNvPr id="57" name="Shape 54"/>
          <p:cNvSpPr/>
          <p:nvPr/>
        </p:nvSpPr>
        <p:spPr>
          <a:xfrm>
            <a:off x="4714875" y="4018025"/>
            <a:ext cx="28575" cy="278829"/>
          </a:xfrm>
          <a:prstGeom prst="rect">
            <a:avLst/>
          </a:prstGeom>
          <a:solidFill>
            <a:srgbClr val="FF443A"/>
          </a:solidFill>
          <a:ln/>
        </p:spPr>
      </p:sp>
      <p:sp>
        <p:nvSpPr>
          <p:cNvPr id="58" name="Text 55"/>
          <p:cNvSpPr/>
          <p:nvPr/>
        </p:nvSpPr>
        <p:spPr>
          <a:xfrm>
            <a:off x="4714875"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Trigger → Inputs → Workflow</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Output → Verify → Stop</a:t>
            </a:r>
            <a:endParaRPr lang="en-US" sz="550" dirty="0"/>
          </a:p>
        </p:txBody>
      </p:sp>
      <p:sp>
        <p:nvSpPr>
          <p:cNvPr id="59" name="Shape 56"/>
          <p:cNvSpPr/>
          <p:nvPr/>
        </p:nvSpPr>
        <p:spPr>
          <a:xfrm>
            <a:off x="6797278" y="3057971"/>
            <a:ext cx="2075259" cy="1414016"/>
          </a:xfrm>
          <a:prstGeom prst="rect">
            <a:avLst/>
          </a:prstGeom>
          <a:solidFill>
            <a:srgbClr val="FFFFFF"/>
          </a:solidFill>
          <a:ln w="18288">
            <a:solidFill>
              <a:srgbClr val="111111"/>
            </a:solidFill>
            <a:prstDash val="solid"/>
          </a:ln>
        </p:spPr>
      </p:sp>
      <p:sp>
        <p:nvSpPr>
          <p:cNvPr id="60" name="Shape 57"/>
          <p:cNvSpPr/>
          <p:nvPr/>
        </p:nvSpPr>
        <p:spPr>
          <a:xfrm>
            <a:off x="8743950" y="2986534"/>
            <a:ext cx="192881" cy="192881"/>
          </a:xfrm>
          <a:prstGeom prst="rect">
            <a:avLst/>
          </a:prstGeom>
          <a:solidFill>
            <a:srgbClr val="FF443A"/>
          </a:solidFill>
          <a:ln w="18288">
            <a:solidFill>
              <a:srgbClr val="111111"/>
            </a:solidFill>
            <a:prstDash val="solid"/>
          </a:ln>
        </p:spPr>
      </p:sp>
      <p:sp>
        <p:nvSpPr>
          <p:cNvPr id="61" name="Text 58"/>
          <p:cNvSpPr/>
          <p:nvPr/>
        </p:nvSpPr>
        <p:spPr>
          <a:xfrm>
            <a:off x="8743950"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62" name="Text 59"/>
          <p:cNvSpPr/>
          <p:nvPr/>
        </p:nvSpPr>
        <p:spPr>
          <a:xfrm>
            <a:off x="6890147"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artifacts/run_state/*.json</a:t>
            </a:r>
            <a:endParaRPr lang="en-US" sz="650" dirty="0"/>
          </a:p>
        </p:txBody>
      </p:sp>
      <p:sp>
        <p:nvSpPr>
          <p:cNvPr id="63" name="Text 60"/>
          <p:cNvSpPr/>
          <p:nvPr/>
        </p:nvSpPr>
        <p:spPr>
          <a:xfrm>
            <a:off x="6890147"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RECORDS</a:t>
            </a:r>
            <a:endParaRPr lang="en-US" sz="1000" dirty="0"/>
          </a:p>
        </p:txBody>
      </p:sp>
      <p:sp>
        <p:nvSpPr>
          <p:cNvPr id="64" name="Text 61"/>
          <p:cNvSpPr/>
          <p:nvPr/>
        </p:nvSpPr>
        <p:spPr>
          <a:xfrm>
            <a:off x="6890147"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Preserves which skill ran, its result, and what role may act next.</a:t>
            </a:r>
            <a:endParaRPr lang="en-US" sz="750" dirty="0"/>
          </a:p>
        </p:txBody>
      </p:sp>
      <p:sp>
        <p:nvSpPr>
          <p:cNvPr id="65" name="Shape 62"/>
          <p:cNvSpPr/>
          <p:nvPr/>
        </p:nvSpPr>
        <p:spPr>
          <a:xfrm>
            <a:off x="6890147" y="4018025"/>
            <a:ext cx="1889522" cy="278829"/>
          </a:xfrm>
          <a:prstGeom prst="rect">
            <a:avLst/>
          </a:prstGeom>
          <a:solidFill>
            <a:srgbClr val="1E1E1E"/>
          </a:solidFill>
          <a:ln/>
        </p:spPr>
      </p:sp>
      <p:sp>
        <p:nvSpPr>
          <p:cNvPr id="66" name="Shape 63"/>
          <p:cNvSpPr/>
          <p:nvPr/>
        </p:nvSpPr>
        <p:spPr>
          <a:xfrm>
            <a:off x="6890147" y="4018025"/>
            <a:ext cx="28575" cy="278829"/>
          </a:xfrm>
          <a:prstGeom prst="rect">
            <a:avLst/>
          </a:prstGeom>
          <a:solidFill>
            <a:srgbClr val="FF443A"/>
          </a:solidFill>
          <a:ln/>
        </p:spPr>
      </p:sp>
      <p:sp>
        <p:nvSpPr>
          <p:cNvPr id="67" name="Text 64"/>
          <p:cNvSpPr/>
          <p:nvPr/>
        </p:nvSpPr>
        <p:spPr>
          <a:xfrm>
            <a:off x="6890147"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status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PASS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next</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review</a:t>
            </a:r>
            <a:endParaRPr lang="en-US" sz="550" dirty="0"/>
          </a:p>
        </p:txBody>
      </p:sp>
      <p:sp>
        <p:nvSpPr>
          <p:cNvPr id="68" name="Shape 65"/>
          <p:cNvSpPr/>
          <p:nvPr/>
        </p:nvSpPr>
        <p:spPr>
          <a:xfrm rot="-60000">
            <a:off x="4686300" y="4359920"/>
            <a:ext cx="4071938" cy="462111"/>
          </a:xfrm>
          <a:prstGeom prst="rect">
            <a:avLst/>
          </a:prstGeom>
          <a:solidFill>
            <a:srgbClr val="FFDF00"/>
          </a:solidFill>
          <a:ln w="18288">
            <a:solidFill>
              <a:srgbClr val="111111"/>
            </a:solidFill>
            <a:prstDash val="solid"/>
          </a:ln>
        </p:spPr>
      </p:sp>
      <p:sp>
        <p:nvSpPr>
          <p:cNvPr id="69" name="Text 66"/>
          <p:cNvSpPr/>
          <p:nvPr/>
        </p:nvSpPr>
        <p:spPr>
          <a:xfrm rot="-60000">
            <a:off x="4686300" y="4359920"/>
            <a:ext cx="4071938" cy="462111"/>
          </a:xfrm>
          <a:prstGeom prst="rect">
            <a:avLst/>
          </a:prstGeom>
          <a:noFill/>
          <a:ln/>
        </p:spPr>
        <p:txBody>
          <a:bodyPr wrap="square" lIns="136017" tIns="76581" rIns="136017" bIns="76581" rtlCol="0" anchor="t">
            <a:spAutoFit/>
          </a:bodyPr>
          <a:lstStyle/>
          <a:p>
            <a:pPr algn="l" indent="0" marL="0">
              <a:lnSpc>
                <a:spcPct val="88000"/>
              </a:lnSpc>
              <a:buNone/>
            </a:pPr>
            <a:r>
              <a:rPr lang="en-US" sz="900" b="1" dirty="0">
                <a:solidFill>
                  <a:srgbClr val="111111"/>
                </a:solidFill>
                <a:latin typeface="Kalam Bold" pitchFamily="34" charset="0"/>
                <a:ea typeface="Kalam Bold" pitchFamily="34" charset="-122"/>
                <a:cs typeface="Kalam Bold" pitchFamily="34" charset="-120"/>
              </a:rPr>
              <a:t>Bottom line:</a:t>
            </a:r>
            <a:r>
              <a:rPr lang="en-US" sz="950" dirty="0">
                <a:solidFill>
                  <a:srgbClr val="111111"/>
                </a:solidFill>
                <a:latin typeface="Kalam Bold" pitchFamily="34" charset="0"/>
                <a:ea typeface="Kalam Bold" pitchFamily="34" charset="-122"/>
                <a:cs typeface="Kalam Bold" pitchFamily="34" charset="-120"/>
              </a:rPr>
              <a:t> Rol</a:t>
            </a:r>
            <a:r>
              <a:rPr lang="en-US" sz="950" dirty="0">
                <a:solidFill>
                  <a:srgbClr val="111111"/>
                </a:solidFill>
                <a:latin typeface="Kalam Bold" pitchFamily="34" charset="0"/>
                <a:ea typeface="Kalam Bold" pitchFamily="34" charset="-122"/>
                <a:cs typeface="Kalam Bold" pitchFamily="34" charset="-120"/>
              </a:rPr>
              <a:t>es move</a:t>
            </a:r>
            <a:r>
              <a:rPr lang="en-US" sz="950" dirty="0">
                <a:solidFill>
                  <a:srgbClr val="111111"/>
                </a:solidFill>
                <a:latin typeface="Kalam Bold" pitchFamily="34" charset="0"/>
                <a:ea typeface="Kalam Bold" pitchFamily="34" charset="-122"/>
                <a:cs typeface="Kalam Bold" pitchFamily="34" charset="-120"/>
              </a:rPr>
              <a:t> from l</a:t>
            </a:r>
            <a:r>
              <a:rPr lang="en-US" sz="950" dirty="0">
                <a:solidFill>
                  <a:srgbClr val="111111"/>
                </a:solidFill>
                <a:latin typeface="Kalam Bold" pitchFamily="34" charset="0"/>
                <a:ea typeface="Kalam Bold" pitchFamily="34" charset="-122"/>
                <a:cs typeface="Kalam Bold" pitchFamily="34" charset="-120"/>
              </a:rPr>
              <a:t>abels i</a:t>
            </a:r>
            <a:r>
              <a:rPr lang="en-US" sz="950" dirty="0">
                <a:solidFill>
                  <a:srgbClr val="111111"/>
                </a:solidFill>
                <a:latin typeface="Kalam Bold" pitchFamily="34" charset="0"/>
                <a:ea typeface="Kalam Bold" pitchFamily="34" charset="-122"/>
                <a:cs typeface="Kalam Bold" pitchFamily="34" charset="-120"/>
              </a:rPr>
              <a:t>n a do</a:t>
            </a:r>
            <a:r>
              <a:rPr lang="en-US" sz="950" dirty="0">
                <a:solidFill>
                  <a:srgbClr val="111111"/>
                </a:solidFill>
                <a:latin typeface="Kalam Bold" pitchFamily="34" charset="0"/>
                <a:ea typeface="Kalam Bold" pitchFamily="34" charset="-122"/>
                <a:cs typeface="Kalam Bold" pitchFamily="34" charset="-120"/>
              </a:rPr>
              <a:t>cument</a:t>
            </a:r>
            <a:r>
              <a:rPr lang="en-US" sz="950" dirty="0">
                <a:solidFill>
                  <a:srgbClr val="111111"/>
                </a:solidFill>
                <a:latin typeface="Kalam Bold" pitchFamily="34" charset="0"/>
                <a:ea typeface="Kalam Bold" pitchFamily="34" charset="-122"/>
                <a:cs typeface="Kalam Bold" pitchFamily="34" charset="-120"/>
              </a:rPr>
              <a:t> to aud</a:t>
            </a:r>
            <a:r>
              <a:rPr lang="en-US" sz="950" dirty="0">
                <a:solidFill>
                  <a:srgbClr val="111111"/>
                </a:solidFill>
                <a:latin typeface="Kalam Bold" pitchFamily="34" charset="0"/>
                <a:ea typeface="Kalam Bold" pitchFamily="34" charset="-122"/>
                <a:cs typeface="Kalam Bold" pitchFamily="34" charset="-120"/>
              </a:rPr>
              <a:t>itable </a:t>
            </a:r>
            <a:r>
              <a:rPr lang="en-US" sz="950" dirty="0">
                <a:solidFill>
                  <a:srgbClr val="111111"/>
                </a:solidFill>
                <a:latin typeface="Kalam Bold" pitchFamily="34" charset="0"/>
                <a:ea typeface="Kalam Bold" pitchFamily="34" charset="-122"/>
                <a:cs typeface="Kalam Bold" pitchFamily="34" charset="-120"/>
              </a:rPr>
              <a:t>hand</a:t>
            </a:r>
            <a:r>
              <a:rPr lang="en-US" sz="950" dirty="0">
                <a:solidFill>
                  <a:srgbClr val="111111"/>
                </a:solidFill>
                <a:latin typeface="Kalam Bold" pitchFamily="34" charset="0"/>
                <a:ea typeface="Kalam Bold" pitchFamily="34" charset="-122"/>
                <a:cs typeface="Kalam Bold" pitchFamily="34" charset="-120"/>
              </a:rPr>
              <a:t>offs in </a:t>
            </a:r>
            <a:r>
              <a:rPr lang="en-US" sz="950" dirty="0">
                <a:solidFill>
                  <a:srgbClr val="111111"/>
                </a:solidFill>
                <a:latin typeface="Kalam Bold" pitchFamily="34" charset="0"/>
                <a:ea typeface="Kalam Bold" pitchFamily="34" charset="-122"/>
                <a:cs typeface="Kalam Bold" pitchFamily="34" charset="-120"/>
              </a:rPr>
              <a:t>the ru</a:t>
            </a:r>
            <a:r>
              <a:rPr lang="en-US" sz="950" dirty="0">
                <a:solidFill>
                  <a:srgbClr val="111111"/>
                </a:solidFill>
                <a:latin typeface="Kalam Bold" pitchFamily="34" charset="0"/>
                <a:ea typeface="Kalam Bold" pitchFamily="34" charset="-122"/>
                <a:cs typeface="Kalam Bold" pitchFamily="34" charset="-120"/>
              </a:rPr>
              <a:t>nning s</a:t>
            </a:r>
            <a:r>
              <a:rPr lang="en-US" sz="950" dirty="0">
                <a:solidFill>
                  <a:srgbClr val="111111"/>
                </a:solidFill>
                <a:latin typeface="Kalam Bold" pitchFamily="34" charset="0"/>
                <a:ea typeface="Kalam Bold" pitchFamily="34" charset="-122"/>
                <a:cs typeface="Kalam Bold" pitchFamily="34" charset="-120"/>
              </a:rPr>
              <a:t>ystem.</a:t>
            </a:r>
            <a:endParaRPr lang="en-US" sz="900" dirty="0"/>
          </a:p>
        </p:txBody>
      </p:sp>
      <p:sp>
        <p:nvSpPr>
          <p:cNvPr id="70" name="Shape 67"/>
          <p:cNvSpPr/>
          <p:nvPr/>
        </p:nvSpPr>
        <p:spPr>
          <a:xfrm>
            <a:off x="0" y="4857750"/>
            <a:ext cx="9144000" cy="285750"/>
          </a:xfrm>
          <a:prstGeom prst="rect">
            <a:avLst/>
          </a:prstGeom>
          <a:solidFill>
            <a:srgbClr val="0055FF"/>
          </a:solidFill>
          <a:ln/>
        </p:spPr>
      </p:sp>
      <p:sp>
        <p:nvSpPr>
          <p:cNvPr id="71" name="Shape 68"/>
          <p:cNvSpPr/>
          <p:nvPr/>
        </p:nvSpPr>
        <p:spPr>
          <a:xfrm>
            <a:off x="0" y="4857750"/>
            <a:ext cx="9144000" cy="28575"/>
          </a:xfrm>
          <a:prstGeom prst="rect">
            <a:avLst/>
          </a:prstGeom>
          <a:solidFill>
            <a:srgbClr val="111111"/>
          </a:solidFill>
          <a:ln/>
        </p:spPr>
      </p:sp>
      <p:sp>
        <p:nvSpPr>
          <p:cNvPr id="72" name="Text 69"/>
          <p:cNvSpPr/>
          <p:nvPr/>
        </p:nvSpPr>
        <p:spPr>
          <a:xfrm>
            <a:off x="271463" y="4954191"/>
            <a:ext cx="1489472"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THE OPERATING-MODEL CHANGE</a:t>
            </a:r>
            <a:endParaRPr lang="en-US" sz="550" dirty="0"/>
          </a:p>
        </p:txBody>
      </p:sp>
      <p:sp>
        <p:nvSpPr>
          <p:cNvPr id="73" name="Text 70"/>
          <p:cNvSpPr/>
          <p:nvPr/>
        </p:nvSpPr>
        <p:spPr>
          <a:xfrm>
            <a:off x="6636544" y="4952405"/>
            <a:ext cx="2235994"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DEFINED → ENFORCED → EXECUTED → RECORDED</a:t>
            </a:r>
            <a:endParaRPr lang="en-US" sz="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BUSINESS REQUEST TO GOVERNED EXECUTION</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A SAS migration prompt becomes one controlled stage, one artifact, and one gate.</a:t>
            </a:r>
            <a:endParaRPr lang="en-US" sz="1050" dirty="0"/>
          </a:p>
        </p:txBody>
      </p:sp>
      <p:sp>
        <p:nvSpPr>
          <p:cNvPr id="7" name="Shape 4"/>
          <p:cNvSpPr/>
          <p:nvPr/>
        </p:nvSpPr>
        <p:spPr>
          <a:xfrm>
            <a:off x="1357313" y="942975"/>
            <a:ext cx="6429375" cy="435769"/>
          </a:xfrm>
          <a:prstGeom prst="rect">
            <a:avLst/>
          </a:prstGeom>
          <a:solidFill>
            <a:srgbClr val="FFF7CC"/>
          </a:solidFill>
          <a:ln w="18288">
            <a:solidFill>
              <a:srgbClr val="111111"/>
            </a:solidFill>
            <a:prstDash val="solid"/>
          </a:ln>
        </p:spPr>
      </p:sp>
      <p:sp>
        <p:nvSpPr>
          <p:cNvPr id="8" name="Shape 5"/>
          <p:cNvSpPr/>
          <p:nvPr/>
        </p:nvSpPr>
        <p:spPr>
          <a:xfrm>
            <a:off x="1357313" y="942975"/>
            <a:ext cx="385763" cy="435769"/>
          </a:xfrm>
          <a:prstGeom prst="rect">
            <a:avLst/>
          </a:prstGeom>
          <a:solidFill>
            <a:srgbClr val="FF443A"/>
          </a:solidFill>
          <a:ln/>
        </p:spPr>
      </p:sp>
      <p:sp>
        <p:nvSpPr>
          <p:cNvPr id="9" name="Shape 6"/>
          <p:cNvSpPr/>
          <p:nvPr/>
        </p:nvSpPr>
        <p:spPr>
          <a:xfrm>
            <a:off x="1721644" y="942975"/>
            <a:ext cx="21431" cy="435769"/>
          </a:xfrm>
          <a:prstGeom prst="rect">
            <a:avLst/>
          </a:prstGeom>
          <a:solidFill>
            <a:srgbClr val="111111"/>
          </a:solidFill>
          <a:ln/>
        </p:spPr>
      </p:sp>
      <p:sp>
        <p:nvSpPr>
          <p:cNvPr id="10" name="Text 7"/>
          <p:cNvSpPr/>
          <p:nvPr/>
        </p:nvSpPr>
        <p:spPr>
          <a:xfrm>
            <a:off x="1357313" y="942975"/>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1</a:t>
            </a:r>
            <a:endParaRPr lang="en-US" sz="1300" dirty="0"/>
          </a:p>
        </p:txBody>
      </p:sp>
      <p:sp>
        <p:nvSpPr>
          <p:cNvPr id="11" name="Text 8"/>
          <p:cNvSpPr/>
          <p:nvPr/>
        </p:nvSpPr>
        <p:spPr>
          <a:xfrm>
            <a:off x="1743075" y="1050131"/>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BUSINESS REQUEST</a:t>
            </a:r>
            <a:endParaRPr lang="en-US" sz="1100" dirty="0"/>
          </a:p>
        </p:txBody>
      </p:sp>
      <p:sp>
        <p:nvSpPr>
          <p:cNvPr id="12" name="Text 9"/>
          <p:cNvSpPr/>
          <p:nvPr/>
        </p:nvSpPr>
        <p:spPr>
          <a:xfrm>
            <a:off x="3421856" y="1076697"/>
            <a:ext cx="2614613" cy="168269"/>
          </a:xfrm>
          <a:prstGeom prst="rect">
            <a:avLst/>
          </a:prstGeom>
          <a:noFill/>
          <a:ln/>
        </p:spPr>
        <p:txBody>
          <a:bodyPr wrap="none" lIns="0" tIns="0" rIns="0" bIns="0" rtlCol="0" anchor="t">
            <a:spAutoFit/>
          </a:bodyPr>
          <a:lstStyle/>
          <a:p>
            <a:pPr algn="l" indent="0" marL="0">
              <a:lnSpc>
                <a:spcPct val="99200"/>
              </a:lnSpc>
              <a:buNone/>
            </a:pPr>
            <a:r>
              <a:rPr lang="en-US" sz="950" b="1" dirty="0">
                <a:solidFill>
                  <a:srgbClr val="B42318"/>
                </a:solidFill>
                <a:latin typeface="Kalam Bold" pitchFamily="34" charset="0"/>
                <a:ea typeface="Kalam Bold" pitchFamily="34" charset="-122"/>
                <a:cs typeface="Kalam Bold" pitchFamily="34" charset="-120"/>
              </a:rPr>
              <a:t>“Migrate SAS scoring to Python.”</a:t>
            </a:r>
            <a:endParaRPr lang="en-US" sz="950" dirty="0"/>
          </a:p>
        </p:txBody>
      </p:sp>
      <p:sp>
        <p:nvSpPr>
          <p:cNvPr id="13" name="Shape 10"/>
          <p:cNvSpPr/>
          <p:nvPr/>
        </p:nvSpPr>
        <p:spPr>
          <a:xfrm>
            <a:off x="7025878" y="1058503"/>
            <a:ext cx="667941" cy="204657"/>
          </a:xfrm>
          <a:prstGeom prst="rect">
            <a:avLst/>
          </a:prstGeom>
          <a:solidFill>
            <a:srgbClr val="1E1E1E"/>
          </a:solidFill>
          <a:ln w="18288">
            <a:solidFill>
              <a:srgbClr val="111111"/>
            </a:solidFill>
            <a:prstDash val="solid"/>
          </a:ln>
        </p:spPr>
      </p:sp>
      <p:sp>
        <p:nvSpPr>
          <p:cNvPr id="14" name="Text 11"/>
          <p:cNvSpPr/>
          <p:nvPr/>
        </p:nvSpPr>
        <p:spPr>
          <a:xfrm>
            <a:off x="7025878" y="1058503"/>
            <a:ext cx="667941"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USER PROMPT</a:t>
            </a:r>
            <a:endParaRPr lang="en-US" sz="550" dirty="0"/>
          </a:p>
        </p:txBody>
      </p:sp>
      <p:sp>
        <p:nvSpPr>
          <p:cNvPr id="15" name="Text 12"/>
          <p:cNvSpPr/>
          <p:nvPr/>
        </p:nvSpPr>
        <p:spPr>
          <a:xfrm>
            <a:off x="1357313" y="1378744"/>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16" name="Shape 13"/>
          <p:cNvSpPr/>
          <p:nvPr/>
        </p:nvSpPr>
        <p:spPr>
          <a:xfrm>
            <a:off x="1357313" y="1507331"/>
            <a:ext cx="6429375" cy="435769"/>
          </a:xfrm>
          <a:prstGeom prst="rect">
            <a:avLst/>
          </a:prstGeom>
          <a:solidFill>
            <a:srgbClr val="FFFFFF"/>
          </a:solidFill>
          <a:ln w="18288">
            <a:solidFill>
              <a:srgbClr val="111111"/>
            </a:solidFill>
            <a:prstDash val="solid"/>
          </a:ln>
        </p:spPr>
      </p:sp>
      <p:sp>
        <p:nvSpPr>
          <p:cNvPr id="17" name="Shape 14"/>
          <p:cNvSpPr/>
          <p:nvPr/>
        </p:nvSpPr>
        <p:spPr>
          <a:xfrm>
            <a:off x="1357313" y="1507331"/>
            <a:ext cx="385763" cy="435769"/>
          </a:xfrm>
          <a:prstGeom prst="rect">
            <a:avLst/>
          </a:prstGeom>
          <a:solidFill>
            <a:srgbClr val="FF443A"/>
          </a:solidFill>
          <a:ln/>
        </p:spPr>
      </p:sp>
      <p:sp>
        <p:nvSpPr>
          <p:cNvPr id="18" name="Shape 15"/>
          <p:cNvSpPr/>
          <p:nvPr/>
        </p:nvSpPr>
        <p:spPr>
          <a:xfrm>
            <a:off x="1721644" y="1507331"/>
            <a:ext cx="21431" cy="435769"/>
          </a:xfrm>
          <a:prstGeom prst="rect">
            <a:avLst/>
          </a:prstGeom>
          <a:solidFill>
            <a:srgbClr val="111111"/>
          </a:solidFill>
          <a:ln/>
        </p:spPr>
      </p:sp>
      <p:sp>
        <p:nvSpPr>
          <p:cNvPr id="19" name="Text 16"/>
          <p:cNvSpPr/>
          <p:nvPr/>
        </p:nvSpPr>
        <p:spPr>
          <a:xfrm>
            <a:off x="1357313" y="1507331"/>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2</a:t>
            </a:r>
            <a:endParaRPr lang="en-US" sz="1300" dirty="0"/>
          </a:p>
        </p:txBody>
      </p:sp>
      <p:sp>
        <p:nvSpPr>
          <p:cNvPr id="20" name="Text 17"/>
          <p:cNvSpPr/>
          <p:nvPr/>
        </p:nvSpPr>
        <p:spPr>
          <a:xfrm>
            <a:off x="1743075" y="1614488"/>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OPERATING CONTRACT</a:t>
            </a:r>
            <a:endParaRPr lang="en-US" sz="1100" dirty="0"/>
          </a:p>
        </p:txBody>
      </p:sp>
      <p:sp>
        <p:nvSpPr>
          <p:cNvPr id="21" name="Text 18"/>
          <p:cNvSpPr/>
          <p:nvPr/>
        </p:nvSpPr>
        <p:spPr>
          <a:xfrm>
            <a:off x="3421856" y="1583513"/>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Load repository rules, authority boundaries, and stop conditions.</a:t>
            </a:r>
            <a:endParaRPr lang="en-US" sz="800" dirty="0"/>
          </a:p>
        </p:txBody>
      </p:sp>
      <p:sp>
        <p:nvSpPr>
          <p:cNvPr id="22" name="Shape 19"/>
          <p:cNvSpPr/>
          <p:nvPr/>
        </p:nvSpPr>
        <p:spPr>
          <a:xfrm>
            <a:off x="6468666" y="1577708"/>
            <a:ext cx="1225153" cy="295015"/>
          </a:xfrm>
          <a:prstGeom prst="rect">
            <a:avLst/>
          </a:prstGeom>
          <a:solidFill>
            <a:srgbClr val="1E1E1E"/>
          </a:solidFill>
          <a:ln w="18288">
            <a:solidFill>
              <a:srgbClr val="111111"/>
            </a:solidFill>
            <a:prstDash val="solid"/>
          </a:ln>
        </p:spPr>
      </p:sp>
      <p:sp>
        <p:nvSpPr>
          <p:cNvPr id="23" name="Text 20"/>
          <p:cNvSpPr/>
          <p:nvPr/>
        </p:nvSpPr>
        <p:spPr>
          <a:xfrm>
            <a:off x="6468666" y="1577708"/>
            <a:ext cx="1225153"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copilot-instructions.md</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 AGENTS.md</a:t>
            </a:r>
            <a:endParaRPr lang="en-US" sz="550" dirty="0"/>
          </a:p>
        </p:txBody>
      </p:sp>
      <p:sp>
        <p:nvSpPr>
          <p:cNvPr id="24" name="Text 21"/>
          <p:cNvSpPr/>
          <p:nvPr/>
        </p:nvSpPr>
        <p:spPr>
          <a:xfrm>
            <a:off x="1357313" y="1943100"/>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25" name="Shape 22"/>
          <p:cNvSpPr/>
          <p:nvPr/>
        </p:nvSpPr>
        <p:spPr>
          <a:xfrm>
            <a:off x="1357313" y="2071688"/>
            <a:ext cx="6429375" cy="435769"/>
          </a:xfrm>
          <a:prstGeom prst="rect">
            <a:avLst/>
          </a:prstGeom>
          <a:solidFill>
            <a:srgbClr val="EAF1FF"/>
          </a:solidFill>
          <a:ln w="18288">
            <a:solidFill>
              <a:srgbClr val="111111"/>
            </a:solidFill>
            <a:prstDash val="solid"/>
          </a:ln>
        </p:spPr>
      </p:sp>
      <p:sp>
        <p:nvSpPr>
          <p:cNvPr id="26" name="Shape 23"/>
          <p:cNvSpPr/>
          <p:nvPr/>
        </p:nvSpPr>
        <p:spPr>
          <a:xfrm>
            <a:off x="1357313" y="2071688"/>
            <a:ext cx="385763" cy="435769"/>
          </a:xfrm>
          <a:prstGeom prst="rect">
            <a:avLst/>
          </a:prstGeom>
          <a:solidFill>
            <a:srgbClr val="FF443A"/>
          </a:solidFill>
          <a:ln/>
        </p:spPr>
      </p:sp>
      <p:sp>
        <p:nvSpPr>
          <p:cNvPr id="27" name="Shape 24"/>
          <p:cNvSpPr/>
          <p:nvPr/>
        </p:nvSpPr>
        <p:spPr>
          <a:xfrm>
            <a:off x="1721644" y="2071688"/>
            <a:ext cx="21431" cy="435769"/>
          </a:xfrm>
          <a:prstGeom prst="rect">
            <a:avLst/>
          </a:prstGeom>
          <a:solidFill>
            <a:srgbClr val="111111"/>
          </a:solidFill>
          <a:ln/>
        </p:spPr>
      </p:sp>
      <p:sp>
        <p:nvSpPr>
          <p:cNvPr id="28" name="Text 25"/>
          <p:cNvSpPr/>
          <p:nvPr/>
        </p:nvSpPr>
        <p:spPr>
          <a:xfrm>
            <a:off x="1357313" y="2071688"/>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3</a:t>
            </a:r>
            <a:endParaRPr lang="en-US" sz="1300" dirty="0"/>
          </a:p>
        </p:txBody>
      </p:sp>
      <p:sp>
        <p:nvSpPr>
          <p:cNvPr id="29" name="Text 26"/>
          <p:cNvSpPr/>
          <p:nvPr/>
        </p:nvSpPr>
        <p:spPr>
          <a:xfrm>
            <a:off x="1743075" y="2178844"/>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ROUTE MAP</a:t>
            </a:r>
            <a:endParaRPr lang="en-US" sz="1100" dirty="0"/>
          </a:p>
        </p:txBody>
      </p:sp>
      <p:sp>
        <p:nvSpPr>
          <p:cNvPr id="30" name="Text 27"/>
          <p:cNvSpPr/>
          <p:nvPr/>
        </p:nvSpPr>
        <p:spPr>
          <a:xfrm>
            <a:off x="3421856" y="2147869"/>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Determine which stages, gates, and recovery paths are allowed.</a:t>
            </a:r>
            <a:endParaRPr lang="en-US" sz="800" dirty="0"/>
          </a:p>
        </p:txBody>
      </p:sp>
      <p:sp>
        <p:nvSpPr>
          <p:cNvPr id="31" name="Shape 28"/>
          <p:cNvSpPr/>
          <p:nvPr/>
        </p:nvSpPr>
        <p:spPr>
          <a:xfrm>
            <a:off x="6607969" y="2187215"/>
            <a:ext cx="1085850" cy="204657"/>
          </a:xfrm>
          <a:prstGeom prst="rect">
            <a:avLst/>
          </a:prstGeom>
          <a:solidFill>
            <a:srgbClr val="1E1E1E"/>
          </a:solidFill>
          <a:ln w="18288">
            <a:solidFill>
              <a:srgbClr val="111111"/>
            </a:solidFill>
            <a:prstDash val="solid"/>
          </a:ln>
        </p:spPr>
      </p:sp>
      <p:sp>
        <p:nvSpPr>
          <p:cNvPr id="32" name="Text 29"/>
          <p:cNvSpPr/>
          <p:nvPr/>
        </p:nvSpPr>
        <p:spPr>
          <a:xfrm>
            <a:off x="6607969" y="2187215"/>
            <a:ext cx="1085850"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config/workflow.yaml</a:t>
            </a:r>
            <a:endParaRPr lang="en-US" sz="550" dirty="0"/>
          </a:p>
        </p:txBody>
      </p:sp>
      <p:sp>
        <p:nvSpPr>
          <p:cNvPr id="33" name="Text 30"/>
          <p:cNvSpPr/>
          <p:nvPr/>
        </p:nvSpPr>
        <p:spPr>
          <a:xfrm>
            <a:off x="1357313" y="2507456"/>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34" name="Shape 31"/>
          <p:cNvSpPr/>
          <p:nvPr/>
        </p:nvSpPr>
        <p:spPr>
          <a:xfrm>
            <a:off x="1357313" y="2636044"/>
            <a:ext cx="6429375" cy="435769"/>
          </a:xfrm>
          <a:prstGeom prst="rect">
            <a:avLst/>
          </a:prstGeom>
          <a:solidFill>
            <a:srgbClr val="FFFFFF"/>
          </a:solidFill>
          <a:ln w="18288">
            <a:solidFill>
              <a:srgbClr val="111111"/>
            </a:solidFill>
            <a:prstDash val="solid"/>
          </a:ln>
        </p:spPr>
      </p:sp>
      <p:sp>
        <p:nvSpPr>
          <p:cNvPr id="35" name="Shape 32"/>
          <p:cNvSpPr/>
          <p:nvPr/>
        </p:nvSpPr>
        <p:spPr>
          <a:xfrm>
            <a:off x="1357313" y="2636044"/>
            <a:ext cx="385763" cy="435769"/>
          </a:xfrm>
          <a:prstGeom prst="rect">
            <a:avLst/>
          </a:prstGeom>
          <a:solidFill>
            <a:srgbClr val="FF443A"/>
          </a:solidFill>
          <a:ln/>
        </p:spPr>
      </p:sp>
      <p:sp>
        <p:nvSpPr>
          <p:cNvPr id="36" name="Shape 33"/>
          <p:cNvSpPr/>
          <p:nvPr/>
        </p:nvSpPr>
        <p:spPr>
          <a:xfrm>
            <a:off x="1721644" y="2636044"/>
            <a:ext cx="21431" cy="435769"/>
          </a:xfrm>
          <a:prstGeom prst="rect">
            <a:avLst/>
          </a:prstGeom>
          <a:solidFill>
            <a:srgbClr val="111111"/>
          </a:solidFill>
          <a:ln/>
        </p:spPr>
      </p:sp>
      <p:sp>
        <p:nvSpPr>
          <p:cNvPr id="37" name="Text 34"/>
          <p:cNvSpPr/>
          <p:nvPr/>
        </p:nvSpPr>
        <p:spPr>
          <a:xfrm>
            <a:off x="1357313" y="2636044"/>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4</a:t>
            </a:r>
            <a:endParaRPr lang="en-US" sz="1300" dirty="0"/>
          </a:p>
        </p:txBody>
      </p:sp>
      <p:sp>
        <p:nvSpPr>
          <p:cNvPr id="38" name="Text 35"/>
          <p:cNvSpPr/>
          <p:nvPr/>
        </p:nvSpPr>
        <p:spPr>
          <a:xfrm>
            <a:off x="1743075" y="2743200"/>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CURRENT STATE</a:t>
            </a:r>
            <a:endParaRPr lang="en-US" sz="1100" dirty="0"/>
          </a:p>
        </p:txBody>
      </p:sp>
      <p:sp>
        <p:nvSpPr>
          <p:cNvPr id="39" name="Text 36"/>
          <p:cNvSpPr/>
          <p:nvPr/>
        </p:nvSpPr>
        <p:spPr>
          <a:xfrm>
            <a:off x="3421856" y="2712225"/>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Find where this migration stopped and what evidence already exists.</a:t>
            </a:r>
            <a:endParaRPr lang="en-US" sz="800" dirty="0"/>
          </a:p>
        </p:txBody>
      </p:sp>
      <p:sp>
        <p:nvSpPr>
          <p:cNvPr id="40" name="Shape 37"/>
          <p:cNvSpPr/>
          <p:nvPr/>
        </p:nvSpPr>
        <p:spPr>
          <a:xfrm>
            <a:off x="6607969" y="2706421"/>
            <a:ext cx="1085850" cy="295015"/>
          </a:xfrm>
          <a:prstGeom prst="rect">
            <a:avLst/>
          </a:prstGeom>
          <a:solidFill>
            <a:srgbClr val="1E1E1E"/>
          </a:solidFill>
          <a:ln w="18288">
            <a:solidFill>
              <a:srgbClr val="111111"/>
            </a:solidFill>
            <a:prstDash val="solid"/>
          </a:ln>
        </p:spPr>
      </p:sp>
      <p:sp>
        <p:nvSpPr>
          <p:cNvPr id="41" name="Text 38"/>
          <p:cNvSpPr/>
          <p:nvPr/>
        </p:nvSpPr>
        <p:spPr>
          <a:xfrm>
            <a:off x="6607969" y="2706421"/>
            <a:ext cx="1085850"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artifacts/run_state/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&lt;run-id&gt;.json</a:t>
            </a:r>
            <a:endParaRPr lang="en-US" sz="550" dirty="0"/>
          </a:p>
        </p:txBody>
      </p:sp>
      <p:sp>
        <p:nvSpPr>
          <p:cNvPr id="42" name="Text 39"/>
          <p:cNvSpPr/>
          <p:nvPr/>
        </p:nvSpPr>
        <p:spPr>
          <a:xfrm>
            <a:off x="1357313" y="3071813"/>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43" name="Shape 40"/>
          <p:cNvSpPr/>
          <p:nvPr/>
        </p:nvSpPr>
        <p:spPr>
          <a:xfrm>
            <a:off x="1357313" y="3200400"/>
            <a:ext cx="6429375" cy="435769"/>
          </a:xfrm>
          <a:prstGeom prst="rect">
            <a:avLst/>
          </a:prstGeom>
          <a:solidFill>
            <a:srgbClr val="EAF1FF"/>
          </a:solidFill>
          <a:ln w="18288">
            <a:solidFill>
              <a:srgbClr val="111111"/>
            </a:solidFill>
            <a:prstDash val="solid"/>
          </a:ln>
        </p:spPr>
      </p:sp>
      <p:sp>
        <p:nvSpPr>
          <p:cNvPr id="44" name="Shape 41"/>
          <p:cNvSpPr/>
          <p:nvPr/>
        </p:nvSpPr>
        <p:spPr>
          <a:xfrm>
            <a:off x="1357313" y="3200400"/>
            <a:ext cx="385763" cy="435769"/>
          </a:xfrm>
          <a:prstGeom prst="rect">
            <a:avLst/>
          </a:prstGeom>
          <a:solidFill>
            <a:srgbClr val="FF443A"/>
          </a:solidFill>
          <a:ln/>
        </p:spPr>
      </p:sp>
      <p:sp>
        <p:nvSpPr>
          <p:cNvPr id="45" name="Shape 42"/>
          <p:cNvSpPr/>
          <p:nvPr/>
        </p:nvSpPr>
        <p:spPr>
          <a:xfrm>
            <a:off x="1721644" y="3200400"/>
            <a:ext cx="21431" cy="435769"/>
          </a:xfrm>
          <a:prstGeom prst="rect">
            <a:avLst/>
          </a:prstGeom>
          <a:solidFill>
            <a:srgbClr val="111111"/>
          </a:solidFill>
          <a:ln/>
        </p:spPr>
      </p:sp>
      <p:sp>
        <p:nvSpPr>
          <p:cNvPr id="46" name="Text 43"/>
          <p:cNvSpPr/>
          <p:nvPr/>
        </p:nvSpPr>
        <p:spPr>
          <a:xfrm>
            <a:off x="1357313" y="3200400"/>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5</a:t>
            </a:r>
            <a:endParaRPr lang="en-US" sz="1300" dirty="0"/>
          </a:p>
        </p:txBody>
      </p:sp>
      <p:sp>
        <p:nvSpPr>
          <p:cNvPr id="47" name="Text 44"/>
          <p:cNvSpPr/>
          <p:nvPr/>
        </p:nvSpPr>
        <p:spPr>
          <a:xfrm>
            <a:off x="1743075" y="3307556"/>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NEXT SKILL</a:t>
            </a:r>
            <a:endParaRPr lang="en-US" sz="1100" dirty="0"/>
          </a:p>
        </p:txBody>
      </p:sp>
      <p:sp>
        <p:nvSpPr>
          <p:cNvPr id="48" name="Text 45"/>
          <p:cNvSpPr/>
          <p:nvPr/>
        </p:nvSpPr>
        <p:spPr>
          <a:xfrm>
            <a:off x="3421856" y="3276581"/>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Authorize exactly one permitted migration action.</a:t>
            </a:r>
            <a:endParaRPr lang="en-US" sz="800" dirty="0"/>
          </a:p>
        </p:txBody>
      </p:sp>
      <p:sp>
        <p:nvSpPr>
          <p:cNvPr id="49" name="Shape 46"/>
          <p:cNvSpPr/>
          <p:nvPr/>
        </p:nvSpPr>
        <p:spPr>
          <a:xfrm>
            <a:off x="6979444" y="3270777"/>
            <a:ext cx="714375" cy="295015"/>
          </a:xfrm>
          <a:prstGeom prst="rect">
            <a:avLst/>
          </a:prstGeom>
          <a:solidFill>
            <a:srgbClr val="1E1E1E"/>
          </a:solidFill>
          <a:ln w="18288">
            <a:solidFill>
              <a:srgbClr val="111111"/>
            </a:solidFill>
            <a:prstDash val="solid"/>
          </a:ln>
        </p:spPr>
      </p:sp>
      <p:sp>
        <p:nvSpPr>
          <p:cNvPr id="50" name="Text 47"/>
          <p:cNvSpPr/>
          <p:nvPr/>
        </p:nvSpPr>
        <p:spPr>
          <a:xfrm>
            <a:off x="6979444" y="3270777"/>
            <a:ext cx="714375"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orchestrate/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SKILL.md</a:t>
            </a:r>
            <a:endParaRPr lang="en-US" sz="550" dirty="0"/>
          </a:p>
        </p:txBody>
      </p:sp>
      <p:sp>
        <p:nvSpPr>
          <p:cNvPr id="51" name="Text 48"/>
          <p:cNvSpPr/>
          <p:nvPr/>
        </p:nvSpPr>
        <p:spPr>
          <a:xfrm>
            <a:off x="1357313" y="3636169"/>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52" name="Shape 49"/>
          <p:cNvSpPr/>
          <p:nvPr/>
        </p:nvSpPr>
        <p:spPr>
          <a:xfrm>
            <a:off x="1357313" y="3764756"/>
            <a:ext cx="6429375" cy="435769"/>
          </a:xfrm>
          <a:prstGeom prst="rect">
            <a:avLst/>
          </a:prstGeom>
          <a:solidFill>
            <a:srgbClr val="FFF7CC"/>
          </a:solidFill>
          <a:ln w="18288">
            <a:solidFill>
              <a:srgbClr val="111111"/>
            </a:solidFill>
            <a:prstDash val="solid"/>
          </a:ln>
        </p:spPr>
      </p:sp>
      <p:sp>
        <p:nvSpPr>
          <p:cNvPr id="53" name="Shape 50"/>
          <p:cNvSpPr/>
          <p:nvPr/>
        </p:nvSpPr>
        <p:spPr>
          <a:xfrm>
            <a:off x="1357313" y="3764756"/>
            <a:ext cx="385763" cy="435769"/>
          </a:xfrm>
          <a:prstGeom prst="rect">
            <a:avLst/>
          </a:prstGeom>
          <a:solidFill>
            <a:srgbClr val="FF443A"/>
          </a:solidFill>
          <a:ln/>
        </p:spPr>
      </p:sp>
      <p:sp>
        <p:nvSpPr>
          <p:cNvPr id="54" name="Shape 51"/>
          <p:cNvSpPr/>
          <p:nvPr/>
        </p:nvSpPr>
        <p:spPr>
          <a:xfrm>
            <a:off x="1721644" y="3764756"/>
            <a:ext cx="21431" cy="435769"/>
          </a:xfrm>
          <a:prstGeom prst="rect">
            <a:avLst/>
          </a:prstGeom>
          <a:solidFill>
            <a:srgbClr val="111111"/>
          </a:solidFill>
          <a:ln/>
        </p:spPr>
      </p:sp>
      <p:sp>
        <p:nvSpPr>
          <p:cNvPr id="55" name="Text 52"/>
          <p:cNvSpPr/>
          <p:nvPr/>
        </p:nvSpPr>
        <p:spPr>
          <a:xfrm>
            <a:off x="1357313" y="3764756"/>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6</a:t>
            </a:r>
            <a:endParaRPr lang="en-US" sz="1300" dirty="0"/>
          </a:p>
        </p:txBody>
      </p:sp>
      <p:sp>
        <p:nvSpPr>
          <p:cNvPr id="56" name="Text 53"/>
          <p:cNvSpPr/>
          <p:nvPr/>
        </p:nvSpPr>
        <p:spPr>
          <a:xfrm>
            <a:off x="1743075" y="3871913"/>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EVIDENCE GATE</a:t>
            </a:r>
            <a:endParaRPr lang="en-US" sz="1100" dirty="0"/>
          </a:p>
        </p:txBody>
      </p:sp>
      <p:sp>
        <p:nvSpPr>
          <p:cNvPr id="57" name="Text 54"/>
          <p:cNvSpPr/>
          <p:nvPr/>
        </p:nvSpPr>
        <p:spPr>
          <a:xfrm>
            <a:off x="3421856" y="3911761"/>
            <a:ext cx="2496741" cy="139303"/>
          </a:xfrm>
          <a:prstGeom prst="rect">
            <a:avLst/>
          </a:prstGeom>
          <a:noFill/>
          <a:ln/>
        </p:spPr>
        <p:txBody>
          <a:bodyPr wrap="none" lIns="0" tIns="0" rIns="0" bIns="0" rtlCol="0" anchor="t">
            <a:spAutoFit/>
          </a:bodyPr>
          <a:lstStyle/>
          <a:p>
            <a:pPr algn="l" indent="0" marL="0">
              <a:lnSpc>
                <a:spcPct val="99200"/>
              </a:lnSpc>
              <a:buNone/>
            </a:pPr>
            <a:r>
              <a:rPr lang="en-US" sz="800" b="1" dirty="0">
                <a:solidFill>
                  <a:srgbClr val="B42318"/>
                </a:solidFill>
                <a:latin typeface="Inter Bold" pitchFamily="34" charset="0"/>
                <a:ea typeface="Inter Bold" pitchFamily="34" charset="-122"/>
                <a:cs typeface="Inter Bold" pitchFamily="34" charset="-120"/>
              </a:rPr>
              <a:t>Artifact + SHA-256 + PASS / FAIL / BLOCKED</a:t>
            </a:r>
            <a:endParaRPr lang="en-US" sz="800" dirty="0"/>
          </a:p>
        </p:txBody>
      </p:sp>
      <p:sp>
        <p:nvSpPr>
          <p:cNvPr id="58" name="Shape 55"/>
          <p:cNvSpPr/>
          <p:nvPr/>
        </p:nvSpPr>
        <p:spPr>
          <a:xfrm>
            <a:off x="6886575" y="3835133"/>
            <a:ext cx="807244" cy="295015"/>
          </a:xfrm>
          <a:prstGeom prst="rect">
            <a:avLst/>
          </a:prstGeom>
          <a:solidFill>
            <a:srgbClr val="1E1E1E"/>
          </a:solidFill>
          <a:ln w="18288">
            <a:solidFill>
              <a:srgbClr val="111111"/>
            </a:solidFill>
            <a:prstDash val="solid"/>
          </a:ln>
        </p:spPr>
      </p:sp>
      <p:sp>
        <p:nvSpPr>
          <p:cNvPr id="59" name="Text 56"/>
          <p:cNvSpPr/>
          <p:nvPr/>
        </p:nvSpPr>
        <p:spPr>
          <a:xfrm>
            <a:off x="6886575" y="3835133"/>
            <a:ext cx="807244"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HUMAN APPROVAL</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WHEN REQUIRED</a:t>
            </a:r>
            <a:endParaRPr lang="en-US" sz="550" dirty="0"/>
          </a:p>
        </p:txBody>
      </p:sp>
      <p:sp>
        <p:nvSpPr>
          <p:cNvPr id="60" name="Shape 57"/>
          <p:cNvSpPr/>
          <p:nvPr/>
        </p:nvSpPr>
        <p:spPr>
          <a:xfrm>
            <a:off x="1357313" y="4286250"/>
            <a:ext cx="1553766" cy="374321"/>
          </a:xfrm>
          <a:prstGeom prst="rect">
            <a:avLst/>
          </a:prstGeom>
          <a:solidFill>
            <a:srgbClr val="FFFFFF"/>
          </a:solidFill>
          <a:ln w="18288">
            <a:solidFill>
              <a:srgbClr val="111111"/>
            </a:solidFill>
            <a:prstDash val="solid"/>
          </a:ln>
        </p:spPr>
      </p:sp>
      <p:sp>
        <p:nvSpPr>
          <p:cNvPr id="61" name="Text 58"/>
          <p:cNvSpPr/>
          <p:nvPr/>
        </p:nvSpPr>
        <p:spPr>
          <a:xfrm>
            <a:off x="142160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STAGE</a:t>
            </a:r>
            <a:endParaRPr lang="en-US" sz="750" dirty="0"/>
          </a:p>
        </p:txBody>
      </p:sp>
      <p:sp>
        <p:nvSpPr>
          <p:cNvPr id="62" name="Text 59"/>
          <p:cNvSpPr/>
          <p:nvPr/>
        </p:nvSpPr>
        <p:spPr>
          <a:xfrm>
            <a:off x="1485900" y="4475559"/>
            <a:ext cx="1296591"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No uncontrolled multi-step run</a:t>
            </a:r>
            <a:endParaRPr lang="en-US" sz="600" dirty="0"/>
          </a:p>
        </p:txBody>
      </p:sp>
      <p:sp>
        <p:nvSpPr>
          <p:cNvPr id="63" name="Shape 60"/>
          <p:cNvSpPr/>
          <p:nvPr/>
        </p:nvSpPr>
        <p:spPr>
          <a:xfrm>
            <a:off x="2982516" y="4286250"/>
            <a:ext cx="1553766" cy="374321"/>
          </a:xfrm>
          <a:prstGeom prst="rect">
            <a:avLst/>
          </a:prstGeom>
          <a:solidFill>
            <a:srgbClr val="FFFFFF"/>
          </a:solidFill>
          <a:ln w="18288">
            <a:solidFill>
              <a:srgbClr val="111111"/>
            </a:solidFill>
            <a:prstDash val="solid"/>
          </a:ln>
        </p:spPr>
      </p:sp>
      <p:sp>
        <p:nvSpPr>
          <p:cNvPr id="64" name="Text 61"/>
          <p:cNvSpPr/>
          <p:nvPr/>
        </p:nvSpPr>
        <p:spPr>
          <a:xfrm>
            <a:off x="3046809"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ARTIFACT</a:t>
            </a:r>
            <a:endParaRPr lang="en-US" sz="750" dirty="0"/>
          </a:p>
        </p:txBody>
      </p:sp>
      <p:sp>
        <p:nvSpPr>
          <p:cNvPr id="65" name="Text 62"/>
          <p:cNvSpPr/>
          <p:nvPr/>
        </p:nvSpPr>
        <p:spPr>
          <a:xfrm>
            <a:off x="3171825" y="4475559"/>
            <a:ext cx="1175147"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Named and hash-addressed</a:t>
            </a:r>
            <a:endParaRPr lang="en-US" sz="600" dirty="0"/>
          </a:p>
        </p:txBody>
      </p:sp>
      <p:sp>
        <p:nvSpPr>
          <p:cNvPr id="66" name="Shape 63"/>
          <p:cNvSpPr/>
          <p:nvPr/>
        </p:nvSpPr>
        <p:spPr>
          <a:xfrm>
            <a:off x="4607719" y="4286250"/>
            <a:ext cx="1553766" cy="374321"/>
          </a:xfrm>
          <a:prstGeom prst="rect">
            <a:avLst/>
          </a:prstGeom>
          <a:solidFill>
            <a:srgbClr val="FFFFFF"/>
          </a:solidFill>
          <a:ln w="18288">
            <a:solidFill>
              <a:srgbClr val="111111"/>
            </a:solidFill>
            <a:prstDash val="solid"/>
          </a:ln>
        </p:spPr>
      </p:sp>
      <p:sp>
        <p:nvSpPr>
          <p:cNvPr id="67" name="Text 64"/>
          <p:cNvSpPr/>
          <p:nvPr/>
        </p:nvSpPr>
        <p:spPr>
          <a:xfrm>
            <a:off x="4672013"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GATE</a:t>
            </a:r>
            <a:endParaRPr lang="en-US" sz="750" dirty="0"/>
          </a:p>
        </p:txBody>
      </p:sp>
      <p:sp>
        <p:nvSpPr>
          <p:cNvPr id="68" name="Text 65"/>
          <p:cNvSpPr/>
          <p:nvPr/>
        </p:nvSpPr>
        <p:spPr>
          <a:xfrm>
            <a:off x="4784527" y="4475559"/>
            <a:ext cx="1200150"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Explicit result and stop point</a:t>
            </a:r>
            <a:endParaRPr lang="en-US" sz="600" dirty="0"/>
          </a:p>
        </p:txBody>
      </p:sp>
      <p:sp>
        <p:nvSpPr>
          <p:cNvPr id="69" name="Shape 66"/>
          <p:cNvSpPr/>
          <p:nvPr/>
        </p:nvSpPr>
        <p:spPr>
          <a:xfrm>
            <a:off x="6232922" y="4286250"/>
            <a:ext cx="1553766" cy="374321"/>
          </a:xfrm>
          <a:prstGeom prst="rect">
            <a:avLst/>
          </a:prstGeom>
          <a:solidFill>
            <a:srgbClr val="FFFFFF"/>
          </a:solidFill>
          <a:ln w="18288">
            <a:solidFill>
              <a:srgbClr val="111111"/>
            </a:solidFill>
            <a:prstDash val="solid"/>
          </a:ln>
        </p:spPr>
      </p:sp>
      <p:sp>
        <p:nvSpPr>
          <p:cNvPr id="70" name="Text 67"/>
          <p:cNvSpPr/>
          <p:nvPr/>
        </p:nvSpPr>
        <p:spPr>
          <a:xfrm>
            <a:off x="629721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NEXT MOVE</a:t>
            </a:r>
            <a:endParaRPr lang="en-US" sz="750" dirty="0"/>
          </a:p>
        </p:txBody>
      </p:sp>
      <p:sp>
        <p:nvSpPr>
          <p:cNvPr id="71" name="Text 68"/>
          <p:cNvSpPr/>
          <p:nvPr/>
        </p:nvSpPr>
        <p:spPr>
          <a:xfrm>
            <a:off x="6449020" y="4475559"/>
            <a:ext cx="1121569"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Derived from durable state</a:t>
            </a:r>
            <a:endParaRPr lang="en-US" sz="600" dirty="0"/>
          </a:p>
        </p:txBody>
      </p:sp>
      <p:sp>
        <p:nvSpPr>
          <p:cNvPr id="72" name="Shape 69"/>
          <p:cNvSpPr/>
          <p:nvPr/>
        </p:nvSpPr>
        <p:spPr>
          <a:xfrm>
            <a:off x="0" y="4857750"/>
            <a:ext cx="9144000" cy="285750"/>
          </a:xfrm>
          <a:prstGeom prst="rect">
            <a:avLst/>
          </a:prstGeom>
          <a:solidFill>
            <a:srgbClr val="0055FF"/>
          </a:solidFill>
          <a:ln/>
        </p:spPr>
      </p:sp>
      <p:sp>
        <p:nvSpPr>
          <p:cNvPr id="73" name="Shape 70"/>
          <p:cNvSpPr/>
          <p:nvPr/>
        </p:nvSpPr>
        <p:spPr>
          <a:xfrm>
            <a:off x="0" y="4857750"/>
            <a:ext cx="9144000" cy="28575"/>
          </a:xfrm>
          <a:prstGeom prst="rect">
            <a:avLst/>
          </a:prstGeom>
          <a:solidFill>
            <a:srgbClr val="111111"/>
          </a:solidFill>
          <a:ln/>
        </p:spPr>
      </p:sp>
      <p:sp>
        <p:nvSpPr>
          <p:cNvPr id="74" name="Text 71"/>
          <p:cNvSpPr/>
          <p:nvPr/>
        </p:nvSpPr>
        <p:spPr>
          <a:xfrm>
            <a:off x="271463" y="4952405"/>
            <a:ext cx="2100263"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BUSINESS INTENT → CONTROLLED EXECUTION</a:t>
            </a:r>
            <a:endParaRPr lang="en-US" sz="550" dirty="0"/>
          </a:p>
        </p:txBody>
      </p:sp>
      <p:sp>
        <p:nvSpPr>
          <p:cNvPr id="75" name="Text 72"/>
          <p:cNvSpPr/>
          <p:nvPr/>
        </p:nvSpPr>
        <p:spPr>
          <a:xfrm>
            <a:off x="7093744" y="4954191"/>
            <a:ext cx="1778794"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ONE STAGE · ONE ARTIFACT · ONE GATE</a:t>
            </a:r>
            <a:endParaRPr lang="en-US" sz="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71525"/>
          </a:xfrm>
          <a:prstGeom prst="rect">
            <a:avLst/>
          </a:prstGeom>
          <a:solidFill>
            <a:srgbClr val="000000">
              <a:alpha val="0"/>
            </a:srgbClr>
          </a:solidFill>
          <a:ln/>
        </p:spPr>
      </p:sp>
      <p:sp>
        <p:nvSpPr>
          <p:cNvPr id="4" name="Shape 1"/>
          <p:cNvSpPr/>
          <p:nvPr/>
        </p:nvSpPr>
        <p:spPr>
          <a:xfrm>
            <a:off x="271463" y="957263"/>
            <a:ext cx="8601075" cy="28575"/>
          </a:xfrm>
          <a:prstGeom prst="rect">
            <a:avLst/>
          </a:prstGeom>
          <a:solidFill>
            <a:srgbClr val="111111"/>
          </a:solidFill>
          <a:ln/>
        </p:spPr>
      </p:sp>
      <p:sp>
        <p:nvSpPr>
          <p:cNvPr id="5" name="Text 2"/>
          <p:cNvSpPr/>
          <p:nvPr/>
        </p:nvSpPr>
        <p:spPr>
          <a:xfrm>
            <a:off x="271463" y="214313"/>
            <a:ext cx="4768453" cy="300038"/>
          </a:xfrm>
          <a:prstGeom prst="rect">
            <a:avLst/>
          </a:prstGeom>
          <a:noFill/>
          <a:ln/>
        </p:spPr>
        <p:txBody>
          <a:bodyPr wrap="none" lIns="0" tIns="0" rIns="0" bIns="0" rtlCol="0" anchor="t">
            <a:spAutoFit/>
          </a:bodyPr>
          <a:lstStyle/>
          <a:p>
            <a:pPr algn="l" indent="0" marL="0">
              <a:lnSpc>
                <a:spcPct val="80000"/>
              </a:lnSpc>
              <a:buNone/>
            </a:pPr>
            <a:r>
              <a:rPr lang="en-US" sz="2100" b="1" dirty="0">
                <a:solidFill>
                  <a:srgbClr val="111111"/>
                </a:solidFill>
                <a:latin typeface="Oswald SemiBold" pitchFamily="34" charset="0"/>
                <a:ea typeface="Oswald SemiBold" pitchFamily="34" charset="-122"/>
                <a:cs typeface="Oswald SemiBold" pitchFamily="34" charset="-120"/>
              </a:rPr>
              <a:t>INSIDE ORCHESTRATE: THE CONTROLLER</a:t>
            </a:r>
            <a:endParaRPr lang="en-US" sz="2100" dirty="0"/>
          </a:p>
        </p:txBody>
      </p:sp>
      <p:sp>
        <p:nvSpPr>
          <p:cNvPr id="6" name="Text 3"/>
          <p:cNvSpPr/>
          <p:nvPr/>
        </p:nvSpPr>
        <p:spPr>
          <a:xfrm>
            <a:off x="271463" y="600075"/>
            <a:ext cx="4768453" cy="149293"/>
          </a:xfrm>
          <a:prstGeom prst="rect">
            <a:avLst/>
          </a:prstGeom>
          <a:noFill/>
          <a:ln/>
        </p:spPr>
        <p:txBody>
          <a:bodyPr wrap="none" lIns="0" tIns="0" rIns="0" bIns="0" rtlCol="0" anchor="t">
            <a:spAutoFit/>
          </a:bodyPr>
          <a:lstStyle/>
          <a:p>
            <a:pPr algn="l" indent="0" marL="0">
              <a:lnSpc>
                <a:spcPct val="88000"/>
              </a:lnSpc>
              <a:buNone/>
            </a:pPr>
            <a:r>
              <a:rPr lang="en-US" sz="1000" dirty="0">
                <a:solidFill>
                  <a:srgbClr val="0055FF"/>
                </a:solidFill>
                <a:latin typeface="Kalam Bold" pitchFamily="34" charset="0"/>
                <a:ea typeface="Kalam Bold" pitchFamily="34" charset="-122"/>
                <a:cs typeface="Kalam Bold" pitchFamily="34" charset="-120"/>
              </a:rPr>
              <a:t>Its outline tells Copilot exactly how to route work and when to stop.</a:t>
            </a:r>
            <a:endParaRPr lang="en-US" sz="1000" dirty="0"/>
          </a:p>
        </p:txBody>
      </p:sp>
      <p:sp>
        <p:nvSpPr>
          <p:cNvPr id="7" name="Shape 4"/>
          <p:cNvSpPr/>
          <p:nvPr/>
        </p:nvSpPr>
        <p:spPr>
          <a:xfrm>
            <a:off x="271463" y="1114425"/>
            <a:ext cx="2071688" cy="724309"/>
          </a:xfrm>
          <a:prstGeom prst="rect">
            <a:avLst/>
          </a:prstGeom>
          <a:solidFill>
            <a:srgbClr val="FFFFFF"/>
          </a:solidFill>
          <a:ln w="18288">
            <a:solidFill>
              <a:srgbClr val="111111"/>
            </a:solidFill>
            <a:prstDash val="solid"/>
          </a:ln>
        </p:spPr>
      </p:sp>
      <p:sp>
        <p:nvSpPr>
          <p:cNvPr id="8" name="Shape 5"/>
          <p:cNvSpPr/>
          <p:nvPr/>
        </p:nvSpPr>
        <p:spPr>
          <a:xfrm>
            <a:off x="357188" y="1221581"/>
            <a:ext cx="242888" cy="242888"/>
          </a:xfrm>
          <a:prstGeom prst="rect">
            <a:avLst/>
          </a:prstGeom>
          <a:solidFill>
            <a:srgbClr val="FF443A"/>
          </a:solidFill>
          <a:ln w="18288">
            <a:solidFill>
              <a:srgbClr val="111111"/>
            </a:solidFill>
            <a:prstDash val="solid"/>
          </a:ln>
        </p:spPr>
      </p:sp>
      <p:sp>
        <p:nvSpPr>
          <p:cNvPr id="9" name="Text 6"/>
          <p:cNvSpPr/>
          <p:nvPr/>
        </p:nvSpPr>
        <p:spPr>
          <a:xfrm>
            <a:off x="357188" y="12215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10" name="Text 7"/>
          <p:cNvSpPr/>
          <p:nvPr/>
        </p:nvSpPr>
        <p:spPr>
          <a:xfrm>
            <a:off x="685800" y="118586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TRIGGERS &amp; INPUTS</a:t>
            </a:r>
            <a:endParaRPr lang="en-US" sz="1000" dirty="0"/>
          </a:p>
        </p:txBody>
      </p:sp>
      <p:sp>
        <p:nvSpPr>
          <p:cNvPr id="11" name="Text 8"/>
          <p:cNvSpPr/>
          <p:nvPr/>
        </p:nvSpPr>
        <p:spPr>
          <a:xfrm>
            <a:off x="685800" y="1364456"/>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Called by user prompts; requires explicit intent and the durable run state.</a:t>
            </a:r>
            <a:endParaRPr lang="en-US" sz="700" dirty="0"/>
          </a:p>
        </p:txBody>
      </p:sp>
      <p:sp>
        <p:nvSpPr>
          <p:cNvPr id="12" name="Shape 9"/>
          <p:cNvSpPr/>
          <p:nvPr/>
        </p:nvSpPr>
        <p:spPr>
          <a:xfrm>
            <a:off x="271463" y="1957388"/>
            <a:ext cx="2071688" cy="724309"/>
          </a:xfrm>
          <a:prstGeom prst="rect">
            <a:avLst/>
          </a:prstGeom>
          <a:solidFill>
            <a:srgbClr val="FFFFFF"/>
          </a:solidFill>
          <a:ln w="18288">
            <a:solidFill>
              <a:srgbClr val="111111"/>
            </a:solidFill>
            <a:prstDash val="solid"/>
          </a:ln>
        </p:spPr>
      </p:sp>
      <p:sp>
        <p:nvSpPr>
          <p:cNvPr id="13" name="Shape 10"/>
          <p:cNvSpPr/>
          <p:nvPr/>
        </p:nvSpPr>
        <p:spPr>
          <a:xfrm>
            <a:off x="357188" y="2078831"/>
            <a:ext cx="242888" cy="242888"/>
          </a:xfrm>
          <a:prstGeom prst="rect">
            <a:avLst/>
          </a:prstGeom>
          <a:solidFill>
            <a:srgbClr val="FF443A"/>
          </a:solidFill>
          <a:ln w="18288">
            <a:solidFill>
              <a:srgbClr val="111111"/>
            </a:solidFill>
            <a:prstDash val="solid"/>
          </a:ln>
        </p:spPr>
      </p:sp>
      <p:sp>
        <p:nvSpPr>
          <p:cNvPr id="14" name="Text 11"/>
          <p:cNvSpPr/>
          <p:nvPr/>
        </p:nvSpPr>
        <p:spPr>
          <a:xfrm>
            <a:off x="357188" y="207883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15" name="Text 12"/>
          <p:cNvSpPr/>
          <p:nvPr/>
        </p:nvSpPr>
        <p:spPr>
          <a:xfrm>
            <a:off x="685800" y="204311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THE ROUTING LOOP</a:t>
            </a:r>
            <a:endParaRPr lang="en-US" sz="1000" dirty="0"/>
          </a:p>
        </p:txBody>
      </p:sp>
      <p:sp>
        <p:nvSpPr>
          <p:cNvPr id="16" name="Text 13"/>
          <p:cNvSpPr/>
          <p:nvPr/>
        </p:nvSpPr>
        <p:spPr>
          <a:xfrm>
            <a:off x="685800" y="2221706"/>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Read state → Select exactly one skill → Update state → Stop at the gate.</a:t>
            </a:r>
            <a:endParaRPr lang="en-US" sz="700" dirty="0"/>
          </a:p>
        </p:txBody>
      </p:sp>
      <p:sp>
        <p:nvSpPr>
          <p:cNvPr id="17" name="Shape 14"/>
          <p:cNvSpPr/>
          <p:nvPr/>
        </p:nvSpPr>
        <p:spPr>
          <a:xfrm>
            <a:off x="271463" y="2828925"/>
            <a:ext cx="2071688" cy="614363"/>
          </a:xfrm>
          <a:prstGeom prst="rect">
            <a:avLst/>
          </a:prstGeom>
          <a:solidFill>
            <a:srgbClr val="FFFFFF"/>
          </a:solidFill>
          <a:ln w="18288">
            <a:solidFill>
              <a:srgbClr val="111111"/>
            </a:solidFill>
            <a:prstDash val="solid"/>
          </a:ln>
        </p:spPr>
      </p:sp>
      <p:sp>
        <p:nvSpPr>
          <p:cNvPr id="18" name="Shape 15"/>
          <p:cNvSpPr/>
          <p:nvPr/>
        </p:nvSpPr>
        <p:spPr>
          <a:xfrm>
            <a:off x="357188" y="2936081"/>
            <a:ext cx="242888" cy="242888"/>
          </a:xfrm>
          <a:prstGeom prst="rect">
            <a:avLst/>
          </a:prstGeom>
          <a:solidFill>
            <a:srgbClr val="FF443A"/>
          </a:solidFill>
          <a:ln w="18288">
            <a:solidFill>
              <a:srgbClr val="111111"/>
            </a:solidFill>
            <a:prstDash val="solid"/>
          </a:ln>
        </p:spPr>
      </p:sp>
      <p:sp>
        <p:nvSpPr>
          <p:cNvPr id="19" name="Text 16"/>
          <p:cNvSpPr/>
          <p:nvPr/>
        </p:nvSpPr>
        <p:spPr>
          <a:xfrm>
            <a:off x="357188" y="29360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20" name="Text 17"/>
          <p:cNvSpPr/>
          <p:nvPr/>
        </p:nvSpPr>
        <p:spPr>
          <a:xfrm>
            <a:off x="685800" y="290036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AGENT BOUNDARIES</a:t>
            </a:r>
            <a:endParaRPr lang="en-US" sz="1000" dirty="0"/>
          </a:p>
        </p:txBody>
      </p:sp>
      <p:sp>
        <p:nvSpPr>
          <p:cNvPr id="21" name="Text 18"/>
          <p:cNvSpPr/>
          <p:nvPr/>
        </p:nvSpPr>
        <p:spPr>
          <a:xfrm>
            <a:off x="685800" y="3078956"/>
            <a:ext cx="1571625" cy="239985"/>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Forbidden to generate code, fake approval, or skip a stage.</a:t>
            </a:r>
            <a:endParaRPr lang="en-US" sz="700" dirty="0"/>
          </a:p>
        </p:txBody>
      </p:sp>
      <p:sp>
        <p:nvSpPr>
          <p:cNvPr id="22" name="Shape 19"/>
          <p:cNvSpPr/>
          <p:nvPr/>
        </p:nvSpPr>
        <p:spPr>
          <a:xfrm>
            <a:off x="271463" y="3619091"/>
            <a:ext cx="2071688" cy="724309"/>
          </a:xfrm>
          <a:prstGeom prst="rect">
            <a:avLst/>
          </a:prstGeom>
          <a:solidFill>
            <a:srgbClr val="FFFFFF"/>
          </a:solidFill>
          <a:ln w="18288">
            <a:solidFill>
              <a:srgbClr val="111111"/>
            </a:solidFill>
            <a:prstDash val="solid"/>
          </a:ln>
        </p:spPr>
      </p:sp>
      <p:sp>
        <p:nvSpPr>
          <p:cNvPr id="23" name="Shape 20"/>
          <p:cNvSpPr/>
          <p:nvPr/>
        </p:nvSpPr>
        <p:spPr>
          <a:xfrm>
            <a:off x="357188" y="3769109"/>
            <a:ext cx="242888" cy="242888"/>
          </a:xfrm>
          <a:prstGeom prst="rect">
            <a:avLst/>
          </a:prstGeom>
          <a:solidFill>
            <a:srgbClr val="FF443A"/>
          </a:solidFill>
          <a:ln w="18288">
            <a:solidFill>
              <a:srgbClr val="111111"/>
            </a:solidFill>
            <a:prstDash val="solid"/>
          </a:ln>
        </p:spPr>
      </p:sp>
      <p:sp>
        <p:nvSpPr>
          <p:cNvPr id="24" name="Text 21"/>
          <p:cNvSpPr/>
          <p:nvPr/>
        </p:nvSpPr>
        <p:spPr>
          <a:xfrm>
            <a:off x="357188" y="3769109"/>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25" name="Text 22"/>
          <p:cNvSpPr/>
          <p:nvPr/>
        </p:nvSpPr>
        <p:spPr>
          <a:xfrm>
            <a:off x="685800" y="3733391"/>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HARD STOP CONDITIONS</a:t>
            </a:r>
            <a:endParaRPr lang="en-US" sz="1000" dirty="0"/>
          </a:p>
        </p:txBody>
      </p:sp>
      <p:sp>
        <p:nvSpPr>
          <p:cNvPr id="26" name="Text 23"/>
          <p:cNvSpPr/>
          <p:nvPr/>
        </p:nvSpPr>
        <p:spPr>
          <a:xfrm>
            <a:off x="685800" y="3911984"/>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Forces the agent to pause when human input or a valid state is required.</a:t>
            </a:r>
            <a:endParaRPr lang="en-US" sz="700" dirty="0"/>
          </a:p>
        </p:txBody>
      </p:sp>
      <p:sp>
        <p:nvSpPr>
          <p:cNvPr id="27" name="Shape 24"/>
          <p:cNvSpPr/>
          <p:nvPr/>
        </p:nvSpPr>
        <p:spPr>
          <a:xfrm>
            <a:off x="2528888" y="1085850"/>
            <a:ext cx="6343650" cy="3286125"/>
          </a:xfrm>
          <a:prstGeom prst="rect">
            <a:avLst/>
          </a:prstGeom>
          <a:solidFill>
            <a:srgbClr val="1E1E1E"/>
          </a:solidFill>
          <a:ln w="27432">
            <a:solidFill>
              <a:srgbClr val="111111"/>
            </a:solidFill>
            <a:prstDash val="solid"/>
          </a:ln>
        </p:spPr>
      </p:sp>
      <p:sp>
        <p:nvSpPr>
          <p:cNvPr id="28" name="Shape 25"/>
          <p:cNvSpPr/>
          <p:nvPr/>
        </p:nvSpPr>
        <p:spPr>
          <a:xfrm>
            <a:off x="2528888" y="1085850"/>
            <a:ext cx="6343650" cy="285750"/>
          </a:xfrm>
          <a:prstGeom prst="rect">
            <a:avLst/>
          </a:prstGeom>
          <a:solidFill>
            <a:srgbClr val="323233"/>
          </a:solidFill>
          <a:ln/>
        </p:spPr>
      </p:sp>
      <p:sp>
        <p:nvSpPr>
          <p:cNvPr id="29" name="Shape 26"/>
          <p:cNvSpPr/>
          <p:nvPr/>
        </p:nvSpPr>
        <p:spPr>
          <a:xfrm>
            <a:off x="2528888" y="1357313"/>
            <a:ext cx="6343650" cy="14288"/>
          </a:xfrm>
          <a:prstGeom prst="rect">
            <a:avLst/>
          </a:prstGeom>
          <a:solidFill>
            <a:srgbClr val="111111"/>
          </a:solidFill>
          <a:ln/>
        </p:spPr>
      </p:sp>
      <p:sp>
        <p:nvSpPr>
          <p:cNvPr id="30" name="Shape 27"/>
          <p:cNvSpPr/>
          <p:nvPr/>
        </p:nvSpPr>
        <p:spPr>
          <a:xfrm>
            <a:off x="3143250" y="1085850"/>
            <a:ext cx="1303734" cy="271463"/>
          </a:xfrm>
          <a:prstGeom prst="rect">
            <a:avLst/>
          </a:prstGeom>
          <a:solidFill>
            <a:srgbClr val="1E1E1E"/>
          </a:solidFill>
          <a:ln/>
        </p:spPr>
      </p:sp>
      <p:sp>
        <p:nvSpPr>
          <p:cNvPr id="31" name="Shape 28"/>
          <p:cNvSpPr/>
          <p:nvPr/>
        </p:nvSpPr>
        <p:spPr>
          <a:xfrm>
            <a:off x="3143250" y="1085850"/>
            <a:ext cx="1303734" cy="21431"/>
          </a:xfrm>
          <a:prstGeom prst="rect">
            <a:avLst/>
          </a:prstGeom>
          <a:solidFill>
            <a:srgbClr val="0055FF"/>
          </a:solidFill>
          <a:ln/>
        </p:spPr>
      </p:sp>
      <p:sp>
        <p:nvSpPr>
          <p:cNvPr id="32" name="Text 29"/>
          <p:cNvSpPr/>
          <p:nvPr/>
        </p:nvSpPr>
        <p:spPr>
          <a:xfrm>
            <a:off x="3143250" y="1085850"/>
            <a:ext cx="1303734" cy="271463"/>
          </a:xfrm>
          <a:prstGeom prst="rect">
            <a:avLst/>
          </a:prstGeom>
          <a:noFill/>
          <a:ln/>
        </p:spPr>
        <p:txBody>
          <a:bodyPr wrap="square" lIns="204089" tIns="76581" rIns="204089" bIns="0" rtlCol="0" anchor="t">
            <a:spAutoFit/>
          </a:bodyPr>
          <a:lstStyle/>
          <a:p>
            <a:pPr algn="l" indent="0" marL="0">
              <a:buNone/>
            </a:pPr>
            <a:r>
              <a:rPr lang="en-US" sz="650" dirty="0">
                <a:solidFill>
                  <a:srgbClr val="D4D4D4"/>
                </a:solidFill>
                <a:latin typeface="Inter" pitchFamily="34" charset="0"/>
                <a:ea typeface="Inter" pitchFamily="34" charset="-122"/>
                <a:cs typeface="Inter" pitchFamily="34" charset="-120"/>
              </a:rPr>
              <a:t>orchestrate/SKILL.md</a:t>
            </a:r>
            <a:endParaRPr lang="en-US" sz="650" dirty="0"/>
          </a:p>
        </p:txBody>
      </p:sp>
      <p:sp>
        <p:nvSpPr>
          <p:cNvPr id="33" name="Text 30"/>
          <p:cNvSpPr/>
          <p:nvPr/>
        </p:nvSpPr>
        <p:spPr>
          <a:xfrm>
            <a:off x="7827373" y="1175147"/>
            <a:ext cx="945152" cy="92869"/>
          </a:xfrm>
          <a:prstGeom prst="rect">
            <a:avLst/>
          </a:prstGeom>
          <a:noFill/>
          <a:ln/>
        </p:spPr>
        <p:txBody>
          <a:bodyPr wrap="none" lIns="0" tIns="0" rIns="0" bIns="0" rtlCol="0" anchor="t">
            <a:spAutoFit/>
          </a:bodyPr>
          <a:lstStyle/>
          <a:p>
            <a:pPr algn="l" indent="0" marL="0">
              <a:buNone/>
            </a:pPr>
            <a:r>
              <a:rPr lang="en-US" sz="550" spc="1" kern="0" dirty="0">
                <a:solidFill>
                  <a:srgbClr val="9CDCFE"/>
                </a:solidFill>
                <a:latin typeface="Inter" pitchFamily="34" charset="0"/>
                <a:ea typeface="Inter" pitchFamily="34" charset="-122"/>
                <a:cs typeface="Inter" pitchFamily="34" charset="-120"/>
              </a:rPr>
              <a:t>MARKDOWN PREVIEW</a:t>
            </a:r>
            <a:endParaRPr lang="en-US" sz="550" dirty="0"/>
          </a:p>
        </p:txBody>
      </p:sp>
      <p:sp>
        <p:nvSpPr>
          <p:cNvPr id="34" name="Shape 31"/>
          <p:cNvSpPr/>
          <p:nvPr/>
        </p:nvSpPr>
        <p:spPr>
          <a:xfrm>
            <a:off x="2528888" y="1357313"/>
            <a:ext cx="6343650" cy="3129688"/>
          </a:xfrm>
          <a:prstGeom prst="rect">
            <a:avLst/>
          </a:prstGeom>
          <a:solidFill>
            <a:srgbClr val="FFFFFF"/>
          </a:solidFill>
          <a:ln/>
        </p:spPr>
      </p:sp>
      <p:sp>
        <p:nvSpPr>
          <p:cNvPr id="35" name="Text 32"/>
          <p:cNvSpPr/>
          <p:nvPr/>
        </p:nvSpPr>
        <p:spPr>
          <a:xfrm>
            <a:off x="2657475" y="1443038"/>
            <a:ext cx="6086475" cy="260300"/>
          </a:xfrm>
          <a:prstGeom prst="rect">
            <a:avLst/>
          </a:prstGeom>
          <a:noFill/>
          <a:ln/>
        </p:spPr>
        <p:txBody>
          <a:bodyPr wrap="none" lIns="0" tIns="0" rIns="0" bIns="51054" rtlCol="0" anchor="t">
            <a:spAutoFit/>
          </a:bodyPr>
          <a:lstStyle/>
          <a:p>
            <a:pPr algn="l" indent="0" marL="0">
              <a:lnSpc>
                <a:spcPct val="102400"/>
              </a:lnSpc>
              <a:buNone/>
            </a:pPr>
            <a:r>
              <a:rPr lang="en-US" sz="1150" b="1" dirty="0">
                <a:solidFill>
                  <a:srgbClr val="222222"/>
                </a:solidFill>
                <a:latin typeface="Inter Bold" pitchFamily="34" charset="0"/>
                <a:ea typeface="Inter Bold" pitchFamily="34" charset="-122"/>
                <a:cs typeface="Inter Bold" pitchFamily="34" charset="-120"/>
              </a:rPr>
              <a:t>Orchestrate</a:t>
            </a:r>
            <a:endParaRPr lang="en-US" sz="1150" dirty="0"/>
          </a:p>
        </p:txBody>
      </p:sp>
      <p:sp>
        <p:nvSpPr>
          <p:cNvPr id="36" name="Shape 33"/>
          <p:cNvSpPr/>
          <p:nvPr/>
        </p:nvSpPr>
        <p:spPr>
          <a:xfrm>
            <a:off x="2657475" y="1831925"/>
            <a:ext cx="2986088" cy="1286098"/>
          </a:xfrm>
          <a:prstGeom prst="rect">
            <a:avLst/>
          </a:prstGeom>
          <a:solidFill>
            <a:srgbClr val="FFF8F7"/>
          </a:solidFill>
          <a:ln w="18288">
            <a:solidFill>
              <a:srgbClr val="FF443A"/>
            </a:solidFill>
            <a:prstDash val="solid"/>
          </a:ln>
        </p:spPr>
      </p:sp>
      <p:sp>
        <p:nvSpPr>
          <p:cNvPr id="37" name="Shape 34"/>
          <p:cNvSpPr/>
          <p:nvPr/>
        </p:nvSpPr>
        <p:spPr>
          <a:xfrm>
            <a:off x="5543550" y="1746200"/>
            <a:ext cx="185738" cy="185738"/>
          </a:xfrm>
          <a:prstGeom prst="rect">
            <a:avLst/>
          </a:prstGeom>
          <a:solidFill>
            <a:srgbClr val="FF443A"/>
          </a:solidFill>
          <a:ln w="18288">
            <a:solidFill>
              <a:srgbClr val="111111"/>
            </a:solidFill>
            <a:prstDash val="solid"/>
          </a:ln>
        </p:spPr>
      </p:sp>
      <p:sp>
        <p:nvSpPr>
          <p:cNvPr id="38" name="Text 35"/>
          <p:cNvSpPr/>
          <p:nvPr/>
        </p:nvSpPr>
        <p:spPr>
          <a:xfrm>
            <a:off x="5543550" y="174620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1</a:t>
            </a:r>
            <a:endParaRPr lang="en-US" sz="800" dirty="0"/>
          </a:p>
        </p:txBody>
      </p:sp>
      <p:sp>
        <p:nvSpPr>
          <p:cNvPr id="39" name="Text 36"/>
          <p:cNvSpPr/>
          <p:nvPr/>
        </p:nvSpPr>
        <p:spPr>
          <a:xfrm>
            <a:off x="2728913" y="188193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Trigger</a:t>
            </a:r>
            <a:endParaRPr lang="en-US" sz="800" dirty="0"/>
          </a:p>
        </p:txBody>
      </p:sp>
      <p:sp>
        <p:nvSpPr>
          <p:cNvPr id="40" name="Text 37"/>
          <p:cNvSpPr/>
          <p:nvPr/>
        </p:nvSpPr>
        <p:spPr>
          <a:xfrm>
            <a:off x="2728913" y="2067502"/>
            <a:ext cx="1432322"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Use whenever a prompt requests</a:t>
            </a:r>
            <a:endParaRPr lang="en-US" sz="650" dirty="0"/>
          </a:p>
        </p:txBody>
      </p:sp>
      <p:sp>
        <p:nvSpPr>
          <p:cNvPr id="41" name="Shape 38"/>
          <p:cNvSpPr/>
          <p:nvPr/>
        </p:nvSpPr>
        <p:spPr>
          <a:xfrm>
            <a:off x="4161234" y="2074645"/>
            <a:ext cx="182166" cy="103584"/>
          </a:xfrm>
          <a:prstGeom prst="rect">
            <a:avLst/>
          </a:prstGeom>
          <a:solidFill>
            <a:srgbClr val="F6F8FA"/>
          </a:solidFill>
          <a:ln/>
        </p:spPr>
      </p:sp>
      <p:sp>
        <p:nvSpPr>
          <p:cNvPr id="42" name="Text 39"/>
          <p:cNvSpPr/>
          <p:nvPr/>
        </p:nvSpPr>
        <p:spPr>
          <a:xfrm>
            <a:off x="4161234" y="2074645"/>
            <a:ext cx="182166"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new</a:t>
            </a:r>
            <a:endParaRPr lang="en-US" sz="550" dirty="0"/>
          </a:p>
        </p:txBody>
      </p:sp>
      <p:sp>
        <p:nvSpPr>
          <p:cNvPr id="43" name="Text 40"/>
          <p:cNvSpPr/>
          <p:nvPr/>
        </p:nvSpPr>
        <p:spPr>
          <a:xfrm>
            <a:off x="4343400" y="2067502"/>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4" name="Shape 41"/>
          <p:cNvSpPr/>
          <p:nvPr/>
        </p:nvSpPr>
        <p:spPr>
          <a:xfrm>
            <a:off x="4393406" y="2074645"/>
            <a:ext cx="321469" cy="103584"/>
          </a:xfrm>
          <a:prstGeom prst="rect">
            <a:avLst/>
          </a:prstGeom>
          <a:solidFill>
            <a:srgbClr val="F6F8FA"/>
          </a:solidFill>
          <a:ln/>
        </p:spPr>
      </p:sp>
      <p:sp>
        <p:nvSpPr>
          <p:cNvPr id="45" name="Text 42"/>
          <p:cNvSpPr/>
          <p:nvPr/>
        </p:nvSpPr>
        <p:spPr>
          <a:xfrm>
            <a:off x="4393406" y="2074645"/>
            <a:ext cx="32146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resume</a:t>
            </a:r>
            <a:endParaRPr lang="en-US" sz="550" dirty="0"/>
          </a:p>
        </p:txBody>
      </p:sp>
      <p:sp>
        <p:nvSpPr>
          <p:cNvPr id="46" name="Text 43"/>
          <p:cNvSpPr/>
          <p:nvPr/>
        </p:nvSpPr>
        <p:spPr>
          <a:xfrm>
            <a:off x="4714875" y="2067502"/>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7" name="Shape 44"/>
          <p:cNvSpPr/>
          <p:nvPr/>
        </p:nvSpPr>
        <p:spPr>
          <a:xfrm>
            <a:off x="4764881" y="2074645"/>
            <a:ext cx="367903" cy="103584"/>
          </a:xfrm>
          <a:prstGeom prst="rect">
            <a:avLst/>
          </a:prstGeom>
          <a:solidFill>
            <a:srgbClr val="F6F8FA"/>
          </a:solidFill>
          <a:ln/>
        </p:spPr>
      </p:sp>
      <p:sp>
        <p:nvSpPr>
          <p:cNvPr id="48" name="Text 45"/>
          <p:cNvSpPr/>
          <p:nvPr/>
        </p:nvSpPr>
        <p:spPr>
          <a:xfrm>
            <a:off x="4764881" y="2074645"/>
            <a:ext cx="367903"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restart</a:t>
            </a:r>
            <a:endParaRPr lang="en-US" sz="550" dirty="0"/>
          </a:p>
        </p:txBody>
      </p:sp>
      <p:sp>
        <p:nvSpPr>
          <p:cNvPr id="49" name="Text 46"/>
          <p:cNvSpPr/>
          <p:nvPr/>
        </p:nvSpPr>
        <p:spPr>
          <a:xfrm>
            <a:off x="5132784" y="2067502"/>
            <a:ext cx="282178"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 stage</a:t>
            </a:r>
            <a:endParaRPr lang="en-US" sz="650" dirty="0"/>
          </a:p>
        </p:txBody>
      </p:sp>
      <p:sp>
        <p:nvSpPr>
          <p:cNvPr id="50" name="Text 47"/>
          <p:cNvSpPr/>
          <p:nvPr/>
        </p:nvSpPr>
        <p:spPr>
          <a:xfrm>
            <a:off x="2728913" y="2182360"/>
            <a:ext cx="1693069"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continuation, failure recovery, or review.</a:t>
            </a:r>
            <a:endParaRPr lang="en-US" sz="650" dirty="0"/>
          </a:p>
        </p:txBody>
      </p:sp>
      <p:sp>
        <p:nvSpPr>
          <p:cNvPr id="51" name="Text 48"/>
          <p:cNvSpPr/>
          <p:nvPr/>
        </p:nvSpPr>
        <p:spPr>
          <a:xfrm>
            <a:off x="2728913" y="2328807"/>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Required inputs</a:t>
            </a:r>
            <a:endParaRPr lang="en-US" sz="800" dirty="0"/>
          </a:p>
        </p:txBody>
      </p:sp>
      <p:sp>
        <p:nvSpPr>
          <p:cNvPr id="52" name="Text 49"/>
          <p:cNvSpPr/>
          <p:nvPr/>
        </p:nvSpPr>
        <p:spPr>
          <a:xfrm>
            <a:off x="2886075" y="2510805"/>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Explicit user intent and module ID</a:t>
            </a:r>
            <a:endParaRPr lang="en-US" sz="650" dirty="0"/>
          </a:p>
        </p:txBody>
      </p:sp>
      <p:sp>
        <p:nvSpPr>
          <p:cNvPr id="53" name="Text 50"/>
          <p:cNvSpPr/>
          <p:nvPr/>
        </p:nvSpPr>
        <p:spPr>
          <a:xfrm>
            <a:off x="2886075" y="2639392"/>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Latest durable run-state JSON</a:t>
            </a:r>
            <a:endParaRPr lang="en-US" sz="650" dirty="0"/>
          </a:p>
        </p:txBody>
      </p:sp>
      <p:sp>
        <p:nvSpPr>
          <p:cNvPr id="54" name="Text 51"/>
          <p:cNvSpPr/>
          <p:nvPr/>
        </p:nvSpPr>
        <p:spPr>
          <a:xfrm>
            <a:off x="2886075" y="2767980"/>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Workflow transition contract</a:t>
            </a:r>
            <a:endParaRPr lang="en-US" sz="650" dirty="0"/>
          </a:p>
        </p:txBody>
      </p:sp>
      <p:sp>
        <p:nvSpPr>
          <p:cNvPr id="55" name="Text 52"/>
          <p:cNvSpPr/>
          <p:nvPr/>
        </p:nvSpPr>
        <p:spPr>
          <a:xfrm>
            <a:off x="2886075" y="2896567"/>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Previous stage artifact, hash, and gate result</a:t>
            </a:r>
            <a:endParaRPr lang="en-US" sz="650" dirty="0"/>
          </a:p>
        </p:txBody>
      </p:sp>
      <p:sp>
        <p:nvSpPr>
          <p:cNvPr id="56" name="Shape 53"/>
          <p:cNvSpPr/>
          <p:nvPr/>
        </p:nvSpPr>
        <p:spPr>
          <a:xfrm>
            <a:off x="2657475" y="3132311"/>
            <a:ext cx="2986088" cy="1226102"/>
          </a:xfrm>
          <a:prstGeom prst="rect">
            <a:avLst/>
          </a:prstGeom>
          <a:solidFill>
            <a:srgbClr val="FFF8F7"/>
          </a:solidFill>
          <a:ln w="18288">
            <a:solidFill>
              <a:srgbClr val="FF443A"/>
            </a:solidFill>
            <a:prstDash val="solid"/>
          </a:ln>
        </p:spPr>
      </p:sp>
      <p:sp>
        <p:nvSpPr>
          <p:cNvPr id="57" name="Shape 54"/>
          <p:cNvSpPr/>
          <p:nvPr/>
        </p:nvSpPr>
        <p:spPr>
          <a:xfrm>
            <a:off x="5543550" y="3046586"/>
            <a:ext cx="185738" cy="185738"/>
          </a:xfrm>
          <a:prstGeom prst="rect">
            <a:avLst/>
          </a:prstGeom>
          <a:solidFill>
            <a:srgbClr val="FF443A"/>
          </a:solidFill>
          <a:ln w="18288">
            <a:solidFill>
              <a:srgbClr val="111111"/>
            </a:solidFill>
            <a:prstDash val="solid"/>
          </a:ln>
        </p:spPr>
      </p:sp>
      <p:sp>
        <p:nvSpPr>
          <p:cNvPr id="58" name="Text 55"/>
          <p:cNvSpPr/>
          <p:nvPr/>
        </p:nvSpPr>
        <p:spPr>
          <a:xfrm>
            <a:off x="5543550" y="3046586"/>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2</a:t>
            </a:r>
            <a:endParaRPr lang="en-US" sz="800" dirty="0"/>
          </a:p>
        </p:txBody>
      </p:sp>
      <p:sp>
        <p:nvSpPr>
          <p:cNvPr id="59" name="Text 56"/>
          <p:cNvSpPr/>
          <p:nvPr/>
        </p:nvSpPr>
        <p:spPr>
          <a:xfrm>
            <a:off x="2728913" y="3182317"/>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Workflow</a:t>
            </a:r>
            <a:endParaRPr lang="en-US" sz="800" dirty="0"/>
          </a:p>
        </p:txBody>
      </p:sp>
      <p:sp>
        <p:nvSpPr>
          <p:cNvPr id="60" name="Text 57"/>
          <p:cNvSpPr/>
          <p:nvPr/>
        </p:nvSpPr>
        <p:spPr>
          <a:xfrm>
            <a:off x="2886075" y="3364316"/>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1"/>
            </a:pPr>
            <a:r>
              <a:rPr lang="en-US" sz="650" dirty="0">
                <a:solidFill>
                  <a:srgbClr val="222222"/>
                </a:solidFill>
                <a:latin typeface="Inter" pitchFamily="34" charset="0"/>
                <a:ea typeface="Inter" pitchFamily="34" charset="-122"/>
                <a:cs typeface="Inter" pitchFamily="34" charset="-120"/>
              </a:rPr>
              <a:t>Classify user intent (new, resume, restart, recover).</a:t>
            </a:r>
            <a:endParaRPr lang="en-US" sz="650" dirty="0"/>
          </a:p>
        </p:txBody>
      </p:sp>
      <p:sp>
        <p:nvSpPr>
          <p:cNvPr id="61" name="Text 58"/>
          <p:cNvSpPr/>
          <p:nvPr/>
        </p:nvSpPr>
        <p:spPr>
          <a:xfrm>
            <a:off x="2886075" y="3496475"/>
            <a:ext cx="1410891"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2"/>
            </a:pPr>
            <a:r>
              <a:rPr lang="en-US" sz="650" dirty="0">
                <a:solidFill>
                  <a:srgbClr val="222222"/>
                </a:solidFill>
                <a:latin typeface="Inter" pitchFamily="34" charset="0"/>
                <a:ea typeface="Inter" pitchFamily="34" charset="-122"/>
                <a:cs typeface="Inter" pitchFamily="34" charset="-120"/>
              </a:rPr>
              <a:t>Read run state and verify against</a:t>
            </a:r>
            <a:endParaRPr lang="en-US" sz="650" dirty="0"/>
          </a:p>
        </p:txBody>
      </p:sp>
      <p:sp>
        <p:nvSpPr>
          <p:cNvPr id="62" name="Shape 59"/>
          <p:cNvSpPr/>
          <p:nvPr/>
        </p:nvSpPr>
        <p:spPr>
          <a:xfrm>
            <a:off x="4296966" y="3503619"/>
            <a:ext cx="646509" cy="103584"/>
          </a:xfrm>
          <a:prstGeom prst="rect">
            <a:avLst/>
          </a:prstGeom>
          <a:solidFill>
            <a:srgbClr val="F6F8FA"/>
          </a:solidFill>
          <a:ln/>
        </p:spPr>
      </p:sp>
      <p:sp>
        <p:nvSpPr>
          <p:cNvPr id="63" name="Text 60"/>
          <p:cNvSpPr/>
          <p:nvPr/>
        </p:nvSpPr>
        <p:spPr>
          <a:xfrm>
            <a:off x="4296966" y="3503619"/>
            <a:ext cx="64650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workflow.yaml</a:t>
            </a:r>
            <a:endParaRPr lang="en-US" sz="550" dirty="0"/>
          </a:p>
        </p:txBody>
      </p:sp>
      <p:sp>
        <p:nvSpPr>
          <p:cNvPr id="64" name="Text 61"/>
          <p:cNvSpPr/>
          <p:nvPr/>
        </p:nvSpPr>
        <p:spPr>
          <a:xfrm>
            <a:off x="4943475" y="3496475"/>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65" name="Text 62"/>
          <p:cNvSpPr/>
          <p:nvPr/>
        </p:nvSpPr>
        <p:spPr>
          <a:xfrm>
            <a:off x="2886075" y="362204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3"/>
            </a:pPr>
            <a:r>
              <a:rPr lang="en-US" sz="650" dirty="0">
                <a:solidFill>
                  <a:srgbClr val="222222"/>
                </a:solidFill>
                <a:latin typeface="Inter" pitchFamily="34" charset="0"/>
                <a:ea typeface="Inter" pitchFamily="34" charset="-122"/>
                <a:cs typeface="Inter" pitchFamily="34" charset="-120"/>
              </a:rPr>
              <a:t>Select exactly one permitted skill.</a:t>
            </a:r>
            <a:endParaRPr lang="en-US" sz="650" dirty="0"/>
          </a:p>
        </p:txBody>
      </p:sp>
      <p:sp>
        <p:nvSpPr>
          <p:cNvPr id="66" name="Text 63"/>
          <p:cNvSpPr/>
          <p:nvPr/>
        </p:nvSpPr>
        <p:spPr>
          <a:xfrm>
            <a:off x="2886075" y="3754208"/>
            <a:ext cx="1285875"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4"/>
            </a:pPr>
            <a:r>
              <a:rPr lang="en-US" sz="650" dirty="0">
                <a:solidFill>
                  <a:srgbClr val="222222"/>
                </a:solidFill>
                <a:latin typeface="Inter" pitchFamily="34" charset="0"/>
                <a:ea typeface="Inter" pitchFamily="34" charset="-122"/>
                <a:cs typeface="Inter" pitchFamily="34" charset="-120"/>
              </a:rPr>
              <a:t>Require its named artifact and</a:t>
            </a:r>
            <a:endParaRPr lang="en-US" sz="650" dirty="0"/>
          </a:p>
        </p:txBody>
      </p:sp>
      <p:sp>
        <p:nvSpPr>
          <p:cNvPr id="67" name="Shape 64"/>
          <p:cNvSpPr/>
          <p:nvPr/>
        </p:nvSpPr>
        <p:spPr>
          <a:xfrm>
            <a:off x="4171950" y="3761352"/>
            <a:ext cx="832247" cy="103584"/>
          </a:xfrm>
          <a:prstGeom prst="rect">
            <a:avLst/>
          </a:prstGeom>
          <a:solidFill>
            <a:srgbClr val="F6F8FA"/>
          </a:solidFill>
          <a:ln/>
        </p:spPr>
      </p:sp>
      <p:sp>
        <p:nvSpPr>
          <p:cNvPr id="68" name="Text 65"/>
          <p:cNvSpPr/>
          <p:nvPr/>
        </p:nvSpPr>
        <p:spPr>
          <a:xfrm>
            <a:off x="4171950" y="3761352"/>
            <a:ext cx="832247"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PASS/FAIL/BLOCKED</a:t>
            </a:r>
            <a:endParaRPr lang="en-US" sz="550" dirty="0"/>
          </a:p>
        </p:txBody>
      </p:sp>
      <p:sp>
        <p:nvSpPr>
          <p:cNvPr id="69" name="Text 66"/>
          <p:cNvSpPr/>
          <p:nvPr/>
        </p:nvSpPr>
        <p:spPr>
          <a:xfrm>
            <a:off x="5004197" y="3754208"/>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70" name="Text 67"/>
          <p:cNvSpPr/>
          <p:nvPr/>
        </p:nvSpPr>
        <p:spPr>
          <a:xfrm>
            <a:off x="2886075" y="3879782"/>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5"/>
            </a:pPr>
            <a:r>
              <a:rPr lang="en-US" sz="650" dirty="0">
                <a:solidFill>
                  <a:srgbClr val="222222"/>
                </a:solidFill>
                <a:latin typeface="Inter" pitchFamily="34" charset="0"/>
                <a:ea typeface="Inter" pitchFamily="34" charset="-122"/>
                <a:cs typeface="Inter" pitchFamily="34" charset="-120"/>
              </a:rPr>
              <a:t>Update durable state atomically.</a:t>
            </a:r>
            <a:endParaRPr lang="en-US" sz="650" dirty="0"/>
          </a:p>
        </p:txBody>
      </p:sp>
      <p:sp>
        <p:nvSpPr>
          <p:cNvPr id="71" name="Text 68"/>
          <p:cNvSpPr/>
          <p:nvPr/>
        </p:nvSpPr>
        <p:spPr>
          <a:xfrm>
            <a:off x="2886075" y="400836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6"/>
            </a:pPr>
            <a:r>
              <a:rPr lang="en-US" sz="650" dirty="0">
                <a:solidFill>
                  <a:srgbClr val="222222"/>
                </a:solidFill>
                <a:latin typeface="Inter" pitchFamily="34" charset="0"/>
                <a:ea typeface="Inter" pitchFamily="34" charset="-122"/>
                <a:cs typeface="Inter" pitchFamily="34" charset="-120"/>
              </a:rPr>
              <a:t>Stop after every skill invocation and at every human gate.</a:t>
            </a:r>
            <a:endParaRPr lang="en-US" sz="650" dirty="0"/>
          </a:p>
        </p:txBody>
      </p:sp>
      <p:sp>
        <p:nvSpPr>
          <p:cNvPr id="72" name="Text 69"/>
          <p:cNvSpPr/>
          <p:nvPr/>
        </p:nvSpPr>
        <p:spPr>
          <a:xfrm>
            <a:off x="2886075" y="4136957"/>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7"/>
            </a:pPr>
            <a:r>
              <a:rPr lang="en-US" sz="650" dirty="0">
                <a:solidFill>
                  <a:srgbClr val="222222"/>
                </a:solidFill>
                <a:latin typeface="Inter" pitchFamily="34" charset="0"/>
                <a:ea typeface="Inter" pitchFamily="34" charset="-122"/>
                <a:cs typeface="Inter" pitchFamily="34" charset="-120"/>
              </a:rPr>
              <a:t>Write the complete copy/paste next message.</a:t>
            </a:r>
            <a:endParaRPr lang="en-US" sz="650" dirty="0"/>
          </a:p>
        </p:txBody>
      </p:sp>
      <p:sp>
        <p:nvSpPr>
          <p:cNvPr id="73" name="Shape 70"/>
          <p:cNvSpPr/>
          <p:nvPr/>
        </p:nvSpPr>
        <p:spPr>
          <a:xfrm>
            <a:off x="5757863" y="1831925"/>
            <a:ext cx="2986088" cy="932092"/>
          </a:xfrm>
          <a:prstGeom prst="rect">
            <a:avLst/>
          </a:prstGeom>
          <a:solidFill>
            <a:srgbClr val="FFF8F7"/>
          </a:solidFill>
          <a:ln w="18288">
            <a:solidFill>
              <a:srgbClr val="FF443A"/>
            </a:solidFill>
            <a:prstDash val="solid"/>
          </a:ln>
        </p:spPr>
      </p:sp>
      <p:sp>
        <p:nvSpPr>
          <p:cNvPr id="74" name="Shape 71"/>
          <p:cNvSpPr/>
          <p:nvPr/>
        </p:nvSpPr>
        <p:spPr>
          <a:xfrm>
            <a:off x="8643938" y="1746200"/>
            <a:ext cx="185738" cy="185738"/>
          </a:xfrm>
          <a:prstGeom prst="rect">
            <a:avLst/>
          </a:prstGeom>
          <a:solidFill>
            <a:srgbClr val="FF443A"/>
          </a:solidFill>
          <a:ln w="18288">
            <a:solidFill>
              <a:srgbClr val="111111"/>
            </a:solidFill>
            <a:prstDash val="solid"/>
          </a:ln>
        </p:spPr>
      </p:sp>
      <p:sp>
        <p:nvSpPr>
          <p:cNvPr id="75" name="Text 72"/>
          <p:cNvSpPr/>
          <p:nvPr/>
        </p:nvSpPr>
        <p:spPr>
          <a:xfrm>
            <a:off x="8643938" y="174620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3</a:t>
            </a:r>
            <a:endParaRPr lang="en-US" sz="800" dirty="0"/>
          </a:p>
        </p:txBody>
      </p:sp>
      <p:sp>
        <p:nvSpPr>
          <p:cNvPr id="76" name="Text 73"/>
          <p:cNvSpPr/>
          <p:nvPr/>
        </p:nvSpPr>
        <p:spPr>
          <a:xfrm>
            <a:off x="5829300" y="188193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Boundaries</a:t>
            </a:r>
            <a:endParaRPr lang="en-US" sz="800" dirty="0"/>
          </a:p>
        </p:txBody>
      </p:sp>
      <p:sp>
        <p:nvSpPr>
          <p:cNvPr id="77" name="Text 74"/>
          <p:cNvSpPr/>
          <p:nvPr/>
        </p:nvSpPr>
        <p:spPr>
          <a:xfrm>
            <a:off x="5829300" y="2063930"/>
            <a:ext cx="2843213" cy="3429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Do not perform specialist analysis, generate code, approve evidence, change protected artifacts, skip a stage, cross a human gate, or declare release.</a:t>
            </a:r>
            <a:endParaRPr lang="en-US" sz="650" dirty="0"/>
          </a:p>
        </p:txBody>
      </p:sp>
      <p:sp>
        <p:nvSpPr>
          <p:cNvPr id="78" name="Text 75"/>
          <p:cNvSpPr/>
          <p:nvPr/>
        </p:nvSpPr>
        <p:spPr>
          <a:xfrm>
            <a:off x="5829300" y="2442549"/>
            <a:ext cx="2843213" cy="2286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 generated approval message is a proposed user action and must never be recorded as approval until the human sends it.</a:t>
            </a:r>
            <a:endParaRPr lang="en-US" sz="650" dirty="0"/>
          </a:p>
        </p:txBody>
      </p:sp>
      <p:sp>
        <p:nvSpPr>
          <p:cNvPr id="79" name="Shape 76"/>
          <p:cNvSpPr/>
          <p:nvPr/>
        </p:nvSpPr>
        <p:spPr>
          <a:xfrm>
            <a:off x="5757863" y="2778305"/>
            <a:ext cx="2986088" cy="782073"/>
          </a:xfrm>
          <a:prstGeom prst="rect">
            <a:avLst/>
          </a:prstGeom>
          <a:solidFill>
            <a:srgbClr val="FFF8F7"/>
          </a:solidFill>
          <a:ln w="18288">
            <a:solidFill>
              <a:srgbClr val="FF443A"/>
            </a:solidFill>
            <a:prstDash val="solid"/>
          </a:ln>
        </p:spPr>
      </p:sp>
      <p:sp>
        <p:nvSpPr>
          <p:cNvPr id="80" name="Shape 77"/>
          <p:cNvSpPr/>
          <p:nvPr/>
        </p:nvSpPr>
        <p:spPr>
          <a:xfrm>
            <a:off x="8643938" y="2692580"/>
            <a:ext cx="185738" cy="185738"/>
          </a:xfrm>
          <a:prstGeom prst="rect">
            <a:avLst/>
          </a:prstGeom>
          <a:solidFill>
            <a:srgbClr val="FF443A"/>
          </a:solidFill>
          <a:ln w="18288">
            <a:solidFill>
              <a:srgbClr val="111111"/>
            </a:solidFill>
            <a:prstDash val="solid"/>
          </a:ln>
        </p:spPr>
      </p:sp>
      <p:sp>
        <p:nvSpPr>
          <p:cNvPr id="81" name="Text 78"/>
          <p:cNvSpPr/>
          <p:nvPr/>
        </p:nvSpPr>
        <p:spPr>
          <a:xfrm>
            <a:off x="8643938" y="269258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4</a:t>
            </a:r>
            <a:endParaRPr lang="en-US" sz="800" dirty="0"/>
          </a:p>
        </p:txBody>
      </p:sp>
      <p:sp>
        <p:nvSpPr>
          <p:cNvPr id="82" name="Text 79"/>
          <p:cNvSpPr/>
          <p:nvPr/>
        </p:nvSpPr>
        <p:spPr>
          <a:xfrm>
            <a:off x="5829300" y="2828311"/>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Stop conditions</a:t>
            </a:r>
            <a:endParaRPr lang="en-US" sz="800" dirty="0"/>
          </a:p>
        </p:txBody>
      </p:sp>
      <p:sp>
        <p:nvSpPr>
          <p:cNvPr id="83" name="Text 80"/>
          <p:cNvSpPr/>
          <p:nvPr/>
        </p:nvSpPr>
        <p:spPr>
          <a:xfrm>
            <a:off x="5829300" y="3010309"/>
            <a:ext cx="2843213" cy="4572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Stop on missing or contradictory state, invalid transition, missing artifact, hash mismatch, dirty protected path, unavailable decision owner, repeated failure without new evidence, or exhausted attempt limit.</a:t>
            </a:r>
            <a:endParaRPr lang="en-US" sz="650" dirty="0"/>
          </a:p>
        </p:txBody>
      </p:sp>
      <p:sp>
        <p:nvSpPr>
          <p:cNvPr id="84" name="Shape 81"/>
          <p:cNvSpPr/>
          <p:nvPr/>
        </p:nvSpPr>
        <p:spPr>
          <a:xfrm>
            <a:off x="5757863" y="3588953"/>
            <a:ext cx="2986088" cy="561733"/>
          </a:xfrm>
          <a:prstGeom prst="rect">
            <a:avLst/>
          </a:prstGeom>
          <a:solidFill>
            <a:srgbClr val="EAF1FF"/>
          </a:solidFill>
          <a:ln w="18288">
            <a:solidFill>
              <a:srgbClr val="0055FF"/>
            </a:solidFill>
            <a:prstDash val="solid"/>
          </a:ln>
        </p:spPr>
      </p:sp>
      <p:sp>
        <p:nvSpPr>
          <p:cNvPr id="85" name="Text 82"/>
          <p:cNvSpPr/>
          <p:nvPr/>
        </p:nvSpPr>
        <p:spPr>
          <a:xfrm>
            <a:off x="5829300" y="3646103"/>
            <a:ext cx="2843213" cy="127974"/>
          </a:xfrm>
          <a:prstGeom prst="rect">
            <a:avLst/>
          </a:prstGeom>
          <a:noFill/>
          <a:ln/>
        </p:spPr>
        <p:txBody>
          <a:bodyPr wrap="none" lIns="0" tIns="0" rIns="0" bIns="0" rtlCol="0" anchor="t">
            <a:spAutoFit/>
          </a:bodyPr>
          <a:lstStyle/>
          <a:p>
            <a:pPr algn="l" indent="0" marL="0">
              <a:lnSpc>
                <a:spcPct val="102400"/>
              </a:lnSpc>
              <a:buNone/>
            </a:pPr>
            <a:r>
              <a:rPr lang="en-US" sz="700" b="1" dirty="0">
                <a:solidFill>
                  <a:srgbClr val="0055FF"/>
                </a:solidFill>
                <a:latin typeface="Inter Bold" pitchFamily="34" charset="0"/>
                <a:ea typeface="Inter Bold" pitchFamily="34" charset="-122"/>
                <a:cs typeface="Inter Bold" pitchFamily="34" charset="-120"/>
              </a:rPr>
              <a:t>CANONICAL OUTPUTS &amp; VERIFICATION</a:t>
            </a:r>
            <a:endParaRPr lang="en-US" sz="700" dirty="0"/>
          </a:p>
        </p:txBody>
      </p:sp>
      <p:sp>
        <p:nvSpPr>
          <p:cNvPr id="86" name="Text 83"/>
          <p:cNvSpPr/>
          <p:nvPr/>
        </p:nvSpPr>
        <p:spPr>
          <a:xfrm>
            <a:off x="5829300" y="3816939"/>
            <a:ext cx="414338" cy="109724"/>
          </a:xfrm>
          <a:prstGeom prst="rect">
            <a:avLst/>
          </a:prstGeom>
          <a:noFill/>
          <a:ln/>
        </p:spPr>
        <p:txBody>
          <a:bodyPr wrap="none" lIns="0" tIns="0" rIns="0" bIns="0" rtlCol="0" anchor="t">
            <a:spAutoFit/>
          </a:bodyPr>
          <a:lstStyle/>
          <a:p>
            <a:pPr algn="l" indent="0" marL="0">
              <a:lnSpc>
                <a:spcPct val="102400"/>
              </a:lnSpc>
              <a:buNone/>
            </a:pPr>
            <a:r>
              <a:rPr lang="en-US" sz="600" b="1" dirty="0">
                <a:solidFill>
                  <a:srgbClr val="111111"/>
                </a:solidFill>
                <a:latin typeface="Oswald SemiBold" pitchFamily="34" charset="0"/>
                <a:ea typeface="Oswald SemiBold" pitchFamily="34" charset="-122"/>
                <a:cs typeface="Oswald SemiBold" pitchFamily="34" charset="-120"/>
              </a:rPr>
              <a:t>OUTPUT</a:t>
            </a:r>
            <a:endParaRPr lang="en-US" sz="600" dirty="0"/>
          </a:p>
        </p:txBody>
      </p:sp>
      <p:sp>
        <p:nvSpPr>
          <p:cNvPr id="87" name="Shape 84"/>
          <p:cNvSpPr/>
          <p:nvPr/>
        </p:nvSpPr>
        <p:spPr>
          <a:xfrm>
            <a:off x="6293644" y="3816939"/>
            <a:ext cx="2378869" cy="89967"/>
          </a:xfrm>
          <a:prstGeom prst="rect">
            <a:avLst/>
          </a:prstGeom>
          <a:solidFill>
            <a:srgbClr val="F6F8FA"/>
          </a:solidFill>
          <a:ln/>
        </p:spPr>
      </p:sp>
      <p:sp>
        <p:nvSpPr>
          <p:cNvPr id="88" name="Text 85"/>
          <p:cNvSpPr/>
          <p:nvPr/>
        </p:nvSpPr>
        <p:spPr>
          <a:xfrm>
            <a:off x="6293644" y="3816939"/>
            <a:ext cx="2378869" cy="89967"/>
          </a:xfrm>
          <a:prstGeom prst="rect">
            <a:avLst/>
          </a:prstGeom>
          <a:noFill/>
          <a:ln/>
        </p:spPr>
        <p:txBody>
          <a:bodyPr wrap="none" lIns="25527" tIns="0" rIns="25527" bIns="0" rtlCol="0" anchor="t">
            <a:spAutoFit/>
          </a:bodyPr>
          <a:lstStyle/>
          <a:p>
            <a:pPr algn="l" indent="0" marL="0">
              <a:lnSpc>
                <a:spcPct val="96000"/>
              </a:lnSpc>
              <a:buNone/>
            </a:pPr>
            <a:r>
              <a:rPr lang="en-US" sz="550" dirty="0">
                <a:solidFill>
                  <a:srgbClr val="B42318"/>
                </a:solidFill>
                <a:latin typeface="JetBrains Mono" pitchFamily="34" charset="0"/>
                <a:ea typeface="JetBrains Mono" pitchFamily="34" charset="-122"/>
                <a:cs typeface="JetBrains Mono" pitchFamily="34" charset="-120"/>
              </a:rPr>
              <a:t>artifacts/run_state/&lt;run-id&gt;.json</a:t>
            </a:r>
            <a:endParaRPr lang="en-US" sz="550" dirty="0"/>
          </a:p>
        </p:txBody>
      </p:sp>
      <p:sp>
        <p:nvSpPr>
          <p:cNvPr id="89" name="Text 86"/>
          <p:cNvSpPr/>
          <p:nvPr/>
        </p:nvSpPr>
        <p:spPr>
          <a:xfrm>
            <a:off x="5829300" y="3955238"/>
            <a:ext cx="414338" cy="109724"/>
          </a:xfrm>
          <a:prstGeom prst="rect">
            <a:avLst/>
          </a:prstGeom>
          <a:noFill/>
          <a:ln/>
        </p:spPr>
        <p:txBody>
          <a:bodyPr wrap="none" lIns="0" tIns="0" rIns="0" bIns="0" rtlCol="0" anchor="t">
            <a:spAutoFit/>
          </a:bodyPr>
          <a:lstStyle/>
          <a:p>
            <a:pPr algn="l" indent="0" marL="0">
              <a:lnSpc>
                <a:spcPct val="102400"/>
              </a:lnSpc>
              <a:buNone/>
            </a:pPr>
            <a:r>
              <a:rPr lang="en-US" sz="600" b="1" dirty="0">
                <a:solidFill>
                  <a:srgbClr val="111111"/>
                </a:solidFill>
                <a:latin typeface="Oswald SemiBold" pitchFamily="34" charset="0"/>
                <a:ea typeface="Oswald SemiBold" pitchFamily="34" charset="-122"/>
                <a:cs typeface="Oswald SemiBold" pitchFamily="34" charset="-120"/>
              </a:rPr>
              <a:t>CHECKS</a:t>
            </a:r>
            <a:endParaRPr lang="en-US" sz="600" dirty="0"/>
          </a:p>
        </p:txBody>
      </p:sp>
      <p:sp>
        <p:nvSpPr>
          <p:cNvPr id="90" name="Text 87"/>
          <p:cNvSpPr/>
          <p:nvPr/>
        </p:nvSpPr>
        <p:spPr>
          <a:xfrm>
            <a:off x="6293644" y="3955238"/>
            <a:ext cx="2378869" cy="89967"/>
          </a:xfrm>
          <a:prstGeom prst="rect">
            <a:avLst/>
          </a:prstGeom>
          <a:noFill/>
          <a:ln/>
        </p:spPr>
        <p:txBody>
          <a:bodyPr wrap="none" lIns="0" tIns="0" rIns="0" bIns="0" rtlCol="0" anchor="t">
            <a:spAutoFit/>
          </a:bodyPr>
          <a:lstStyle/>
          <a:p>
            <a:pPr algn="l" indent="0" marL="0">
              <a:lnSpc>
                <a:spcPct val="96000"/>
              </a:lnSpc>
              <a:buNone/>
            </a:pPr>
            <a:r>
              <a:rPr lang="en-US" sz="550" dirty="0">
                <a:solidFill>
                  <a:srgbClr val="222222"/>
                </a:solidFill>
                <a:latin typeface="Inter" pitchFamily="34" charset="0"/>
                <a:ea typeface="Inter" pitchFamily="34" charset="-122"/>
                <a:cs typeface="Inter" pitchFamily="34" charset="-120"/>
              </a:rPr>
              <a:t>transition · exactly one skill · protected paths · next-action hashes</a:t>
            </a:r>
            <a:endParaRPr lang="en-US" sz="550" dirty="0"/>
          </a:p>
        </p:txBody>
      </p:sp>
      <p:sp>
        <p:nvSpPr>
          <p:cNvPr id="91" name="Shape 88"/>
          <p:cNvSpPr/>
          <p:nvPr/>
        </p:nvSpPr>
        <p:spPr>
          <a:xfrm>
            <a:off x="1535240" y="4535790"/>
            <a:ext cx="6073520" cy="302136"/>
          </a:xfrm>
          <a:prstGeom prst="rect">
            <a:avLst/>
          </a:prstGeom>
          <a:solidFill>
            <a:srgbClr val="FFDF00"/>
          </a:solidFill>
          <a:ln w="18288">
            <a:solidFill>
              <a:srgbClr val="111111"/>
            </a:solidFill>
            <a:prstDash val="solid"/>
          </a:ln>
        </p:spPr>
      </p:sp>
      <p:sp>
        <p:nvSpPr>
          <p:cNvPr id="92" name="Text 89"/>
          <p:cNvSpPr/>
          <p:nvPr/>
        </p:nvSpPr>
        <p:spPr>
          <a:xfrm>
            <a:off x="1535240" y="4535790"/>
            <a:ext cx="6073520" cy="302136"/>
          </a:xfrm>
          <a:prstGeom prst="rect">
            <a:avLst/>
          </a:prstGeom>
          <a:noFill/>
          <a:ln/>
        </p:spPr>
        <p:txBody>
          <a:bodyPr wrap="square" lIns="119126" tIns="59563" rIns="119126" bIns="59563" rtlCol="0" anchor="t">
            <a:spAutoFit/>
          </a:bodyPr>
          <a:lstStyle/>
          <a:p>
            <a:pPr algn="ctr" indent="0" marL="0">
              <a:lnSpc>
                <a:spcPct val="84000"/>
              </a:lnSpc>
              <a:buNone/>
            </a:pPr>
            <a:r>
              <a:rPr lang="en-US" sz="850" b="1" dirty="0">
                <a:solidFill>
                  <a:srgbClr val="111111"/>
                </a:solidFill>
                <a:latin typeface="Kalam Bold" pitchFamily="34" charset="0"/>
                <a:ea typeface="Kalam Bold" pitchFamily="34" charset="-122"/>
                <a:cs typeface="Kalam Bold" pitchFamily="34" charset="-120"/>
              </a:rPr>
              <a:t>Bottom line:</a:t>
            </a:r>
            <a:r>
              <a:rPr lang="en-US" sz="900" dirty="0">
                <a:solidFill>
                  <a:srgbClr val="111111"/>
                </a:solidFill>
                <a:latin typeface="Kalam Bold" pitchFamily="34" charset="0"/>
                <a:ea typeface="Kalam Bold" pitchFamily="34" charset="-122"/>
                <a:cs typeface="Kalam Bold" pitchFamily="34" charset="-120"/>
              </a:rPr>
              <a:t> The orchestrato</a:t>
            </a:r>
            <a:r>
              <a:rPr lang="en-US" sz="900" dirty="0">
                <a:solidFill>
                  <a:srgbClr val="111111"/>
                </a:solidFill>
                <a:latin typeface="Kalam Bold" pitchFamily="34" charset="0"/>
                <a:ea typeface="Kalam Bold" pitchFamily="34" charset="-122"/>
                <a:cs typeface="Kalam Bold" pitchFamily="34" charset="-120"/>
              </a:rPr>
              <a:t>r is the only thing the pr</a:t>
            </a:r>
            <a:r>
              <a:rPr lang="en-US" sz="900" dirty="0">
                <a:solidFill>
                  <a:srgbClr val="111111"/>
                </a:solidFill>
                <a:latin typeface="Kalam Bold" pitchFamily="34" charset="0"/>
                <a:ea typeface="Kalam Bold" pitchFamily="34" charset="-122"/>
                <a:cs typeface="Kalam Bold" pitchFamily="34" charset="-120"/>
              </a:rPr>
              <a:t>ompt actually invokes.</a:t>
            </a:r>
            <a:endParaRPr lang="en-US" sz="850" dirty="0"/>
          </a:p>
        </p:txBody>
      </p:sp>
      <p:sp>
        <p:nvSpPr>
          <p:cNvPr id="93" name="Shape 90"/>
          <p:cNvSpPr/>
          <p:nvPr/>
        </p:nvSpPr>
        <p:spPr>
          <a:xfrm>
            <a:off x="0" y="4843463"/>
            <a:ext cx="9144000" cy="300038"/>
          </a:xfrm>
          <a:prstGeom prst="rect">
            <a:avLst/>
          </a:prstGeom>
          <a:solidFill>
            <a:srgbClr val="0055FF"/>
          </a:solidFill>
          <a:ln/>
        </p:spPr>
      </p:sp>
      <p:sp>
        <p:nvSpPr>
          <p:cNvPr id="94" name="Shape 91"/>
          <p:cNvSpPr/>
          <p:nvPr/>
        </p:nvSpPr>
        <p:spPr>
          <a:xfrm>
            <a:off x="0" y="4843463"/>
            <a:ext cx="9144000" cy="28575"/>
          </a:xfrm>
          <a:prstGeom prst="rect">
            <a:avLst/>
          </a:prstGeom>
          <a:solidFill>
            <a:srgbClr val="111111"/>
          </a:solidFill>
          <a:ln/>
        </p:spPr>
      </p:sp>
      <p:sp>
        <p:nvSpPr>
          <p:cNvPr id="95" name="Text 92"/>
          <p:cNvSpPr/>
          <p:nvPr/>
        </p:nvSpPr>
        <p:spPr>
          <a:xfrm>
            <a:off x="271463" y="4941689"/>
            <a:ext cx="2125266"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ACTUAL ORCHESTRATE/SKILL.MD OUTLINE</a:t>
            </a:r>
            <a:endParaRPr lang="en-US" sz="600" dirty="0"/>
          </a:p>
        </p:txBody>
      </p:sp>
      <p:sp>
        <p:nvSpPr>
          <p:cNvPr id="96" name="Text 93"/>
          <p:cNvSpPr/>
          <p:nvPr/>
        </p:nvSpPr>
        <p:spPr>
          <a:xfrm>
            <a:off x="7250906" y="4941689"/>
            <a:ext cx="1621631"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RENDERED MARKDOWN PREVIEW</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WHAT ORCHESTRATE CONTROLS</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It does not do the work. It authorizes one controlled turn.</a:t>
            </a:r>
            <a:endParaRPr lang="en-US" sz="1000" dirty="0"/>
          </a:p>
        </p:txBody>
      </p:sp>
      <p:sp>
        <p:nvSpPr>
          <p:cNvPr id="8" name="Shape 4"/>
          <p:cNvSpPr/>
          <p:nvPr/>
        </p:nvSpPr>
        <p:spPr>
          <a:xfrm>
            <a:off x="300038" y="1114425"/>
            <a:ext cx="1285875" cy="457200"/>
          </a:xfrm>
          <a:prstGeom prst="rect">
            <a:avLst/>
          </a:prstGeom>
          <a:solidFill>
            <a:srgbClr val="151515"/>
          </a:solidFill>
          <a:ln w="18288">
            <a:solidFill>
              <a:srgbClr val="F0F0F0"/>
            </a:solidFill>
            <a:prstDash val="solid"/>
          </a:ln>
        </p:spPr>
      </p:sp>
      <p:sp>
        <p:nvSpPr>
          <p:cNvPr id="9" name="Text 5"/>
          <p:cNvSpPr/>
          <p:nvPr/>
        </p:nvSpPr>
        <p:spPr>
          <a:xfrm>
            <a:off x="469702" y="1155502"/>
            <a:ext cx="946547" cy="242888"/>
          </a:xfrm>
          <a:prstGeom prst="rect">
            <a:avLst/>
          </a:prstGeom>
          <a:noFill/>
          <a:ln/>
        </p:spPr>
        <p:txBody>
          <a:bodyPr wrap="none" lIns="0" tIns="0" rIns="0" bIns="0" rtlCol="0" anchor="t">
            <a:spAutoFit/>
          </a:bodyPr>
          <a:lstStyle/>
          <a:p>
            <a:pPr algn="l" indent="0" marL="0">
              <a:buNone/>
            </a:pPr>
            <a:r>
              <a:rPr lang="en-US" sz="1200" dirty="0">
                <a:solidFill>
                  <a:srgbClr val="FFFFFF"/>
                </a:solidFill>
                <a:latin typeface="Oswald SemiBold" pitchFamily="34" charset="0"/>
                <a:ea typeface="Oswald SemiBold" pitchFamily="34" charset="-122"/>
                <a:cs typeface="Oswald SemiBold" pitchFamily="34" charset="-120"/>
              </a:rPr>
              <a:t>USER PROMPT</a:t>
            </a:r>
            <a:endParaRPr lang="en-US" sz="1200" dirty="0"/>
          </a:p>
        </p:txBody>
      </p:sp>
      <p:sp>
        <p:nvSpPr>
          <p:cNvPr id="10" name="Text 6"/>
          <p:cNvSpPr/>
          <p:nvPr/>
        </p:nvSpPr>
        <p:spPr>
          <a:xfrm>
            <a:off x="476845" y="1419820"/>
            <a:ext cx="932259" cy="110728"/>
          </a:xfrm>
          <a:prstGeom prst="rect">
            <a:avLst/>
          </a:prstGeom>
          <a:noFill/>
          <a:ln/>
        </p:spPr>
        <p:txBody>
          <a:bodyPr wrap="none" lIns="0" tIns="0" rIns="0" bIns="0" rtlCol="0" anchor="t">
            <a:spAutoFit/>
          </a:bodyPr>
          <a:lstStyle/>
          <a:p>
            <a:pPr algn="l" indent="0" marL="0">
              <a:buNone/>
            </a:pPr>
            <a:r>
              <a:rPr lang="en-US" sz="650" dirty="0">
                <a:solidFill>
                  <a:srgbClr val="BDBDBD"/>
                </a:solidFill>
                <a:latin typeface="Inter" pitchFamily="34" charset="0"/>
                <a:ea typeface="Inter" pitchFamily="34" charset="-122"/>
                <a:cs typeface="Inter" pitchFamily="34" charset="-120"/>
              </a:rPr>
              <a:t>requests an outcome</a:t>
            </a:r>
            <a:endParaRPr lang="en-US" sz="650" dirty="0"/>
          </a:p>
        </p:txBody>
      </p:sp>
      <p:sp>
        <p:nvSpPr>
          <p:cNvPr id="11" name="Text 7"/>
          <p:cNvSpPr/>
          <p:nvPr/>
        </p:nvSpPr>
        <p:spPr>
          <a:xfrm>
            <a:off x="1585913" y="1162645"/>
            <a:ext cx="400050" cy="360759"/>
          </a:xfrm>
          <a:prstGeom prst="rect">
            <a:avLst/>
          </a:prstGeom>
          <a:noFill/>
          <a:ln/>
        </p:spPr>
        <p:txBody>
          <a:bodyPr wrap="none" lIns="0" tIns="0" rIns="0" bIns="0" rtlCol="0" anchor="t">
            <a:spAutoFit/>
          </a:bodyPr>
          <a:lstStyle/>
          <a:p>
            <a:pPr algn="ctr" indent="0" marL="0">
              <a:buNone/>
            </a:pPr>
            <a:r>
              <a:rPr lang="en-US" sz="1800" dirty="0">
                <a:solidFill>
                  <a:srgbClr val="FFBD2E"/>
                </a:solidFill>
                <a:latin typeface="Oswald SemiBold" pitchFamily="34" charset="0"/>
                <a:ea typeface="Oswald SemiBold" pitchFamily="34" charset="-122"/>
                <a:cs typeface="Oswald SemiBold" pitchFamily="34" charset="-120"/>
              </a:rPr>
              <a:t>→</a:t>
            </a:r>
            <a:endParaRPr lang="en-US" sz="1800" dirty="0"/>
          </a:p>
        </p:txBody>
      </p:sp>
      <p:sp>
        <p:nvSpPr>
          <p:cNvPr id="12" name="Shape 8"/>
          <p:cNvSpPr/>
          <p:nvPr/>
        </p:nvSpPr>
        <p:spPr>
          <a:xfrm>
            <a:off x="1985963" y="1114425"/>
            <a:ext cx="3457575" cy="457200"/>
          </a:xfrm>
          <a:prstGeom prst="rect">
            <a:avLst/>
          </a:prstGeom>
          <a:solidFill>
            <a:srgbClr val="111B2A"/>
          </a:solidFill>
          <a:ln w="27432">
            <a:solidFill>
              <a:srgbClr val="0088FF"/>
            </a:solidFill>
            <a:prstDash val="solid"/>
          </a:ln>
        </p:spPr>
      </p:sp>
      <p:sp>
        <p:nvSpPr>
          <p:cNvPr id="13" name="Text 9"/>
          <p:cNvSpPr/>
          <p:nvPr/>
        </p:nvSpPr>
        <p:spPr>
          <a:xfrm>
            <a:off x="2143125" y="1194792"/>
            <a:ext cx="1218009" cy="296466"/>
          </a:xfrm>
          <a:prstGeom prst="rect">
            <a:avLst/>
          </a:prstGeom>
          <a:noFill/>
          <a:ln/>
        </p:spPr>
        <p:txBody>
          <a:bodyPr wrap="none" lIns="0" tIns="0" rIns="0" bIns="0" rtlCol="0" anchor="t">
            <a:spAutoFit/>
          </a:bodyPr>
          <a:lstStyle/>
          <a:p>
            <a:pPr algn="l" indent="0" marL="0">
              <a:buNone/>
            </a:pPr>
            <a:r>
              <a:rPr lang="en-US" sz="1500" spc="1" kern="0" dirty="0">
                <a:solidFill>
                  <a:srgbClr val="0088FF"/>
                </a:solidFill>
                <a:latin typeface="Oswald SemiBold" pitchFamily="34" charset="0"/>
                <a:ea typeface="Oswald SemiBold" pitchFamily="34" charset="-122"/>
                <a:cs typeface="Oswald SemiBold" pitchFamily="34" charset="-120"/>
              </a:rPr>
              <a:t>ORCHESTRATE</a:t>
            </a:r>
            <a:endParaRPr lang="en-US" sz="1500" dirty="0"/>
          </a:p>
        </p:txBody>
      </p:sp>
      <p:sp>
        <p:nvSpPr>
          <p:cNvPr id="14" name="Text 10"/>
          <p:cNvSpPr/>
          <p:nvPr/>
        </p:nvSpPr>
        <p:spPr>
          <a:xfrm>
            <a:off x="3907631" y="1278731"/>
            <a:ext cx="1378744" cy="128588"/>
          </a:xfrm>
          <a:prstGeom prst="rect">
            <a:avLst/>
          </a:prstGeom>
          <a:noFill/>
          <a:ln/>
        </p:spPr>
        <p:txBody>
          <a:bodyPr wrap="square" lIns="0" tIns="0" rIns="0" bIns="0" rtlCol="0" anchor="t">
            <a:spAutoFit/>
          </a:bodyPr>
          <a:lstStyle/>
          <a:p>
            <a:pPr algn="l" indent="0" marL="0">
              <a:buNone/>
            </a:pPr>
            <a:r>
              <a:rPr lang="en-US" sz="750" b="1" dirty="0">
                <a:solidFill>
                  <a:srgbClr val="D9E9FF"/>
                </a:solidFill>
                <a:latin typeface="Inter SemiBold" pitchFamily="34" charset="0"/>
                <a:ea typeface="Inter SemiBold" pitchFamily="34" charset="-122"/>
                <a:cs typeface="Inter SemiBold" pitchFamily="34" charset="-120"/>
              </a:rPr>
              <a:t>reads the current run state</a:t>
            </a:r>
            <a:endParaRPr lang="en-US" sz="750" dirty="0"/>
          </a:p>
        </p:txBody>
      </p:sp>
      <p:sp>
        <p:nvSpPr>
          <p:cNvPr id="15" name="Text 11"/>
          <p:cNvSpPr/>
          <p:nvPr/>
        </p:nvSpPr>
        <p:spPr>
          <a:xfrm>
            <a:off x="1985963" y="1580555"/>
            <a:ext cx="3457575" cy="382191"/>
          </a:xfrm>
          <a:prstGeom prst="rect">
            <a:avLst/>
          </a:prstGeom>
          <a:noFill/>
          <a:ln/>
        </p:spPr>
        <p:txBody>
          <a:bodyPr wrap="square" lIns="0" tIns="0" rIns="0" bIns="0" rtlCol="0" anchor="t">
            <a:spAutoFit/>
          </a:bodyPr>
          <a:lstStyle/>
          <a:p>
            <a:pPr algn="ctr" indent="0" marL="0">
              <a:buNone/>
            </a:pPr>
            <a:r>
              <a:rPr lang="en-US" sz="1900" dirty="0">
                <a:solidFill>
                  <a:srgbClr val="FFBD2E"/>
                </a:solidFill>
                <a:latin typeface="Oswald SemiBold" pitchFamily="34" charset="0"/>
                <a:ea typeface="Oswald SemiBold" pitchFamily="34" charset="-122"/>
                <a:cs typeface="Oswald SemiBold" pitchFamily="34" charset="-120"/>
              </a:rPr>
              <a:t>↓</a:t>
            </a:r>
            <a:endParaRPr lang="en-US" sz="1900" dirty="0"/>
          </a:p>
        </p:txBody>
      </p:sp>
      <p:sp>
        <p:nvSpPr>
          <p:cNvPr id="16" name="Shape 12"/>
          <p:cNvSpPr/>
          <p:nvPr/>
        </p:nvSpPr>
        <p:spPr>
          <a:xfrm>
            <a:off x="1985963" y="1950244"/>
            <a:ext cx="3457575" cy="342900"/>
          </a:xfrm>
          <a:prstGeom prst="rect">
            <a:avLst/>
          </a:prstGeom>
          <a:solidFill>
            <a:srgbClr val="151515"/>
          </a:solidFill>
          <a:ln/>
        </p:spPr>
      </p:sp>
      <p:sp>
        <p:nvSpPr>
          <p:cNvPr id="17" name="Shape 13"/>
          <p:cNvSpPr/>
          <p:nvPr/>
        </p:nvSpPr>
        <p:spPr>
          <a:xfrm>
            <a:off x="1985963" y="1950244"/>
            <a:ext cx="3457575" cy="14288"/>
          </a:xfrm>
          <a:prstGeom prst="rect">
            <a:avLst/>
          </a:prstGeom>
          <a:solidFill>
            <a:srgbClr val="333333"/>
          </a:solidFill>
          <a:ln/>
        </p:spPr>
      </p:sp>
      <p:sp>
        <p:nvSpPr>
          <p:cNvPr id="18" name="Shape 14"/>
          <p:cNvSpPr/>
          <p:nvPr/>
        </p:nvSpPr>
        <p:spPr>
          <a:xfrm>
            <a:off x="5429250" y="1950244"/>
            <a:ext cx="14288" cy="342900"/>
          </a:xfrm>
          <a:prstGeom prst="rect">
            <a:avLst/>
          </a:prstGeom>
          <a:solidFill>
            <a:srgbClr val="333333"/>
          </a:solidFill>
          <a:ln/>
        </p:spPr>
      </p:sp>
      <p:sp>
        <p:nvSpPr>
          <p:cNvPr id="19" name="Shape 15"/>
          <p:cNvSpPr/>
          <p:nvPr/>
        </p:nvSpPr>
        <p:spPr>
          <a:xfrm>
            <a:off x="1985963" y="2278856"/>
            <a:ext cx="3457575" cy="14288"/>
          </a:xfrm>
          <a:prstGeom prst="rect">
            <a:avLst/>
          </a:prstGeom>
          <a:solidFill>
            <a:srgbClr val="333333"/>
          </a:solidFill>
          <a:ln/>
        </p:spPr>
      </p:sp>
      <p:sp>
        <p:nvSpPr>
          <p:cNvPr id="20" name="Shape 16"/>
          <p:cNvSpPr/>
          <p:nvPr/>
        </p:nvSpPr>
        <p:spPr>
          <a:xfrm>
            <a:off x="1985963" y="1950244"/>
            <a:ext cx="35719" cy="342900"/>
          </a:xfrm>
          <a:prstGeom prst="rect">
            <a:avLst/>
          </a:prstGeom>
          <a:solidFill>
            <a:srgbClr val="0088FF"/>
          </a:solidFill>
          <a:ln/>
        </p:spPr>
      </p:sp>
      <p:sp>
        <p:nvSpPr>
          <p:cNvPr id="21" name="Shape 17"/>
          <p:cNvSpPr/>
          <p:nvPr/>
        </p:nvSpPr>
        <p:spPr>
          <a:xfrm>
            <a:off x="1985963" y="1950244"/>
            <a:ext cx="371475" cy="342900"/>
          </a:xfrm>
          <a:prstGeom prst="rect">
            <a:avLst/>
          </a:prstGeom>
          <a:solidFill>
            <a:srgbClr val="222222"/>
          </a:solidFill>
          <a:ln/>
        </p:spPr>
      </p:sp>
      <p:sp>
        <p:nvSpPr>
          <p:cNvPr id="22" name="Text 18"/>
          <p:cNvSpPr/>
          <p:nvPr/>
        </p:nvSpPr>
        <p:spPr>
          <a:xfrm>
            <a:off x="1985963" y="19502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23" name="Text 19"/>
          <p:cNvSpPr/>
          <p:nvPr/>
        </p:nvSpPr>
        <p:spPr>
          <a:xfrm>
            <a:off x="2357438" y="20109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ROLE</a:t>
            </a:r>
            <a:endParaRPr lang="en-US" sz="1100" dirty="0"/>
          </a:p>
        </p:txBody>
      </p:sp>
      <p:sp>
        <p:nvSpPr>
          <p:cNvPr id="24" name="Text 20"/>
          <p:cNvSpPr/>
          <p:nvPr/>
        </p:nvSpPr>
        <p:spPr>
          <a:xfrm>
            <a:off x="3429000" y="20574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Who is allowed to act?</a:t>
            </a:r>
            <a:endParaRPr lang="en-US" sz="750" dirty="0"/>
          </a:p>
        </p:txBody>
      </p:sp>
      <p:sp>
        <p:nvSpPr>
          <p:cNvPr id="25" name="Shape 21"/>
          <p:cNvSpPr/>
          <p:nvPr/>
        </p:nvSpPr>
        <p:spPr>
          <a:xfrm>
            <a:off x="1985963" y="2350294"/>
            <a:ext cx="3457575" cy="342900"/>
          </a:xfrm>
          <a:prstGeom prst="rect">
            <a:avLst/>
          </a:prstGeom>
          <a:solidFill>
            <a:srgbClr val="151515"/>
          </a:solidFill>
          <a:ln/>
        </p:spPr>
      </p:sp>
      <p:sp>
        <p:nvSpPr>
          <p:cNvPr id="26" name="Shape 22"/>
          <p:cNvSpPr/>
          <p:nvPr/>
        </p:nvSpPr>
        <p:spPr>
          <a:xfrm>
            <a:off x="1985963" y="2350294"/>
            <a:ext cx="3457575" cy="14288"/>
          </a:xfrm>
          <a:prstGeom prst="rect">
            <a:avLst/>
          </a:prstGeom>
          <a:solidFill>
            <a:srgbClr val="333333"/>
          </a:solidFill>
          <a:ln/>
        </p:spPr>
      </p:sp>
      <p:sp>
        <p:nvSpPr>
          <p:cNvPr id="27" name="Shape 23"/>
          <p:cNvSpPr/>
          <p:nvPr/>
        </p:nvSpPr>
        <p:spPr>
          <a:xfrm>
            <a:off x="5429250" y="2350294"/>
            <a:ext cx="14288" cy="342900"/>
          </a:xfrm>
          <a:prstGeom prst="rect">
            <a:avLst/>
          </a:prstGeom>
          <a:solidFill>
            <a:srgbClr val="333333"/>
          </a:solidFill>
          <a:ln/>
        </p:spPr>
      </p:sp>
      <p:sp>
        <p:nvSpPr>
          <p:cNvPr id="28" name="Shape 24"/>
          <p:cNvSpPr/>
          <p:nvPr/>
        </p:nvSpPr>
        <p:spPr>
          <a:xfrm>
            <a:off x="1985963" y="2678906"/>
            <a:ext cx="3457575" cy="14288"/>
          </a:xfrm>
          <a:prstGeom prst="rect">
            <a:avLst/>
          </a:prstGeom>
          <a:solidFill>
            <a:srgbClr val="333333"/>
          </a:solidFill>
          <a:ln/>
        </p:spPr>
      </p:sp>
      <p:sp>
        <p:nvSpPr>
          <p:cNvPr id="29" name="Shape 25"/>
          <p:cNvSpPr/>
          <p:nvPr/>
        </p:nvSpPr>
        <p:spPr>
          <a:xfrm>
            <a:off x="1985963" y="2350294"/>
            <a:ext cx="35719" cy="342900"/>
          </a:xfrm>
          <a:prstGeom prst="rect">
            <a:avLst/>
          </a:prstGeom>
          <a:solidFill>
            <a:srgbClr val="27C93F"/>
          </a:solidFill>
          <a:ln/>
        </p:spPr>
      </p:sp>
      <p:sp>
        <p:nvSpPr>
          <p:cNvPr id="30" name="Shape 26"/>
          <p:cNvSpPr/>
          <p:nvPr/>
        </p:nvSpPr>
        <p:spPr>
          <a:xfrm>
            <a:off x="1985963" y="2350294"/>
            <a:ext cx="371475" cy="342900"/>
          </a:xfrm>
          <a:prstGeom prst="rect">
            <a:avLst/>
          </a:prstGeom>
          <a:solidFill>
            <a:srgbClr val="222222"/>
          </a:solidFill>
          <a:ln/>
        </p:spPr>
      </p:sp>
      <p:sp>
        <p:nvSpPr>
          <p:cNvPr id="31" name="Text 27"/>
          <p:cNvSpPr/>
          <p:nvPr/>
        </p:nvSpPr>
        <p:spPr>
          <a:xfrm>
            <a:off x="1985963" y="23502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32" name="Text 28"/>
          <p:cNvSpPr/>
          <p:nvPr/>
        </p:nvSpPr>
        <p:spPr>
          <a:xfrm>
            <a:off x="2357438" y="24110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27C93F"/>
                </a:solidFill>
                <a:latin typeface="Oswald SemiBold" pitchFamily="34" charset="0"/>
                <a:ea typeface="Oswald SemiBold" pitchFamily="34" charset="-122"/>
                <a:cs typeface="Oswald SemiBold" pitchFamily="34" charset="-120"/>
              </a:rPr>
              <a:t>SKILL</a:t>
            </a:r>
            <a:endParaRPr lang="en-US" sz="1100" dirty="0"/>
          </a:p>
        </p:txBody>
      </p:sp>
      <p:sp>
        <p:nvSpPr>
          <p:cNvPr id="33" name="Text 29"/>
          <p:cNvSpPr/>
          <p:nvPr/>
        </p:nvSpPr>
        <p:spPr>
          <a:xfrm>
            <a:off x="3429000" y="24574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single action may run?</a:t>
            </a:r>
            <a:endParaRPr lang="en-US" sz="750" dirty="0"/>
          </a:p>
        </p:txBody>
      </p:sp>
      <p:sp>
        <p:nvSpPr>
          <p:cNvPr id="34" name="Shape 30"/>
          <p:cNvSpPr/>
          <p:nvPr/>
        </p:nvSpPr>
        <p:spPr>
          <a:xfrm>
            <a:off x="1985963" y="2750344"/>
            <a:ext cx="3457575" cy="342900"/>
          </a:xfrm>
          <a:prstGeom prst="rect">
            <a:avLst/>
          </a:prstGeom>
          <a:solidFill>
            <a:srgbClr val="151515"/>
          </a:solidFill>
          <a:ln/>
        </p:spPr>
      </p:sp>
      <p:sp>
        <p:nvSpPr>
          <p:cNvPr id="35" name="Shape 31"/>
          <p:cNvSpPr/>
          <p:nvPr/>
        </p:nvSpPr>
        <p:spPr>
          <a:xfrm>
            <a:off x="1985963" y="2750344"/>
            <a:ext cx="3457575" cy="14288"/>
          </a:xfrm>
          <a:prstGeom prst="rect">
            <a:avLst/>
          </a:prstGeom>
          <a:solidFill>
            <a:srgbClr val="333333"/>
          </a:solidFill>
          <a:ln/>
        </p:spPr>
      </p:sp>
      <p:sp>
        <p:nvSpPr>
          <p:cNvPr id="36" name="Shape 32"/>
          <p:cNvSpPr/>
          <p:nvPr/>
        </p:nvSpPr>
        <p:spPr>
          <a:xfrm>
            <a:off x="5429250" y="2750344"/>
            <a:ext cx="14288" cy="342900"/>
          </a:xfrm>
          <a:prstGeom prst="rect">
            <a:avLst/>
          </a:prstGeom>
          <a:solidFill>
            <a:srgbClr val="333333"/>
          </a:solidFill>
          <a:ln/>
        </p:spPr>
      </p:sp>
      <p:sp>
        <p:nvSpPr>
          <p:cNvPr id="37" name="Shape 33"/>
          <p:cNvSpPr/>
          <p:nvPr/>
        </p:nvSpPr>
        <p:spPr>
          <a:xfrm>
            <a:off x="1985963" y="3078956"/>
            <a:ext cx="3457575" cy="14288"/>
          </a:xfrm>
          <a:prstGeom prst="rect">
            <a:avLst/>
          </a:prstGeom>
          <a:solidFill>
            <a:srgbClr val="333333"/>
          </a:solidFill>
          <a:ln/>
        </p:spPr>
      </p:sp>
      <p:sp>
        <p:nvSpPr>
          <p:cNvPr id="38" name="Shape 34"/>
          <p:cNvSpPr/>
          <p:nvPr/>
        </p:nvSpPr>
        <p:spPr>
          <a:xfrm>
            <a:off x="1985963" y="2750344"/>
            <a:ext cx="35719" cy="342900"/>
          </a:xfrm>
          <a:prstGeom prst="rect">
            <a:avLst/>
          </a:prstGeom>
          <a:solidFill>
            <a:srgbClr val="FFBD2E"/>
          </a:solidFill>
          <a:ln/>
        </p:spPr>
      </p:sp>
      <p:sp>
        <p:nvSpPr>
          <p:cNvPr id="39" name="Shape 35"/>
          <p:cNvSpPr/>
          <p:nvPr/>
        </p:nvSpPr>
        <p:spPr>
          <a:xfrm>
            <a:off x="1985963" y="2750344"/>
            <a:ext cx="371475" cy="342900"/>
          </a:xfrm>
          <a:prstGeom prst="rect">
            <a:avLst/>
          </a:prstGeom>
          <a:solidFill>
            <a:srgbClr val="222222"/>
          </a:solidFill>
          <a:ln/>
        </p:spPr>
      </p:sp>
      <p:sp>
        <p:nvSpPr>
          <p:cNvPr id="40" name="Text 36"/>
          <p:cNvSpPr/>
          <p:nvPr/>
        </p:nvSpPr>
        <p:spPr>
          <a:xfrm>
            <a:off x="1985963" y="27503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41" name="Text 37"/>
          <p:cNvSpPr/>
          <p:nvPr/>
        </p:nvSpPr>
        <p:spPr>
          <a:xfrm>
            <a:off x="2357438" y="28110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BD2E"/>
                </a:solidFill>
                <a:latin typeface="Oswald SemiBold" pitchFamily="34" charset="0"/>
                <a:ea typeface="Oswald SemiBold" pitchFamily="34" charset="-122"/>
                <a:cs typeface="Oswald SemiBold" pitchFamily="34" charset="-120"/>
              </a:rPr>
              <a:t>ARTIFACT</a:t>
            </a:r>
            <a:endParaRPr lang="en-US" sz="1100" dirty="0"/>
          </a:p>
        </p:txBody>
      </p:sp>
      <p:sp>
        <p:nvSpPr>
          <p:cNvPr id="42" name="Text 38"/>
          <p:cNvSpPr/>
          <p:nvPr/>
        </p:nvSpPr>
        <p:spPr>
          <a:xfrm>
            <a:off x="3429000" y="28575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durable evidence must return?</a:t>
            </a:r>
            <a:endParaRPr lang="en-US" sz="750" dirty="0"/>
          </a:p>
        </p:txBody>
      </p:sp>
      <p:sp>
        <p:nvSpPr>
          <p:cNvPr id="43" name="Shape 39"/>
          <p:cNvSpPr/>
          <p:nvPr/>
        </p:nvSpPr>
        <p:spPr>
          <a:xfrm>
            <a:off x="1985963" y="3150394"/>
            <a:ext cx="3457575" cy="342900"/>
          </a:xfrm>
          <a:prstGeom prst="rect">
            <a:avLst/>
          </a:prstGeom>
          <a:solidFill>
            <a:srgbClr val="151515"/>
          </a:solidFill>
          <a:ln/>
        </p:spPr>
      </p:sp>
      <p:sp>
        <p:nvSpPr>
          <p:cNvPr id="44" name="Shape 40"/>
          <p:cNvSpPr/>
          <p:nvPr/>
        </p:nvSpPr>
        <p:spPr>
          <a:xfrm>
            <a:off x="1985963" y="3150394"/>
            <a:ext cx="3457575" cy="14288"/>
          </a:xfrm>
          <a:prstGeom prst="rect">
            <a:avLst/>
          </a:prstGeom>
          <a:solidFill>
            <a:srgbClr val="333333"/>
          </a:solidFill>
          <a:ln/>
        </p:spPr>
      </p:sp>
      <p:sp>
        <p:nvSpPr>
          <p:cNvPr id="45" name="Shape 41"/>
          <p:cNvSpPr/>
          <p:nvPr/>
        </p:nvSpPr>
        <p:spPr>
          <a:xfrm>
            <a:off x="5429250" y="3150394"/>
            <a:ext cx="14288" cy="342900"/>
          </a:xfrm>
          <a:prstGeom prst="rect">
            <a:avLst/>
          </a:prstGeom>
          <a:solidFill>
            <a:srgbClr val="333333"/>
          </a:solidFill>
          <a:ln/>
        </p:spPr>
      </p:sp>
      <p:sp>
        <p:nvSpPr>
          <p:cNvPr id="46" name="Shape 42"/>
          <p:cNvSpPr/>
          <p:nvPr/>
        </p:nvSpPr>
        <p:spPr>
          <a:xfrm>
            <a:off x="1985963" y="3479006"/>
            <a:ext cx="3457575" cy="14288"/>
          </a:xfrm>
          <a:prstGeom prst="rect">
            <a:avLst/>
          </a:prstGeom>
          <a:solidFill>
            <a:srgbClr val="333333"/>
          </a:solidFill>
          <a:ln/>
        </p:spPr>
      </p:sp>
      <p:sp>
        <p:nvSpPr>
          <p:cNvPr id="47" name="Shape 43"/>
          <p:cNvSpPr/>
          <p:nvPr/>
        </p:nvSpPr>
        <p:spPr>
          <a:xfrm>
            <a:off x="1985963" y="3150394"/>
            <a:ext cx="35719" cy="342900"/>
          </a:xfrm>
          <a:prstGeom prst="rect">
            <a:avLst/>
          </a:prstGeom>
          <a:solidFill>
            <a:srgbClr val="FF5F56"/>
          </a:solidFill>
          <a:ln/>
        </p:spPr>
      </p:sp>
      <p:sp>
        <p:nvSpPr>
          <p:cNvPr id="48" name="Shape 44"/>
          <p:cNvSpPr/>
          <p:nvPr/>
        </p:nvSpPr>
        <p:spPr>
          <a:xfrm>
            <a:off x="1985963" y="3150394"/>
            <a:ext cx="371475" cy="342900"/>
          </a:xfrm>
          <a:prstGeom prst="rect">
            <a:avLst/>
          </a:prstGeom>
          <a:solidFill>
            <a:srgbClr val="222222"/>
          </a:solidFill>
          <a:ln/>
        </p:spPr>
      </p:sp>
      <p:sp>
        <p:nvSpPr>
          <p:cNvPr id="49" name="Text 45"/>
          <p:cNvSpPr/>
          <p:nvPr/>
        </p:nvSpPr>
        <p:spPr>
          <a:xfrm>
            <a:off x="1985963" y="31503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50" name="Text 46"/>
          <p:cNvSpPr/>
          <p:nvPr/>
        </p:nvSpPr>
        <p:spPr>
          <a:xfrm>
            <a:off x="2357438" y="32111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5F56"/>
                </a:solidFill>
                <a:latin typeface="Oswald SemiBold" pitchFamily="34" charset="0"/>
                <a:ea typeface="Oswald SemiBold" pitchFamily="34" charset="-122"/>
                <a:cs typeface="Oswald SemiBold" pitchFamily="34" charset="-120"/>
              </a:rPr>
              <a:t>GATE</a:t>
            </a:r>
            <a:endParaRPr lang="en-US" sz="1100" dirty="0"/>
          </a:p>
        </p:txBody>
      </p:sp>
      <p:sp>
        <p:nvSpPr>
          <p:cNvPr id="51" name="Text 47"/>
          <p:cNvSpPr/>
          <p:nvPr/>
        </p:nvSpPr>
        <p:spPr>
          <a:xfrm>
            <a:off x="3429000" y="32575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Did the step PASS, FAIL, or BLOCK?</a:t>
            </a:r>
            <a:endParaRPr lang="en-US" sz="750" dirty="0"/>
          </a:p>
        </p:txBody>
      </p:sp>
      <p:sp>
        <p:nvSpPr>
          <p:cNvPr id="52" name="Shape 48"/>
          <p:cNvSpPr/>
          <p:nvPr/>
        </p:nvSpPr>
        <p:spPr>
          <a:xfrm>
            <a:off x="1985963" y="3550444"/>
            <a:ext cx="3457575" cy="342900"/>
          </a:xfrm>
          <a:prstGeom prst="rect">
            <a:avLst/>
          </a:prstGeom>
          <a:solidFill>
            <a:srgbClr val="151515"/>
          </a:solidFill>
          <a:ln/>
        </p:spPr>
      </p:sp>
      <p:sp>
        <p:nvSpPr>
          <p:cNvPr id="53" name="Shape 49"/>
          <p:cNvSpPr/>
          <p:nvPr/>
        </p:nvSpPr>
        <p:spPr>
          <a:xfrm>
            <a:off x="1985963" y="3550444"/>
            <a:ext cx="3457575" cy="14288"/>
          </a:xfrm>
          <a:prstGeom prst="rect">
            <a:avLst/>
          </a:prstGeom>
          <a:solidFill>
            <a:srgbClr val="333333"/>
          </a:solidFill>
          <a:ln/>
        </p:spPr>
      </p:sp>
      <p:sp>
        <p:nvSpPr>
          <p:cNvPr id="54" name="Shape 50"/>
          <p:cNvSpPr/>
          <p:nvPr/>
        </p:nvSpPr>
        <p:spPr>
          <a:xfrm>
            <a:off x="5429250" y="3550444"/>
            <a:ext cx="14288" cy="342900"/>
          </a:xfrm>
          <a:prstGeom prst="rect">
            <a:avLst/>
          </a:prstGeom>
          <a:solidFill>
            <a:srgbClr val="333333"/>
          </a:solidFill>
          <a:ln/>
        </p:spPr>
      </p:sp>
      <p:sp>
        <p:nvSpPr>
          <p:cNvPr id="55" name="Shape 51"/>
          <p:cNvSpPr/>
          <p:nvPr/>
        </p:nvSpPr>
        <p:spPr>
          <a:xfrm>
            <a:off x="1985963" y="3879056"/>
            <a:ext cx="3457575" cy="14288"/>
          </a:xfrm>
          <a:prstGeom prst="rect">
            <a:avLst/>
          </a:prstGeom>
          <a:solidFill>
            <a:srgbClr val="333333"/>
          </a:solidFill>
          <a:ln/>
        </p:spPr>
      </p:sp>
      <p:sp>
        <p:nvSpPr>
          <p:cNvPr id="56" name="Shape 52"/>
          <p:cNvSpPr/>
          <p:nvPr/>
        </p:nvSpPr>
        <p:spPr>
          <a:xfrm>
            <a:off x="1985963" y="3550444"/>
            <a:ext cx="35719" cy="342900"/>
          </a:xfrm>
          <a:prstGeom prst="rect">
            <a:avLst/>
          </a:prstGeom>
          <a:solidFill>
            <a:srgbClr val="0088FF"/>
          </a:solidFill>
          <a:ln/>
        </p:spPr>
      </p:sp>
      <p:sp>
        <p:nvSpPr>
          <p:cNvPr id="57" name="Shape 53"/>
          <p:cNvSpPr/>
          <p:nvPr/>
        </p:nvSpPr>
        <p:spPr>
          <a:xfrm>
            <a:off x="1985963" y="3550444"/>
            <a:ext cx="371475" cy="342900"/>
          </a:xfrm>
          <a:prstGeom prst="rect">
            <a:avLst/>
          </a:prstGeom>
          <a:solidFill>
            <a:srgbClr val="222222"/>
          </a:solidFill>
          <a:ln/>
        </p:spPr>
      </p:sp>
      <p:sp>
        <p:nvSpPr>
          <p:cNvPr id="58" name="Text 54"/>
          <p:cNvSpPr/>
          <p:nvPr/>
        </p:nvSpPr>
        <p:spPr>
          <a:xfrm>
            <a:off x="1985963" y="35504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5</a:t>
            </a:r>
            <a:endParaRPr lang="en-US" sz="1050" dirty="0"/>
          </a:p>
        </p:txBody>
      </p:sp>
      <p:sp>
        <p:nvSpPr>
          <p:cNvPr id="59" name="Text 55"/>
          <p:cNvSpPr/>
          <p:nvPr/>
        </p:nvSpPr>
        <p:spPr>
          <a:xfrm>
            <a:off x="2357438" y="36111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RUN STATE</a:t>
            </a:r>
            <a:endParaRPr lang="en-US" sz="1100" dirty="0"/>
          </a:p>
        </p:txBody>
      </p:sp>
      <p:sp>
        <p:nvSpPr>
          <p:cNvPr id="60" name="Text 56"/>
          <p:cNvSpPr/>
          <p:nvPr/>
        </p:nvSpPr>
        <p:spPr>
          <a:xfrm>
            <a:off x="3429000" y="36576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move is permitted next?</a:t>
            </a:r>
            <a:endParaRPr lang="en-US" sz="750" dirty="0"/>
          </a:p>
        </p:txBody>
      </p:sp>
      <p:sp>
        <p:nvSpPr>
          <p:cNvPr id="61" name="Shape 57"/>
          <p:cNvSpPr/>
          <p:nvPr/>
        </p:nvSpPr>
        <p:spPr>
          <a:xfrm>
            <a:off x="1985963" y="3979069"/>
            <a:ext cx="3457575" cy="314325"/>
          </a:xfrm>
          <a:prstGeom prst="rect">
            <a:avLst/>
          </a:prstGeom>
          <a:solidFill>
            <a:srgbClr val="F0F0F0"/>
          </a:solidFill>
          <a:ln w="18288">
            <a:solidFill>
              <a:srgbClr val="FFFFFF"/>
            </a:solidFill>
            <a:prstDash val="solid"/>
          </a:ln>
        </p:spPr>
      </p:sp>
      <p:sp>
        <p:nvSpPr>
          <p:cNvPr id="62" name="Text 58"/>
          <p:cNvSpPr/>
          <p:nvPr/>
        </p:nvSpPr>
        <p:spPr>
          <a:xfrm>
            <a:off x="1985963" y="3979069"/>
            <a:ext cx="3457575" cy="314325"/>
          </a:xfrm>
          <a:prstGeom prst="rect">
            <a:avLst/>
          </a:prstGeom>
          <a:noFill/>
          <a:ln/>
        </p:spPr>
        <p:txBody>
          <a:bodyPr wrap="square" lIns="0" tIns="0" rIns="0" bIns="0" rtlCol="0" anchor="ctr">
            <a:spAutoFit/>
          </a:bodyPr>
          <a:lstStyle/>
          <a:p>
            <a:pPr algn="ctr" indent="0" marL="0">
              <a:buNone/>
            </a:pPr>
            <a:r>
              <a:rPr lang="en-US" sz="1150" spc="2" kern="0" dirty="0">
                <a:solidFill>
                  <a:srgbClr val="111111"/>
                </a:solidFill>
                <a:latin typeface="Oswald SemiBold" pitchFamily="34" charset="0"/>
                <a:ea typeface="Oswald SemiBold" pitchFamily="34" charset="-122"/>
                <a:cs typeface="Oswald SemiBold" pitchFamily="34" charset="-120"/>
              </a:rPr>
              <a:t>STOP AFTER ONE SKILL</a:t>
            </a:r>
            <a:endParaRPr lang="en-US" sz="1150" dirty="0"/>
          </a:p>
        </p:txBody>
      </p:sp>
      <p:sp>
        <p:nvSpPr>
          <p:cNvPr id="63" name="Text 59"/>
          <p:cNvSpPr/>
          <p:nvPr/>
        </p:nvSpPr>
        <p:spPr>
          <a:xfrm>
            <a:off x="5907881" y="1392362"/>
            <a:ext cx="2936081" cy="307181"/>
          </a:xfrm>
          <a:prstGeom prst="rect">
            <a:avLst/>
          </a:prstGeom>
          <a:noFill/>
          <a:ln/>
        </p:spPr>
        <p:txBody>
          <a:bodyPr wrap="square" lIns="0" tIns="0" rIns="0" bIns="0" rtlCol="0" anchor="t">
            <a:spAutoFit/>
          </a:bodyPr>
          <a:lstStyle/>
          <a:p>
            <a:pPr algn="l" indent="0" marL="0">
              <a:buNone/>
            </a:pPr>
            <a:r>
              <a:rPr lang="en-US" sz="1550" dirty="0">
                <a:solidFill>
                  <a:srgbClr val="F0F0F0"/>
                </a:solidFill>
                <a:latin typeface="Oswald SemiBold" pitchFamily="34" charset="0"/>
                <a:ea typeface="Oswald SemiBold" pitchFamily="34" charset="-122"/>
                <a:cs typeface="Oswald SemiBold" pitchFamily="34" charset="-120"/>
              </a:rPr>
              <a:t>ONE CONTROLLED TURN</a:t>
            </a:r>
            <a:endParaRPr lang="en-US" sz="1550" dirty="0"/>
          </a:p>
        </p:txBody>
      </p:sp>
      <p:sp>
        <p:nvSpPr>
          <p:cNvPr id="64" name="Text 60"/>
          <p:cNvSpPr/>
          <p:nvPr/>
        </p:nvSpPr>
        <p:spPr>
          <a:xfrm>
            <a:off x="5907881" y="1881708"/>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5" name="Text 61"/>
          <p:cNvSpPr/>
          <p:nvPr/>
        </p:nvSpPr>
        <p:spPr>
          <a:xfrm>
            <a:off x="6265069" y="1842418"/>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Selects one next action—never the whole migration.</a:t>
            </a:r>
            <a:endParaRPr lang="en-US" sz="900" dirty="0"/>
          </a:p>
        </p:txBody>
      </p:sp>
      <p:sp>
        <p:nvSpPr>
          <p:cNvPr id="66" name="Text 62"/>
          <p:cNvSpPr/>
          <p:nvPr/>
        </p:nvSpPr>
        <p:spPr>
          <a:xfrm>
            <a:off x="5907881" y="2331765"/>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7" name="Text 63"/>
          <p:cNvSpPr/>
          <p:nvPr/>
        </p:nvSpPr>
        <p:spPr>
          <a:xfrm>
            <a:off x="6265069" y="2292474"/>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Requires a named artifact before progress.</a:t>
            </a:r>
            <a:endParaRPr lang="en-US" sz="900" dirty="0"/>
          </a:p>
        </p:txBody>
      </p:sp>
      <p:sp>
        <p:nvSpPr>
          <p:cNvPr id="68" name="Text 64"/>
          <p:cNvSpPr/>
          <p:nvPr/>
        </p:nvSpPr>
        <p:spPr>
          <a:xfrm>
            <a:off x="5907881" y="2781821"/>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9" name="Text 65"/>
          <p:cNvSpPr/>
          <p:nvPr/>
        </p:nvSpPr>
        <p:spPr>
          <a:xfrm>
            <a:off x="6265069" y="2742530"/>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Records the verdict and updates durable state.</a:t>
            </a:r>
            <a:endParaRPr lang="en-US" sz="900" dirty="0"/>
          </a:p>
        </p:txBody>
      </p:sp>
      <p:sp>
        <p:nvSpPr>
          <p:cNvPr id="70" name="Text 66"/>
          <p:cNvSpPr/>
          <p:nvPr/>
        </p:nvSpPr>
        <p:spPr>
          <a:xfrm>
            <a:off x="5907881" y="3231877"/>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71" name="Text 67"/>
          <p:cNvSpPr/>
          <p:nvPr/>
        </p:nvSpPr>
        <p:spPr>
          <a:xfrm>
            <a:off x="6265069" y="3192587"/>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Cannot cross a human approval boundary.</a:t>
            </a:r>
            <a:endParaRPr lang="en-US" sz="900" dirty="0"/>
          </a:p>
        </p:txBody>
      </p:sp>
      <p:sp>
        <p:nvSpPr>
          <p:cNvPr id="72" name="Text 68"/>
          <p:cNvSpPr/>
          <p:nvPr/>
        </p:nvSpPr>
        <p:spPr>
          <a:xfrm>
            <a:off x="5907881" y="3714080"/>
            <a:ext cx="2936081" cy="537121"/>
          </a:xfrm>
          <a:prstGeom prst="rect">
            <a:avLst/>
          </a:prstGeom>
          <a:noFill/>
          <a:ln/>
        </p:spPr>
        <p:txBody>
          <a:bodyPr wrap="square" lIns="119126" tIns="119126" rIns="119126" bIns="119126" rtlCol="0" anchor="t">
            <a:spAutoFit/>
          </a:bodyPr>
          <a:lstStyle/>
          <a:p>
            <a:pPr algn="ctr" indent="0" marL="0">
              <a:lnSpc>
                <a:spcPct val="108000"/>
              </a:lnSpc>
              <a:buNone/>
            </a:pPr>
            <a:r>
              <a:rPr lang="en-US" sz="800" b="1" dirty="0">
                <a:solidFill>
                  <a:srgbClr val="9FD0FF"/>
                </a:solidFill>
                <a:latin typeface="Inter Bold" pitchFamily="34" charset="0"/>
                <a:ea typeface="Inter Bold" pitchFamily="34" charset="-122"/>
                <a:cs typeface="Inter Bold" pitchFamily="34" charset="-120"/>
              </a:rPr>
              <a:t>NEXT PROMPT OR APPROVAL</a:t>
            </a:r>
            <a:r>
              <a:rPr lang="en-US" sz="800" b="1" dirty="0">
                <a:solidFill>
                  <a:srgbClr val="9FD0FF"/>
                </a:solidFill>
                <a:latin typeface="Inter Bold" pitchFamily="34" charset="0"/>
                <a:ea typeface="Inter Bold" pitchFamily="34" charset="-122"/>
                <a:cs typeface="Inter Bold" pitchFamily="34" charset="-120"/>
              </a:rPr>
              <a:t>
</a:t>
            </a:r>
            <a:r>
              <a:rPr lang="en-US" sz="800" b="1" dirty="0">
                <a:solidFill>
                  <a:srgbClr val="9FD0FF"/>
                </a:solidFill>
                <a:latin typeface="Inter Bold" pitchFamily="34" charset="0"/>
                <a:ea typeface="Inter Bold" pitchFamily="34" charset="-122"/>
                <a:cs typeface="Inter Bold" pitchFamily="34" charset="-120"/>
              </a:rPr>
              <a:t>returns control to orchestrate</a:t>
            </a:r>
            <a:endParaRPr lang="en-US" sz="800" dirty="0"/>
          </a:p>
        </p:txBody>
      </p:sp>
      <p:sp>
        <p:nvSpPr>
          <p:cNvPr id="73" name="Shape 69"/>
          <p:cNvSpPr/>
          <p:nvPr/>
        </p:nvSpPr>
        <p:spPr>
          <a:xfrm>
            <a:off x="298584" y="4581863"/>
            <a:ext cx="8546831" cy="505730"/>
          </a:xfrm>
          <a:prstGeom prst="rect">
            <a:avLst/>
          </a:prstGeom>
          <a:solidFill>
            <a:srgbClr val="FFDF00"/>
          </a:solidFill>
          <a:ln w="27432">
            <a:solidFill>
              <a:srgbClr val="111111"/>
            </a:solidFill>
            <a:prstDash val="solid"/>
          </a:ln>
        </p:spPr>
      </p:sp>
      <p:sp>
        <p:nvSpPr>
          <p:cNvPr id="74" name="Text 70"/>
          <p:cNvSpPr/>
          <p:nvPr/>
        </p:nvSpPr>
        <p:spPr>
          <a:xfrm>
            <a:off x="298584" y="4581863"/>
            <a:ext cx="8546831" cy="505730"/>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Orchestrate is the traffic controller: one role, one skill, one artifact, one gate, then stop.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EVERY SKILL FOLLOWS THE SAME CONTRACT</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One job, one artifact, one verification point, then stop.</a:t>
            </a:r>
            <a:endParaRPr lang="en-US" sz="1000" dirty="0"/>
          </a:p>
        </p:txBody>
      </p:sp>
      <p:sp>
        <p:nvSpPr>
          <p:cNvPr id="8" name="Shape 4"/>
          <p:cNvSpPr/>
          <p:nvPr/>
        </p:nvSpPr>
        <p:spPr>
          <a:xfrm>
            <a:off x="300038" y="1200150"/>
            <a:ext cx="2733656" cy="3729038"/>
          </a:xfrm>
          <a:prstGeom prst="rect">
            <a:avLst/>
          </a:prstGeom>
          <a:solidFill>
            <a:srgbClr val="151515"/>
          </a:solidFill>
          <a:ln/>
        </p:spPr>
      </p:sp>
      <p:sp>
        <p:nvSpPr>
          <p:cNvPr id="9" name="Shape 5"/>
          <p:cNvSpPr/>
          <p:nvPr/>
        </p:nvSpPr>
        <p:spPr>
          <a:xfrm>
            <a:off x="300038" y="1200150"/>
            <a:ext cx="2733656" cy="28575"/>
          </a:xfrm>
          <a:prstGeom prst="rect">
            <a:avLst/>
          </a:prstGeom>
          <a:solidFill>
            <a:srgbClr val="FF5F56"/>
          </a:solidFill>
          <a:ln/>
        </p:spPr>
      </p:sp>
      <p:sp>
        <p:nvSpPr>
          <p:cNvPr id="10" name="Shape 6"/>
          <p:cNvSpPr/>
          <p:nvPr/>
        </p:nvSpPr>
        <p:spPr>
          <a:xfrm>
            <a:off x="3019406" y="1200150"/>
            <a:ext cx="14288" cy="3729038"/>
          </a:xfrm>
          <a:prstGeom prst="rect">
            <a:avLst/>
          </a:prstGeom>
          <a:solidFill>
            <a:srgbClr val="222222"/>
          </a:solidFill>
          <a:ln/>
        </p:spPr>
      </p:sp>
      <p:sp>
        <p:nvSpPr>
          <p:cNvPr id="11" name="Shape 7"/>
          <p:cNvSpPr/>
          <p:nvPr/>
        </p:nvSpPr>
        <p:spPr>
          <a:xfrm>
            <a:off x="300038" y="4914900"/>
            <a:ext cx="2733656" cy="14288"/>
          </a:xfrm>
          <a:prstGeom prst="rect">
            <a:avLst/>
          </a:prstGeom>
          <a:solidFill>
            <a:srgbClr val="222222"/>
          </a:solidFill>
          <a:ln/>
        </p:spPr>
      </p:sp>
      <p:sp>
        <p:nvSpPr>
          <p:cNvPr id="12" name="Shape 8"/>
          <p:cNvSpPr/>
          <p:nvPr/>
        </p:nvSpPr>
        <p:spPr>
          <a:xfrm>
            <a:off x="300038" y="1200150"/>
            <a:ext cx="14288" cy="3729038"/>
          </a:xfrm>
          <a:prstGeom prst="rect">
            <a:avLst/>
          </a:prstGeom>
          <a:solidFill>
            <a:srgbClr val="222222"/>
          </a:solidFill>
          <a:ln/>
        </p:spPr>
      </p:sp>
      <p:sp>
        <p:nvSpPr>
          <p:cNvPr id="13" name="Text 9"/>
          <p:cNvSpPr/>
          <p:nvPr/>
        </p:nvSpPr>
        <p:spPr>
          <a:xfrm>
            <a:off x="471488"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5F56"/>
                </a:solidFill>
                <a:latin typeface="Oswald SemiBold" pitchFamily="34" charset="0"/>
                <a:ea typeface="Oswald SemiBold" pitchFamily="34" charset="-122"/>
                <a:cs typeface="Oswald SemiBold" pitchFamily="34" charset="-120"/>
              </a:rPr>
              <a:t>BEFORE</a:t>
            </a:r>
            <a:endParaRPr lang="en-US" sz="1500" dirty="0"/>
          </a:p>
        </p:txBody>
      </p:sp>
      <p:sp>
        <p:nvSpPr>
          <p:cNvPr id="14" name="Shape 10"/>
          <p:cNvSpPr/>
          <p:nvPr/>
        </p:nvSpPr>
        <p:spPr>
          <a:xfrm>
            <a:off x="471488" y="1810941"/>
            <a:ext cx="2390756" cy="371475"/>
          </a:xfrm>
          <a:prstGeom prst="rect">
            <a:avLst/>
          </a:prstGeom>
          <a:solidFill>
            <a:srgbClr val="222222"/>
          </a:solidFill>
          <a:ln w="9144">
            <a:solidFill>
              <a:srgbClr val="333333"/>
            </a:solidFill>
            <a:prstDash val="solid"/>
          </a:ln>
        </p:spPr>
      </p:sp>
      <p:sp>
        <p:nvSpPr>
          <p:cNvPr id="15" name="Text 11"/>
          <p:cNvSpPr/>
          <p:nvPr/>
        </p:nvSpPr>
        <p:spPr>
          <a:xfrm>
            <a:off x="471488"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trigger</a:t>
            </a:r>
            <a:endParaRPr lang="en-US" sz="900" dirty="0"/>
          </a:p>
        </p:txBody>
      </p:sp>
      <p:sp>
        <p:nvSpPr>
          <p:cNvPr id="16" name="Shape 12"/>
          <p:cNvSpPr/>
          <p:nvPr/>
        </p:nvSpPr>
        <p:spPr>
          <a:xfrm>
            <a:off x="471488" y="2253853"/>
            <a:ext cx="2390756" cy="371475"/>
          </a:xfrm>
          <a:prstGeom prst="rect">
            <a:avLst/>
          </a:prstGeom>
          <a:solidFill>
            <a:srgbClr val="222222"/>
          </a:solidFill>
          <a:ln w="9144">
            <a:solidFill>
              <a:srgbClr val="333333"/>
            </a:solidFill>
            <a:prstDash val="solid"/>
          </a:ln>
        </p:spPr>
      </p:sp>
      <p:sp>
        <p:nvSpPr>
          <p:cNvPr id="17" name="Text 13"/>
          <p:cNvSpPr/>
          <p:nvPr/>
        </p:nvSpPr>
        <p:spPr>
          <a:xfrm>
            <a:off x="471488"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inputs</a:t>
            </a:r>
            <a:endParaRPr lang="en-US" sz="900" dirty="0"/>
          </a:p>
        </p:txBody>
      </p:sp>
      <p:sp>
        <p:nvSpPr>
          <p:cNvPr id="18" name="Shape 14"/>
          <p:cNvSpPr/>
          <p:nvPr/>
        </p:nvSpPr>
        <p:spPr>
          <a:xfrm>
            <a:off x="471488" y="2696766"/>
            <a:ext cx="2390756" cy="371475"/>
          </a:xfrm>
          <a:prstGeom prst="rect">
            <a:avLst/>
          </a:prstGeom>
          <a:solidFill>
            <a:srgbClr val="222222"/>
          </a:solidFill>
          <a:ln w="9144">
            <a:solidFill>
              <a:srgbClr val="333333"/>
            </a:solidFill>
            <a:prstDash val="solid"/>
          </a:ln>
        </p:spPr>
      </p:sp>
      <p:sp>
        <p:nvSpPr>
          <p:cNvPr id="19" name="Text 15"/>
          <p:cNvSpPr/>
          <p:nvPr/>
        </p:nvSpPr>
        <p:spPr>
          <a:xfrm>
            <a:off x="471488"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assumptions</a:t>
            </a:r>
            <a:endParaRPr lang="en-US" sz="900" dirty="0"/>
          </a:p>
        </p:txBody>
      </p:sp>
      <p:sp>
        <p:nvSpPr>
          <p:cNvPr id="20" name="Shape 16"/>
          <p:cNvSpPr/>
          <p:nvPr/>
        </p:nvSpPr>
        <p:spPr>
          <a:xfrm>
            <a:off x="471488" y="3139678"/>
            <a:ext cx="2390756" cy="371475"/>
          </a:xfrm>
          <a:prstGeom prst="rect">
            <a:avLst/>
          </a:prstGeom>
          <a:solidFill>
            <a:srgbClr val="222222"/>
          </a:solidFill>
          <a:ln w="9144">
            <a:solidFill>
              <a:srgbClr val="333333"/>
            </a:solidFill>
            <a:prstDash val="solid"/>
          </a:ln>
        </p:spPr>
      </p:sp>
      <p:sp>
        <p:nvSpPr>
          <p:cNvPr id="21" name="Text 17"/>
          <p:cNvSpPr/>
          <p:nvPr/>
        </p:nvSpPr>
        <p:spPr>
          <a:xfrm>
            <a:off x="471488"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gate</a:t>
            </a:r>
            <a:endParaRPr lang="en-US" sz="900" dirty="0"/>
          </a:p>
        </p:txBody>
      </p:sp>
      <p:sp>
        <p:nvSpPr>
          <p:cNvPr id="22" name="Shape 18"/>
          <p:cNvSpPr/>
          <p:nvPr/>
        </p:nvSpPr>
        <p:spPr>
          <a:xfrm>
            <a:off x="3205144" y="1200150"/>
            <a:ext cx="2733656" cy="3729038"/>
          </a:xfrm>
          <a:prstGeom prst="rect">
            <a:avLst/>
          </a:prstGeom>
          <a:solidFill>
            <a:srgbClr val="151515"/>
          </a:solidFill>
          <a:ln/>
        </p:spPr>
      </p:sp>
      <p:sp>
        <p:nvSpPr>
          <p:cNvPr id="23" name="Shape 19"/>
          <p:cNvSpPr/>
          <p:nvPr/>
        </p:nvSpPr>
        <p:spPr>
          <a:xfrm>
            <a:off x="3205144" y="1200150"/>
            <a:ext cx="2733656" cy="28575"/>
          </a:xfrm>
          <a:prstGeom prst="rect">
            <a:avLst/>
          </a:prstGeom>
          <a:solidFill>
            <a:srgbClr val="FFBD2E"/>
          </a:solidFill>
          <a:ln/>
        </p:spPr>
      </p:sp>
      <p:sp>
        <p:nvSpPr>
          <p:cNvPr id="24" name="Shape 20"/>
          <p:cNvSpPr/>
          <p:nvPr/>
        </p:nvSpPr>
        <p:spPr>
          <a:xfrm>
            <a:off x="5924513" y="1200150"/>
            <a:ext cx="14288" cy="3729038"/>
          </a:xfrm>
          <a:prstGeom prst="rect">
            <a:avLst/>
          </a:prstGeom>
          <a:solidFill>
            <a:srgbClr val="222222"/>
          </a:solidFill>
          <a:ln/>
        </p:spPr>
      </p:sp>
      <p:sp>
        <p:nvSpPr>
          <p:cNvPr id="25" name="Shape 21"/>
          <p:cNvSpPr/>
          <p:nvPr/>
        </p:nvSpPr>
        <p:spPr>
          <a:xfrm>
            <a:off x="3205144" y="4914900"/>
            <a:ext cx="2733656" cy="14288"/>
          </a:xfrm>
          <a:prstGeom prst="rect">
            <a:avLst/>
          </a:prstGeom>
          <a:solidFill>
            <a:srgbClr val="222222"/>
          </a:solidFill>
          <a:ln/>
        </p:spPr>
      </p:sp>
      <p:sp>
        <p:nvSpPr>
          <p:cNvPr id="26" name="Shape 22"/>
          <p:cNvSpPr/>
          <p:nvPr/>
        </p:nvSpPr>
        <p:spPr>
          <a:xfrm>
            <a:off x="3205144" y="1200150"/>
            <a:ext cx="14288" cy="3729038"/>
          </a:xfrm>
          <a:prstGeom prst="rect">
            <a:avLst/>
          </a:prstGeom>
          <a:solidFill>
            <a:srgbClr val="222222"/>
          </a:solidFill>
          <a:ln/>
        </p:spPr>
      </p:sp>
      <p:sp>
        <p:nvSpPr>
          <p:cNvPr id="27" name="Text 23"/>
          <p:cNvSpPr/>
          <p:nvPr/>
        </p:nvSpPr>
        <p:spPr>
          <a:xfrm>
            <a:off x="3376594"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BD2E"/>
                </a:solidFill>
                <a:latin typeface="Oswald SemiBold" pitchFamily="34" charset="0"/>
                <a:ea typeface="Oswald SemiBold" pitchFamily="34" charset="-122"/>
                <a:cs typeface="Oswald SemiBold" pitchFamily="34" charset="-120"/>
              </a:rPr>
              <a:t>DURING</a:t>
            </a:r>
            <a:endParaRPr lang="en-US" sz="1500" dirty="0"/>
          </a:p>
        </p:txBody>
      </p:sp>
      <p:sp>
        <p:nvSpPr>
          <p:cNvPr id="28" name="Shape 24"/>
          <p:cNvSpPr/>
          <p:nvPr/>
        </p:nvSpPr>
        <p:spPr>
          <a:xfrm>
            <a:off x="3376594" y="1810941"/>
            <a:ext cx="2390756" cy="371475"/>
          </a:xfrm>
          <a:prstGeom prst="rect">
            <a:avLst/>
          </a:prstGeom>
          <a:solidFill>
            <a:srgbClr val="222222"/>
          </a:solidFill>
          <a:ln w="9144">
            <a:solidFill>
              <a:srgbClr val="333333"/>
            </a:solidFill>
            <a:prstDash val="solid"/>
          </a:ln>
        </p:spPr>
      </p:sp>
      <p:sp>
        <p:nvSpPr>
          <p:cNvPr id="29" name="Text 25"/>
          <p:cNvSpPr/>
          <p:nvPr/>
        </p:nvSpPr>
        <p:spPr>
          <a:xfrm>
            <a:off x="3376594"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Follow ordered workflow</a:t>
            </a:r>
            <a:endParaRPr lang="en-US" sz="900" dirty="0"/>
          </a:p>
        </p:txBody>
      </p:sp>
      <p:sp>
        <p:nvSpPr>
          <p:cNvPr id="30" name="Shape 26"/>
          <p:cNvSpPr/>
          <p:nvPr/>
        </p:nvSpPr>
        <p:spPr>
          <a:xfrm>
            <a:off x="3376594" y="2253853"/>
            <a:ext cx="2390756" cy="371475"/>
          </a:xfrm>
          <a:prstGeom prst="rect">
            <a:avLst/>
          </a:prstGeom>
          <a:solidFill>
            <a:srgbClr val="222222"/>
          </a:solidFill>
          <a:ln w="9144">
            <a:solidFill>
              <a:srgbClr val="333333"/>
            </a:solidFill>
            <a:prstDash val="solid"/>
          </a:ln>
        </p:spPr>
      </p:sp>
      <p:sp>
        <p:nvSpPr>
          <p:cNvPr id="31" name="Text 27"/>
          <p:cNvSpPr/>
          <p:nvPr/>
        </p:nvSpPr>
        <p:spPr>
          <a:xfrm>
            <a:off x="3376594"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Stay inside boundary</a:t>
            </a:r>
            <a:endParaRPr lang="en-US" sz="900" dirty="0"/>
          </a:p>
        </p:txBody>
      </p:sp>
      <p:sp>
        <p:nvSpPr>
          <p:cNvPr id="32" name="Shape 28"/>
          <p:cNvSpPr/>
          <p:nvPr/>
        </p:nvSpPr>
        <p:spPr>
          <a:xfrm>
            <a:off x="3376594" y="2696766"/>
            <a:ext cx="2390756" cy="371475"/>
          </a:xfrm>
          <a:prstGeom prst="rect">
            <a:avLst/>
          </a:prstGeom>
          <a:solidFill>
            <a:srgbClr val="222222"/>
          </a:solidFill>
          <a:ln w="9144">
            <a:solidFill>
              <a:srgbClr val="333333"/>
            </a:solidFill>
            <a:prstDash val="solid"/>
          </a:ln>
        </p:spPr>
      </p:sp>
      <p:sp>
        <p:nvSpPr>
          <p:cNvPr id="33" name="Text 29"/>
          <p:cNvSpPr/>
          <p:nvPr/>
        </p:nvSpPr>
        <p:spPr>
          <a:xfrm>
            <a:off x="3376594"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Produce only allowed output</a:t>
            </a:r>
            <a:endParaRPr lang="en-US" sz="900" dirty="0"/>
          </a:p>
        </p:txBody>
      </p:sp>
      <p:sp>
        <p:nvSpPr>
          <p:cNvPr id="34" name="Shape 30"/>
          <p:cNvSpPr/>
          <p:nvPr/>
        </p:nvSpPr>
        <p:spPr>
          <a:xfrm>
            <a:off x="6110250" y="1200150"/>
            <a:ext cx="2733656" cy="3729038"/>
          </a:xfrm>
          <a:prstGeom prst="rect">
            <a:avLst/>
          </a:prstGeom>
          <a:solidFill>
            <a:srgbClr val="151515"/>
          </a:solidFill>
          <a:ln/>
        </p:spPr>
      </p:sp>
      <p:sp>
        <p:nvSpPr>
          <p:cNvPr id="35" name="Shape 31"/>
          <p:cNvSpPr/>
          <p:nvPr/>
        </p:nvSpPr>
        <p:spPr>
          <a:xfrm>
            <a:off x="6110250" y="1200150"/>
            <a:ext cx="2733656" cy="28575"/>
          </a:xfrm>
          <a:prstGeom prst="rect">
            <a:avLst/>
          </a:prstGeom>
          <a:solidFill>
            <a:srgbClr val="27C93F"/>
          </a:solidFill>
          <a:ln/>
        </p:spPr>
      </p:sp>
      <p:sp>
        <p:nvSpPr>
          <p:cNvPr id="36" name="Shape 32"/>
          <p:cNvSpPr/>
          <p:nvPr/>
        </p:nvSpPr>
        <p:spPr>
          <a:xfrm>
            <a:off x="8829619" y="1200150"/>
            <a:ext cx="14288" cy="3729038"/>
          </a:xfrm>
          <a:prstGeom prst="rect">
            <a:avLst/>
          </a:prstGeom>
          <a:solidFill>
            <a:srgbClr val="222222"/>
          </a:solidFill>
          <a:ln/>
        </p:spPr>
      </p:sp>
      <p:sp>
        <p:nvSpPr>
          <p:cNvPr id="37" name="Shape 33"/>
          <p:cNvSpPr/>
          <p:nvPr/>
        </p:nvSpPr>
        <p:spPr>
          <a:xfrm>
            <a:off x="6110250" y="4914900"/>
            <a:ext cx="2733656" cy="14288"/>
          </a:xfrm>
          <a:prstGeom prst="rect">
            <a:avLst/>
          </a:prstGeom>
          <a:solidFill>
            <a:srgbClr val="222222"/>
          </a:solidFill>
          <a:ln/>
        </p:spPr>
      </p:sp>
      <p:sp>
        <p:nvSpPr>
          <p:cNvPr id="38" name="Shape 34"/>
          <p:cNvSpPr/>
          <p:nvPr/>
        </p:nvSpPr>
        <p:spPr>
          <a:xfrm>
            <a:off x="6110250" y="1200150"/>
            <a:ext cx="14288" cy="3729038"/>
          </a:xfrm>
          <a:prstGeom prst="rect">
            <a:avLst/>
          </a:prstGeom>
          <a:solidFill>
            <a:srgbClr val="222222"/>
          </a:solidFill>
          <a:ln/>
        </p:spPr>
      </p:sp>
      <p:sp>
        <p:nvSpPr>
          <p:cNvPr id="39" name="Text 35"/>
          <p:cNvSpPr/>
          <p:nvPr/>
        </p:nvSpPr>
        <p:spPr>
          <a:xfrm>
            <a:off x="6281700"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27C93F"/>
                </a:solidFill>
                <a:latin typeface="Oswald SemiBold" pitchFamily="34" charset="0"/>
                <a:ea typeface="Oswald SemiBold" pitchFamily="34" charset="-122"/>
                <a:cs typeface="Oswald SemiBold" pitchFamily="34" charset="-120"/>
              </a:rPr>
              <a:t>AFTER</a:t>
            </a:r>
            <a:endParaRPr lang="en-US" sz="1500" dirty="0"/>
          </a:p>
        </p:txBody>
      </p:sp>
      <p:sp>
        <p:nvSpPr>
          <p:cNvPr id="40" name="Shape 36"/>
          <p:cNvSpPr/>
          <p:nvPr/>
        </p:nvSpPr>
        <p:spPr>
          <a:xfrm>
            <a:off x="6281700" y="1810941"/>
            <a:ext cx="2390756" cy="371475"/>
          </a:xfrm>
          <a:prstGeom prst="rect">
            <a:avLst/>
          </a:prstGeom>
          <a:solidFill>
            <a:srgbClr val="222222"/>
          </a:solidFill>
          <a:ln w="9144">
            <a:solidFill>
              <a:srgbClr val="333333"/>
            </a:solidFill>
            <a:prstDash val="solid"/>
          </a:ln>
        </p:spPr>
      </p:sp>
      <p:sp>
        <p:nvSpPr>
          <p:cNvPr id="41" name="Text 37"/>
          <p:cNvSpPr/>
          <p:nvPr/>
        </p:nvSpPr>
        <p:spPr>
          <a:xfrm>
            <a:off x="6281700"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Write artifact</a:t>
            </a:r>
            <a:endParaRPr lang="en-US" sz="900" dirty="0"/>
          </a:p>
        </p:txBody>
      </p:sp>
      <p:sp>
        <p:nvSpPr>
          <p:cNvPr id="42" name="Shape 38"/>
          <p:cNvSpPr/>
          <p:nvPr/>
        </p:nvSpPr>
        <p:spPr>
          <a:xfrm>
            <a:off x="6281700" y="2253853"/>
            <a:ext cx="2390756" cy="371475"/>
          </a:xfrm>
          <a:prstGeom prst="rect">
            <a:avLst/>
          </a:prstGeom>
          <a:solidFill>
            <a:srgbClr val="222222"/>
          </a:solidFill>
          <a:ln w="9144">
            <a:solidFill>
              <a:srgbClr val="333333"/>
            </a:solidFill>
            <a:prstDash val="solid"/>
          </a:ln>
        </p:spPr>
      </p:sp>
      <p:sp>
        <p:nvSpPr>
          <p:cNvPr id="43" name="Text 39"/>
          <p:cNvSpPr/>
          <p:nvPr/>
        </p:nvSpPr>
        <p:spPr>
          <a:xfrm>
            <a:off x="6281700"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Execute verification</a:t>
            </a:r>
            <a:endParaRPr lang="en-US" sz="900" dirty="0"/>
          </a:p>
        </p:txBody>
      </p:sp>
      <p:sp>
        <p:nvSpPr>
          <p:cNvPr id="44" name="Shape 40"/>
          <p:cNvSpPr/>
          <p:nvPr/>
        </p:nvSpPr>
        <p:spPr>
          <a:xfrm>
            <a:off x="6281700" y="2696766"/>
            <a:ext cx="2390756" cy="371475"/>
          </a:xfrm>
          <a:prstGeom prst="rect">
            <a:avLst/>
          </a:prstGeom>
          <a:solidFill>
            <a:srgbClr val="222222"/>
          </a:solidFill>
          <a:ln w="9144">
            <a:solidFill>
              <a:srgbClr val="333333"/>
            </a:solidFill>
            <a:prstDash val="solid"/>
          </a:ln>
        </p:spPr>
      </p:sp>
      <p:sp>
        <p:nvSpPr>
          <p:cNvPr id="45" name="Text 41"/>
          <p:cNvSpPr/>
          <p:nvPr/>
        </p:nvSpPr>
        <p:spPr>
          <a:xfrm>
            <a:off x="6281700"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Record evidence</a:t>
            </a:r>
            <a:endParaRPr lang="en-US" sz="900" dirty="0"/>
          </a:p>
        </p:txBody>
      </p:sp>
      <p:sp>
        <p:nvSpPr>
          <p:cNvPr id="46" name="Shape 42"/>
          <p:cNvSpPr/>
          <p:nvPr/>
        </p:nvSpPr>
        <p:spPr>
          <a:xfrm>
            <a:off x="6281700" y="3139678"/>
            <a:ext cx="2390756" cy="371475"/>
          </a:xfrm>
          <a:prstGeom prst="rect">
            <a:avLst/>
          </a:prstGeom>
          <a:solidFill>
            <a:srgbClr val="222222"/>
          </a:solidFill>
          <a:ln w="9144">
            <a:solidFill>
              <a:srgbClr val="333333"/>
            </a:solidFill>
            <a:prstDash val="solid"/>
          </a:ln>
        </p:spPr>
      </p:sp>
      <p:sp>
        <p:nvSpPr>
          <p:cNvPr id="47" name="Text 43"/>
          <p:cNvSpPr/>
          <p:nvPr/>
        </p:nvSpPr>
        <p:spPr>
          <a:xfrm>
            <a:off x="6281700"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Hand off or stop</a:t>
            </a:r>
            <a:endParaRPr lang="en-US" sz="900" dirty="0"/>
          </a:p>
        </p:txBody>
      </p:sp>
      <p:sp>
        <p:nvSpPr>
          <p:cNvPr id="48" name="Shape 44"/>
          <p:cNvSpPr/>
          <p:nvPr/>
        </p:nvSpPr>
        <p:spPr>
          <a:xfrm>
            <a:off x="300038" y="4229100"/>
            <a:ext cx="8543925" cy="314325"/>
          </a:xfrm>
          <a:prstGeom prst="rect">
            <a:avLst/>
          </a:prstGeom>
          <a:solidFill>
            <a:srgbClr val="0055FF">
              <a:alpha val="10000"/>
            </a:srgbClr>
          </a:solidFill>
          <a:ln w="9144">
            <a:solidFill>
              <a:srgbClr val="0088FF"/>
            </a:solidFill>
            <a:prstDash val="solid"/>
          </a:ln>
        </p:spPr>
      </p:sp>
      <p:sp>
        <p:nvSpPr>
          <p:cNvPr id="49" name="Text 45"/>
          <p:cNvSpPr/>
          <p:nvPr/>
        </p:nvSpPr>
        <p:spPr>
          <a:xfrm>
            <a:off x="300038" y="4229100"/>
            <a:ext cx="8543925" cy="314325"/>
          </a:xfrm>
          <a:prstGeom prst="rect">
            <a:avLst/>
          </a:prstGeom>
          <a:noFill/>
          <a:ln/>
        </p:spPr>
        <p:txBody>
          <a:bodyPr wrap="square" lIns="102108" tIns="102108" rIns="102108" bIns="102108" rtlCol="0" anchor="t">
            <a:spAutoFit/>
          </a:bodyPr>
          <a:lstStyle/>
          <a:p>
            <a:pPr algn="ctr" indent="0" marL="0">
              <a:buNone/>
            </a:pPr>
            <a:r>
              <a:rPr lang="en-US" sz="750" b="1" spc="1" kern="0" dirty="0">
                <a:solidFill>
                  <a:srgbClr val="0088FF"/>
                </a:solidFill>
                <a:latin typeface="Inter Bold" pitchFamily="34" charset="0"/>
                <a:ea typeface="Inter Bold" pitchFamily="34" charset="-122"/>
                <a:cs typeface="Inter Bold" pitchFamily="34" charset="-120"/>
              </a:rPr>
              <a:t>APPLIES TO: INTERVIEW · SPECIFY · TRACE · MAP · MODEL · GENERATE · TEST · VALIDATE · REVIEW</a:t>
            </a:r>
            <a:endParaRPr lang="en-US" sz="750" dirty="0"/>
          </a:p>
        </p:txBody>
      </p:sp>
      <p:sp>
        <p:nvSpPr>
          <p:cNvPr id="50" name="Shape 46"/>
          <p:cNvSpPr/>
          <p:nvPr/>
        </p:nvSpPr>
        <p:spPr>
          <a:xfrm rot="60000">
            <a:off x="300038" y="4603477"/>
            <a:ext cx="8543925" cy="454298"/>
          </a:xfrm>
          <a:prstGeom prst="rect">
            <a:avLst/>
          </a:prstGeom>
          <a:solidFill>
            <a:srgbClr val="FFDF00"/>
          </a:solidFill>
          <a:ln w="27432">
            <a:solidFill>
              <a:srgbClr val="111111"/>
            </a:solidFill>
            <a:prstDash val="solid"/>
          </a:ln>
        </p:spPr>
      </p:sp>
      <p:sp>
        <p:nvSpPr>
          <p:cNvPr id="51" name="Text 47"/>
          <p:cNvSpPr/>
          <p:nvPr/>
        </p:nvSpPr>
        <p:spPr>
          <a:xfrm rot="60000">
            <a:off x="300882" y="4640719"/>
            <a:ext cx="8542237" cy="3798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Repeatability comes from the contract, not from the model remembering what to do.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THE FIVE-ACT MIGRATION JOURNEY</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The repo moves from business intent to verified evidence in controlled acts.</a:t>
            </a:r>
            <a:endParaRPr lang="en-US" sz="1000" dirty="0"/>
          </a:p>
        </p:txBody>
      </p:sp>
      <p:sp>
        <p:nvSpPr>
          <p:cNvPr id="8" name="Shape 4"/>
          <p:cNvSpPr/>
          <p:nvPr/>
        </p:nvSpPr>
        <p:spPr>
          <a:xfrm>
            <a:off x="300038" y="1200150"/>
            <a:ext cx="1640216" cy="2714625"/>
          </a:xfrm>
          <a:prstGeom prst="rect">
            <a:avLst/>
          </a:prstGeom>
          <a:solidFill>
            <a:srgbClr val="151515"/>
          </a:solidFill>
          <a:ln w="18288">
            <a:solidFill>
              <a:srgbClr val="222222"/>
            </a:solidFill>
            <a:prstDash val="solid"/>
          </a:ln>
        </p:spPr>
      </p:sp>
      <p:sp>
        <p:nvSpPr>
          <p:cNvPr id="9" name="Text 5"/>
          <p:cNvSpPr/>
          <p:nvPr/>
        </p:nvSpPr>
        <p:spPr>
          <a:xfrm>
            <a:off x="300038" y="1200150"/>
            <a:ext cx="1617334"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0088FF"/>
                </a:solidFill>
                <a:latin typeface="Oswald SemiBold" pitchFamily="34" charset="0"/>
                <a:ea typeface="Oswald SemiBold" pitchFamily="34" charset="-122"/>
                <a:cs typeface="Oswald SemiBold" pitchFamily="34" charset="-120"/>
              </a:rPr>
              <a:t>ACT 1 · ALIGN</a:t>
            </a:r>
            <a:endParaRPr lang="en-US" sz="1050" dirty="0"/>
          </a:p>
        </p:txBody>
      </p:sp>
      <p:sp>
        <p:nvSpPr>
          <p:cNvPr id="10" name="Shape 6"/>
          <p:cNvSpPr/>
          <p:nvPr/>
        </p:nvSpPr>
        <p:spPr>
          <a:xfrm>
            <a:off x="385763" y="2291358"/>
            <a:ext cx="1445884" cy="282178"/>
          </a:xfrm>
          <a:prstGeom prst="rect">
            <a:avLst/>
          </a:prstGeom>
          <a:solidFill>
            <a:srgbClr val="222222"/>
          </a:solidFill>
          <a:ln/>
        </p:spPr>
      </p:sp>
      <p:sp>
        <p:nvSpPr>
          <p:cNvPr id="11" name="Text 7"/>
          <p:cNvSpPr/>
          <p:nvPr/>
        </p:nvSpPr>
        <p:spPr>
          <a:xfrm>
            <a:off x="385763" y="2291358"/>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Interview</a:t>
            </a:r>
            <a:endParaRPr lang="en-US" sz="800" dirty="0"/>
          </a:p>
        </p:txBody>
      </p:sp>
      <p:sp>
        <p:nvSpPr>
          <p:cNvPr id="12" name="Shape 8"/>
          <p:cNvSpPr/>
          <p:nvPr/>
        </p:nvSpPr>
        <p:spPr>
          <a:xfrm>
            <a:off x="385763" y="2644973"/>
            <a:ext cx="1445884" cy="282178"/>
          </a:xfrm>
          <a:prstGeom prst="rect">
            <a:avLst/>
          </a:prstGeom>
          <a:solidFill>
            <a:srgbClr val="222222"/>
          </a:solidFill>
          <a:ln/>
        </p:spPr>
      </p:sp>
      <p:sp>
        <p:nvSpPr>
          <p:cNvPr id="13" name="Text 9"/>
          <p:cNvSpPr/>
          <p:nvPr/>
        </p:nvSpPr>
        <p:spPr>
          <a:xfrm>
            <a:off x="385763" y="2644973"/>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Specify</a:t>
            </a:r>
            <a:endParaRPr lang="en-US" sz="800" dirty="0"/>
          </a:p>
        </p:txBody>
      </p:sp>
      <p:sp>
        <p:nvSpPr>
          <p:cNvPr id="14" name="Shape 10"/>
          <p:cNvSpPr/>
          <p:nvPr/>
        </p:nvSpPr>
        <p:spPr>
          <a:xfrm>
            <a:off x="385763" y="2998589"/>
            <a:ext cx="1445884" cy="282178"/>
          </a:xfrm>
          <a:prstGeom prst="rect">
            <a:avLst/>
          </a:prstGeom>
          <a:solidFill>
            <a:srgbClr val="222222"/>
          </a:solidFill>
          <a:ln/>
        </p:spPr>
      </p:sp>
      <p:sp>
        <p:nvSpPr>
          <p:cNvPr id="15" name="Text 11"/>
          <p:cNvSpPr/>
          <p:nvPr/>
        </p:nvSpPr>
        <p:spPr>
          <a:xfrm>
            <a:off x="385763" y="2998589"/>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Decide</a:t>
            </a:r>
            <a:endParaRPr lang="en-US" sz="800" dirty="0"/>
          </a:p>
        </p:txBody>
      </p:sp>
      <p:sp>
        <p:nvSpPr>
          <p:cNvPr id="16" name="Shape 12"/>
          <p:cNvSpPr/>
          <p:nvPr/>
        </p:nvSpPr>
        <p:spPr>
          <a:xfrm>
            <a:off x="2003096" y="1200150"/>
            <a:ext cx="1645909" cy="2714625"/>
          </a:xfrm>
          <a:prstGeom prst="rect">
            <a:avLst/>
          </a:prstGeom>
          <a:solidFill>
            <a:srgbClr val="151515"/>
          </a:solidFill>
          <a:ln w="18288">
            <a:solidFill>
              <a:srgbClr val="222222"/>
            </a:solidFill>
            <a:prstDash val="solid"/>
          </a:ln>
        </p:spPr>
      </p:sp>
      <p:sp>
        <p:nvSpPr>
          <p:cNvPr id="17" name="Text 13"/>
          <p:cNvSpPr/>
          <p:nvPr/>
        </p:nvSpPr>
        <p:spPr>
          <a:xfrm>
            <a:off x="2008845" y="1200150"/>
            <a:ext cx="1623082"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27C93F"/>
                </a:solidFill>
                <a:latin typeface="Oswald SemiBold" pitchFamily="34" charset="0"/>
                <a:ea typeface="Oswald SemiBold" pitchFamily="34" charset="-122"/>
                <a:cs typeface="Oswald SemiBold" pitchFamily="34" charset="-120"/>
              </a:rPr>
              <a:t>ACT 2 · RECONSTRUCT</a:t>
            </a:r>
            <a:endParaRPr lang="en-US" sz="1050" dirty="0"/>
          </a:p>
        </p:txBody>
      </p:sp>
      <p:sp>
        <p:nvSpPr>
          <p:cNvPr id="18" name="Shape 14"/>
          <p:cNvSpPr/>
          <p:nvPr/>
        </p:nvSpPr>
        <p:spPr>
          <a:xfrm>
            <a:off x="2094570" y="2291358"/>
            <a:ext cx="1451632" cy="282178"/>
          </a:xfrm>
          <a:prstGeom prst="rect">
            <a:avLst/>
          </a:prstGeom>
          <a:solidFill>
            <a:srgbClr val="222222"/>
          </a:solidFill>
          <a:ln/>
        </p:spPr>
      </p:sp>
      <p:sp>
        <p:nvSpPr>
          <p:cNvPr id="19" name="Text 15"/>
          <p:cNvSpPr/>
          <p:nvPr/>
        </p:nvSpPr>
        <p:spPr>
          <a:xfrm>
            <a:off x="2094570" y="2291358"/>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Trace</a:t>
            </a:r>
            <a:endParaRPr lang="en-US" sz="800" dirty="0"/>
          </a:p>
        </p:txBody>
      </p:sp>
      <p:sp>
        <p:nvSpPr>
          <p:cNvPr id="20" name="Shape 16"/>
          <p:cNvSpPr/>
          <p:nvPr/>
        </p:nvSpPr>
        <p:spPr>
          <a:xfrm>
            <a:off x="2094570" y="2644973"/>
            <a:ext cx="1451632" cy="282178"/>
          </a:xfrm>
          <a:prstGeom prst="rect">
            <a:avLst/>
          </a:prstGeom>
          <a:solidFill>
            <a:srgbClr val="222222"/>
          </a:solidFill>
          <a:ln/>
        </p:spPr>
      </p:sp>
      <p:sp>
        <p:nvSpPr>
          <p:cNvPr id="21" name="Text 17"/>
          <p:cNvSpPr/>
          <p:nvPr/>
        </p:nvSpPr>
        <p:spPr>
          <a:xfrm>
            <a:off x="2094570" y="2644973"/>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Map</a:t>
            </a:r>
            <a:endParaRPr lang="en-US" sz="800" dirty="0"/>
          </a:p>
        </p:txBody>
      </p:sp>
      <p:sp>
        <p:nvSpPr>
          <p:cNvPr id="22" name="Shape 18"/>
          <p:cNvSpPr/>
          <p:nvPr/>
        </p:nvSpPr>
        <p:spPr>
          <a:xfrm>
            <a:off x="2094570" y="2998589"/>
            <a:ext cx="1451632" cy="282178"/>
          </a:xfrm>
          <a:prstGeom prst="rect">
            <a:avLst/>
          </a:prstGeom>
          <a:solidFill>
            <a:srgbClr val="222222"/>
          </a:solidFill>
          <a:ln/>
        </p:spPr>
      </p:sp>
      <p:sp>
        <p:nvSpPr>
          <p:cNvPr id="23" name="Text 19"/>
          <p:cNvSpPr/>
          <p:nvPr/>
        </p:nvSpPr>
        <p:spPr>
          <a:xfrm>
            <a:off x="2094570" y="2998589"/>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Model</a:t>
            </a:r>
            <a:endParaRPr lang="en-US" sz="800" dirty="0"/>
          </a:p>
        </p:txBody>
      </p:sp>
      <p:sp>
        <p:nvSpPr>
          <p:cNvPr id="24" name="Shape 20"/>
          <p:cNvSpPr/>
          <p:nvPr/>
        </p:nvSpPr>
        <p:spPr>
          <a:xfrm>
            <a:off x="3717652" y="1200150"/>
            <a:ext cx="1651657" cy="2714625"/>
          </a:xfrm>
          <a:prstGeom prst="rect">
            <a:avLst/>
          </a:prstGeom>
          <a:solidFill>
            <a:srgbClr val="151515"/>
          </a:solidFill>
          <a:ln w="18288">
            <a:solidFill>
              <a:srgbClr val="222222"/>
            </a:solidFill>
            <a:prstDash val="solid"/>
          </a:ln>
        </p:spPr>
      </p:sp>
      <p:sp>
        <p:nvSpPr>
          <p:cNvPr id="25" name="Text 21"/>
          <p:cNvSpPr/>
          <p:nvPr/>
        </p:nvSpPr>
        <p:spPr>
          <a:xfrm>
            <a:off x="3729038" y="1200150"/>
            <a:ext cx="1628775" cy="671513"/>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BD2E"/>
                </a:solidFill>
                <a:latin typeface="Oswald SemiBold" pitchFamily="34" charset="0"/>
                <a:ea typeface="Oswald SemiBold" pitchFamily="34" charset="-122"/>
                <a:cs typeface="Oswald SemiBold" pitchFamily="34" charset="-120"/>
              </a:rPr>
              <a:t>ACT 3 · PROVE LOCALLY</a:t>
            </a:r>
            <a:endParaRPr lang="en-US" sz="1050" dirty="0"/>
          </a:p>
        </p:txBody>
      </p:sp>
      <p:sp>
        <p:nvSpPr>
          <p:cNvPr id="26" name="Shape 22"/>
          <p:cNvSpPr/>
          <p:nvPr/>
        </p:nvSpPr>
        <p:spPr>
          <a:xfrm>
            <a:off x="3814763" y="2398514"/>
            <a:ext cx="1457325" cy="282178"/>
          </a:xfrm>
          <a:prstGeom prst="rect">
            <a:avLst/>
          </a:prstGeom>
          <a:solidFill>
            <a:srgbClr val="222222"/>
          </a:solidFill>
          <a:ln/>
        </p:spPr>
      </p:sp>
      <p:sp>
        <p:nvSpPr>
          <p:cNvPr id="27" name="Text 23"/>
          <p:cNvSpPr/>
          <p:nvPr/>
        </p:nvSpPr>
        <p:spPr>
          <a:xfrm>
            <a:off x="3814763" y="2398514"/>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Generate</a:t>
            </a:r>
            <a:endParaRPr lang="en-US" sz="800" dirty="0"/>
          </a:p>
        </p:txBody>
      </p:sp>
      <p:sp>
        <p:nvSpPr>
          <p:cNvPr id="28" name="Shape 24"/>
          <p:cNvSpPr/>
          <p:nvPr/>
        </p:nvSpPr>
        <p:spPr>
          <a:xfrm>
            <a:off x="3814763" y="2752130"/>
            <a:ext cx="1457325" cy="282178"/>
          </a:xfrm>
          <a:prstGeom prst="rect">
            <a:avLst/>
          </a:prstGeom>
          <a:solidFill>
            <a:srgbClr val="222222"/>
          </a:solidFill>
          <a:ln/>
        </p:spPr>
      </p:sp>
      <p:sp>
        <p:nvSpPr>
          <p:cNvPr id="29" name="Text 25"/>
          <p:cNvSpPr/>
          <p:nvPr/>
        </p:nvSpPr>
        <p:spPr>
          <a:xfrm>
            <a:off x="3814763" y="2752130"/>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Test</a:t>
            </a:r>
            <a:endParaRPr lang="en-US" sz="800" dirty="0"/>
          </a:p>
        </p:txBody>
      </p:sp>
      <p:sp>
        <p:nvSpPr>
          <p:cNvPr id="30" name="Shape 26"/>
          <p:cNvSpPr/>
          <p:nvPr/>
        </p:nvSpPr>
        <p:spPr>
          <a:xfrm>
            <a:off x="3814763" y="3105745"/>
            <a:ext cx="1457325" cy="282178"/>
          </a:xfrm>
          <a:prstGeom prst="rect">
            <a:avLst/>
          </a:prstGeom>
          <a:solidFill>
            <a:srgbClr val="222222"/>
          </a:solidFill>
          <a:ln/>
        </p:spPr>
      </p:sp>
      <p:sp>
        <p:nvSpPr>
          <p:cNvPr id="31" name="Text 27"/>
          <p:cNvSpPr/>
          <p:nvPr/>
        </p:nvSpPr>
        <p:spPr>
          <a:xfrm>
            <a:off x="3814763" y="3105745"/>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Validate</a:t>
            </a:r>
            <a:endParaRPr lang="en-US" sz="800" dirty="0"/>
          </a:p>
        </p:txBody>
      </p:sp>
      <p:sp>
        <p:nvSpPr>
          <p:cNvPr id="32" name="Shape 28"/>
          <p:cNvSpPr/>
          <p:nvPr/>
        </p:nvSpPr>
        <p:spPr>
          <a:xfrm>
            <a:off x="5443538" y="1200150"/>
            <a:ext cx="1657350" cy="2714625"/>
          </a:xfrm>
          <a:prstGeom prst="rect">
            <a:avLst/>
          </a:prstGeom>
          <a:solidFill>
            <a:srgbClr val="151515"/>
          </a:solidFill>
          <a:ln w="18288">
            <a:solidFill>
              <a:srgbClr val="222222"/>
            </a:solidFill>
            <a:prstDash val="solid"/>
          </a:ln>
        </p:spPr>
      </p:sp>
      <p:sp>
        <p:nvSpPr>
          <p:cNvPr id="33" name="Text 29"/>
          <p:cNvSpPr/>
          <p:nvPr/>
        </p:nvSpPr>
        <p:spPr>
          <a:xfrm>
            <a:off x="5460616" y="1200150"/>
            <a:ext cx="1634468"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5F56"/>
                </a:solidFill>
                <a:latin typeface="Oswald SemiBold" pitchFamily="34" charset="0"/>
                <a:ea typeface="Oswald SemiBold" pitchFamily="34" charset="-122"/>
                <a:cs typeface="Oswald SemiBold" pitchFamily="34" charset="-120"/>
              </a:rPr>
              <a:t>ACT 4 · OPERATE</a:t>
            </a:r>
            <a:endParaRPr lang="en-US" sz="1050" dirty="0"/>
          </a:p>
        </p:txBody>
      </p:sp>
      <p:sp>
        <p:nvSpPr>
          <p:cNvPr id="34" name="Shape 30"/>
          <p:cNvSpPr/>
          <p:nvPr/>
        </p:nvSpPr>
        <p:spPr>
          <a:xfrm>
            <a:off x="5546341" y="2114550"/>
            <a:ext cx="1463018" cy="282178"/>
          </a:xfrm>
          <a:prstGeom prst="rect">
            <a:avLst/>
          </a:prstGeom>
          <a:solidFill>
            <a:srgbClr val="222222"/>
          </a:solidFill>
          <a:ln/>
        </p:spPr>
      </p:sp>
      <p:sp>
        <p:nvSpPr>
          <p:cNvPr id="35" name="Text 31"/>
          <p:cNvSpPr/>
          <p:nvPr/>
        </p:nvSpPr>
        <p:spPr>
          <a:xfrm>
            <a:off x="5546341" y="2114550"/>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Adapt</a:t>
            </a:r>
            <a:endParaRPr lang="en-US" sz="800" dirty="0"/>
          </a:p>
        </p:txBody>
      </p:sp>
      <p:sp>
        <p:nvSpPr>
          <p:cNvPr id="36" name="Shape 32"/>
          <p:cNvSpPr/>
          <p:nvPr/>
        </p:nvSpPr>
        <p:spPr>
          <a:xfrm>
            <a:off x="5546341" y="2468166"/>
            <a:ext cx="1463018" cy="282178"/>
          </a:xfrm>
          <a:prstGeom prst="rect">
            <a:avLst/>
          </a:prstGeom>
          <a:solidFill>
            <a:srgbClr val="222222"/>
          </a:solidFill>
          <a:ln/>
        </p:spPr>
      </p:sp>
      <p:sp>
        <p:nvSpPr>
          <p:cNvPr id="37" name="Text 33"/>
          <p:cNvSpPr/>
          <p:nvPr/>
        </p:nvSpPr>
        <p:spPr>
          <a:xfrm>
            <a:off x="5546341" y="2468166"/>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Ingest</a:t>
            </a:r>
            <a:endParaRPr lang="en-US" sz="800" dirty="0"/>
          </a:p>
        </p:txBody>
      </p:sp>
      <p:sp>
        <p:nvSpPr>
          <p:cNvPr id="38" name="Shape 34"/>
          <p:cNvSpPr/>
          <p:nvPr/>
        </p:nvSpPr>
        <p:spPr>
          <a:xfrm>
            <a:off x="5546341" y="2821781"/>
            <a:ext cx="1463018" cy="282178"/>
          </a:xfrm>
          <a:prstGeom prst="rect">
            <a:avLst/>
          </a:prstGeom>
          <a:solidFill>
            <a:srgbClr val="222222"/>
          </a:solidFill>
          <a:ln/>
        </p:spPr>
      </p:sp>
      <p:sp>
        <p:nvSpPr>
          <p:cNvPr id="39" name="Text 35"/>
          <p:cNvSpPr/>
          <p:nvPr/>
        </p:nvSpPr>
        <p:spPr>
          <a:xfrm>
            <a:off x="5546341" y="2821781"/>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Review</a:t>
            </a:r>
            <a:endParaRPr lang="en-US" sz="800" dirty="0"/>
          </a:p>
        </p:txBody>
      </p:sp>
      <p:sp>
        <p:nvSpPr>
          <p:cNvPr id="40" name="Shape 36"/>
          <p:cNvSpPr/>
          <p:nvPr/>
        </p:nvSpPr>
        <p:spPr>
          <a:xfrm>
            <a:off x="5546341" y="3175397"/>
            <a:ext cx="1463018" cy="282178"/>
          </a:xfrm>
          <a:prstGeom prst="rect">
            <a:avLst/>
          </a:prstGeom>
          <a:solidFill>
            <a:srgbClr val="222222"/>
          </a:solidFill>
          <a:ln/>
        </p:spPr>
      </p:sp>
      <p:sp>
        <p:nvSpPr>
          <p:cNvPr id="41" name="Text 37"/>
          <p:cNvSpPr/>
          <p:nvPr/>
        </p:nvSpPr>
        <p:spPr>
          <a:xfrm>
            <a:off x="5546341" y="3175397"/>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Release</a:t>
            </a:r>
            <a:endParaRPr lang="en-US" sz="800" dirty="0"/>
          </a:p>
        </p:txBody>
      </p:sp>
      <p:sp>
        <p:nvSpPr>
          <p:cNvPr id="42" name="Shape 38"/>
          <p:cNvSpPr/>
          <p:nvPr/>
        </p:nvSpPr>
        <p:spPr>
          <a:xfrm>
            <a:off x="7180808" y="1200150"/>
            <a:ext cx="1663043" cy="2714625"/>
          </a:xfrm>
          <a:prstGeom prst="rect">
            <a:avLst/>
          </a:prstGeom>
          <a:solidFill>
            <a:srgbClr val="151515"/>
          </a:solidFill>
          <a:ln w="18288">
            <a:solidFill>
              <a:srgbClr val="222222"/>
            </a:solidFill>
            <a:prstDash val="solid"/>
          </a:ln>
        </p:spPr>
      </p:sp>
      <p:sp>
        <p:nvSpPr>
          <p:cNvPr id="43" name="Text 39"/>
          <p:cNvSpPr/>
          <p:nvPr/>
        </p:nvSpPr>
        <p:spPr>
          <a:xfrm>
            <a:off x="7203802" y="1200150"/>
            <a:ext cx="1640216"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C586C0"/>
                </a:solidFill>
                <a:latin typeface="Oswald SemiBold" pitchFamily="34" charset="0"/>
                <a:ea typeface="Oswald SemiBold" pitchFamily="34" charset="-122"/>
                <a:cs typeface="Oswald SemiBold" pitchFamily="34" charset="-120"/>
              </a:rPr>
              <a:t>ACT 5 · LEARN</a:t>
            </a:r>
            <a:endParaRPr lang="en-US" sz="1050" dirty="0"/>
          </a:p>
        </p:txBody>
      </p:sp>
      <p:sp>
        <p:nvSpPr>
          <p:cNvPr id="44" name="Shape 40"/>
          <p:cNvSpPr/>
          <p:nvPr/>
        </p:nvSpPr>
        <p:spPr>
          <a:xfrm>
            <a:off x="7289527" y="2291358"/>
            <a:ext cx="1468766" cy="282178"/>
          </a:xfrm>
          <a:prstGeom prst="rect">
            <a:avLst/>
          </a:prstGeom>
          <a:solidFill>
            <a:srgbClr val="222222"/>
          </a:solidFill>
          <a:ln/>
        </p:spPr>
      </p:sp>
      <p:sp>
        <p:nvSpPr>
          <p:cNvPr id="45" name="Text 41"/>
          <p:cNvSpPr/>
          <p:nvPr/>
        </p:nvSpPr>
        <p:spPr>
          <a:xfrm>
            <a:off x="7289527" y="2291358"/>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Repeated Evidence</a:t>
            </a:r>
            <a:endParaRPr lang="en-US" sz="800" dirty="0"/>
          </a:p>
        </p:txBody>
      </p:sp>
      <p:sp>
        <p:nvSpPr>
          <p:cNvPr id="46" name="Shape 42"/>
          <p:cNvSpPr/>
          <p:nvPr/>
        </p:nvSpPr>
        <p:spPr>
          <a:xfrm>
            <a:off x="7289527" y="2644973"/>
            <a:ext cx="1468766" cy="282178"/>
          </a:xfrm>
          <a:prstGeom prst="rect">
            <a:avLst/>
          </a:prstGeom>
          <a:solidFill>
            <a:srgbClr val="222222"/>
          </a:solidFill>
          <a:ln/>
        </p:spPr>
      </p:sp>
      <p:sp>
        <p:nvSpPr>
          <p:cNvPr id="47" name="Text 43"/>
          <p:cNvSpPr/>
          <p:nvPr/>
        </p:nvSpPr>
        <p:spPr>
          <a:xfrm>
            <a:off x="7289527" y="2644973"/>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Candidate Pattern</a:t>
            </a:r>
            <a:endParaRPr lang="en-US" sz="800" dirty="0"/>
          </a:p>
        </p:txBody>
      </p:sp>
      <p:sp>
        <p:nvSpPr>
          <p:cNvPr id="48" name="Shape 44"/>
          <p:cNvSpPr/>
          <p:nvPr/>
        </p:nvSpPr>
        <p:spPr>
          <a:xfrm>
            <a:off x="7289527" y="2998589"/>
            <a:ext cx="1468766" cy="282178"/>
          </a:xfrm>
          <a:prstGeom prst="rect">
            <a:avLst/>
          </a:prstGeom>
          <a:solidFill>
            <a:srgbClr val="222222"/>
          </a:solidFill>
          <a:ln/>
        </p:spPr>
      </p:sp>
      <p:sp>
        <p:nvSpPr>
          <p:cNvPr id="49" name="Text 45"/>
          <p:cNvSpPr/>
          <p:nvPr/>
        </p:nvSpPr>
        <p:spPr>
          <a:xfrm>
            <a:off x="7289527" y="2998589"/>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Human Promotion</a:t>
            </a:r>
            <a:endParaRPr lang="en-US" sz="800" dirty="0"/>
          </a:p>
        </p:txBody>
      </p:sp>
      <p:sp>
        <p:nvSpPr>
          <p:cNvPr id="50" name="Shape 46"/>
          <p:cNvSpPr/>
          <p:nvPr/>
        </p:nvSpPr>
        <p:spPr>
          <a:xfrm rot="-60000">
            <a:off x="300038" y="4422763"/>
            <a:ext cx="8543925" cy="635012"/>
          </a:xfrm>
          <a:prstGeom prst="rect">
            <a:avLst/>
          </a:prstGeom>
          <a:solidFill>
            <a:srgbClr val="FFDF00"/>
          </a:solidFill>
          <a:ln w="27432">
            <a:solidFill>
              <a:srgbClr val="111111"/>
            </a:solidFill>
            <a:prstDash val="solid"/>
          </a:ln>
        </p:spPr>
      </p:sp>
      <p:sp>
        <p:nvSpPr>
          <p:cNvPr id="51" name="Text 47"/>
          <p:cNvSpPr/>
          <p:nvPr/>
        </p:nvSpPr>
        <p:spPr>
          <a:xfrm rot="-60000">
            <a:off x="301671" y="4459980"/>
            <a:ext cx="8540659" cy="560578"/>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The sequence prevents discovery, implementation, checking, and approval from collapsing into one opaque AI action.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THE REQUEST ENTERS THE GOVERNED FLOW</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Understand the request</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Create or resume a run</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Read intake evidence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Route to interview</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Stop before human decisions</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62877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62877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/start-migration new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Migrate the SAS loan-risk logistic scoring workload.</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Score-only SAS-to-Python migration.</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Use keyed tie-out evidence.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Start from intake readiness only.</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at every human gate.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Do not choose tie-out population for me.</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Copi</a:t>
            </a:r>
            <a:r>
              <a:rPr lang="en-US" sz="1250" dirty="0">
                <a:solidFill>
                  <a:srgbClr val="111111"/>
                </a:solidFill>
                <a:latin typeface="Kalam Bold" pitchFamily="34" charset="0"/>
                <a:ea typeface="Kalam Bold" pitchFamily="34" charset="-122"/>
                <a:cs typeface="Kalam Bold" pitchFamily="34" charset="-120"/>
              </a:rPr>
              <a:t>lot receives</a:t>
            </a:r>
            <a:r>
              <a:rPr lang="en-US" sz="1250" dirty="0">
                <a:solidFill>
                  <a:srgbClr val="111111"/>
                </a:solidFill>
                <a:latin typeface="Kalam Bold" pitchFamily="34" charset="0"/>
                <a:ea typeface="Kalam Bold" pitchFamily="34" charset="-122"/>
                <a:cs typeface="Kalam Bold" pitchFamily="34" charset="-120"/>
              </a:rPr>
              <a:t> the busin</a:t>
            </a:r>
            <a:r>
              <a:rPr lang="en-US" sz="1250" dirty="0">
                <a:solidFill>
                  <a:srgbClr val="111111"/>
                </a:solidFill>
                <a:latin typeface="Kalam Bold" pitchFamily="34" charset="0"/>
                <a:ea typeface="Kalam Bold" pitchFamily="34" charset="-122"/>
                <a:cs typeface="Kalam Bold" pitchFamily="34" charset="-120"/>
              </a:rPr>
              <a:t>ess intent,</a:t>
            </a:r>
            <a:r>
              <a:rPr lang="en-US" sz="1250" dirty="0">
                <a:solidFill>
                  <a:srgbClr val="111111"/>
                </a:solidFill>
                <a:latin typeface="Kalam Bold" pitchFamily="34" charset="0"/>
                <a:ea typeface="Kalam Bold" pitchFamily="34" charset="-122"/>
                <a:cs typeface="Kalam Bold" pitchFamily="34" charset="-120"/>
              </a:rPr>
              <a:t> but the re</a:t>
            </a:r>
            <a:r>
              <a:rPr lang="en-US" sz="1250" dirty="0">
                <a:solidFill>
                  <a:srgbClr val="111111"/>
                </a:solidFill>
                <a:latin typeface="Kalam Bold" pitchFamily="34" charset="0"/>
                <a:ea typeface="Kalam Bold" pitchFamily="34" charset="-122"/>
                <a:cs typeface="Kalam Bold" pitchFamily="34" charset="-120"/>
              </a:rPr>
              <a:t>po prevent</a:t>
            </a:r>
            <a:r>
              <a:rPr lang="en-US" sz="1250" dirty="0">
                <a:solidFill>
                  <a:srgbClr val="111111"/>
                </a:solidFill>
                <a:latin typeface="Kalam Bold" pitchFamily="34" charset="0"/>
                <a:ea typeface="Kalam Bold" pitchFamily="34" charset="-122"/>
                <a:cs typeface="Kalam Bold" pitchFamily="34" charset="-120"/>
              </a:rPr>
              <a:t>s it from j</a:t>
            </a:r>
            <a:r>
              <a:rPr lang="en-US" sz="1250" dirty="0">
                <a:solidFill>
                  <a:srgbClr val="111111"/>
                </a:solidFill>
                <a:latin typeface="Kalam Bold" pitchFamily="34" charset="0"/>
                <a:ea typeface="Kalam Bold" pitchFamily="34" charset="-122"/>
                <a:cs typeface="Kalam Bold" pitchFamily="34" charset="-120"/>
              </a:rPr>
              <a:t>umping to </a:t>
            </a:r>
            <a:r>
              <a:rPr lang="en-US" sz="1250" dirty="0">
                <a:solidFill>
                  <a:srgbClr val="111111"/>
                </a:solidFill>
                <a:latin typeface="Kalam Bold" pitchFamily="34" charset="0"/>
                <a:ea typeface="Kalam Bold" pitchFamily="34" charset="-122"/>
                <a:cs typeface="Kalam Bold" pitchFamily="34" charset="-120"/>
              </a:rPr>
              <a:t>code.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THE FIRST HUMAN DECISION</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Present proof options</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Explain trade-offs</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Human selects boundary</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Record decision</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Stop at next gate</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C586C0"/>
                </a:solidFill>
                <a:latin typeface="Inter Bold" pitchFamily="34" charset="0"/>
                <a:ea typeface="Inter Bold" pitchFamily="34" charset="-122"/>
                <a:cs typeface="Inter Bold" pitchFamily="34" charset="-120"/>
              </a:rPr>
              <a:t>COPILOT</a:t>
            </a:r>
            <a:endParaRPr lang="en-US" sz="650" dirty="0"/>
          </a:p>
        </p:txBody>
      </p:sp>
      <p:sp>
        <p:nvSpPr>
          <p:cNvPr id="34" name="Shape 30"/>
          <p:cNvSpPr/>
          <p:nvPr/>
        </p:nvSpPr>
        <p:spPr>
          <a:xfrm>
            <a:off x="4129088" y="2000250"/>
            <a:ext cx="4543425" cy="1193006"/>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193006"/>
          </a:xfrm>
          <a:prstGeom prst="rect">
            <a:avLst/>
          </a:prstGeom>
          <a:noFill/>
          <a:ln/>
        </p:spPr>
        <p:txBody>
          <a:bodyPr wrap="square" lIns="153035" tIns="119126" rIns="153035" bIns="119126" rtlCol="0" anchor="t">
            <a:spAutoFit/>
          </a:bodyPr>
          <a:lstStyle/>
          <a:p>
            <a:pPr algn="l" indent="0" marL="0">
              <a:lnSpc>
                <a:spcPct val="120000"/>
              </a:lnSpc>
              <a:buNone/>
            </a:pPr>
            <a:r>
              <a:rPr lang="en-US" sz="800" dirty="0">
                <a:solidFill>
                  <a:srgbClr val="D4D4D4"/>
                </a:solidFill>
                <a:latin typeface="JetBrains Mono" pitchFamily="34" charset="0"/>
                <a:ea typeface="JetBrains Mono" pitchFamily="34" charset="-122"/>
                <a:cs typeface="JetBrains Mono" pitchFamily="34" charset="-120"/>
              </a:rPr>
              <a:t>To proceed with keyed tie-out, select your proof boundary:</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 </a:t>
            </a:r>
            <a:r>
              <a:rPr lang="en-US" sz="750" b="1" dirty="0">
                <a:solidFill>
                  <a:srgbClr val="CE9178"/>
                </a:solidFill>
                <a:latin typeface="JetBrains Mono Bold" pitchFamily="34" charset="0"/>
                <a:ea typeface="JetBrains Mono Bold" pitchFamily="34" charset="-122"/>
                <a:cs typeface="JetBrains Mono Bold" pitchFamily="34" charset="-120"/>
              </a:rPr>
              <a:t>GOVERNED_SAMPLE_50</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FULL_POPULATION</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PHASED_50_THEN_FULL</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CUSTOM_GOVERNED_SAMPLE</a:t>
            </a:r>
            <a:r>
              <a:rPr lang="en-US" sz="800" dirty="0">
                <a:solidFill>
                  <a:srgbClr val="D4D4D4"/>
                </a:solidFill>
                <a:latin typeface="JetBrains Mono" pitchFamily="34" charset="0"/>
                <a:ea typeface="JetBrains Mono" pitchFamily="34" charset="-122"/>
                <a:cs typeface="JetBrains Mono" pitchFamily="34" charset="-120"/>
              </a:rPr>
              <a:t>
</a:t>
            </a:r>
            <a:endParaRPr lang="en-US" sz="800" dirty="0"/>
          </a:p>
        </p:txBody>
      </p:sp>
      <p:sp>
        <p:nvSpPr>
          <p:cNvPr id="36" name="Text 32"/>
          <p:cNvSpPr/>
          <p:nvPr/>
        </p:nvSpPr>
        <p:spPr>
          <a:xfrm>
            <a:off x="4129088" y="3264694"/>
            <a:ext cx="4543425" cy="139303"/>
          </a:xfrm>
          <a:prstGeom prst="rect">
            <a:avLst/>
          </a:prstGeom>
          <a:noFill/>
          <a:ln/>
        </p:spPr>
        <p:txBody>
          <a:bodyPr wrap="none" lIns="0" tIns="0" rIns="0" bIns="0" rtlCol="0" anchor="t">
            <a:spAutoFit/>
          </a:bodyPr>
          <a:lstStyle/>
          <a:p>
            <a:pPr algn="r"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129088" y="3461147"/>
            <a:ext cx="4543425" cy="550069"/>
          </a:xfrm>
          <a:prstGeom prst="rect">
            <a:avLst/>
          </a:prstGeom>
          <a:solidFill>
            <a:srgbClr val="112233"/>
          </a:solidFill>
          <a:ln w="18288">
            <a:solidFill>
              <a:srgbClr val="0055FF"/>
            </a:solidFill>
            <a:prstDash val="solid"/>
          </a:ln>
        </p:spPr>
      </p:sp>
      <p:sp>
        <p:nvSpPr>
          <p:cNvPr id="38" name="Text 34"/>
          <p:cNvSpPr/>
          <p:nvPr/>
        </p:nvSpPr>
        <p:spPr>
          <a:xfrm>
            <a:off x="4129088" y="3461147"/>
            <a:ext cx="4543425" cy="550069"/>
          </a:xfrm>
          <a:prstGeom prst="rect">
            <a:avLst/>
          </a:prstGeom>
          <a:noFill/>
          <a:ln/>
        </p:spPr>
        <p:txBody>
          <a:bodyPr wrap="square" lIns="153035" tIns="119126" rIns="153035" bIns="119126" rtlCol="0" anchor="t">
            <a:spAutoFit/>
          </a:bodyPr>
          <a:lstStyle/>
          <a:p>
            <a:pPr algn="l" indent="0" marL="0">
              <a:lnSpc>
                <a:spcPct val="120000"/>
              </a:lnSpc>
              <a:buNone/>
            </a:pPr>
            <a:r>
              <a:rPr lang="en-US" sz="800" dirty="0">
                <a:solidFill>
                  <a:srgbClr val="D4D4D4"/>
                </a:solidFill>
                <a:latin typeface="JetBrains Mono" pitchFamily="34" charset="0"/>
                <a:ea typeface="JetBrains Mono" pitchFamily="34" charset="-122"/>
                <a:cs typeface="JetBrains Mono" pitchFamily="34" charset="-120"/>
              </a:rPr>
              <a:t>Tie-out population choice:</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FFFFFF"/>
                </a:solidFill>
                <a:latin typeface="JetBrains Mono Bold" pitchFamily="34" charset="0"/>
                <a:ea typeface="JetBrains Mono Bold" pitchFamily="34" charset="-122"/>
                <a:cs typeface="JetBrains Mono Bold" pitchFamily="34" charset="-120"/>
              </a:rPr>
              <a:t>GOVERNED_SAMPLE_50</a:t>
            </a:r>
            <a:endParaRPr lang="en-US" sz="80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a:t>
            </a:r>
            <a:r>
              <a:rPr lang="en-US" sz="1250" dirty="0">
                <a:solidFill>
                  <a:srgbClr val="111111"/>
                </a:solidFill>
                <a:latin typeface="Kalam Bold" pitchFamily="34" charset="0"/>
                <a:ea typeface="Kalam Bold" pitchFamily="34" charset="-122"/>
                <a:cs typeface="Kalam Bold" pitchFamily="34" charset="-120"/>
              </a:rPr>
              <a:t>e human c</a:t>
            </a:r>
            <a:r>
              <a:rPr lang="en-US" sz="1250" dirty="0">
                <a:solidFill>
                  <a:srgbClr val="111111"/>
                </a:solidFill>
                <a:latin typeface="Kalam Bold" pitchFamily="34" charset="0"/>
                <a:ea typeface="Kalam Bold" pitchFamily="34" charset="-122"/>
                <a:cs typeface="Kalam Bold" pitchFamily="34" charset="-120"/>
              </a:rPr>
              <a:t>hooses wh</a:t>
            </a:r>
            <a:r>
              <a:rPr lang="en-US" sz="1250" dirty="0">
                <a:solidFill>
                  <a:srgbClr val="111111"/>
                </a:solidFill>
                <a:latin typeface="Kalam Bold" pitchFamily="34" charset="0"/>
                <a:ea typeface="Kalam Bold" pitchFamily="34" charset="-122"/>
                <a:cs typeface="Kalam Bold" pitchFamily="34" charset="-120"/>
              </a:rPr>
              <a:t>at the evid</a:t>
            </a:r>
            <a:r>
              <a:rPr lang="en-US" sz="1250" dirty="0">
                <a:solidFill>
                  <a:srgbClr val="111111"/>
                </a:solidFill>
                <a:latin typeface="Kalam Bold" pitchFamily="34" charset="0"/>
                <a:ea typeface="Kalam Bold" pitchFamily="34" charset="-122"/>
                <a:cs typeface="Kalam Bold" pitchFamily="34" charset="-120"/>
              </a:rPr>
              <a:t>ence is allo</a:t>
            </a:r>
            <a:r>
              <a:rPr lang="en-US" sz="1250" dirty="0">
                <a:solidFill>
                  <a:srgbClr val="111111"/>
                </a:solidFill>
                <a:latin typeface="Kalam Bold" pitchFamily="34" charset="0"/>
                <a:ea typeface="Kalam Bold" pitchFamily="34" charset="-122"/>
                <a:cs typeface="Kalam Bold" pitchFamily="34" charset="-120"/>
              </a:rPr>
              <a:t>wed to pro</a:t>
            </a:r>
            <a:r>
              <a:rPr lang="en-US" sz="1250" dirty="0">
                <a:solidFill>
                  <a:srgbClr val="111111"/>
                </a:solidFill>
                <a:latin typeface="Kalam Bold" pitchFamily="34" charset="0"/>
                <a:ea typeface="Kalam Bold" pitchFamily="34" charset="-122"/>
                <a:cs typeface="Kalam Bold" pitchFamily="34" charset="-120"/>
              </a:rPr>
              <a:t>ve.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INTENT BECOMES A CONTRACT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PRD</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module spec</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Draft tie-out contract</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Record architecture decision</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Ask for approval</a:t>
            </a:r>
            <a:endParaRPr lang="en-US" sz="850" dirty="0"/>
          </a:p>
        </p:txBody>
      </p:sp>
      <p:sp>
        <p:nvSpPr>
          <p:cNvPr id="28" name="Shape 24"/>
          <p:cNvSpPr/>
          <p:nvPr/>
        </p:nvSpPr>
        <p:spPr>
          <a:xfrm>
            <a:off x="271463" y="3504009"/>
            <a:ext cx="3429000" cy="1025128"/>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docs/PRD.md</a:t>
            </a:r>
            <a:endParaRPr lang="en-US" sz="600" dirty="0"/>
          </a:p>
        </p:txBody>
      </p:sp>
      <p:sp>
        <p:nvSpPr>
          <p:cNvPr id="31" name="Text 27"/>
          <p:cNvSpPr/>
          <p:nvPr/>
        </p:nvSpPr>
        <p:spPr>
          <a:xfrm>
            <a:off x="371475" y="3968353"/>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docs/specs/LC-LOGIT-01.md</a:t>
            </a:r>
            <a:endParaRPr lang="en-US" sz="600" dirty="0"/>
          </a:p>
        </p:txBody>
      </p:sp>
      <p:sp>
        <p:nvSpPr>
          <p:cNvPr id="32" name="Text 28"/>
          <p:cNvSpPr/>
          <p:nvPr/>
        </p:nvSpPr>
        <p:spPr>
          <a:xfrm>
            <a:off x="371475" y="4107656"/>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config/tieout.yaml</a:t>
            </a:r>
            <a:endParaRPr lang="en-US" sz="600" dirty="0"/>
          </a:p>
        </p:txBody>
      </p:sp>
      <p:sp>
        <p:nvSpPr>
          <p:cNvPr id="33" name="Text 29"/>
          <p:cNvSpPr/>
          <p:nvPr/>
        </p:nvSpPr>
        <p:spPr>
          <a:xfrm>
            <a:off x="371475" y="4246959"/>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docs/adrs/ADR-0001...</a:t>
            </a:r>
            <a:endParaRPr lang="en-US" sz="600" dirty="0"/>
          </a:p>
        </p:txBody>
      </p:sp>
      <p:sp>
        <p:nvSpPr>
          <p:cNvPr id="34" name="Text 30"/>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5" name="Shape 31"/>
          <p:cNvSpPr/>
          <p:nvPr/>
        </p:nvSpPr>
        <p:spPr>
          <a:xfrm>
            <a:off x="3929063" y="1332309"/>
            <a:ext cx="4943475" cy="3282553"/>
          </a:xfrm>
          <a:prstGeom prst="rect">
            <a:avLst/>
          </a:prstGeom>
          <a:solidFill>
            <a:srgbClr val="1E1E1E"/>
          </a:solidFill>
          <a:ln w="27432">
            <a:solidFill>
              <a:srgbClr val="111111"/>
            </a:solidFill>
            <a:prstDash val="solid"/>
          </a:ln>
        </p:spPr>
      </p:sp>
      <p:sp>
        <p:nvSpPr>
          <p:cNvPr id="36" name="Shape 32"/>
          <p:cNvSpPr/>
          <p:nvPr/>
        </p:nvSpPr>
        <p:spPr>
          <a:xfrm>
            <a:off x="3929063" y="1332309"/>
            <a:ext cx="4943475" cy="300038"/>
          </a:xfrm>
          <a:prstGeom prst="rect">
            <a:avLst/>
          </a:prstGeom>
          <a:solidFill>
            <a:srgbClr val="323233"/>
          </a:solidFill>
          <a:ln/>
        </p:spPr>
      </p:sp>
      <p:sp>
        <p:nvSpPr>
          <p:cNvPr id="37" name="Shape 33"/>
          <p:cNvSpPr/>
          <p:nvPr/>
        </p:nvSpPr>
        <p:spPr>
          <a:xfrm>
            <a:off x="3929063" y="1618059"/>
            <a:ext cx="4943475" cy="14288"/>
          </a:xfrm>
          <a:prstGeom prst="rect">
            <a:avLst/>
          </a:prstGeom>
          <a:solidFill>
            <a:srgbClr val="111111"/>
          </a:solidFill>
          <a:ln/>
        </p:spPr>
      </p:sp>
      <p:sp>
        <p:nvSpPr>
          <p:cNvPr id="38" name="Text 34"/>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9" name="Text 35"/>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0" name="Shape 36"/>
          <p:cNvSpPr/>
          <p:nvPr/>
        </p:nvSpPr>
        <p:spPr>
          <a:xfrm>
            <a:off x="4114800" y="1956662"/>
            <a:ext cx="4572000" cy="979531"/>
          </a:xfrm>
          <a:prstGeom prst="rect">
            <a:avLst/>
          </a:prstGeom>
          <a:solidFill>
            <a:srgbClr val="2D2D2D"/>
          </a:solidFill>
          <a:ln w="18288">
            <a:solidFill>
              <a:srgbClr val="444444"/>
            </a:solidFill>
            <a:prstDash val="solid"/>
          </a:ln>
        </p:spPr>
      </p:sp>
      <p:sp>
        <p:nvSpPr>
          <p:cNvPr id="41" name="Text 37"/>
          <p:cNvSpPr/>
          <p:nvPr/>
        </p:nvSpPr>
        <p:spPr>
          <a:xfrm>
            <a:off x="4114800" y="1956662"/>
            <a:ext cx="4572000" cy="979531"/>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Approve interview artifacts...</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specify...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next human gate.</a:t>
            </a:r>
            <a:endParaRPr lang="en-US" sz="750" dirty="0"/>
          </a:p>
        </p:txBody>
      </p:sp>
      <p:sp>
        <p:nvSpPr>
          <p:cNvPr id="42" name="Text 38"/>
          <p:cNvSpPr/>
          <p:nvPr/>
        </p:nvSpPr>
        <p:spPr>
          <a:xfrm>
            <a:off x="4114800" y="3007630"/>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3" name="Shape 39"/>
          <p:cNvSpPr/>
          <p:nvPr/>
        </p:nvSpPr>
        <p:spPr>
          <a:xfrm>
            <a:off x="4114800" y="3174783"/>
            <a:ext cx="4572000" cy="979531"/>
          </a:xfrm>
          <a:prstGeom prst="rect">
            <a:avLst/>
          </a:prstGeom>
          <a:solidFill>
            <a:srgbClr val="2D2D2D"/>
          </a:solidFill>
          <a:ln w="18288">
            <a:solidFill>
              <a:srgbClr val="444444"/>
            </a:solidFill>
            <a:prstDash val="solid"/>
          </a:ln>
        </p:spPr>
      </p:sp>
      <p:sp>
        <p:nvSpPr>
          <p:cNvPr id="44" name="Text 40"/>
          <p:cNvSpPr/>
          <p:nvPr/>
        </p:nvSpPr>
        <p:spPr>
          <a:xfrm>
            <a:off x="4114800" y="3174783"/>
            <a:ext cx="4572000" cy="979531"/>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Approve specify-stage artifacts...</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decide...</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next human gate.</a:t>
            </a:r>
            <a:endParaRPr lang="en-US" sz="750" dirty="0"/>
          </a:p>
        </p:txBody>
      </p:sp>
      <p:sp>
        <p:nvSpPr>
          <p:cNvPr id="45" name="Shape 41"/>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6" name="Text 42"/>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Be</a:t>
            </a:r>
            <a:r>
              <a:rPr lang="en-US" sz="1250" dirty="0">
                <a:solidFill>
                  <a:srgbClr val="111111"/>
                </a:solidFill>
                <a:latin typeface="Kalam Bold" pitchFamily="34" charset="0"/>
                <a:ea typeface="Kalam Bold" pitchFamily="34" charset="-122"/>
                <a:cs typeface="Kalam Bold" pitchFamily="34" charset="-120"/>
              </a:rPr>
              <a:t>fore imple</a:t>
            </a:r>
            <a:r>
              <a:rPr lang="en-US" sz="1250" dirty="0">
                <a:solidFill>
                  <a:srgbClr val="111111"/>
                </a:solidFill>
                <a:latin typeface="Kalam Bold" pitchFamily="34" charset="0"/>
                <a:ea typeface="Kalam Bold" pitchFamily="34" charset="-122"/>
                <a:cs typeface="Kalam Bold" pitchFamily="34" charset="-120"/>
              </a:rPr>
              <a:t>mentation,</a:t>
            </a:r>
            <a:r>
              <a:rPr lang="en-US" sz="1250" dirty="0">
                <a:solidFill>
                  <a:srgbClr val="111111"/>
                </a:solidFill>
                <a:latin typeface="Kalam Bold" pitchFamily="34" charset="0"/>
                <a:ea typeface="Kalam Bold" pitchFamily="34" charset="-122"/>
                <a:cs typeface="Kalam Bold" pitchFamily="34" charset="-120"/>
              </a:rPr>
              <a:t> the repo </a:t>
            </a:r>
            <a:r>
              <a:rPr lang="en-US" sz="1250" dirty="0">
                <a:solidFill>
                  <a:srgbClr val="111111"/>
                </a:solidFill>
                <a:latin typeface="Kalam Bold" pitchFamily="34" charset="0"/>
                <a:ea typeface="Kalam Bold" pitchFamily="34" charset="-122"/>
                <a:cs typeface="Kalam Bold" pitchFamily="34" charset="-120"/>
              </a:rPr>
              <a:t>writes down</a:t>
            </a:r>
            <a:r>
              <a:rPr lang="en-US" sz="1250" dirty="0">
                <a:solidFill>
                  <a:srgbClr val="111111"/>
                </a:solidFill>
                <a:latin typeface="Kalam Bold" pitchFamily="34" charset="0"/>
                <a:ea typeface="Kalam Bold" pitchFamily="34" charset="-122"/>
                <a:cs typeface="Kalam Bold" pitchFamily="34" charset="-120"/>
              </a:rPr>
              <a:t> scope, evi</a:t>
            </a:r>
            <a:r>
              <a:rPr lang="en-US" sz="1250" dirty="0">
                <a:solidFill>
                  <a:srgbClr val="111111"/>
                </a:solidFill>
                <a:latin typeface="Kalam Bold" pitchFamily="34" charset="0"/>
                <a:ea typeface="Kalam Bold" pitchFamily="34" charset="-122"/>
                <a:cs typeface="Kalam Bold" pitchFamily="34" charset="-120"/>
              </a:rPr>
              <a:t>dence, and</a:t>
            </a:r>
            <a:r>
              <a:rPr lang="en-US" sz="1250" dirty="0">
                <a:solidFill>
                  <a:srgbClr val="111111"/>
                </a:solidFill>
                <a:latin typeface="Kalam Bold" pitchFamily="34" charset="0"/>
                <a:ea typeface="Kalam Bold" pitchFamily="34" charset="-122"/>
                <a:cs typeface="Kalam Bold" pitchFamily="34" charset="-120"/>
              </a:rPr>
              <a:t> architectu</a:t>
            </a:r>
            <a:r>
              <a:rPr lang="en-US" sz="1250" dirty="0">
                <a:solidFill>
                  <a:srgbClr val="111111"/>
                </a:solidFill>
                <a:latin typeface="Kalam Bold" pitchFamily="34" charset="0"/>
                <a:ea typeface="Kalam Bold" pitchFamily="34" charset="-122"/>
                <a:cs typeface="Kalam Bold" pitchFamily="34" charset="-120"/>
              </a:rPr>
              <a:t>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2: SAS BEHAVIOR BECOMES POLICY</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14338"/>
          </a:xfrm>
          <a:prstGeom prst="rect">
            <a:avLst/>
          </a:prstGeom>
          <a:solidFill>
            <a:srgbClr val="FFFFFF"/>
          </a:solidFill>
          <a:ln w="18288">
            <a:solidFill>
              <a:srgbClr val="111111"/>
            </a:solidFill>
            <a:prstDash val="solid"/>
          </a:ln>
        </p:spPr>
      </p:sp>
      <p:sp>
        <p:nvSpPr>
          <p:cNvPr id="9" name="Shape 5"/>
          <p:cNvSpPr/>
          <p:nvPr/>
        </p:nvSpPr>
        <p:spPr>
          <a:xfrm>
            <a:off x="371475" y="1460897"/>
            <a:ext cx="200025" cy="200025"/>
          </a:xfrm>
          <a:prstGeom prst="rect">
            <a:avLst/>
          </a:prstGeom>
          <a:solidFill>
            <a:srgbClr val="111111"/>
          </a:solidFill>
          <a:ln/>
        </p:spPr>
      </p:sp>
      <p:sp>
        <p:nvSpPr>
          <p:cNvPr id="10" name="Text 6"/>
          <p:cNvSpPr/>
          <p:nvPr/>
        </p:nvSpPr>
        <p:spPr>
          <a:xfrm>
            <a:off x="371475" y="14608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805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Take trace evidence</a:t>
            </a:r>
            <a:endParaRPr lang="en-US" sz="900" dirty="0"/>
          </a:p>
        </p:txBody>
      </p:sp>
      <p:sp>
        <p:nvSpPr>
          <p:cNvPr id="12" name="Shape 8"/>
          <p:cNvSpPr/>
          <p:nvPr/>
        </p:nvSpPr>
        <p:spPr>
          <a:xfrm>
            <a:off x="271463" y="1832372"/>
            <a:ext cx="3429000" cy="414338"/>
          </a:xfrm>
          <a:prstGeom prst="rect">
            <a:avLst/>
          </a:prstGeom>
          <a:solidFill>
            <a:srgbClr val="FFFFFF"/>
          </a:solidFill>
          <a:ln w="18288">
            <a:solidFill>
              <a:srgbClr val="111111"/>
            </a:solidFill>
            <a:prstDash val="solid"/>
          </a:ln>
        </p:spPr>
      </p:sp>
      <p:sp>
        <p:nvSpPr>
          <p:cNvPr id="13" name="Shape 9"/>
          <p:cNvSpPr/>
          <p:nvPr/>
        </p:nvSpPr>
        <p:spPr>
          <a:xfrm>
            <a:off x="371475" y="1918097"/>
            <a:ext cx="200025" cy="200025"/>
          </a:xfrm>
          <a:prstGeom prst="rect">
            <a:avLst/>
          </a:prstGeom>
          <a:solidFill>
            <a:srgbClr val="111111"/>
          </a:solidFill>
          <a:ln/>
        </p:spPr>
      </p:sp>
      <p:sp>
        <p:nvSpPr>
          <p:cNvPr id="14" name="Text 10"/>
          <p:cNvSpPr/>
          <p:nvPr/>
        </p:nvSpPr>
        <p:spPr>
          <a:xfrm>
            <a:off x="371475" y="19180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9377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Identify behavior patterns</a:t>
            </a:r>
            <a:endParaRPr lang="en-US" sz="900" dirty="0"/>
          </a:p>
        </p:txBody>
      </p:sp>
      <p:sp>
        <p:nvSpPr>
          <p:cNvPr id="16" name="Shape 12"/>
          <p:cNvSpPr/>
          <p:nvPr/>
        </p:nvSpPr>
        <p:spPr>
          <a:xfrm>
            <a:off x="271463" y="2289572"/>
            <a:ext cx="3429000" cy="414338"/>
          </a:xfrm>
          <a:prstGeom prst="rect">
            <a:avLst/>
          </a:prstGeom>
          <a:solidFill>
            <a:srgbClr val="FFFFFF"/>
          </a:solidFill>
          <a:ln w="18288">
            <a:solidFill>
              <a:srgbClr val="111111"/>
            </a:solidFill>
            <a:prstDash val="solid"/>
          </a:ln>
        </p:spPr>
      </p:sp>
      <p:sp>
        <p:nvSpPr>
          <p:cNvPr id="17" name="Shape 13"/>
          <p:cNvSpPr/>
          <p:nvPr/>
        </p:nvSpPr>
        <p:spPr>
          <a:xfrm>
            <a:off x="371475" y="2375297"/>
            <a:ext cx="200025" cy="200025"/>
          </a:xfrm>
          <a:prstGeom prst="rect">
            <a:avLst/>
          </a:prstGeom>
          <a:solidFill>
            <a:srgbClr val="111111"/>
          </a:solidFill>
          <a:ln/>
        </p:spPr>
      </p:sp>
      <p:sp>
        <p:nvSpPr>
          <p:cNvPr id="18" name="Text 14"/>
          <p:cNvSpPr/>
          <p:nvPr/>
        </p:nvSpPr>
        <p:spPr>
          <a:xfrm>
            <a:off x="371475" y="23752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949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Assign ownership</a:t>
            </a:r>
            <a:endParaRPr lang="en-US" sz="900" dirty="0"/>
          </a:p>
        </p:txBody>
      </p:sp>
      <p:sp>
        <p:nvSpPr>
          <p:cNvPr id="20" name="Shape 16"/>
          <p:cNvSpPr/>
          <p:nvPr/>
        </p:nvSpPr>
        <p:spPr>
          <a:xfrm>
            <a:off x="271463" y="2746772"/>
            <a:ext cx="3429000" cy="414338"/>
          </a:xfrm>
          <a:prstGeom prst="rect">
            <a:avLst/>
          </a:prstGeom>
          <a:solidFill>
            <a:srgbClr val="FFFFFF"/>
          </a:solidFill>
          <a:ln w="18288">
            <a:solidFill>
              <a:srgbClr val="111111"/>
            </a:solidFill>
            <a:prstDash val="solid"/>
          </a:ln>
        </p:spPr>
      </p:sp>
      <p:sp>
        <p:nvSpPr>
          <p:cNvPr id="21" name="Shape 17"/>
          <p:cNvSpPr/>
          <p:nvPr/>
        </p:nvSpPr>
        <p:spPr>
          <a:xfrm>
            <a:off x="371475" y="2832497"/>
            <a:ext cx="200025" cy="200025"/>
          </a:xfrm>
          <a:prstGeom prst="rect">
            <a:avLst/>
          </a:prstGeom>
          <a:solidFill>
            <a:srgbClr val="111111"/>
          </a:solidFill>
          <a:ln/>
        </p:spPr>
      </p:sp>
      <p:sp>
        <p:nvSpPr>
          <p:cNvPr id="22" name="Text 18"/>
          <p:cNvSpPr/>
          <p:nvPr/>
        </p:nvSpPr>
        <p:spPr>
          <a:xfrm>
            <a:off x="371475" y="28324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8521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Mark unresolved runtime work</a:t>
            </a:r>
            <a:endParaRPr lang="en-US" sz="900" dirty="0"/>
          </a:p>
        </p:txBody>
      </p:sp>
      <p:sp>
        <p:nvSpPr>
          <p:cNvPr id="24" name="Shape 20"/>
          <p:cNvSpPr/>
          <p:nvPr/>
        </p:nvSpPr>
        <p:spPr>
          <a:xfrm>
            <a:off x="271463" y="3203972"/>
            <a:ext cx="3429000" cy="414338"/>
          </a:xfrm>
          <a:prstGeom prst="rect">
            <a:avLst/>
          </a:prstGeom>
          <a:solidFill>
            <a:srgbClr val="FFFFFF"/>
          </a:solidFill>
          <a:ln w="18288">
            <a:solidFill>
              <a:srgbClr val="111111"/>
            </a:solidFill>
            <a:prstDash val="solid"/>
          </a:ln>
        </p:spPr>
      </p:sp>
      <p:sp>
        <p:nvSpPr>
          <p:cNvPr id="25" name="Shape 21"/>
          <p:cNvSpPr/>
          <p:nvPr/>
        </p:nvSpPr>
        <p:spPr>
          <a:xfrm>
            <a:off x="371475" y="3289697"/>
            <a:ext cx="200025" cy="200025"/>
          </a:xfrm>
          <a:prstGeom prst="rect">
            <a:avLst/>
          </a:prstGeom>
          <a:solidFill>
            <a:srgbClr val="111111"/>
          </a:solidFill>
          <a:ln/>
        </p:spPr>
      </p:sp>
      <p:sp>
        <p:nvSpPr>
          <p:cNvPr id="26" name="Text 22"/>
          <p:cNvSpPr/>
          <p:nvPr/>
        </p:nvSpPr>
        <p:spPr>
          <a:xfrm>
            <a:off x="371475" y="32896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3093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Write policy registry</a:t>
            </a:r>
            <a:endParaRPr lang="en-US" sz="900" dirty="0"/>
          </a:p>
        </p:txBody>
      </p:sp>
      <p:sp>
        <p:nvSpPr>
          <p:cNvPr id="28" name="Shape 24"/>
          <p:cNvSpPr/>
          <p:nvPr/>
        </p:nvSpPr>
        <p:spPr>
          <a:xfrm>
            <a:off x="271463" y="3732609"/>
            <a:ext cx="3429000" cy="635794"/>
          </a:xfrm>
          <a:prstGeom prst="rect">
            <a:avLst/>
          </a:prstGeom>
          <a:solidFill>
            <a:srgbClr val="EAF1FF"/>
          </a:solidFill>
          <a:ln w="18288">
            <a:solidFill>
              <a:srgbClr val="111111"/>
            </a:solidFill>
            <a:prstDash val="solid"/>
          </a:ln>
        </p:spPr>
      </p:sp>
      <p:sp>
        <p:nvSpPr>
          <p:cNvPr id="29" name="Text 25"/>
          <p:cNvSpPr/>
          <p:nvPr/>
        </p:nvSpPr>
        <p:spPr>
          <a:xfrm>
            <a:off x="385763" y="3846909"/>
            <a:ext cx="3200400" cy="182166"/>
          </a:xfrm>
          <a:prstGeom prst="rect">
            <a:avLst/>
          </a:prstGeom>
          <a:noFill/>
          <a:ln/>
        </p:spPr>
        <p:txBody>
          <a:bodyPr wrap="square" lIns="0" tIns="0" rIns="0" bIns="0" rtlCol="0" anchor="t">
            <a:spAutoFit/>
          </a:bodyPr>
          <a:lstStyle/>
          <a:p>
            <a:pPr algn="l" indent="0" marL="0">
              <a:buNone/>
            </a:pPr>
            <a:r>
              <a:rPr lang="en-US" sz="900" dirty="0">
                <a:solidFill>
                  <a:srgbClr val="111111"/>
                </a:solidFill>
                <a:latin typeface="Oswald SemiBold" pitchFamily="34" charset="0"/>
                <a:ea typeface="Oswald SemiBold" pitchFamily="34" charset="-122"/>
                <a:cs typeface="Oswald SemiBold" pitchFamily="34" charset="-120"/>
              </a:rPr>
              <a:t>CANONICAL ARTIFACT CREATED</a:t>
            </a:r>
            <a:endParaRPr lang="en-US" sz="900" dirty="0"/>
          </a:p>
        </p:txBody>
      </p:sp>
      <p:sp>
        <p:nvSpPr>
          <p:cNvPr id="30" name="Text 26"/>
          <p:cNvSpPr/>
          <p:nvPr/>
        </p:nvSpPr>
        <p:spPr>
          <a:xfrm>
            <a:off x="385763" y="4086225"/>
            <a:ext cx="3200400" cy="125016"/>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1" name="Text 27"/>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2" name="Shape 28"/>
          <p:cNvSpPr/>
          <p:nvPr/>
        </p:nvSpPr>
        <p:spPr>
          <a:xfrm>
            <a:off x="3929063" y="1332309"/>
            <a:ext cx="4943475" cy="3282553"/>
          </a:xfrm>
          <a:prstGeom prst="rect">
            <a:avLst/>
          </a:prstGeom>
          <a:solidFill>
            <a:srgbClr val="1E1E1E"/>
          </a:solidFill>
          <a:ln w="27432">
            <a:solidFill>
              <a:srgbClr val="111111"/>
            </a:solidFill>
            <a:prstDash val="solid"/>
          </a:ln>
        </p:spPr>
      </p:sp>
      <p:sp>
        <p:nvSpPr>
          <p:cNvPr id="33" name="Shape 29"/>
          <p:cNvSpPr/>
          <p:nvPr/>
        </p:nvSpPr>
        <p:spPr>
          <a:xfrm>
            <a:off x="3929063" y="1332309"/>
            <a:ext cx="4943475" cy="300038"/>
          </a:xfrm>
          <a:prstGeom prst="rect">
            <a:avLst/>
          </a:prstGeom>
          <a:solidFill>
            <a:srgbClr val="323233"/>
          </a:solidFill>
          <a:ln/>
        </p:spPr>
      </p:sp>
      <p:sp>
        <p:nvSpPr>
          <p:cNvPr id="34" name="Shape 30"/>
          <p:cNvSpPr/>
          <p:nvPr/>
        </p:nvSpPr>
        <p:spPr>
          <a:xfrm>
            <a:off x="3929063" y="1618059"/>
            <a:ext cx="4943475" cy="14288"/>
          </a:xfrm>
          <a:prstGeom prst="rect">
            <a:avLst/>
          </a:prstGeom>
          <a:solidFill>
            <a:srgbClr val="111111"/>
          </a:solidFill>
          <a:ln/>
        </p:spPr>
      </p:sp>
      <p:sp>
        <p:nvSpPr>
          <p:cNvPr id="35" name="Text 31"/>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6" name="Text 32"/>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129088" y="2000250"/>
            <a:ext cx="4543425" cy="1457325"/>
          </a:xfrm>
          <a:prstGeom prst="rect">
            <a:avLst/>
          </a:prstGeom>
          <a:solidFill>
            <a:srgbClr val="2D2D2D"/>
          </a:solidFill>
          <a:ln w="18288">
            <a:solidFill>
              <a:srgbClr val="444444"/>
            </a:solidFill>
            <a:prstDash val="solid"/>
          </a:ln>
        </p:spPr>
      </p:sp>
      <p:sp>
        <p:nvSpPr>
          <p:cNvPr id="38" name="Text 34"/>
          <p:cNvSpPr/>
          <p:nvPr/>
        </p:nvSpPr>
        <p:spPr>
          <a:xfrm>
            <a:off x="4129088" y="2000250"/>
            <a:ext cx="4543425" cy="14573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Continue from stage map...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Use execution_trace.json...</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exactly map...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after that one skill.</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at the next human gate.</a:t>
            </a:r>
            <a:endParaRPr lang="en-US" sz="85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a:t>
            </a:r>
            <a:r>
              <a:rPr lang="en-US" sz="1250" dirty="0">
                <a:solidFill>
                  <a:srgbClr val="111111"/>
                </a:solidFill>
                <a:latin typeface="Kalam Bold" pitchFamily="34" charset="0"/>
                <a:ea typeface="Kalam Bold" pitchFamily="34" charset="-122"/>
                <a:cs typeface="Kalam Bold" pitchFamily="34" charset="-120"/>
              </a:rPr>
              <a:t>he repo co</a:t>
            </a:r>
            <a:r>
              <a:rPr lang="en-US" sz="1250" dirty="0">
                <a:solidFill>
                  <a:srgbClr val="111111"/>
                </a:solidFill>
                <a:latin typeface="Kalam Bold" pitchFamily="34" charset="0"/>
                <a:ea typeface="Kalam Bold" pitchFamily="34" charset="-122"/>
                <a:cs typeface="Kalam Bold" pitchFamily="34" charset="-120"/>
              </a:rPr>
              <a:t>nverts lega</a:t>
            </a:r>
            <a:r>
              <a:rPr lang="en-US" sz="1250" dirty="0">
                <a:solidFill>
                  <a:srgbClr val="111111"/>
                </a:solidFill>
                <a:latin typeface="Kalam Bold" pitchFamily="34" charset="0"/>
                <a:ea typeface="Kalam Bold" pitchFamily="34" charset="-122"/>
                <a:cs typeface="Kalam Bold" pitchFamily="34" charset="-120"/>
              </a:rPr>
              <a:t>cy behavio</a:t>
            </a:r>
            <a:r>
              <a:rPr lang="en-US" sz="1250" dirty="0">
                <a:solidFill>
                  <a:srgbClr val="111111"/>
                </a:solidFill>
                <a:latin typeface="Kalam Bold" pitchFamily="34" charset="0"/>
                <a:ea typeface="Kalam Bold" pitchFamily="34" charset="-122"/>
                <a:cs typeface="Kalam Bold" pitchFamily="34" charset="-120"/>
              </a:rPr>
              <a:t>r into rules</a:t>
            </a:r>
            <a:r>
              <a:rPr lang="en-US" sz="1250" dirty="0">
                <a:solidFill>
                  <a:srgbClr val="111111"/>
                </a:solidFill>
                <a:latin typeface="Kalam Bold" pitchFamily="34" charset="0"/>
                <a:ea typeface="Kalam Bold" pitchFamily="34" charset="-122"/>
                <a:cs typeface="Kalam Bold" pitchFamily="34" charset="-120"/>
              </a:rPr>
              <a:t> for safe P</a:t>
            </a:r>
            <a:r>
              <a:rPr lang="en-US" sz="1250" dirty="0">
                <a:solidFill>
                  <a:srgbClr val="111111"/>
                </a:solidFill>
                <a:latin typeface="Kalam Bold" pitchFamily="34" charset="0"/>
                <a:ea typeface="Kalam Bold" pitchFamily="34" charset="-122"/>
                <a:cs typeface="Kalam Bold" pitchFamily="34" charset="-120"/>
              </a:rPr>
              <a:t>ython impl</a:t>
            </a:r>
            <a:r>
              <a:rPr lang="en-US" sz="1250" dirty="0">
                <a:solidFill>
                  <a:srgbClr val="111111"/>
                </a:solidFill>
                <a:latin typeface="Kalam Bold" pitchFamily="34" charset="0"/>
                <a:ea typeface="Kalam Bold" pitchFamily="34" charset="-122"/>
                <a:cs typeface="Kalam Bold" pitchFamily="34" charset="-120"/>
              </a:rPr>
              <a:t>ementatio</a:t>
            </a:r>
            <a:r>
              <a:rPr lang="en-US" sz="1250" dirty="0">
                <a:solidFill>
                  <a:srgbClr val="111111"/>
                </a:solidFill>
                <a:latin typeface="Kalam Bold" pitchFamily="34" charset="0"/>
                <a:ea typeface="Kalam Bold" pitchFamily="34" charset="-122"/>
                <a:cs typeface="Kalam Bold" pitchFamily="34" charset="-120"/>
              </a:rPr>
              <a:t>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POLICY BECOMES PYTHON</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1947"/>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12" name="Text 8"/>
          <p:cNvSpPr/>
          <p:nvPr/>
        </p:nvSpPr>
        <p:spPr>
          <a:xfrm>
            <a:off x="1075134" y="1461232"/>
            <a:ext cx="364331"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model</a:t>
            </a:r>
            <a:endParaRPr lang="en-US" sz="850" dirty="0"/>
          </a:p>
        </p:txBody>
      </p:sp>
      <p:sp>
        <p:nvSpPr>
          <p:cNvPr id="13" name="Text 9"/>
          <p:cNvSpPr/>
          <p:nvPr/>
        </p:nvSpPr>
        <p:spPr>
          <a:xfrm>
            <a:off x="1439466" y="1471947"/>
            <a:ext cx="821531"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read policy</a:t>
            </a:r>
            <a:endParaRPr lang="en-US" sz="850" dirty="0"/>
          </a:p>
        </p:txBody>
      </p:sp>
      <p:sp>
        <p:nvSpPr>
          <p:cNvPr id="14" name="Shape 10"/>
          <p:cNvSpPr/>
          <p:nvPr/>
        </p:nvSpPr>
        <p:spPr>
          <a:xfrm>
            <a:off x="271463" y="1789509"/>
            <a:ext cx="3429000" cy="385763"/>
          </a:xfrm>
          <a:prstGeom prst="rect">
            <a:avLst/>
          </a:prstGeom>
          <a:solidFill>
            <a:srgbClr val="FFFFFF"/>
          </a:solidFill>
          <a:ln w="18288">
            <a:solidFill>
              <a:srgbClr val="111111"/>
            </a:solidFill>
            <a:prstDash val="solid"/>
          </a:ln>
        </p:spPr>
      </p:sp>
      <p:sp>
        <p:nvSpPr>
          <p:cNvPr id="15" name="Shape 11"/>
          <p:cNvSpPr/>
          <p:nvPr/>
        </p:nvSpPr>
        <p:spPr>
          <a:xfrm>
            <a:off x="371475" y="1860947"/>
            <a:ext cx="200025" cy="200025"/>
          </a:xfrm>
          <a:prstGeom prst="rect">
            <a:avLst/>
          </a:prstGeom>
          <a:solidFill>
            <a:srgbClr val="111111"/>
          </a:solidFill>
          <a:ln/>
        </p:spPr>
      </p:sp>
      <p:sp>
        <p:nvSpPr>
          <p:cNvPr id="16" name="Text 12"/>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7" name="Text 13"/>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semantic IR explicit contract</a:t>
            </a:r>
            <a:endParaRPr lang="en-US" sz="850" dirty="0"/>
          </a:p>
        </p:txBody>
      </p:sp>
      <p:sp>
        <p:nvSpPr>
          <p:cNvPr id="18" name="Shape 14"/>
          <p:cNvSpPr/>
          <p:nvPr/>
        </p:nvSpPr>
        <p:spPr>
          <a:xfrm>
            <a:off x="271463" y="2203847"/>
            <a:ext cx="3429000" cy="385763"/>
          </a:xfrm>
          <a:prstGeom prst="rect">
            <a:avLst/>
          </a:prstGeom>
          <a:solidFill>
            <a:srgbClr val="FFFFFF"/>
          </a:solidFill>
          <a:ln w="18288">
            <a:solidFill>
              <a:srgbClr val="111111"/>
            </a:solidFill>
            <a:prstDash val="solid"/>
          </a:ln>
        </p:spPr>
      </p:sp>
      <p:sp>
        <p:nvSpPr>
          <p:cNvPr id="19" name="Shape 15"/>
          <p:cNvSpPr/>
          <p:nvPr/>
        </p:nvSpPr>
        <p:spPr>
          <a:xfrm>
            <a:off x="371475" y="2275284"/>
            <a:ext cx="200025" cy="200025"/>
          </a:xfrm>
          <a:prstGeom prst="rect">
            <a:avLst/>
          </a:prstGeom>
          <a:solidFill>
            <a:srgbClr val="111111"/>
          </a:solidFill>
          <a:ln/>
        </p:spPr>
      </p:sp>
      <p:sp>
        <p:nvSpPr>
          <p:cNvPr id="20" name="Text 16"/>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1" name="Text 17"/>
          <p:cNvSpPr/>
          <p:nvPr/>
        </p:nvSpPr>
        <p:spPr>
          <a:xfrm>
            <a:off x="657225" y="2300622"/>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22" name="Text 18"/>
          <p:cNvSpPr/>
          <p:nvPr/>
        </p:nvSpPr>
        <p:spPr>
          <a:xfrm>
            <a:off x="1075134" y="2289907"/>
            <a:ext cx="582941"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generate</a:t>
            </a:r>
            <a:endParaRPr lang="en-US" sz="850" dirty="0"/>
          </a:p>
        </p:txBody>
      </p:sp>
      <p:sp>
        <p:nvSpPr>
          <p:cNvPr id="23" name="Text 19"/>
          <p:cNvSpPr/>
          <p:nvPr/>
        </p:nvSpPr>
        <p:spPr>
          <a:xfrm>
            <a:off x="1658076" y="2300622"/>
            <a:ext cx="582216"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read IR</a:t>
            </a:r>
            <a:endParaRPr lang="en-US" sz="850" dirty="0"/>
          </a:p>
        </p:txBody>
      </p:sp>
      <p:sp>
        <p:nvSpPr>
          <p:cNvPr id="24" name="Shape 20"/>
          <p:cNvSpPr/>
          <p:nvPr/>
        </p:nvSpPr>
        <p:spPr>
          <a:xfrm>
            <a:off x="271463" y="2618184"/>
            <a:ext cx="3429000" cy="385763"/>
          </a:xfrm>
          <a:prstGeom prst="rect">
            <a:avLst/>
          </a:prstGeom>
          <a:solidFill>
            <a:srgbClr val="FFFFFF"/>
          </a:solidFill>
          <a:ln w="18288">
            <a:solidFill>
              <a:srgbClr val="111111"/>
            </a:solidFill>
            <a:prstDash val="solid"/>
          </a:ln>
        </p:spPr>
      </p:sp>
      <p:sp>
        <p:nvSpPr>
          <p:cNvPr id="25" name="Shape 21"/>
          <p:cNvSpPr/>
          <p:nvPr/>
        </p:nvSpPr>
        <p:spPr>
          <a:xfrm>
            <a:off x="371475" y="2689622"/>
            <a:ext cx="200025" cy="200025"/>
          </a:xfrm>
          <a:prstGeom prst="rect">
            <a:avLst/>
          </a:prstGeom>
          <a:solidFill>
            <a:srgbClr val="111111"/>
          </a:solidFill>
          <a:ln/>
        </p:spPr>
      </p:sp>
      <p:sp>
        <p:nvSpPr>
          <p:cNvPr id="26" name="Text 22"/>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7" name="Text 23"/>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pure Python semantic core</a:t>
            </a:r>
            <a:endParaRPr lang="en-US" sz="850" dirty="0"/>
          </a:p>
        </p:txBody>
      </p:sp>
      <p:sp>
        <p:nvSpPr>
          <p:cNvPr id="28" name="Shape 24"/>
          <p:cNvSpPr/>
          <p:nvPr/>
        </p:nvSpPr>
        <p:spPr>
          <a:xfrm>
            <a:off x="271463" y="3032522"/>
            <a:ext cx="3429000" cy="385763"/>
          </a:xfrm>
          <a:prstGeom prst="rect">
            <a:avLst/>
          </a:prstGeom>
          <a:solidFill>
            <a:srgbClr val="FFFFFF"/>
          </a:solidFill>
          <a:ln w="18288">
            <a:solidFill>
              <a:srgbClr val="111111"/>
            </a:solidFill>
            <a:prstDash val="solid"/>
          </a:ln>
        </p:spPr>
      </p:sp>
      <p:sp>
        <p:nvSpPr>
          <p:cNvPr id="29" name="Shape 25"/>
          <p:cNvSpPr/>
          <p:nvPr/>
        </p:nvSpPr>
        <p:spPr>
          <a:xfrm>
            <a:off x="371475" y="3103959"/>
            <a:ext cx="200025" cy="200025"/>
          </a:xfrm>
          <a:prstGeom prst="rect">
            <a:avLst/>
          </a:prstGeom>
          <a:solidFill>
            <a:srgbClr val="111111"/>
          </a:solidFill>
          <a:ln/>
        </p:spPr>
      </p:sp>
      <p:sp>
        <p:nvSpPr>
          <p:cNvPr id="30" name="Text 26"/>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31" name="Text 27"/>
          <p:cNvSpPr/>
          <p:nvPr/>
        </p:nvSpPr>
        <p:spPr>
          <a:xfrm>
            <a:off x="657225" y="3129297"/>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32" name="Text 28"/>
          <p:cNvSpPr/>
          <p:nvPr/>
        </p:nvSpPr>
        <p:spPr>
          <a:xfrm>
            <a:off x="1075134" y="3118582"/>
            <a:ext cx="291498"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test</a:t>
            </a:r>
            <a:endParaRPr lang="en-US" sz="850" dirty="0"/>
          </a:p>
        </p:txBody>
      </p:sp>
      <p:sp>
        <p:nvSpPr>
          <p:cNvPr id="33" name="Text 29"/>
          <p:cNvSpPr/>
          <p:nvPr/>
        </p:nvSpPr>
        <p:spPr>
          <a:xfrm>
            <a:off x="1366633" y="3129297"/>
            <a:ext cx="1468041"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build governed fixture</a:t>
            </a:r>
            <a:endParaRPr lang="en-US" sz="850" dirty="0"/>
          </a:p>
        </p:txBody>
      </p:sp>
      <p:sp>
        <p:nvSpPr>
          <p:cNvPr id="34" name="Shape 30"/>
          <p:cNvSpPr/>
          <p:nvPr/>
        </p:nvSpPr>
        <p:spPr>
          <a:xfrm>
            <a:off x="271463" y="3504009"/>
            <a:ext cx="3429000" cy="1096566"/>
          </a:xfrm>
          <a:prstGeom prst="rect">
            <a:avLst/>
          </a:prstGeom>
          <a:solidFill>
            <a:srgbClr val="EAF1FF"/>
          </a:solidFill>
          <a:ln w="18288">
            <a:solidFill>
              <a:srgbClr val="111111"/>
            </a:solidFill>
            <a:prstDash val="solid"/>
          </a:ln>
        </p:spPr>
      </p:sp>
      <p:sp>
        <p:nvSpPr>
          <p:cNvPr id="35" name="Text 31"/>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THE PATH TO CODE</a:t>
            </a:r>
            <a:endParaRPr lang="en-US" sz="850" dirty="0"/>
          </a:p>
        </p:txBody>
      </p:sp>
      <p:sp>
        <p:nvSpPr>
          <p:cNvPr id="36" name="Text 32"/>
          <p:cNvSpPr/>
          <p:nvPr/>
        </p:nvSpPr>
        <p:spPr>
          <a:xfrm>
            <a:off x="371475" y="3829050"/>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7" name="Text 33"/>
          <p:cNvSpPr/>
          <p:nvPr/>
        </p:nvSpPr>
        <p:spPr>
          <a:xfrm>
            <a:off x="371475" y="3986213"/>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semantic_ir/LC-LOGIT-01.json</a:t>
            </a:r>
            <a:endParaRPr lang="en-US" sz="650" dirty="0"/>
          </a:p>
        </p:txBody>
      </p:sp>
      <p:sp>
        <p:nvSpPr>
          <p:cNvPr id="38" name="Text 34"/>
          <p:cNvSpPr/>
          <p:nvPr/>
        </p:nvSpPr>
        <p:spPr>
          <a:xfrm>
            <a:off x="371475" y="4143375"/>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650" dirty="0"/>
          </a:p>
        </p:txBody>
      </p:sp>
      <p:sp>
        <p:nvSpPr>
          <p:cNvPr id="39" name="Text 35"/>
          <p:cNvSpPr/>
          <p:nvPr/>
        </p:nvSpPr>
        <p:spPr>
          <a:xfrm>
            <a:off x="371475" y="4300538"/>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tests/fixtures/.../fixture.csv</a:t>
            </a:r>
            <a:endParaRPr lang="en-US" sz="650" dirty="0"/>
          </a:p>
        </p:txBody>
      </p:sp>
      <p:sp>
        <p:nvSpPr>
          <p:cNvPr id="40" name="Text 36"/>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41" name="Shape 37"/>
          <p:cNvSpPr/>
          <p:nvPr/>
        </p:nvSpPr>
        <p:spPr>
          <a:xfrm>
            <a:off x="3929063" y="1332309"/>
            <a:ext cx="4943475" cy="3282553"/>
          </a:xfrm>
          <a:prstGeom prst="rect">
            <a:avLst/>
          </a:prstGeom>
          <a:solidFill>
            <a:srgbClr val="1E1E1E"/>
          </a:solidFill>
          <a:ln w="27432">
            <a:solidFill>
              <a:srgbClr val="111111"/>
            </a:solidFill>
            <a:prstDash val="solid"/>
          </a:ln>
        </p:spPr>
      </p:sp>
      <p:sp>
        <p:nvSpPr>
          <p:cNvPr id="42" name="Shape 38"/>
          <p:cNvSpPr/>
          <p:nvPr/>
        </p:nvSpPr>
        <p:spPr>
          <a:xfrm>
            <a:off x="3929063" y="1332309"/>
            <a:ext cx="4943475" cy="300038"/>
          </a:xfrm>
          <a:prstGeom prst="rect">
            <a:avLst/>
          </a:prstGeom>
          <a:solidFill>
            <a:srgbClr val="323233"/>
          </a:solidFill>
          <a:ln/>
        </p:spPr>
      </p:sp>
      <p:sp>
        <p:nvSpPr>
          <p:cNvPr id="43" name="Shape 39"/>
          <p:cNvSpPr/>
          <p:nvPr/>
        </p:nvSpPr>
        <p:spPr>
          <a:xfrm>
            <a:off x="3929063" y="1618059"/>
            <a:ext cx="4943475" cy="14288"/>
          </a:xfrm>
          <a:prstGeom prst="rect">
            <a:avLst/>
          </a:prstGeom>
          <a:solidFill>
            <a:srgbClr val="111111"/>
          </a:solidFill>
          <a:ln/>
        </p:spPr>
      </p:sp>
      <p:sp>
        <p:nvSpPr>
          <p:cNvPr id="44" name="Text 40"/>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45" name="Text 41"/>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6" name="Shape 42"/>
          <p:cNvSpPr/>
          <p:nvPr/>
        </p:nvSpPr>
        <p:spPr>
          <a:xfrm>
            <a:off x="4114800" y="1956662"/>
            <a:ext cx="4572000" cy="850106"/>
          </a:xfrm>
          <a:prstGeom prst="rect">
            <a:avLst/>
          </a:prstGeom>
          <a:solidFill>
            <a:srgbClr val="2D2D2D"/>
          </a:solidFill>
          <a:ln w="18288">
            <a:solidFill>
              <a:srgbClr val="444444"/>
            </a:solidFill>
            <a:prstDash val="solid"/>
          </a:ln>
        </p:spPr>
      </p:sp>
      <p:sp>
        <p:nvSpPr>
          <p:cNvPr id="47" name="Text 43"/>
          <p:cNvSpPr/>
          <p:nvPr/>
        </p:nvSpPr>
        <p:spPr>
          <a:xfrm>
            <a:off x="4114800" y="1956662"/>
            <a:ext cx="4572000" cy="850106"/>
          </a:xfrm>
          <a:prstGeom prst="rect">
            <a:avLst/>
          </a:prstGeom>
          <a:noFill/>
          <a:ln/>
        </p:spPr>
        <p:txBody>
          <a:bodyPr wrap="square" lIns="153035" tIns="119126" rIns="153035" bIns="119126" rtlCol="0" anchor="t">
            <a:spAutoFit/>
          </a:bodyPr>
          <a:lstStyle/>
          <a:p>
            <a:pPr algn="l" indent="0" marL="0">
              <a:lnSpc>
                <a:spcPct val="116000"/>
              </a:lnSpc>
              <a:buNone/>
            </a:pPr>
            <a:r>
              <a:rPr lang="en-US" sz="75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Continue from stage map...</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Invoke exactly model.</a:t>
            </a:r>
            <a:r>
              <a:rPr lang="en-US" sz="800" dirty="0">
                <a:solidFill>
                  <a:srgbClr val="D4D4D4"/>
                </a:solidFill>
                <a:latin typeface="JetBrains Mono" pitchFamily="34" charset="0"/>
                <a:ea typeface="JetBrains Mono" pitchFamily="34" charset="-122"/>
                <a:cs typeface="JetBrains Mono" pitchFamily="34" charset="-120"/>
              </a:rPr>
              <a:t>
</a:t>
            </a:r>
            <a:endParaRPr lang="en-US" sz="800" dirty="0"/>
          </a:p>
        </p:txBody>
      </p:sp>
      <p:sp>
        <p:nvSpPr>
          <p:cNvPr id="48" name="Text 44"/>
          <p:cNvSpPr/>
          <p:nvPr/>
        </p:nvSpPr>
        <p:spPr>
          <a:xfrm>
            <a:off x="4114800" y="2892493"/>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9" name="Shape 45"/>
          <p:cNvSpPr/>
          <p:nvPr/>
        </p:nvSpPr>
        <p:spPr>
          <a:xfrm>
            <a:off x="4114800" y="3059646"/>
            <a:ext cx="4572000" cy="850106"/>
          </a:xfrm>
          <a:prstGeom prst="rect">
            <a:avLst/>
          </a:prstGeom>
          <a:solidFill>
            <a:srgbClr val="2D2D2D"/>
          </a:solidFill>
          <a:ln w="18288">
            <a:solidFill>
              <a:srgbClr val="444444"/>
            </a:solidFill>
            <a:prstDash val="solid"/>
          </a:ln>
        </p:spPr>
      </p:sp>
      <p:sp>
        <p:nvSpPr>
          <p:cNvPr id="50" name="Text 46"/>
          <p:cNvSpPr/>
          <p:nvPr/>
        </p:nvSpPr>
        <p:spPr>
          <a:xfrm>
            <a:off x="4114800" y="3059646"/>
            <a:ext cx="4572000" cy="850106"/>
          </a:xfrm>
          <a:prstGeom prst="rect">
            <a:avLst/>
          </a:prstGeom>
          <a:noFill/>
          <a:ln/>
        </p:spPr>
        <p:txBody>
          <a:bodyPr wrap="square" lIns="153035" tIns="119126" rIns="153035" bIns="119126" rtlCol="0" anchor="t">
            <a:spAutoFit/>
          </a:bodyPr>
          <a:lstStyle/>
          <a:p>
            <a:pPr algn="l" indent="0" marL="0">
              <a:lnSpc>
                <a:spcPct val="116000"/>
              </a:lnSpc>
              <a:buNone/>
            </a:pPr>
            <a:r>
              <a:rPr lang="en-US" sz="75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Approve model and invoke exactly generate. Then invoke exactly </a:t>
            </a:r>
            <a:r>
              <a:rPr lang="en-US" sz="800" dirty="0">
                <a:solidFill>
                  <a:srgbClr val="D4D4D4"/>
                </a:solidFill>
                <a:latin typeface="JetBrains Mono" pitchFamily="34" charset="0"/>
                <a:ea typeface="JetBrains Mono" pitchFamily="34" charset="-122"/>
                <a:cs typeface="JetBrains Mono" pitchFamily="34" charset="-120"/>
              </a:rPr>
              <a:t>test.</a:t>
            </a:r>
            <a:endParaRPr lang="en-US" sz="800" dirty="0"/>
          </a:p>
        </p:txBody>
      </p:sp>
      <p:sp>
        <p:nvSpPr>
          <p:cNvPr id="51" name="Shape 47"/>
          <p:cNvSpPr/>
          <p:nvPr/>
        </p:nvSpPr>
        <p:spPr>
          <a:xfrm rot="-60000">
            <a:off x="542925" y="4434929"/>
            <a:ext cx="8601075" cy="651421"/>
          </a:xfrm>
          <a:prstGeom prst="rect">
            <a:avLst/>
          </a:prstGeom>
          <a:solidFill>
            <a:srgbClr val="FFDF00"/>
          </a:solidFill>
          <a:ln w="27432">
            <a:solidFill>
              <a:srgbClr val="111111"/>
            </a:solidFill>
            <a:prstDash val="solid"/>
          </a:ln>
        </p:spPr>
      </p:sp>
      <p:sp>
        <p:nvSpPr>
          <p:cNvPr id="52" name="Text 48"/>
          <p:cNvSpPr/>
          <p:nvPr/>
        </p:nvSpPr>
        <p:spPr>
          <a:xfrm rot="-60000">
            <a:off x="544622" y="4472394"/>
            <a:ext cx="8597681" cy="576491"/>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Policy bec</a:t>
            </a:r>
            <a:r>
              <a:rPr lang="en-US" sz="1250" dirty="0">
                <a:solidFill>
                  <a:srgbClr val="111111"/>
                </a:solidFill>
                <a:latin typeface="Kalam Bold" pitchFamily="34" charset="0"/>
                <a:ea typeface="Kalam Bold" pitchFamily="34" charset="-122"/>
                <a:cs typeface="Kalam Bold" pitchFamily="34" charset="-120"/>
              </a:rPr>
              <a:t>omes sema</a:t>
            </a:r>
            <a:r>
              <a:rPr lang="en-US" sz="1250" dirty="0">
                <a:solidFill>
                  <a:srgbClr val="111111"/>
                </a:solidFill>
                <a:latin typeface="Kalam Bold" pitchFamily="34" charset="0"/>
                <a:ea typeface="Kalam Bold" pitchFamily="34" charset="-122"/>
                <a:cs typeface="Kalam Bold" pitchFamily="34" charset="-120"/>
              </a:rPr>
              <a:t>ntic IR, se</a:t>
            </a:r>
            <a:r>
              <a:rPr lang="en-US" sz="1250" dirty="0">
                <a:solidFill>
                  <a:srgbClr val="111111"/>
                </a:solidFill>
                <a:latin typeface="Kalam Bold" pitchFamily="34" charset="0"/>
                <a:ea typeface="Kalam Bold" pitchFamily="34" charset="-122"/>
                <a:cs typeface="Kalam Bold" pitchFamily="34" charset="-120"/>
              </a:rPr>
              <a:t>mantic IR </a:t>
            </a:r>
            <a:r>
              <a:rPr lang="en-US" sz="1250" dirty="0">
                <a:solidFill>
                  <a:srgbClr val="111111"/>
                </a:solidFill>
                <a:latin typeface="Kalam Bold" pitchFamily="34" charset="0"/>
                <a:ea typeface="Kalam Bold" pitchFamily="34" charset="-122"/>
                <a:cs typeface="Kalam Bold" pitchFamily="34" charset="-120"/>
              </a:rPr>
              <a:t>becomes Py</a:t>
            </a:r>
            <a:r>
              <a:rPr lang="en-US" sz="1250" dirty="0">
                <a:solidFill>
                  <a:srgbClr val="111111"/>
                </a:solidFill>
                <a:latin typeface="Kalam Bold" pitchFamily="34" charset="0"/>
                <a:ea typeface="Kalam Bold" pitchFamily="34" charset="-122"/>
                <a:cs typeface="Kalam Bold" pitchFamily="34" charset="-120"/>
              </a:rPr>
              <a:t>thon, Pyth</a:t>
            </a:r>
            <a:r>
              <a:rPr lang="en-US" sz="1250" dirty="0">
                <a:solidFill>
                  <a:srgbClr val="111111"/>
                </a:solidFill>
                <a:latin typeface="Kalam Bold" pitchFamily="34" charset="0"/>
                <a:ea typeface="Kalam Bold" pitchFamily="34" charset="-122"/>
                <a:cs typeface="Kalam Bold" pitchFamily="34" charset="-120"/>
              </a:rPr>
              <a:t>on must s</a:t>
            </a:r>
            <a:r>
              <a:rPr lang="en-US" sz="1250" dirty="0">
                <a:solidFill>
                  <a:srgbClr val="111111"/>
                </a:solidFill>
                <a:latin typeface="Kalam Bold" pitchFamily="34" charset="0"/>
                <a:ea typeface="Kalam Bold" pitchFamily="34" charset="-122"/>
                <a:cs typeface="Kalam Bold" pitchFamily="34" charset="-120"/>
              </a:rPr>
              <a:t>till pass ti</a:t>
            </a:r>
            <a:r>
              <a:rPr lang="en-US" sz="1250" dirty="0">
                <a:solidFill>
                  <a:srgbClr val="111111"/>
                </a:solidFill>
                <a:latin typeface="Kalam Bold" pitchFamily="34" charset="0"/>
                <a:ea typeface="Kalam Bold" pitchFamily="34" charset="-122"/>
                <a:cs typeface="Kalam Bold" pitchFamily="34" charset="-120"/>
              </a:rPr>
              <a:t>e-</a:t>
            </a:r>
            <a:r>
              <a:rPr lang="en-US" sz="1250" dirty="0">
                <a:solidFill>
                  <a:srgbClr val="111111"/>
                </a:solidFill>
                <a:latin typeface="Kalam Bold" pitchFamily="34" charset="0"/>
                <a:ea typeface="Kalam Bold" pitchFamily="34" charset="-122"/>
                <a:cs typeface="Kalam Bold" pitchFamily="34" charset="-120"/>
              </a:rPr>
              <a:t>out.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VALIDATE RUNS THE TIE-OUT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Run approved Python producer</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actual.csv</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Compare against SAS oracle</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Apply keys and tolerances</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evidence bundle</a:t>
            </a:r>
            <a:endParaRPr lang="en-US" sz="850" dirty="0"/>
          </a:p>
        </p:txBody>
      </p:sp>
      <p:sp>
        <p:nvSpPr>
          <p:cNvPr id="28" name="Shape 24"/>
          <p:cNvSpPr/>
          <p:nvPr/>
        </p:nvSpPr>
        <p:spPr>
          <a:xfrm>
            <a:off x="271463" y="3504009"/>
            <a:ext cx="3429000" cy="917972"/>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artifacts/evidence/.../tieout_result.json</a:t>
            </a:r>
            <a:endParaRPr lang="en-US" sz="600" dirty="0"/>
          </a:p>
        </p:txBody>
      </p:sp>
      <p:sp>
        <p:nvSpPr>
          <p:cNvPr id="31" name="Text 27"/>
          <p:cNvSpPr/>
          <p:nvPr/>
        </p:nvSpPr>
        <p:spPr>
          <a:xfrm>
            <a:off x="371475" y="3979069"/>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artifacts/evidence/.../tieout_summary.md</a:t>
            </a:r>
            <a:endParaRPr lang="en-US" sz="600" dirty="0"/>
          </a:p>
        </p:txBody>
      </p:sp>
      <p:sp>
        <p:nvSpPr>
          <p:cNvPr id="32" name="Text 28"/>
          <p:cNvSpPr/>
          <p:nvPr/>
        </p:nvSpPr>
        <p:spPr>
          <a:xfrm>
            <a:off x="371475" y="4129088"/>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600" dirty="0"/>
          </a:p>
        </p:txBody>
      </p:sp>
      <p:sp>
        <p:nvSpPr>
          <p:cNvPr id="33" name="Text 29"/>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34" name="Shape 30"/>
          <p:cNvSpPr/>
          <p:nvPr/>
        </p:nvSpPr>
        <p:spPr>
          <a:xfrm>
            <a:off x="3929063" y="1332309"/>
            <a:ext cx="4943475" cy="3282553"/>
          </a:xfrm>
          <a:prstGeom prst="rect">
            <a:avLst/>
          </a:prstGeom>
          <a:solidFill>
            <a:srgbClr val="1E1E1E"/>
          </a:solidFill>
          <a:ln w="27432">
            <a:solidFill>
              <a:srgbClr val="111111"/>
            </a:solidFill>
            <a:prstDash val="solid"/>
          </a:ln>
        </p:spPr>
      </p:sp>
      <p:sp>
        <p:nvSpPr>
          <p:cNvPr id="35" name="Shape 31"/>
          <p:cNvSpPr/>
          <p:nvPr/>
        </p:nvSpPr>
        <p:spPr>
          <a:xfrm>
            <a:off x="3929063" y="1332309"/>
            <a:ext cx="4943475" cy="300038"/>
          </a:xfrm>
          <a:prstGeom prst="rect">
            <a:avLst/>
          </a:prstGeom>
          <a:solidFill>
            <a:srgbClr val="323233"/>
          </a:solidFill>
          <a:ln/>
        </p:spPr>
      </p:sp>
      <p:sp>
        <p:nvSpPr>
          <p:cNvPr id="36" name="Shape 32"/>
          <p:cNvSpPr/>
          <p:nvPr/>
        </p:nvSpPr>
        <p:spPr>
          <a:xfrm>
            <a:off x="3929063" y="1618059"/>
            <a:ext cx="4943475" cy="14288"/>
          </a:xfrm>
          <a:prstGeom prst="rect">
            <a:avLst/>
          </a:prstGeom>
          <a:solidFill>
            <a:srgbClr val="111111"/>
          </a:solidFill>
          <a:ln/>
        </p:spPr>
      </p:sp>
      <p:sp>
        <p:nvSpPr>
          <p:cNvPr id="37" name="Text 33"/>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8" name="Text 34"/>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39" name="Shape 35"/>
          <p:cNvSpPr/>
          <p:nvPr/>
        </p:nvSpPr>
        <p:spPr>
          <a:xfrm>
            <a:off x="4114800" y="1956662"/>
            <a:ext cx="4572000" cy="1129717"/>
          </a:xfrm>
          <a:prstGeom prst="rect">
            <a:avLst/>
          </a:prstGeom>
          <a:solidFill>
            <a:srgbClr val="2D2D2D"/>
          </a:solidFill>
          <a:ln w="18288">
            <a:solidFill>
              <a:srgbClr val="444444"/>
            </a:solidFill>
            <a:prstDash val="solid"/>
          </a:ln>
        </p:spPr>
      </p:sp>
      <p:sp>
        <p:nvSpPr>
          <p:cNvPr id="40" name="Text 36"/>
          <p:cNvSpPr/>
          <p:nvPr/>
        </p:nvSpPr>
        <p:spPr>
          <a:xfrm>
            <a:off x="4114800" y="1956662"/>
            <a:ext cx="4572000" cy="1129717"/>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/run-next-stage LC-LOGIT-01</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Approve fixture and tie-out contract.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validate.</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Run the governed tie-out.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with PASS, FAIL, or BLOCKED.</a:t>
            </a:r>
            <a:endParaRPr lang="en-US" sz="750" dirty="0"/>
          </a:p>
        </p:txBody>
      </p:sp>
      <p:sp>
        <p:nvSpPr>
          <p:cNvPr id="41" name="Shape 37"/>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2" name="Text 38"/>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Parity is </a:t>
            </a:r>
            <a:r>
              <a:rPr lang="en-US" sz="1250" dirty="0">
                <a:solidFill>
                  <a:srgbClr val="111111"/>
                </a:solidFill>
                <a:latin typeface="Kalam Bold" pitchFamily="34" charset="0"/>
                <a:ea typeface="Kalam Bold" pitchFamily="34" charset="-122"/>
                <a:cs typeface="Kalam Bold" pitchFamily="34" charset="-120"/>
              </a:rPr>
              <a:t>claimed on</a:t>
            </a:r>
            <a:r>
              <a:rPr lang="en-US" sz="1250" dirty="0">
                <a:solidFill>
                  <a:srgbClr val="111111"/>
                </a:solidFill>
                <a:latin typeface="Kalam Bold" pitchFamily="34" charset="0"/>
                <a:ea typeface="Kalam Bold" pitchFamily="34" charset="-122"/>
                <a:cs typeface="Kalam Bold" pitchFamily="34" charset="-120"/>
              </a:rPr>
              <a:t>ly through</a:t>
            </a:r>
            <a:r>
              <a:rPr lang="en-US" sz="1250" dirty="0">
                <a:solidFill>
                  <a:srgbClr val="111111"/>
                </a:solidFill>
                <a:latin typeface="Kalam Bold" pitchFamily="34" charset="0"/>
                <a:ea typeface="Kalam Bold" pitchFamily="34" charset="-122"/>
                <a:cs typeface="Kalam Bold" pitchFamily="34" charset="-120"/>
              </a:rPr>
              <a:t> generated </a:t>
            </a:r>
            <a:r>
              <a:rPr lang="en-US" sz="1250" dirty="0">
                <a:solidFill>
                  <a:srgbClr val="111111"/>
                </a:solidFill>
                <a:latin typeface="Kalam Bold" pitchFamily="34" charset="0"/>
                <a:ea typeface="Kalam Bold" pitchFamily="34" charset="-122"/>
                <a:cs typeface="Kalam Bold" pitchFamily="34" charset="-120"/>
              </a:rPr>
              <a:t>evidence.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FAIL: ROUTE THE FAILURE</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Preserve failed evidence</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Normalize failure evidence</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Diagnose earliest failed gate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Repair one owning layer</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Review independently</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WHAT I ASKED COPILOT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80022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8002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/analyze-failure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Use failed tie-out evidence.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exactly ingest.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Normalize evidence and stop.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Then diagnose.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Then repair one owning layer.</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Then review.</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Fai</a:t>
            </a:r>
            <a:r>
              <a:rPr lang="en-US" sz="1250" dirty="0">
                <a:solidFill>
                  <a:srgbClr val="111111"/>
                </a:solidFill>
                <a:latin typeface="Kalam Bold" pitchFamily="34" charset="0"/>
                <a:ea typeface="Kalam Bold" pitchFamily="34" charset="-122"/>
                <a:cs typeface="Kalam Bold" pitchFamily="34" charset="-120"/>
              </a:rPr>
              <a:t>lure becom</a:t>
            </a:r>
            <a:r>
              <a:rPr lang="en-US" sz="1250" dirty="0">
                <a:solidFill>
                  <a:srgbClr val="111111"/>
                </a:solidFill>
                <a:latin typeface="Kalam Bold" pitchFamily="34" charset="0"/>
                <a:ea typeface="Kalam Bold" pitchFamily="34" charset="-122"/>
                <a:cs typeface="Kalam Bold" pitchFamily="34" charset="-120"/>
              </a:rPr>
              <a:t>es evidenc</a:t>
            </a:r>
            <a:r>
              <a:rPr lang="en-US" sz="1250" dirty="0">
                <a:solidFill>
                  <a:srgbClr val="111111"/>
                </a:solidFill>
                <a:latin typeface="Kalam Bold" pitchFamily="34" charset="0"/>
                <a:ea typeface="Kalam Bold" pitchFamily="34" charset="-122"/>
                <a:cs typeface="Kalam Bold" pitchFamily="34" charset="-120"/>
              </a:rPr>
              <a:t>e, not a re</a:t>
            </a:r>
            <a:r>
              <a:rPr lang="en-US" sz="1250" dirty="0">
                <a:solidFill>
                  <a:srgbClr val="111111"/>
                </a:solidFill>
                <a:latin typeface="Kalam Bold" pitchFamily="34" charset="0"/>
                <a:ea typeface="Kalam Bold" pitchFamily="34" charset="-122"/>
                <a:cs typeface="Kalam Bold" pitchFamily="34" charset="-120"/>
              </a:rPr>
              <a:t>ason to loo</a:t>
            </a:r>
            <a:r>
              <a:rPr lang="en-US" sz="1250" dirty="0">
                <a:solidFill>
                  <a:srgbClr val="111111"/>
                </a:solidFill>
                <a:latin typeface="Kalam Bold" pitchFamily="34" charset="0"/>
                <a:ea typeface="Kalam Bold" pitchFamily="34" charset="-122"/>
                <a:cs typeface="Kalam Bold" pitchFamily="34" charset="-120"/>
              </a:rPr>
              <a:t>sen the pro</a:t>
            </a:r>
            <a:r>
              <a:rPr lang="en-US" sz="1250" dirty="0">
                <a:solidFill>
                  <a:srgbClr val="111111"/>
                </a:solidFill>
                <a:latin typeface="Kalam Bold" pitchFamily="34" charset="0"/>
                <a:ea typeface="Kalam Bold" pitchFamily="34" charset="-122"/>
                <a:cs typeface="Kalam Bold" pitchFamily="34" charset="-120"/>
              </a:rPr>
              <a:t>of.</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557838"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THE EVIDENCE TRAIL</a:t>
            </a:r>
            <a:endParaRPr lang="en-US" sz="2550" dirty="0"/>
          </a:p>
        </p:txBody>
      </p:sp>
      <p:sp>
        <p:nvSpPr>
          <p:cNvPr id="7" name="Text 3"/>
          <p:cNvSpPr/>
          <p:nvPr/>
        </p:nvSpPr>
        <p:spPr>
          <a:xfrm>
            <a:off x="271463" y="632222"/>
            <a:ext cx="5557838"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1: Extract exactly what SAS executed.</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reads the SAS program and logs to reconstruct behavior without writing any Python.</a:t>
            </a:r>
            <a:endParaRPr lang="en-US" sz="950" dirty="0"/>
          </a:p>
        </p:txBody>
      </p:sp>
      <p:sp>
        <p:nvSpPr>
          <p:cNvPr id="11" name="Shape 7"/>
          <p:cNvSpPr/>
          <p:nvPr/>
        </p:nvSpPr>
        <p:spPr>
          <a:xfrm>
            <a:off x="271463" y="2375911"/>
            <a:ext cx="2571750" cy="1665108"/>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trace file records exactly which models ran and how they converged.</a:t>
            </a:r>
            <a:endParaRPr lang="en-US" sz="950" dirty="0"/>
          </a:p>
        </p:txBody>
      </p:sp>
      <p:sp>
        <p:nvSpPr>
          <p:cNvPr id="14" name="Shape 10"/>
          <p:cNvSpPr/>
          <p:nvPr/>
        </p:nvSpPr>
        <p:spPr>
          <a:xfrm>
            <a:off x="414338" y="3523097"/>
            <a:ext cx="2286000" cy="33218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execution_trace.json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414463" cy="314325"/>
          </a:xfrm>
          <a:prstGeom prst="rect">
            <a:avLst/>
          </a:prstGeom>
          <a:solidFill>
            <a:srgbClr val="1E1E1E"/>
          </a:solidFill>
          <a:ln/>
        </p:spPr>
      </p:sp>
      <p:sp>
        <p:nvSpPr>
          <p:cNvPr id="20" name="Shape 16"/>
          <p:cNvSpPr/>
          <p:nvPr/>
        </p:nvSpPr>
        <p:spPr>
          <a:xfrm>
            <a:off x="3729038" y="1078706"/>
            <a:ext cx="1414463" cy="28575"/>
          </a:xfrm>
          <a:prstGeom prst="rect">
            <a:avLst/>
          </a:prstGeom>
          <a:solidFill>
            <a:srgbClr val="0055FF"/>
          </a:solidFill>
          <a:ln/>
        </p:spPr>
      </p:sp>
      <p:sp>
        <p:nvSpPr>
          <p:cNvPr id="21" name="Text 17"/>
          <p:cNvSpPr/>
          <p:nvPr/>
        </p:nvSpPr>
        <p:spPr>
          <a:xfrm>
            <a:off x="3729038" y="1078706"/>
            <a:ext cx="1414463" cy="314325"/>
          </a:xfrm>
          <a:prstGeom prst="rect">
            <a:avLst/>
          </a:prstGeom>
          <a:noFill/>
          <a:ln/>
        </p:spPr>
        <p:txBody>
          <a:bodyPr wrap="squar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execution_trace.json</a:t>
            </a:r>
            <a:endParaRPr lang="en-US" sz="750" dirty="0"/>
          </a:p>
        </p:txBody>
      </p:sp>
      <p:sp>
        <p:nvSpPr>
          <p:cNvPr id="22" name="Text 18"/>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"step_id"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"S04"</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"command"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"PROC LOGISTIC"</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"inputs"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"WORK.TRAIN_DATA"</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"outputs"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"model_store"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"WORK.LC_LOGIT_01"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"target"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"Default (Event='1')"</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"log_evidence"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"observations_read"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"1265975"</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"convergence"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"Satisfied"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3" name="Shape 19"/>
          <p:cNvSpPr/>
          <p:nvPr/>
        </p:nvSpPr>
        <p:spPr>
          <a:xfrm>
            <a:off x="0" y="4814888"/>
            <a:ext cx="9144000" cy="328613"/>
          </a:xfrm>
          <a:prstGeom prst="rect">
            <a:avLst/>
          </a:prstGeom>
          <a:solidFill>
            <a:srgbClr val="0055FF"/>
          </a:solidFill>
          <a:ln/>
        </p:spPr>
      </p:sp>
      <p:sp>
        <p:nvSpPr>
          <p:cNvPr id="24" name="Shape 20"/>
          <p:cNvSpPr/>
          <p:nvPr/>
        </p:nvSpPr>
        <p:spPr>
          <a:xfrm>
            <a:off x="0" y="4814888"/>
            <a:ext cx="9144000" cy="28575"/>
          </a:xfrm>
          <a:prstGeom prst="rect">
            <a:avLst/>
          </a:prstGeom>
          <a:solidFill>
            <a:srgbClr val="111111"/>
          </a:solidFill>
          <a:ln/>
        </p:spPr>
      </p:sp>
      <p:sp>
        <p:nvSpPr>
          <p:cNvPr id="25" name="Text 21"/>
          <p:cNvSpPr/>
          <p:nvPr/>
        </p:nvSpPr>
        <p:spPr>
          <a:xfrm>
            <a:off x="271463" y="4918472"/>
            <a:ext cx="1092994"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3: THE TRACE</a:t>
            </a:r>
            <a:endParaRPr lang="en-US" sz="700" dirty="0"/>
          </a:p>
        </p:txBody>
      </p:sp>
      <p:sp>
        <p:nvSpPr>
          <p:cNvPr id="26" name="Text 22"/>
          <p:cNvSpPr/>
          <p:nvPr/>
        </p:nvSpPr>
        <p:spPr>
          <a:xfrm>
            <a:off x="6240066" y="4918472"/>
            <a:ext cx="2632472"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ARTIFACTS/EXECUTION_TRACE.JSON</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175647"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SEMANTIC MODEL</a:t>
            </a:r>
            <a:endParaRPr lang="en-US" sz="2550" dirty="0"/>
          </a:p>
        </p:txBody>
      </p:sp>
      <p:sp>
        <p:nvSpPr>
          <p:cNvPr id="7" name="Text 3"/>
          <p:cNvSpPr/>
          <p:nvPr/>
        </p:nvSpPr>
        <p:spPr>
          <a:xfrm>
            <a:off x="271463" y="632222"/>
            <a:ext cx="5175647"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2: Turn SAS behavior into a Python-ready contract.</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models the math and transformations explicitly, preserving ownership.</a:t>
            </a:r>
            <a:endParaRPr lang="en-US" sz="950" dirty="0"/>
          </a:p>
        </p:txBody>
      </p:sp>
      <p:sp>
        <p:nvSpPr>
          <p:cNvPr id="11" name="Shape 7"/>
          <p:cNvSpPr/>
          <p:nvPr/>
        </p:nvSpPr>
        <p:spPr>
          <a:xfrm>
            <a:off x="271463" y="2375911"/>
            <a:ext cx="2571750" cy="1665108"/>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semantic IR prevents the generator from improvising formulas.</a:t>
            </a:r>
            <a:endParaRPr lang="en-US" sz="950" dirty="0"/>
          </a:p>
        </p:txBody>
      </p:sp>
      <p:sp>
        <p:nvSpPr>
          <p:cNvPr id="14" name="Shape 10"/>
          <p:cNvSpPr/>
          <p:nvPr/>
        </p:nvSpPr>
        <p:spPr>
          <a:xfrm>
            <a:off x="414338" y="3523097"/>
            <a:ext cx="2286000" cy="33218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semantic_ir/LC-LOGIT-01.json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257300" cy="314325"/>
          </a:xfrm>
          <a:prstGeom prst="rect">
            <a:avLst/>
          </a:prstGeom>
          <a:solidFill>
            <a:srgbClr val="1E1E1E"/>
          </a:solidFill>
          <a:ln/>
        </p:spPr>
      </p:sp>
      <p:sp>
        <p:nvSpPr>
          <p:cNvPr id="20" name="Shape 16"/>
          <p:cNvSpPr/>
          <p:nvPr/>
        </p:nvSpPr>
        <p:spPr>
          <a:xfrm>
            <a:off x="3729038" y="1078706"/>
            <a:ext cx="1257300" cy="28575"/>
          </a:xfrm>
          <a:prstGeom prst="rect">
            <a:avLst/>
          </a:prstGeom>
          <a:solidFill>
            <a:srgbClr val="0055FF"/>
          </a:solidFill>
          <a:ln/>
        </p:spPr>
      </p:sp>
      <p:sp>
        <p:nvSpPr>
          <p:cNvPr id="21" name="Text 17"/>
          <p:cNvSpPr/>
          <p:nvPr/>
        </p:nvSpPr>
        <p:spPr>
          <a:xfrm>
            <a:off x="3729038" y="1078706"/>
            <a:ext cx="1257300"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LC-LOGIT-01.json</a:t>
            </a:r>
            <a:endParaRPr lang="en-US" sz="750" dirty="0"/>
          </a:p>
        </p:txBody>
      </p:sp>
      <p:sp>
        <p:nvSpPr>
          <p:cNvPr id="22" name="Text 18"/>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"step_id"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"T003"</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"name"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"logistic_link_transformation"</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"description"</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"Calculate probability with stability guards"</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"formula"</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"phat = 1.0 / (1.0 + exp(-eta))"</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"target_event"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"Default=1"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"direction"</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"DESCENDING"</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3" name="Shape 19"/>
          <p:cNvSpPr/>
          <p:nvPr/>
        </p:nvSpPr>
        <p:spPr>
          <a:xfrm>
            <a:off x="0" y="4814888"/>
            <a:ext cx="9144000" cy="328613"/>
          </a:xfrm>
          <a:prstGeom prst="rect">
            <a:avLst/>
          </a:prstGeom>
          <a:solidFill>
            <a:srgbClr val="0055FF"/>
          </a:solidFill>
          <a:ln/>
        </p:spPr>
      </p:sp>
      <p:sp>
        <p:nvSpPr>
          <p:cNvPr id="24" name="Shape 20"/>
          <p:cNvSpPr/>
          <p:nvPr/>
        </p:nvSpPr>
        <p:spPr>
          <a:xfrm>
            <a:off x="0" y="4814888"/>
            <a:ext cx="9144000" cy="28575"/>
          </a:xfrm>
          <a:prstGeom prst="rect">
            <a:avLst/>
          </a:prstGeom>
          <a:solidFill>
            <a:srgbClr val="111111"/>
          </a:solidFill>
          <a:ln/>
        </p:spPr>
      </p:sp>
      <p:sp>
        <p:nvSpPr>
          <p:cNvPr id="25" name="Text 21"/>
          <p:cNvSpPr/>
          <p:nvPr/>
        </p:nvSpPr>
        <p:spPr>
          <a:xfrm>
            <a:off x="271463" y="4918472"/>
            <a:ext cx="174664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4: THE SEMANTIC MODEL</a:t>
            </a:r>
            <a:endParaRPr lang="en-US" sz="700" dirty="0"/>
          </a:p>
        </p:txBody>
      </p:sp>
      <p:sp>
        <p:nvSpPr>
          <p:cNvPr id="26" name="Text 22"/>
          <p:cNvSpPr/>
          <p:nvPr/>
        </p:nvSpPr>
        <p:spPr>
          <a:xfrm>
            <a:off x="5811441" y="4918472"/>
            <a:ext cx="306109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ARTIFACTS/SEMANTIC_IR/LC-LOGIT-01.JSON</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9541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PYTHON RESULT</a:t>
            </a:r>
            <a:endParaRPr lang="en-US" sz="2550" dirty="0"/>
          </a:p>
        </p:txBody>
      </p:sp>
      <p:sp>
        <p:nvSpPr>
          <p:cNvPr id="7" name="Text 3"/>
          <p:cNvSpPr/>
          <p:nvPr/>
        </p:nvSpPr>
        <p:spPr>
          <a:xfrm>
            <a:off x="271463" y="632222"/>
            <a:ext cx="49541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3: Generate code from the semantic rules.</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translates the semantic IR into pure Python and cites the original SAS.</a:t>
            </a:r>
            <a:endParaRPr lang="en-US" sz="950" dirty="0"/>
          </a:p>
        </p:txBody>
      </p:sp>
      <p:sp>
        <p:nvSpPr>
          <p:cNvPr id="11" name="Shape 7"/>
          <p:cNvSpPr/>
          <p:nvPr/>
        </p:nvSpPr>
        <p:spPr>
          <a:xfrm>
            <a:off x="271463" y="2375911"/>
            <a:ext cx="2571750" cy="1488691"/>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 deterministic scoring function ready for local parity testing.</a:t>
            </a:r>
            <a:endParaRPr lang="en-US" sz="950" dirty="0"/>
          </a:p>
        </p:txBody>
      </p:sp>
      <p:sp>
        <p:nvSpPr>
          <p:cNvPr id="14" name="Shape 10"/>
          <p:cNvSpPr/>
          <p:nvPr/>
        </p:nvSpPr>
        <p:spPr>
          <a:xfrm>
            <a:off x="414338" y="3346679"/>
            <a:ext cx="2286000" cy="332184"/>
          </a:xfrm>
          <a:prstGeom prst="rect">
            <a:avLst/>
          </a:prstGeom>
          <a:solidFill>
            <a:srgbClr val="FFF7CC"/>
          </a:solidFill>
          <a:ln w="18288">
            <a:solidFill>
              <a:srgbClr val="111111"/>
            </a:solidFill>
            <a:prstDash val="solid"/>
          </a:ln>
        </p:spPr>
      </p:sp>
      <p:sp>
        <p:nvSpPr>
          <p:cNvPr id="15" name="Text 11"/>
          <p:cNvSpPr/>
          <p:nvPr/>
        </p:nvSpPr>
        <p:spPr>
          <a:xfrm>
            <a:off x="414338" y="3346679"/>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892969" cy="314325"/>
          </a:xfrm>
          <a:prstGeom prst="rect">
            <a:avLst/>
          </a:prstGeom>
          <a:solidFill>
            <a:srgbClr val="1E1E1E"/>
          </a:solidFill>
          <a:ln/>
        </p:spPr>
      </p:sp>
      <p:sp>
        <p:nvSpPr>
          <p:cNvPr id="20" name="Shape 16"/>
          <p:cNvSpPr/>
          <p:nvPr/>
        </p:nvSpPr>
        <p:spPr>
          <a:xfrm>
            <a:off x="3729038" y="1078706"/>
            <a:ext cx="892969" cy="28575"/>
          </a:xfrm>
          <a:prstGeom prst="rect">
            <a:avLst/>
          </a:prstGeom>
          <a:solidFill>
            <a:srgbClr val="0055FF"/>
          </a:solidFill>
          <a:ln/>
        </p:spPr>
      </p:sp>
      <p:sp>
        <p:nvSpPr>
          <p:cNvPr id="21" name="Text 17"/>
          <p:cNvSpPr/>
          <p:nvPr/>
        </p:nvSpPr>
        <p:spPr>
          <a:xfrm>
            <a:off x="3729038" y="1078706"/>
            <a:ext cx="892969"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scoring.py</a:t>
            </a:r>
            <a:endParaRPr lang="en-US" sz="750" dirty="0"/>
          </a:p>
        </p:txBody>
      </p:sp>
      <p:sp>
        <p:nvSpPr>
          <p:cNvPr id="22" name="Text 18"/>
          <p:cNvSpPr/>
          <p:nvPr/>
        </p:nvSpPr>
        <p:spPr>
          <a:xfrm>
            <a:off x="3271838" y="1578769"/>
            <a:ext cx="203597"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def</a:t>
            </a:r>
            <a:endParaRPr lang="en-US" sz="800" dirty="0"/>
          </a:p>
        </p:txBody>
      </p:sp>
      <p:sp>
        <p:nvSpPr>
          <p:cNvPr id="23" name="Text 19"/>
          <p:cNvSpPr/>
          <p:nvPr/>
        </p:nvSpPr>
        <p:spPr>
          <a:xfrm>
            <a:off x="3543300" y="1578769"/>
            <a:ext cx="542925"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CDCAA"/>
                </a:solidFill>
                <a:latin typeface="JetBrains Mono" pitchFamily="34" charset="0"/>
                <a:ea typeface="JetBrains Mono" pitchFamily="34" charset="-122"/>
                <a:cs typeface="JetBrains Mono" pitchFamily="34" charset="-120"/>
              </a:rPr>
              <a:t>logistic</a:t>
            </a:r>
            <a:endParaRPr lang="en-US" sz="850" dirty="0"/>
          </a:p>
        </p:txBody>
      </p:sp>
      <p:sp>
        <p:nvSpPr>
          <p:cNvPr id="24" name="Text 20"/>
          <p:cNvSpPr/>
          <p:nvPr/>
        </p:nvSpPr>
        <p:spPr>
          <a:xfrm>
            <a:off x="4086225" y="1578769"/>
            <a:ext cx="407194"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(eta:</a:t>
            </a:r>
            <a:endParaRPr lang="en-US" sz="850" dirty="0"/>
          </a:p>
        </p:txBody>
      </p:sp>
      <p:sp>
        <p:nvSpPr>
          <p:cNvPr id="25" name="Text 21"/>
          <p:cNvSpPr/>
          <p:nvPr/>
        </p:nvSpPr>
        <p:spPr>
          <a:xfrm>
            <a:off x="4493419" y="1578769"/>
            <a:ext cx="339328"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float</a:t>
            </a:r>
            <a:endParaRPr lang="en-US" sz="800" dirty="0"/>
          </a:p>
        </p:txBody>
      </p:sp>
      <p:sp>
        <p:nvSpPr>
          <p:cNvPr id="26" name="Text 22"/>
          <p:cNvSpPr/>
          <p:nvPr/>
        </p:nvSpPr>
        <p:spPr>
          <a:xfrm>
            <a:off x="4832747" y="1578769"/>
            <a:ext cx="339328"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 -&gt;</a:t>
            </a:r>
            <a:endParaRPr lang="en-US" sz="850" dirty="0"/>
          </a:p>
        </p:txBody>
      </p:sp>
      <p:sp>
        <p:nvSpPr>
          <p:cNvPr id="27" name="Text 23"/>
          <p:cNvSpPr/>
          <p:nvPr/>
        </p:nvSpPr>
        <p:spPr>
          <a:xfrm>
            <a:off x="5172075" y="1578769"/>
            <a:ext cx="339328"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float</a:t>
            </a:r>
            <a:endParaRPr lang="en-US" sz="800" dirty="0"/>
          </a:p>
        </p:txBody>
      </p:sp>
      <p:sp>
        <p:nvSpPr>
          <p:cNvPr id="28" name="Text 24"/>
          <p:cNvSpPr/>
          <p:nvPr/>
        </p:nvSpPr>
        <p:spPr>
          <a:xfrm>
            <a:off x="5511403" y="1578769"/>
            <a:ext cx="67866"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a:t>
            </a:r>
            <a:endParaRPr lang="en-US" sz="850" dirty="0"/>
          </a:p>
        </p:txBody>
      </p:sp>
      <p:sp>
        <p:nvSpPr>
          <p:cNvPr id="29" name="Text 25"/>
          <p:cNvSpPr/>
          <p:nvPr/>
        </p:nvSpPr>
        <p:spPr>
          <a:xfrm>
            <a:off x="3271838" y="1750219"/>
            <a:ext cx="3529013"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"""Return a numerically stable logistic probability.</a:t>
            </a:r>
            <a:endParaRPr lang="en-US" sz="850" dirty="0"/>
          </a:p>
        </p:txBody>
      </p:sp>
      <p:sp>
        <p:nvSpPr>
          <p:cNvPr id="30" name="Text 26"/>
          <p:cNvSpPr/>
          <p:nvPr/>
        </p:nvSpPr>
        <p:spPr>
          <a:xfrm>
            <a:off x="3271838" y="1921669"/>
            <a:ext cx="4004072"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Transforms linear predictor eta to probability p in [0, 1].</a:t>
            </a:r>
            <a:endParaRPr lang="en-US" sz="850" dirty="0"/>
          </a:p>
        </p:txBody>
      </p:sp>
      <p:sp>
        <p:nvSpPr>
          <p:cNvPr id="31" name="Text 27"/>
          <p:cNvSpPr/>
          <p:nvPr/>
        </p:nvSpPr>
        <p:spPr>
          <a:xfrm>
            <a:off x="3271838" y="2093119"/>
            <a:ext cx="3393281"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SAS citation: intake/sas/log_reg_model.sas:423-441</a:t>
            </a:r>
            <a:endParaRPr lang="en-US" sz="850" dirty="0"/>
          </a:p>
        </p:txBody>
      </p:sp>
      <p:sp>
        <p:nvSpPr>
          <p:cNvPr id="32" name="Text 28"/>
          <p:cNvSpPr/>
          <p:nvPr/>
        </p:nvSpPr>
        <p:spPr>
          <a:xfrm>
            <a:off x="3271838" y="2264569"/>
            <a:ext cx="203597"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CE9178"/>
                </a:solidFill>
                <a:latin typeface="JetBrains Mono" pitchFamily="34" charset="0"/>
                <a:ea typeface="JetBrains Mono" pitchFamily="34" charset="-122"/>
                <a:cs typeface="JetBrains Mono" pitchFamily="34" charset="-120"/>
              </a:rPr>
              <a:t>"""</a:t>
            </a:r>
            <a:endParaRPr lang="en-US" sz="850" dirty="0"/>
          </a:p>
        </p:txBody>
      </p:sp>
      <p:sp>
        <p:nvSpPr>
          <p:cNvPr id="33" name="Text 29"/>
          <p:cNvSpPr/>
          <p:nvPr/>
        </p:nvSpPr>
        <p:spPr>
          <a:xfrm>
            <a:off x="3271838" y="2436019"/>
            <a:ext cx="135731"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if</a:t>
            </a:r>
            <a:endParaRPr lang="en-US" sz="800" dirty="0"/>
          </a:p>
        </p:txBody>
      </p:sp>
      <p:sp>
        <p:nvSpPr>
          <p:cNvPr id="34" name="Text 30"/>
          <p:cNvSpPr/>
          <p:nvPr/>
        </p:nvSpPr>
        <p:spPr>
          <a:xfrm>
            <a:off x="3407569" y="2436019"/>
            <a:ext cx="542925"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eta &gt;=</a:t>
            </a:r>
            <a:endParaRPr lang="en-US" sz="850" dirty="0"/>
          </a:p>
        </p:txBody>
      </p:sp>
      <p:sp>
        <p:nvSpPr>
          <p:cNvPr id="35" name="Text 31"/>
          <p:cNvSpPr/>
          <p:nvPr/>
        </p:nvSpPr>
        <p:spPr>
          <a:xfrm>
            <a:off x="3950494" y="2436019"/>
            <a:ext cx="67866"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0</a:t>
            </a:r>
            <a:endParaRPr lang="en-US" sz="800" dirty="0"/>
          </a:p>
        </p:txBody>
      </p:sp>
      <p:sp>
        <p:nvSpPr>
          <p:cNvPr id="36" name="Text 32"/>
          <p:cNvSpPr/>
          <p:nvPr/>
        </p:nvSpPr>
        <p:spPr>
          <a:xfrm>
            <a:off x="4018359" y="2436019"/>
            <a:ext cx="67866"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a:t>
            </a:r>
            <a:endParaRPr lang="en-US" sz="850" dirty="0"/>
          </a:p>
        </p:txBody>
      </p:sp>
      <p:sp>
        <p:nvSpPr>
          <p:cNvPr id="37" name="Text 33"/>
          <p:cNvSpPr/>
          <p:nvPr/>
        </p:nvSpPr>
        <p:spPr>
          <a:xfrm>
            <a:off x="3271838" y="2607469"/>
            <a:ext cx="1221581"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z = math.exp(-eta)</a:t>
            </a:r>
            <a:endParaRPr lang="en-US" sz="850" dirty="0"/>
          </a:p>
        </p:txBody>
      </p:sp>
      <p:sp>
        <p:nvSpPr>
          <p:cNvPr id="38" name="Text 34"/>
          <p:cNvSpPr/>
          <p:nvPr/>
        </p:nvSpPr>
        <p:spPr>
          <a:xfrm>
            <a:off x="3271838" y="2778919"/>
            <a:ext cx="407194"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return</a:t>
            </a:r>
            <a:endParaRPr lang="en-US" sz="800" dirty="0"/>
          </a:p>
        </p:txBody>
      </p:sp>
      <p:sp>
        <p:nvSpPr>
          <p:cNvPr id="39" name="Shape 35"/>
          <p:cNvSpPr/>
          <p:nvPr/>
        </p:nvSpPr>
        <p:spPr>
          <a:xfrm>
            <a:off x="3704034" y="2743200"/>
            <a:ext cx="1103709" cy="228600"/>
          </a:xfrm>
          <a:prstGeom prst="rect">
            <a:avLst/>
          </a:prstGeom>
          <a:solidFill>
            <a:srgbClr val="FFDF00">
              <a:alpha val="20000"/>
            </a:srgbClr>
          </a:solidFill>
          <a:ln w="18288">
            <a:solidFill>
              <a:srgbClr val="FFDF00"/>
            </a:solidFill>
            <a:prstDash val="solid"/>
          </a:ln>
        </p:spPr>
      </p:sp>
      <p:sp>
        <p:nvSpPr>
          <p:cNvPr id="40" name="Text 36"/>
          <p:cNvSpPr/>
          <p:nvPr/>
        </p:nvSpPr>
        <p:spPr>
          <a:xfrm>
            <a:off x="3704034" y="2743200"/>
            <a:ext cx="1103709" cy="228600"/>
          </a:xfrm>
          <a:prstGeom prst="rect">
            <a:avLst/>
          </a:prstGeom>
          <a:noFill/>
          <a:ln/>
        </p:spPr>
        <p:txBody>
          <a:bodyPr wrap="none" lIns="34036" tIns="17018" rIns="34036" bIns="17018"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1.0 / (1.0 + z)</a:t>
            </a:r>
            <a:endParaRPr lang="en-US" sz="850" dirty="0"/>
          </a:p>
        </p:txBody>
      </p:sp>
      <p:sp>
        <p:nvSpPr>
          <p:cNvPr id="41" name="Text 37"/>
          <p:cNvSpPr/>
          <p:nvPr/>
        </p:nvSpPr>
        <p:spPr>
          <a:xfrm>
            <a:off x="3271838" y="2950369"/>
            <a:ext cx="1153716"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z = math.exp(eta)</a:t>
            </a:r>
            <a:endParaRPr lang="en-US" sz="850" dirty="0"/>
          </a:p>
        </p:txBody>
      </p:sp>
      <p:sp>
        <p:nvSpPr>
          <p:cNvPr id="42" name="Text 38"/>
          <p:cNvSpPr/>
          <p:nvPr/>
        </p:nvSpPr>
        <p:spPr>
          <a:xfrm>
            <a:off x="3271838" y="3121819"/>
            <a:ext cx="407194" cy="153591"/>
          </a:xfrm>
          <a:prstGeom prst="rect">
            <a:avLst/>
          </a:prstGeom>
          <a:noFill/>
          <a:ln/>
        </p:spPr>
        <p:txBody>
          <a:bodyPr wrap="none" lIns="0" tIns="0" rIns="0" bIns="0" rtlCol="0" anchor="t">
            <a:spAutoFit/>
          </a:bodyPr>
          <a:lstStyle/>
          <a:p>
            <a:pPr algn="l" indent="0" marL="0">
              <a:lnSpc>
                <a:spcPct val="120000"/>
              </a:lnSpc>
              <a:buNone/>
            </a:pPr>
            <a:r>
              <a:rPr lang="en-US" sz="800" b="1" dirty="0">
                <a:solidFill>
                  <a:srgbClr val="569CD6"/>
                </a:solidFill>
                <a:latin typeface="JetBrains Mono Bold" pitchFamily="34" charset="0"/>
                <a:ea typeface="JetBrains Mono Bold" pitchFamily="34" charset="-122"/>
                <a:cs typeface="JetBrains Mono Bold" pitchFamily="34" charset="-120"/>
              </a:rPr>
              <a:t>return</a:t>
            </a:r>
            <a:endParaRPr lang="en-US" sz="800" dirty="0"/>
          </a:p>
        </p:txBody>
      </p:sp>
      <p:sp>
        <p:nvSpPr>
          <p:cNvPr id="43" name="Text 39"/>
          <p:cNvSpPr/>
          <p:nvPr/>
        </p:nvSpPr>
        <p:spPr>
          <a:xfrm>
            <a:off x="3679031" y="3121819"/>
            <a:ext cx="950119" cy="153591"/>
          </a:xfrm>
          <a:prstGeom prst="rect">
            <a:avLst/>
          </a:prstGeom>
          <a:noFill/>
          <a:ln/>
        </p:spPr>
        <p:txBody>
          <a:bodyPr wrap="none" lIns="0" tIns="0" rIns="0" bIns="0" rtlCol="0" anchor="t">
            <a:spAutoFit/>
          </a:bodyPr>
          <a:lstStyle/>
          <a:p>
            <a:pPr algn="l" indent="0" marL="0">
              <a:lnSpc>
                <a:spcPct val="120000"/>
              </a:lnSpc>
              <a:buNone/>
            </a:pPr>
            <a:r>
              <a:rPr lang="en-US" sz="850" dirty="0">
                <a:solidFill>
                  <a:srgbClr val="D4D4D4"/>
                </a:solidFill>
                <a:latin typeface="JetBrains Mono" pitchFamily="34" charset="0"/>
                <a:ea typeface="JetBrains Mono" pitchFamily="34" charset="-122"/>
                <a:cs typeface="JetBrains Mono" pitchFamily="34" charset="-120"/>
              </a:rPr>
              <a:t>z / (1.0 + z)</a:t>
            </a:r>
            <a:endParaRPr lang="en-US" sz="850" dirty="0"/>
          </a:p>
        </p:txBody>
      </p:sp>
      <p:sp>
        <p:nvSpPr>
          <p:cNvPr id="44" name="Shape 40"/>
          <p:cNvSpPr/>
          <p:nvPr/>
        </p:nvSpPr>
        <p:spPr>
          <a:xfrm>
            <a:off x="0" y="4814888"/>
            <a:ext cx="9144000" cy="328613"/>
          </a:xfrm>
          <a:prstGeom prst="rect">
            <a:avLst/>
          </a:prstGeom>
          <a:solidFill>
            <a:srgbClr val="0055FF"/>
          </a:solidFill>
          <a:ln/>
        </p:spPr>
      </p:sp>
      <p:sp>
        <p:nvSpPr>
          <p:cNvPr id="45" name="Shape 41"/>
          <p:cNvSpPr/>
          <p:nvPr/>
        </p:nvSpPr>
        <p:spPr>
          <a:xfrm>
            <a:off x="0" y="4814888"/>
            <a:ext cx="9144000" cy="28575"/>
          </a:xfrm>
          <a:prstGeom prst="rect">
            <a:avLst/>
          </a:prstGeom>
          <a:solidFill>
            <a:srgbClr val="111111"/>
          </a:solidFill>
          <a:ln/>
        </p:spPr>
      </p:sp>
      <p:sp>
        <p:nvSpPr>
          <p:cNvPr id="46" name="Text 42"/>
          <p:cNvSpPr/>
          <p:nvPr/>
        </p:nvSpPr>
        <p:spPr>
          <a:xfrm>
            <a:off x="271463" y="4918472"/>
            <a:ext cx="1643063"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5: THE PYTHON RESULT</a:t>
            </a:r>
            <a:endParaRPr lang="en-US" sz="700" dirty="0"/>
          </a:p>
        </p:txBody>
      </p:sp>
      <p:sp>
        <p:nvSpPr>
          <p:cNvPr id="47" name="Text 43"/>
          <p:cNvSpPr/>
          <p:nvPr/>
        </p:nvSpPr>
        <p:spPr>
          <a:xfrm>
            <a:off x="6061472" y="4918472"/>
            <a:ext cx="2811066"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SRC/SAS_LOGIT/SEMANTIC/SCORING.PY</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8398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TIE-OUT PROOF</a:t>
            </a:r>
            <a:endParaRPr lang="en-US" sz="2550" dirty="0"/>
          </a:p>
        </p:txBody>
      </p:sp>
      <p:sp>
        <p:nvSpPr>
          <p:cNvPr id="7" name="Text 3"/>
          <p:cNvSpPr/>
          <p:nvPr/>
        </p:nvSpPr>
        <p:spPr>
          <a:xfrm>
            <a:off x="271463" y="632222"/>
            <a:ext cx="48398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4: Replace "looks right" with deterministic validation.</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executes the generic tie-out runner against the SAS oracle and exact fixture.</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An append-only bundle proving the exact row count and tolerance delta.</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067991" cy="314325"/>
          </a:xfrm>
          <a:prstGeom prst="rect">
            <a:avLst/>
          </a:prstGeom>
          <a:solidFill>
            <a:srgbClr val="1E1E1E"/>
          </a:solidFill>
          <a:ln/>
        </p:spPr>
      </p:sp>
      <p:sp>
        <p:nvSpPr>
          <p:cNvPr id="20" name="Shape 16"/>
          <p:cNvSpPr/>
          <p:nvPr/>
        </p:nvSpPr>
        <p:spPr>
          <a:xfrm>
            <a:off x="3729038" y="1078706"/>
            <a:ext cx="1067991" cy="28575"/>
          </a:xfrm>
          <a:prstGeom prst="rect">
            <a:avLst/>
          </a:prstGeom>
          <a:solidFill>
            <a:srgbClr val="0055FF"/>
          </a:solidFill>
          <a:ln/>
        </p:spPr>
      </p:sp>
      <p:sp>
        <p:nvSpPr>
          <p:cNvPr id="21" name="Text 17"/>
          <p:cNvSpPr/>
          <p:nvPr/>
        </p:nvSpPr>
        <p:spPr>
          <a:xfrm>
            <a:off x="3729038" y="1078706"/>
            <a:ext cx="1067991"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evidence.json</a:t>
            </a:r>
            <a:endParaRPr lang="en-US" sz="750" dirty="0"/>
          </a:p>
        </p:txBody>
      </p:sp>
      <p:sp>
        <p:nvSpPr>
          <p:cNvPr id="22" name="Text 18"/>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"module_id"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"LC-LOGIT-01"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"gate"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"local_coverage_tieout"</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"status"</a:t>
            </a:r>
            <a:r>
              <a:rPr lang="en-US" sz="900" dirty="0">
                <a:solidFill>
                  <a:srgbClr val="D4D4D4"/>
                </a:solidFill>
                <a:latin typeface="JetBrains Mono" pitchFamily="34" charset="0"/>
                <a:ea typeface="JetBrains Mono" pitchFamily="34" charset="-122"/>
                <a:cs typeface="JetBrains Mono" pitchFamily="34" charset="-120"/>
              </a:rPr>
              <a:t>: </a:t>
            </a:r>
            <a:r>
              <a:rPr lang="en-US" sz="850" b="1" dirty="0">
                <a:solidFill>
                  <a:srgbClr val="27C93F"/>
                </a:solidFill>
                <a:latin typeface="JetBrains Mono Bold" pitchFamily="34" charset="0"/>
                <a:ea typeface="JetBrains Mono Bold" pitchFamily="34" charset="-122"/>
                <a:cs typeface="JetBrains Mono Bold" pitchFamily="34" charset="-120"/>
              </a:rPr>
              <a:t>"PASS"</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"delta_summary"</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"rows"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50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"missing_keys"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"max_probability_delta"</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6.777e-12</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"configured_tolerance"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1e-10</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3" name="Shape 19"/>
          <p:cNvSpPr/>
          <p:nvPr/>
        </p:nvSpPr>
        <p:spPr>
          <a:xfrm>
            <a:off x="0" y="4814888"/>
            <a:ext cx="9144000" cy="328613"/>
          </a:xfrm>
          <a:prstGeom prst="rect">
            <a:avLst/>
          </a:prstGeom>
          <a:solidFill>
            <a:srgbClr val="0055FF"/>
          </a:solidFill>
          <a:ln/>
        </p:spPr>
      </p:sp>
      <p:sp>
        <p:nvSpPr>
          <p:cNvPr id="24" name="Shape 20"/>
          <p:cNvSpPr/>
          <p:nvPr/>
        </p:nvSpPr>
        <p:spPr>
          <a:xfrm>
            <a:off x="0" y="4814888"/>
            <a:ext cx="9144000" cy="28575"/>
          </a:xfrm>
          <a:prstGeom prst="rect">
            <a:avLst/>
          </a:prstGeom>
          <a:solidFill>
            <a:srgbClr val="111111"/>
          </a:solidFill>
          <a:ln/>
        </p:spPr>
      </p:sp>
      <p:sp>
        <p:nvSpPr>
          <p:cNvPr id="25" name="Text 21"/>
          <p:cNvSpPr/>
          <p:nvPr/>
        </p:nvSpPr>
        <p:spPr>
          <a:xfrm>
            <a:off x="271463" y="4918472"/>
            <a:ext cx="1603772"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6: THE TIE-OUT PROOF</a:t>
            </a:r>
            <a:endParaRPr lang="en-US" sz="700" dirty="0"/>
          </a:p>
        </p:txBody>
      </p:sp>
      <p:sp>
        <p:nvSpPr>
          <p:cNvPr id="26" name="Text 22"/>
          <p:cNvSpPr/>
          <p:nvPr/>
        </p:nvSpPr>
        <p:spPr>
          <a:xfrm>
            <a:off x="5636419" y="4918472"/>
            <a:ext cx="3236119"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ARTIFACTS/EVIDENCE/RUNS/.../EVIDENCE.JSON</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PASS: WHAT WE CAN CLAIM</a:t>
            </a:r>
            <a:endParaRPr lang="en-US" sz="2400" dirty="0"/>
          </a:p>
        </p:txBody>
      </p:sp>
      <p:sp>
        <p:nvSpPr>
          <p:cNvPr id="7" name="Text 3"/>
          <p:cNvSpPr/>
          <p:nvPr/>
        </p:nvSpPr>
        <p:spPr>
          <a:xfrm>
            <a:off x="271463"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PASS MEANS:</a:t>
            </a:r>
            <a:endParaRPr lang="en-US" sz="1400" dirty="0"/>
          </a:p>
        </p:txBody>
      </p:sp>
      <p:sp>
        <p:nvSpPr>
          <p:cNvPr id="8" name="Shape 4"/>
          <p:cNvSpPr/>
          <p:nvPr/>
        </p:nvSpPr>
        <p:spPr>
          <a:xfrm>
            <a:off x="271463" y="1332309"/>
            <a:ext cx="4186238" cy="500063"/>
          </a:xfrm>
          <a:prstGeom prst="rect">
            <a:avLst/>
          </a:prstGeom>
          <a:solidFill>
            <a:srgbClr val="FFFFFF"/>
          </a:solidFill>
          <a:ln w="18288">
            <a:solidFill>
              <a:srgbClr val="111111"/>
            </a:solidFill>
            <a:prstDash val="solid"/>
          </a:ln>
        </p:spPr>
      </p:sp>
      <p:sp>
        <p:nvSpPr>
          <p:cNvPr id="9" name="Shape 5"/>
          <p:cNvSpPr/>
          <p:nvPr/>
        </p:nvSpPr>
        <p:spPr>
          <a:xfrm>
            <a:off x="414338" y="1446609"/>
            <a:ext cx="228600" cy="228600"/>
          </a:xfrm>
          <a:prstGeom prst="rect">
            <a:avLst/>
          </a:prstGeom>
          <a:solidFill>
            <a:srgbClr val="111111"/>
          </a:solidFill>
          <a:ln/>
        </p:spPr>
      </p:sp>
      <p:sp>
        <p:nvSpPr>
          <p:cNvPr id="10" name="Text 6"/>
          <p:cNvSpPr/>
          <p:nvPr/>
        </p:nvSpPr>
        <p:spPr>
          <a:xfrm>
            <a:off x="414338" y="144660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1</a:t>
            </a:r>
            <a:endParaRPr lang="en-US" sz="1000" dirty="0"/>
          </a:p>
        </p:txBody>
      </p:sp>
      <p:sp>
        <p:nvSpPr>
          <p:cNvPr id="11" name="Text 7"/>
          <p:cNvSpPr/>
          <p:nvPr/>
        </p:nvSpPr>
        <p:spPr>
          <a:xfrm>
            <a:off x="742950" y="146714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Approved producer ran</a:t>
            </a:r>
            <a:endParaRPr lang="en-US" sz="1050" dirty="0"/>
          </a:p>
        </p:txBody>
      </p:sp>
      <p:sp>
        <p:nvSpPr>
          <p:cNvPr id="12" name="Shape 8"/>
          <p:cNvSpPr/>
          <p:nvPr/>
        </p:nvSpPr>
        <p:spPr>
          <a:xfrm>
            <a:off x="271463" y="1889522"/>
            <a:ext cx="4186238" cy="500063"/>
          </a:xfrm>
          <a:prstGeom prst="rect">
            <a:avLst/>
          </a:prstGeom>
          <a:solidFill>
            <a:srgbClr val="FFFFFF"/>
          </a:solidFill>
          <a:ln w="18288">
            <a:solidFill>
              <a:srgbClr val="111111"/>
            </a:solidFill>
            <a:prstDash val="solid"/>
          </a:ln>
        </p:spPr>
      </p:sp>
      <p:sp>
        <p:nvSpPr>
          <p:cNvPr id="13" name="Shape 9"/>
          <p:cNvSpPr/>
          <p:nvPr/>
        </p:nvSpPr>
        <p:spPr>
          <a:xfrm>
            <a:off x="414338" y="2003822"/>
            <a:ext cx="228600" cy="228600"/>
          </a:xfrm>
          <a:prstGeom prst="rect">
            <a:avLst/>
          </a:prstGeom>
          <a:solidFill>
            <a:srgbClr val="111111"/>
          </a:solidFill>
          <a:ln/>
        </p:spPr>
      </p:sp>
      <p:sp>
        <p:nvSpPr>
          <p:cNvPr id="14" name="Text 10"/>
          <p:cNvSpPr/>
          <p:nvPr/>
        </p:nvSpPr>
        <p:spPr>
          <a:xfrm>
            <a:off x="414338" y="2003822"/>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2</a:t>
            </a:r>
            <a:endParaRPr lang="en-US" sz="1000" dirty="0"/>
          </a:p>
        </p:txBody>
      </p:sp>
      <p:sp>
        <p:nvSpPr>
          <p:cNvPr id="15" name="Text 11"/>
          <p:cNvSpPr/>
          <p:nvPr/>
        </p:nvSpPr>
        <p:spPr>
          <a:xfrm>
            <a:off x="742950" y="2024360"/>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50 selected records matched</a:t>
            </a:r>
            <a:endParaRPr lang="en-US" sz="1050" dirty="0"/>
          </a:p>
        </p:txBody>
      </p:sp>
      <p:sp>
        <p:nvSpPr>
          <p:cNvPr id="16" name="Shape 12"/>
          <p:cNvSpPr/>
          <p:nvPr/>
        </p:nvSpPr>
        <p:spPr>
          <a:xfrm>
            <a:off x="271463" y="2446734"/>
            <a:ext cx="4186238" cy="500063"/>
          </a:xfrm>
          <a:prstGeom prst="rect">
            <a:avLst/>
          </a:prstGeom>
          <a:solidFill>
            <a:srgbClr val="FFFFFF"/>
          </a:solidFill>
          <a:ln w="18288">
            <a:solidFill>
              <a:srgbClr val="111111"/>
            </a:solidFill>
            <a:prstDash val="solid"/>
          </a:ln>
        </p:spPr>
      </p:sp>
      <p:sp>
        <p:nvSpPr>
          <p:cNvPr id="17" name="Shape 13"/>
          <p:cNvSpPr/>
          <p:nvPr/>
        </p:nvSpPr>
        <p:spPr>
          <a:xfrm>
            <a:off x="414338" y="2561034"/>
            <a:ext cx="228600" cy="228600"/>
          </a:xfrm>
          <a:prstGeom prst="rect">
            <a:avLst/>
          </a:prstGeom>
          <a:solidFill>
            <a:srgbClr val="111111"/>
          </a:solidFill>
          <a:ln/>
        </p:spPr>
      </p:sp>
      <p:sp>
        <p:nvSpPr>
          <p:cNvPr id="18" name="Text 14"/>
          <p:cNvSpPr/>
          <p:nvPr/>
        </p:nvSpPr>
        <p:spPr>
          <a:xfrm>
            <a:off x="414338" y="2561034"/>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3</a:t>
            </a:r>
            <a:endParaRPr lang="en-US" sz="1000" dirty="0"/>
          </a:p>
        </p:txBody>
      </p:sp>
      <p:sp>
        <p:nvSpPr>
          <p:cNvPr id="19" name="Text 15"/>
          <p:cNvSpPr/>
          <p:nvPr/>
        </p:nvSpPr>
        <p:spPr>
          <a:xfrm>
            <a:off x="742950" y="2581573"/>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Keys and counts passed</a:t>
            </a:r>
            <a:endParaRPr lang="en-US" sz="1050" dirty="0"/>
          </a:p>
        </p:txBody>
      </p:sp>
      <p:sp>
        <p:nvSpPr>
          <p:cNvPr id="20" name="Shape 16"/>
          <p:cNvSpPr/>
          <p:nvPr/>
        </p:nvSpPr>
        <p:spPr>
          <a:xfrm>
            <a:off x="271463" y="3003947"/>
            <a:ext cx="4186238" cy="500063"/>
          </a:xfrm>
          <a:prstGeom prst="rect">
            <a:avLst/>
          </a:prstGeom>
          <a:solidFill>
            <a:srgbClr val="FFFFFF"/>
          </a:solidFill>
          <a:ln w="18288">
            <a:solidFill>
              <a:srgbClr val="111111"/>
            </a:solidFill>
            <a:prstDash val="solid"/>
          </a:ln>
        </p:spPr>
      </p:sp>
      <p:sp>
        <p:nvSpPr>
          <p:cNvPr id="21" name="Shape 17"/>
          <p:cNvSpPr/>
          <p:nvPr/>
        </p:nvSpPr>
        <p:spPr>
          <a:xfrm>
            <a:off x="414338" y="3118247"/>
            <a:ext cx="228600" cy="228600"/>
          </a:xfrm>
          <a:prstGeom prst="rect">
            <a:avLst/>
          </a:prstGeom>
          <a:solidFill>
            <a:srgbClr val="111111"/>
          </a:solidFill>
          <a:ln/>
        </p:spPr>
      </p:sp>
      <p:sp>
        <p:nvSpPr>
          <p:cNvPr id="22" name="Text 18"/>
          <p:cNvSpPr/>
          <p:nvPr/>
        </p:nvSpPr>
        <p:spPr>
          <a:xfrm>
            <a:off x="414338" y="3118247"/>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4</a:t>
            </a:r>
            <a:endParaRPr lang="en-US" sz="1000" dirty="0"/>
          </a:p>
        </p:txBody>
      </p:sp>
      <p:sp>
        <p:nvSpPr>
          <p:cNvPr id="23" name="Text 19"/>
          <p:cNvSpPr/>
          <p:nvPr/>
        </p:nvSpPr>
        <p:spPr>
          <a:xfrm>
            <a:off x="742950" y="3138785"/>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Metrics met tolerance</a:t>
            </a:r>
            <a:endParaRPr lang="en-US" sz="1050" dirty="0"/>
          </a:p>
        </p:txBody>
      </p:sp>
      <p:sp>
        <p:nvSpPr>
          <p:cNvPr id="24" name="Shape 20"/>
          <p:cNvSpPr/>
          <p:nvPr/>
        </p:nvSpPr>
        <p:spPr>
          <a:xfrm>
            <a:off x="271463" y="3561159"/>
            <a:ext cx="4186238" cy="500063"/>
          </a:xfrm>
          <a:prstGeom prst="rect">
            <a:avLst/>
          </a:prstGeom>
          <a:solidFill>
            <a:srgbClr val="FFFFFF"/>
          </a:solidFill>
          <a:ln w="18288">
            <a:solidFill>
              <a:srgbClr val="111111"/>
            </a:solidFill>
            <a:prstDash val="solid"/>
          </a:ln>
        </p:spPr>
      </p:sp>
      <p:sp>
        <p:nvSpPr>
          <p:cNvPr id="25" name="Shape 21"/>
          <p:cNvSpPr/>
          <p:nvPr/>
        </p:nvSpPr>
        <p:spPr>
          <a:xfrm>
            <a:off x="414338" y="3675459"/>
            <a:ext cx="228600" cy="228600"/>
          </a:xfrm>
          <a:prstGeom prst="rect">
            <a:avLst/>
          </a:prstGeom>
          <a:solidFill>
            <a:srgbClr val="111111"/>
          </a:solidFill>
          <a:ln/>
        </p:spPr>
      </p:sp>
      <p:sp>
        <p:nvSpPr>
          <p:cNvPr id="26" name="Text 22"/>
          <p:cNvSpPr/>
          <p:nvPr/>
        </p:nvSpPr>
        <p:spPr>
          <a:xfrm>
            <a:off x="414338" y="367545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5</a:t>
            </a:r>
            <a:endParaRPr lang="en-US" sz="1000" dirty="0"/>
          </a:p>
        </p:txBody>
      </p:sp>
      <p:sp>
        <p:nvSpPr>
          <p:cNvPr id="27" name="Text 23"/>
          <p:cNvSpPr/>
          <p:nvPr/>
        </p:nvSpPr>
        <p:spPr>
          <a:xfrm>
            <a:off x="742950" y="369599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Evidence was written</a:t>
            </a:r>
            <a:endParaRPr lang="en-US" sz="1050" dirty="0"/>
          </a:p>
        </p:txBody>
      </p:sp>
      <p:sp>
        <p:nvSpPr>
          <p:cNvPr id="28" name="Text 24"/>
          <p:cNvSpPr/>
          <p:nvPr/>
        </p:nvSpPr>
        <p:spPr>
          <a:xfrm>
            <a:off x="4686300"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D9504F"/>
                </a:solidFill>
                <a:latin typeface="Oswald SemiBold" pitchFamily="34" charset="0"/>
                <a:ea typeface="Oswald SemiBold" pitchFamily="34" charset="-122"/>
                <a:cs typeface="Oswald SemiBold" pitchFamily="34" charset="-120"/>
              </a:rPr>
              <a:t>PASS DOES NOT MEAN:</a:t>
            </a:r>
            <a:endParaRPr lang="en-US" sz="1400" dirty="0"/>
          </a:p>
        </p:txBody>
      </p:sp>
      <p:sp>
        <p:nvSpPr>
          <p:cNvPr id="29" name="Shape 25"/>
          <p:cNvSpPr/>
          <p:nvPr/>
        </p:nvSpPr>
        <p:spPr>
          <a:xfrm>
            <a:off x="4686300" y="1332309"/>
            <a:ext cx="4186238" cy="458986"/>
          </a:xfrm>
          <a:prstGeom prst="rect">
            <a:avLst/>
          </a:prstGeom>
          <a:solidFill>
            <a:srgbClr val="FFF8F7"/>
          </a:solidFill>
          <a:ln w="18288">
            <a:solidFill>
              <a:srgbClr val="111111"/>
            </a:solidFill>
            <a:prstDash val="solid"/>
          </a:ln>
        </p:spPr>
      </p:sp>
      <p:sp>
        <p:nvSpPr>
          <p:cNvPr id="30" name="Text 26"/>
          <p:cNvSpPr/>
          <p:nvPr/>
        </p:nvSpPr>
        <p:spPr>
          <a:xfrm>
            <a:off x="4829175" y="1454646"/>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1" name="Text 27"/>
          <p:cNvSpPr/>
          <p:nvPr/>
        </p:nvSpPr>
        <p:spPr>
          <a:xfrm>
            <a:off x="5047059" y="1446609"/>
            <a:ext cx="152876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Full population parity</a:t>
            </a:r>
            <a:endParaRPr lang="en-US" sz="1050" dirty="0"/>
          </a:p>
        </p:txBody>
      </p:sp>
      <p:sp>
        <p:nvSpPr>
          <p:cNvPr id="32" name="Shape 28"/>
          <p:cNvSpPr/>
          <p:nvPr/>
        </p:nvSpPr>
        <p:spPr>
          <a:xfrm>
            <a:off x="4686300" y="1848445"/>
            <a:ext cx="4186238" cy="458986"/>
          </a:xfrm>
          <a:prstGeom prst="rect">
            <a:avLst/>
          </a:prstGeom>
          <a:solidFill>
            <a:srgbClr val="FFF8F7"/>
          </a:solidFill>
          <a:ln w="18288">
            <a:solidFill>
              <a:srgbClr val="111111"/>
            </a:solidFill>
            <a:prstDash val="solid"/>
          </a:ln>
        </p:spPr>
      </p:sp>
      <p:sp>
        <p:nvSpPr>
          <p:cNvPr id="33" name="Text 29"/>
          <p:cNvSpPr/>
          <p:nvPr/>
        </p:nvSpPr>
        <p:spPr>
          <a:xfrm>
            <a:off x="4829175" y="1970782"/>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4" name="Text 30"/>
          <p:cNvSpPr/>
          <p:nvPr/>
        </p:nvSpPr>
        <p:spPr>
          <a:xfrm>
            <a:off x="5047059" y="1962745"/>
            <a:ext cx="159662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Spark or cluster proof</a:t>
            </a:r>
            <a:endParaRPr lang="en-US" sz="1050" dirty="0"/>
          </a:p>
        </p:txBody>
      </p:sp>
      <p:sp>
        <p:nvSpPr>
          <p:cNvPr id="35" name="Shape 31"/>
          <p:cNvSpPr/>
          <p:nvPr/>
        </p:nvSpPr>
        <p:spPr>
          <a:xfrm>
            <a:off x="4686300" y="2364581"/>
            <a:ext cx="4186238" cy="458986"/>
          </a:xfrm>
          <a:prstGeom prst="rect">
            <a:avLst/>
          </a:prstGeom>
          <a:solidFill>
            <a:srgbClr val="FFF8F7"/>
          </a:solidFill>
          <a:ln w="18288">
            <a:solidFill>
              <a:srgbClr val="111111"/>
            </a:solidFill>
            <a:prstDash val="solid"/>
          </a:ln>
        </p:spPr>
      </p:sp>
      <p:sp>
        <p:nvSpPr>
          <p:cNvPr id="36" name="Text 32"/>
          <p:cNvSpPr/>
          <p:nvPr/>
        </p:nvSpPr>
        <p:spPr>
          <a:xfrm>
            <a:off x="4829175" y="2486918"/>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7" name="Text 33"/>
          <p:cNvSpPr/>
          <p:nvPr/>
        </p:nvSpPr>
        <p:spPr>
          <a:xfrm>
            <a:off x="5047059" y="2478881"/>
            <a:ext cx="138588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Performance proof</a:t>
            </a:r>
            <a:endParaRPr lang="en-US" sz="1050" dirty="0"/>
          </a:p>
        </p:txBody>
      </p:sp>
      <p:sp>
        <p:nvSpPr>
          <p:cNvPr id="38" name="Shape 34"/>
          <p:cNvSpPr/>
          <p:nvPr/>
        </p:nvSpPr>
        <p:spPr>
          <a:xfrm>
            <a:off x="4686300" y="2880717"/>
            <a:ext cx="4186238" cy="458986"/>
          </a:xfrm>
          <a:prstGeom prst="rect">
            <a:avLst/>
          </a:prstGeom>
          <a:solidFill>
            <a:srgbClr val="FFF8F7"/>
          </a:solidFill>
          <a:ln w="18288">
            <a:solidFill>
              <a:srgbClr val="111111"/>
            </a:solidFill>
            <a:prstDash val="solid"/>
          </a:ln>
        </p:spPr>
      </p:sp>
      <p:sp>
        <p:nvSpPr>
          <p:cNvPr id="39" name="Text 35"/>
          <p:cNvSpPr/>
          <p:nvPr/>
        </p:nvSpPr>
        <p:spPr>
          <a:xfrm>
            <a:off x="4829175" y="3003054"/>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0" name="Text 36"/>
          <p:cNvSpPr/>
          <p:nvPr/>
        </p:nvSpPr>
        <p:spPr>
          <a:xfrm>
            <a:off x="5047059" y="2995017"/>
            <a:ext cx="1553766"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Production readiness</a:t>
            </a:r>
            <a:endParaRPr lang="en-US" sz="1050" dirty="0"/>
          </a:p>
        </p:txBody>
      </p:sp>
      <p:sp>
        <p:nvSpPr>
          <p:cNvPr id="41" name="Shape 37"/>
          <p:cNvSpPr/>
          <p:nvPr/>
        </p:nvSpPr>
        <p:spPr>
          <a:xfrm>
            <a:off x="4686300" y="3396853"/>
            <a:ext cx="4186238" cy="458986"/>
          </a:xfrm>
          <a:prstGeom prst="rect">
            <a:avLst/>
          </a:prstGeom>
          <a:solidFill>
            <a:srgbClr val="FFF8F7"/>
          </a:solidFill>
          <a:ln w="18288">
            <a:solidFill>
              <a:srgbClr val="111111"/>
            </a:solidFill>
            <a:prstDash val="solid"/>
          </a:ln>
        </p:spPr>
      </p:sp>
      <p:sp>
        <p:nvSpPr>
          <p:cNvPr id="42" name="Text 38"/>
          <p:cNvSpPr/>
          <p:nvPr/>
        </p:nvSpPr>
        <p:spPr>
          <a:xfrm>
            <a:off x="4829175" y="3519190"/>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3" name="Text 39"/>
          <p:cNvSpPr/>
          <p:nvPr/>
        </p:nvSpPr>
        <p:spPr>
          <a:xfrm>
            <a:off x="5047059" y="3511153"/>
            <a:ext cx="124301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Release approval</a:t>
            </a:r>
            <a:endParaRPr lang="en-US" sz="1050" dirty="0"/>
          </a:p>
        </p:txBody>
      </p:sp>
      <p:sp>
        <p:nvSpPr>
          <p:cNvPr id="44" name="Shape 40"/>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5" name="Text 41"/>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The </a:t>
            </a:r>
            <a:r>
              <a:rPr lang="en-US" sz="1250" dirty="0">
                <a:solidFill>
                  <a:srgbClr val="111111"/>
                </a:solidFill>
                <a:latin typeface="Kalam Bold" pitchFamily="34" charset="0"/>
                <a:ea typeface="Kalam Bold" pitchFamily="34" charset="-122"/>
                <a:cs typeface="Kalam Bold" pitchFamily="34" charset="-120"/>
              </a:rPr>
              <a:t>claim is st</a:t>
            </a:r>
            <a:r>
              <a:rPr lang="en-US" sz="1250" dirty="0">
                <a:solidFill>
                  <a:srgbClr val="111111"/>
                </a:solidFill>
                <a:latin typeface="Kalam Bold" pitchFamily="34" charset="0"/>
                <a:ea typeface="Kalam Bold" pitchFamily="34" charset="-122"/>
                <a:cs typeface="Kalam Bold" pitchFamily="34" charset="-120"/>
              </a:rPr>
              <a:t>rong becau</a:t>
            </a:r>
            <a:r>
              <a:rPr lang="en-US" sz="1250" dirty="0">
                <a:solidFill>
                  <a:srgbClr val="111111"/>
                </a:solidFill>
                <a:latin typeface="Kalam Bold" pitchFamily="34" charset="0"/>
                <a:ea typeface="Kalam Bold" pitchFamily="34" charset="-122"/>
                <a:cs typeface="Kalam Bold" pitchFamily="34" charset="-120"/>
              </a:rPr>
              <a:t>se it is nar</a:t>
            </a:r>
            <a:r>
              <a:rPr lang="en-US" sz="1250" dirty="0">
                <a:solidFill>
                  <a:srgbClr val="111111"/>
                </a:solidFill>
                <a:latin typeface="Kalam Bold" pitchFamily="34" charset="0"/>
                <a:ea typeface="Kalam Bold" pitchFamily="34" charset="-122"/>
                <a:cs typeface="Kalam Bold" pitchFamily="34" charset="-120"/>
              </a:rPr>
              <a:t>row.</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DEFINITION OF DONE: THE CONTROL FLOW</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every required gate leads to a release-ready, rollback-ready result.</a:t>
            </a:r>
            <a:endParaRPr lang="en-US" sz="1000" dirty="0"/>
          </a:p>
        </p:txBody>
      </p:sp>
      <p:pic>
        <p:nvPicPr>
          <p:cNvPr id="7" name="Image 1" descr="preencoded.png">    </p:cNvPr>
          <p:cNvPicPr>
            <a:picLocks noChangeAspect="1"/>
          </p:cNvPicPr>
          <p:nvPr/>
        </p:nvPicPr>
        <p:blipFill>
          <a:blip r:embed="rId2"/>
          <a:stretch>
            <a:fillRect/>
          </a:stretch>
        </p:blipFill>
        <p:spPr>
          <a:xfrm>
            <a:off x="357188" y="1114425"/>
            <a:ext cx="8429625" cy="39433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2026-09-25T04:51:03Z</dcterms:created>
  <dcterms:modified xsi:type="dcterms:W3CDTF">2026-09-25T04:51:03Z</dcterms:modified>
</cp:coreProperties>
</file>